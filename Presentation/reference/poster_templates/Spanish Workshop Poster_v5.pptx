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0" d="100"/>
          <a:sy n="30" d="100"/>
        </p:scale>
        <p:origin x="-498" y="1926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5303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4768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2410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14276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3634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8857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2685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7554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3691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576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6406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CC512-5CBB-4991-AFF5-DE2618D41216}" type="datetimeFigureOut">
              <a:rPr lang="en-ZA" smtClean="0"/>
              <a:t>2016/09/28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4ADFD-936A-48C8-AAD6-718361531D57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850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127" y="22547062"/>
            <a:ext cx="8804037" cy="7892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5" descr="Official UCT Circle Logo (588kb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58388" y="38010056"/>
            <a:ext cx="3844185" cy="3616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0"/>
            <a:ext cx="3027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0" y="457200"/>
            <a:ext cx="302752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pic>
        <p:nvPicPr>
          <p:cNvPr id="13" name="Picture 17" descr="C:\Users\User\Desktop\ctg 140222\My Pictures\UCT\official pics\Official UCT Front Landscape View (Hi Res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11"/>
          <a:stretch>
            <a:fillRect/>
          </a:stretch>
        </p:blipFill>
        <p:spPr bwMode="auto">
          <a:xfrm>
            <a:off x="0" y="0"/>
            <a:ext cx="30275213" cy="1025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224"/>
          <p:cNvSpPr>
            <a:spLocks noChangeArrowheads="1"/>
          </p:cNvSpPr>
          <p:nvPr/>
        </p:nvSpPr>
        <p:spPr bwMode="auto">
          <a:xfrm>
            <a:off x="951706" y="3376418"/>
            <a:ext cx="28371800" cy="331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0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/>
              </a:rPr>
              <a:t>Measurements and finite element model of transformer core joints with dc and ac excitation</a:t>
            </a:r>
            <a:endParaRPr lang="en-GB" altLang="en-US" sz="10000" b="1" dirty="0">
              <a:solidFill>
                <a:schemeClr val="bg1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17" name="Rectangle 1185"/>
          <p:cNvSpPr>
            <a:spLocks noChangeArrowheads="1"/>
          </p:cNvSpPr>
          <p:nvPr/>
        </p:nvSpPr>
        <p:spPr bwMode="auto">
          <a:xfrm>
            <a:off x="15243895" y="10615009"/>
            <a:ext cx="13358678" cy="11738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/>
          <a:lstStyle/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GB" altLang="en-US" sz="80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/>
              </a:rPr>
              <a:t>Approach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 </a:t>
            </a:r>
            <a:endParaRPr lang="en-US" altLang="en-US" sz="20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44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44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Laboratory flux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measurements with 3X1p-4L transformers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[1]</a:t>
            </a:r>
            <a:endParaRPr lang="en-US" altLang="en-US" sz="44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20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Nominal ac applied + various dc levels with search coil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measurements </a:t>
            </a: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FEM models with different core joint detail investigated</a:t>
            </a:r>
            <a:endParaRPr lang="en-GB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21" name="Rectangle 1187"/>
          <p:cNvSpPr>
            <a:spLocks noChangeArrowheads="1"/>
          </p:cNvSpPr>
          <p:nvPr/>
        </p:nvSpPr>
        <p:spPr bwMode="auto">
          <a:xfrm>
            <a:off x="1457277" y="30439306"/>
            <a:ext cx="12779850" cy="10599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/>
          <a:lstStyle/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GB" altLang="en-US" sz="80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/>
              </a:rPr>
              <a:t>Results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endParaRPr lang="en-US" altLang="en-US" sz="44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Measured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(TRFR 2) and FEM B-AG air SC output voltages with simultaneous ac and dc excitation</a:t>
            </a:r>
            <a:endParaRPr lang="en-GB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23" name="Rectangle 1201"/>
          <p:cNvSpPr>
            <a:spLocks noChangeArrowheads="1"/>
          </p:cNvSpPr>
          <p:nvPr/>
        </p:nvSpPr>
        <p:spPr bwMode="auto">
          <a:xfrm>
            <a:off x="14827200" y="30439306"/>
            <a:ext cx="14431964" cy="807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/>
          <a:lstStyle/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GB" altLang="en-US" sz="8000" b="1" dirty="0" smtClean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/>
              </a:rPr>
              <a:t>Conclusions</a:t>
            </a:r>
            <a:endParaRPr lang="en-GB" altLang="en-US" sz="8000" b="1" dirty="0">
              <a:solidFill>
                <a:srgbClr val="00257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 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FEM models calibrated with ac measurement data</a:t>
            </a:r>
            <a:endParaRPr lang="en-US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No search coil outputs for solid joint FEM model with ac + dc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GB" altLang="en-US" sz="2000" b="1" dirty="0" smtClean="0">
              <a:solidFill>
                <a:srgbClr val="8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 “Equivalent air gap” FEM models give results closer to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those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measured with ac + dc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together</a:t>
            </a:r>
            <a:endParaRPr lang="en-US" altLang="en-US" sz="4400" b="1" dirty="0" smtClean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More detailed numerical modelling needed  for more accuracy - </a:t>
            </a:r>
            <a:r>
              <a:rPr lang="en-US" altLang="en-US" sz="4400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anisotropy</a:t>
            </a:r>
            <a:endParaRPr lang="en-US" altLang="en-US" sz="4400" b="1" i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GB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14" name="Chart 1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916" y="32029166"/>
            <a:ext cx="11022547" cy="7723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8365" y="11892485"/>
            <a:ext cx="10905144" cy="536977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107" y="22563404"/>
            <a:ext cx="7470663" cy="350627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3136" y="26345028"/>
            <a:ext cx="7470663" cy="3506278"/>
          </a:xfrm>
          <a:prstGeom prst="rect">
            <a:avLst/>
          </a:prstGeom>
        </p:spPr>
      </p:pic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0" y="8571896"/>
            <a:ext cx="20450175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05" tIns="45700" rIns="91405" bIns="45700"/>
          <a:lstStyle>
            <a:lvl1pPr marL="1673225" indent="-1673225" defTabSz="4462463">
              <a:defRPr>
                <a:solidFill>
                  <a:schemeClr val="tx1"/>
                </a:solidFill>
                <a:latin typeface="Arial" charset="0"/>
              </a:defRPr>
            </a:lvl1pPr>
            <a:lvl2pPr marL="3625850" indent="-1393825" defTabSz="4462463">
              <a:defRPr>
                <a:solidFill>
                  <a:schemeClr val="tx1"/>
                </a:solidFill>
                <a:latin typeface="Arial" charset="0"/>
              </a:defRPr>
            </a:lvl2pPr>
            <a:lvl3pPr marL="5578475" indent="-1116013" defTabSz="4462463">
              <a:defRPr>
                <a:solidFill>
                  <a:schemeClr val="tx1"/>
                </a:solidFill>
                <a:latin typeface="Arial" charset="0"/>
              </a:defRPr>
            </a:lvl3pPr>
            <a:lvl4pPr marL="7810500" indent="-1116013" defTabSz="4462463">
              <a:defRPr>
                <a:solidFill>
                  <a:schemeClr val="tx1"/>
                </a:solidFill>
                <a:latin typeface="Arial" charset="0"/>
              </a:defRPr>
            </a:lvl4pPr>
            <a:lvl5pPr marL="10042525" indent="-1116013" defTabSz="4462463">
              <a:defRPr>
                <a:solidFill>
                  <a:schemeClr val="tx1"/>
                </a:solidFill>
                <a:latin typeface="Arial" charset="0"/>
              </a:defRPr>
            </a:lvl5pPr>
            <a:lvl6pPr marL="10499725" indent="-1116013" defTabSz="44624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0956925" indent="-1116013" defTabSz="44624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1414125" indent="-1116013" defTabSz="44624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1871325" indent="-1116013" defTabSz="44624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GB" altLang="en-US" sz="4800" b="1" i="1" dirty="0" smtClean="0">
                <a:solidFill>
                  <a:schemeClr val="bg1"/>
                </a:solidFill>
              </a:rPr>
              <a:t>HK Chisepo and CT Gaunt, </a:t>
            </a:r>
            <a:r>
              <a:rPr lang="en-GB" altLang="en-US" sz="4800" b="1" i="1" dirty="0">
                <a:solidFill>
                  <a:schemeClr val="bg1"/>
                </a:solidFill>
              </a:rPr>
              <a:t>University of Cape Town, </a:t>
            </a:r>
            <a:r>
              <a:rPr lang="en-GB" altLang="en-US" sz="4800" b="1" i="1" dirty="0" smtClean="0">
                <a:solidFill>
                  <a:schemeClr val="bg1"/>
                </a:solidFill>
              </a:rPr>
              <a:t>    South </a:t>
            </a:r>
            <a:r>
              <a:rPr lang="en-GB" altLang="en-US" sz="4800" b="1" i="1" dirty="0">
                <a:solidFill>
                  <a:schemeClr val="bg1"/>
                </a:solidFill>
              </a:rPr>
              <a:t>Africa</a:t>
            </a:r>
          </a:p>
          <a:p>
            <a:r>
              <a:rPr lang="en-GB" altLang="en-US" sz="4800" b="1" i="1" dirty="0" smtClean="0">
                <a:solidFill>
                  <a:schemeClr val="bg1"/>
                </a:solidFill>
              </a:rPr>
              <a:t>LD Borrill, </a:t>
            </a:r>
            <a:r>
              <a:rPr lang="en-GB" altLang="en-US" sz="4800" b="1" i="1" dirty="0">
                <a:solidFill>
                  <a:schemeClr val="bg1"/>
                </a:solidFill>
              </a:rPr>
              <a:t>Eskom, South Africa</a:t>
            </a:r>
            <a:endParaRPr lang="en-ZA" altLang="en-US" sz="4800" b="1" i="1" dirty="0">
              <a:solidFill>
                <a:schemeClr val="bg1"/>
              </a:solidFill>
            </a:endParaRPr>
          </a:p>
        </p:txBody>
      </p:sp>
      <p:sp>
        <p:nvSpPr>
          <p:cNvPr id="34" name="Text Box 1193"/>
          <p:cNvSpPr txBox="1">
            <a:spLocks noChangeArrowheads="1"/>
          </p:cNvSpPr>
          <p:nvPr/>
        </p:nvSpPr>
        <p:spPr bwMode="auto">
          <a:xfrm>
            <a:off x="1457276" y="23305878"/>
            <a:ext cx="4581523" cy="14465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4400" b="1" dirty="0" smtClean="0"/>
              <a:t>FEM S model with solid joints</a:t>
            </a:r>
            <a:endParaRPr lang="en-GB" altLang="en-US" sz="4400" b="1" dirty="0"/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6038801" y="23343352"/>
            <a:ext cx="2000250" cy="742948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193"/>
          <p:cNvSpPr txBox="1">
            <a:spLocks noChangeArrowheads="1"/>
          </p:cNvSpPr>
          <p:nvPr/>
        </p:nvSpPr>
        <p:spPr bwMode="auto">
          <a:xfrm>
            <a:off x="1457276" y="26373431"/>
            <a:ext cx="4581524" cy="34778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4400" b="1" dirty="0" smtClean="0"/>
              <a:t>FEM B-AG model with “equivalent air gaps” at the joints</a:t>
            </a:r>
            <a:endParaRPr lang="en-GB" altLang="en-US" sz="4400" b="1" dirty="0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6038801" y="27267651"/>
            <a:ext cx="2000250" cy="742949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3"/>
          <p:cNvSpPr txBox="1">
            <a:spLocks noChangeArrowheads="1"/>
          </p:cNvSpPr>
          <p:nvPr/>
        </p:nvSpPr>
        <p:spPr bwMode="auto">
          <a:xfrm>
            <a:off x="23474314" y="24373606"/>
            <a:ext cx="4878388" cy="44935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4400" b="1" dirty="0" smtClean="0"/>
              <a:t>One single-phase four limb laboratory transformer -</a:t>
            </a:r>
          </a:p>
          <a:p>
            <a:pPr>
              <a:spcBef>
                <a:spcPct val="50000"/>
              </a:spcBef>
            </a:pPr>
            <a:r>
              <a:rPr lang="en-US" altLang="en-US" sz="4400" b="1" dirty="0" smtClean="0"/>
              <a:t>110/206 V, 4.4 kVA.</a:t>
            </a:r>
            <a:endParaRPr lang="en-GB" altLang="en-US" sz="4400" b="1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21050201" y="25086425"/>
            <a:ext cx="1557813" cy="983257"/>
          </a:xfrm>
          <a:prstGeom prst="straightConnector1">
            <a:avLst/>
          </a:prstGeom>
          <a:ln w="57150">
            <a:solidFill>
              <a:schemeClr val="bg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8" idx="1"/>
          </p:cNvCxnSpPr>
          <p:nvPr/>
        </p:nvCxnSpPr>
        <p:spPr>
          <a:xfrm flipH="1" flipV="1">
            <a:off x="22608014" y="26069682"/>
            <a:ext cx="866300" cy="550693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736597" y="940594"/>
            <a:ext cx="29210003" cy="697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Advanced Research Workshop on Transformers.                                                                                   (2)3 -5 October 2016. La Toja Island– Spain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Text Box 3"/>
          <p:cNvSpPr txBox="1">
            <a:spLocks noChangeArrowheads="1"/>
          </p:cNvSpPr>
          <p:nvPr/>
        </p:nvSpPr>
        <p:spPr bwMode="auto">
          <a:xfrm>
            <a:off x="2631840" y="279024"/>
            <a:ext cx="40100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Black" pitchFamily="34" charset="0"/>
                <a:cs typeface="Arial" pitchFamily="34" charset="0"/>
              </a:rPr>
              <a:t>    </a:t>
            </a:r>
            <a:r>
              <a:rPr kumimoji="0" lang="en-AU" altLang="en-US" sz="4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Black" pitchFamily="34" charset="0"/>
                <a:cs typeface="Arial" pitchFamily="34" charset="0"/>
              </a:rPr>
              <a:t>ARWtr</a:t>
            </a:r>
            <a:r>
              <a:rPr kumimoji="0" lang="en-AU" altLang="en-US" sz="4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>2016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 Box 1223"/>
          <p:cNvSpPr txBox="1">
            <a:spLocks noChangeArrowheads="1"/>
          </p:cNvSpPr>
          <p:nvPr/>
        </p:nvSpPr>
        <p:spPr bwMode="auto">
          <a:xfrm>
            <a:off x="24517718" y="41578171"/>
            <a:ext cx="493131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3600" b="1" u="sng" dirty="0" smtClean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hchisepo@gmail.com</a:t>
            </a:r>
            <a:endParaRPr lang="en-GB" altLang="en-US" sz="3600" b="1" u="sng" dirty="0">
              <a:solidFill>
                <a:srgbClr val="00257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" name="Text Box 1223"/>
          <p:cNvSpPr txBox="1">
            <a:spLocks noChangeArrowheads="1"/>
          </p:cNvSpPr>
          <p:nvPr/>
        </p:nvSpPr>
        <p:spPr bwMode="auto">
          <a:xfrm>
            <a:off x="14582274" y="38781018"/>
            <a:ext cx="99354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6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</a:t>
            </a:r>
            <a:r>
              <a:rPr lang="en-US" altLang="en-US" sz="3600" b="1" dirty="0" smtClean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1] L</a:t>
            </a:r>
            <a:r>
              <a:rPr lang="en-US" altLang="en-US" sz="36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 D. </a:t>
            </a:r>
            <a:r>
              <a:rPr lang="en-US" altLang="en-US" sz="3600" b="1" dirty="0" err="1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Borrill</a:t>
            </a:r>
            <a:r>
              <a:rPr lang="en-US" altLang="en-US" sz="36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H. K. </a:t>
            </a:r>
            <a:r>
              <a:rPr lang="en-US" altLang="en-US" sz="3600" b="1" dirty="0" err="1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Chisepo</a:t>
            </a:r>
            <a:r>
              <a:rPr lang="en-US" altLang="en-US" sz="36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and C.T. Gaunt, </a:t>
            </a:r>
            <a:r>
              <a:rPr lang="en-US" altLang="en-US" sz="3600" b="1" i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Flux measurements with ac and dc components of current present show transformer equivalent circuit models need core joint details</a:t>
            </a:r>
            <a:r>
              <a:rPr lang="en-US" altLang="en-US" sz="36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In Proc. IEEE POWERCON, </a:t>
            </a:r>
            <a:r>
              <a:rPr lang="en-US" altLang="en-US" sz="3600" b="1" dirty="0" smtClean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Wollongong, Australia</a:t>
            </a:r>
            <a:r>
              <a:rPr lang="en-US" altLang="en-US" sz="36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altLang="en-US" sz="3600" b="1" dirty="0" smtClean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Sept. 2016</a:t>
            </a:r>
            <a:endParaRPr lang="en-GB" altLang="en-US" sz="3600" b="1" dirty="0">
              <a:solidFill>
                <a:srgbClr val="00257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" name="Rectangle 1200"/>
          <p:cNvSpPr>
            <a:spLocks noChangeArrowheads="1"/>
          </p:cNvSpPr>
          <p:nvPr/>
        </p:nvSpPr>
        <p:spPr bwMode="auto">
          <a:xfrm>
            <a:off x="1295216" y="10615009"/>
            <a:ext cx="12618583" cy="1215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/>
          <a:lstStyle/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GB" altLang="en-US" sz="8000" b="1" dirty="0">
                <a:solidFill>
                  <a:srgbClr val="0025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/>
              </a:rPr>
              <a:t>Background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 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GIC enter PTNs through Power Transformers as quasi-dc currents (f &lt; 1 Hz)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Half-cycle saturation = many unwanted conditions in PTNs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Stray flux = hot spots, insulation degradation and gassing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Factory Testing with dc not practically feasible – excessive draw of Mvars</a:t>
            </a: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  <a:p>
            <a:pPr defTabSz="914400" fontAlgn="base"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en-US" sz="44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 GIC withstand design models are needed but validation with measurement data is the challenge </a:t>
            </a:r>
            <a:endParaRPr lang="en-GB" altLang="en-US" sz="4400" b="1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4237127" y="11501483"/>
            <a:ext cx="215900" cy="8929688"/>
          </a:xfrm>
          <a:prstGeom prst="rect">
            <a:avLst/>
          </a:prstGeom>
          <a:solidFill>
            <a:srgbClr val="002577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ZA"/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13959360" y="30888489"/>
            <a:ext cx="215900" cy="8929688"/>
          </a:xfrm>
          <a:prstGeom prst="rect">
            <a:avLst/>
          </a:prstGeom>
          <a:solidFill>
            <a:srgbClr val="002577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701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1788</TotalTime>
  <Words>311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Cape Town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45</cp:revision>
  <dcterms:created xsi:type="dcterms:W3CDTF">2016-09-15T16:01:04Z</dcterms:created>
  <dcterms:modified xsi:type="dcterms:W3CDTF">2016-09-29T15:28:03Z</dcterms:modified>
</cp:coreProperties>
</file>