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5784" cy="42803064"/>
  <p:notesSz cx="42803064" cy="3027578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0geda\OneDrive - University of Cape Town\Documents\PlatformIO\Projects\Tukzie-HPEC-HUD\Presentation\source\assets\uct_ban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30275784" cy="969264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97280" y="411480"/>
            <a:ext cx="2808122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EEE4022S Final Year Project 2026, Department of Electrical Engineering, University of Cape Town</a:t>
            </a:r>
            <a:endParaRPr lang="en-US" sz="3000" dirty="0"/>
          </a:p>
        </p:txBody>
      </p:sp>
      <p:sp>
        <p:nvSpPr>
          <p:cNvPr id="4" name="Text 1"/>
          <p:cNvSpPr txBox="1"/>
          <p:nvPr/>
        </p:nvSpPr>
        <p:spPr>
          <a:xfrm>
            <a:off x="1097280" y="1234440"/>
            <a:ext cx="28081224" cy="3017520"/>
          </a:xfrm>
          <a:prstGeom prst="rect">
            <a:avLst/>
          </a:prstGeom>
          <a:noFill/>
          <a:ln/>
          <a:effectLst>
            <a:outerShdw sx="100000" sy="100000" kx="0" ky="0" algn="bl" rotWithShape="0" blurRad="101600" dist="38100" dir="2700000">
              <a:srgbClr val="000000">
                <a:alpha val="5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of an Embedded HPEC Telemetry Unit</a:t>
            </a:r>
            <a:endParaRPr lang="en-US" sz="7800" dirty="0"/>
          </a:p>
          <a:p>
            <a:pPr algn="ctr" indent="0" marL="0">
              <a:buNone/>
            </a:pPr>
            <a:r>
              <a:rPr lang="en-US" sz="7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Dashboard Integration for the TUKZIE Rev 0 Platform</a:t>
            </a:r>
            <a:endParaRPr lang="en-US" sz="7800" dirty="0"/>
          </a:p>
        </p:txBody>
      </p:sp>
      <p:sp>
        <p:nvSpPr>
          <p:cNvPr id="5" name="Text 2"/>
          <p:cNvSpPr txBox="1"/>
          <p:nvPr/>
        </p:nvSpPr>
        <p:spPr>
          <a:xfrm>
            <a:off x="1097280" y="4434840"/>
            <a:ext cx="28081224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76200" dist="25400" dir="2700000">
              <a:srgbClr val="000000">
                <a:alpha val="6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Samson Okuthe (OKTSAM001)   |   Supervisor: A/Prof. Simon Winberg   |   Co-supervisor: Sampath Jayalath</a:t>
            </a:r>
            <a:endParaRPr lang="en-US" sz="3400" dirty="0"/>
          </a:p>
        </p:txBody>
      </p:sp>
      <p:sp>
        <p:nvSpPr>
          <p:cNvPr id="6" name="Shape 3"/>
          <p:cNvSpPr/>
          <p:nvPr/>
        </p:nvSpPr>
        <p:spPr>
          <a:xfrm>
            <a:off x="1097280" y="10515600"/>
            <a:ext cx="13629132" cy="6400800"/>
          </a:xfrm>
          <a:prstGeom prst="roundRect">
            <a:avLst>
              <a:gd name="adj" fmla="val 5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0200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600200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400" dirty="0"/>
          </a:p>
        </p:txBody>
      </p:sp>
      <p:sp>
        <p:nvSpPr>
          <p:cNvPr id="9" name="Text 6"/>
          <p:cNvSpPr txBox="1"/>
          <p:nvPr/>
        </p:nvSpPr>
        <p:spPr>
          <a:xfrm>
            <a:off x="3063240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</a:t>
            </a:r>
            <a:endParaRPr lang="en-US" sz="5600" dirty="0"/>
          </a:p>
        </p:txBody>
      </p:sp>
      <p:sp>
        <p:nvSpPr>
          <p:cNvPr id="10" name="Text 7"/>
          <p:cNvSpPr txBox="1"/>
          <p:nvPr/>
        </p:nvSpPr>
        <p:spPr>
          <a:xfrm>
            <a:off x="1737360" y="12527280"/>
            <a:ext cx="12348972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Electric cargo trikes are a low-cost route to last-mile freight in African cities, but their ride and road conditions go unmeasured.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Head-down displays draw the driver's eyes off the road; single glances should stay under 2 s.</a:t>
            </a:r>
            <a:endParaRPr lang="en-US" sz="32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32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Aim: a low-cost unit that characterises the trike's ride at the edge and gives the driver only safety-relevant alerts.</a:t>
            </a:r>
            <a:endParaRPr lang="en-US" sz="3200" dirty="0"/>
          </a:p>
        </p:txBody>
      </p:sp>
      <p:sp>
        <p:nvSpPr>
          <p:cNvPr id="11" name="Shape 8"/>
          <p:cNvSpPr/>
          <p:nvPr/>
        </p:nvSpPr>
        <p:spPr>
          <a:xfrm>
            <a:off x="1097280" y="17739360"/>
            <a:ext cx="13629132" cy="12229540"/>
          </a:xfrm>
          <a:prstGeom prst="roundRect">
            <a:avLst>
              <a:gd name="adj" fmla="val 261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600200" y="181965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600200" y="181965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181508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</a:t>
            </a:r>
            <a:endParaRPr lang="en-US" sz="5600" dirty="0"/>
          </a:p>
        </p:txBody>
      </p:sp>
      <p:pic>
        <p:nvPicPr>
          <p:cNvPr id="15" name="Image 1" descr="C:\Users\0geda\OneDrive - University of Cape Town\Documents\PlatformIO\Projects\Tukzie-HPEC-HUD\Presentation\source\assets\bench_labell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0" y="19751040"/>
            <a:ext cx="12348972" cy="902914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1737360" y="2891734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setup: ESP32-S3 telemetry unit with LTE modem, two IMUs, GNSS, BLE battery link and Hall counter; Raspberry Pi 4 with camera detector and three distance sensors, time-aligned by a sync-pulse wire; records stored in a central database on the Pi 5.</a:t>
            </a:r>
            <a:endParaRPr lang="en-US" sz="2400" dirty="0"/>
          </a:p>
        </p:txBody>
      </p:sp>
      <p:sp>
        <p:nvSpPr>
          <p:cNvPr id="17" name="Shape 13"/>
          <p:cNvSpPr/>
          <p:nvPr/>
        </p:nvSpPr>
        <p:spPr>
          <a:xfrm>
            <a:off x="1097280" y="30791860"/>
            <a:ext cx="13629132" cy="9176564"/>
          </a:xfrm>
          <a:prstGeom prst="roundRect">
            <a:avLst>
              <a:gd name="adj" fmla="val 348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1600200" y="3124906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600200" y="3124906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400" dirty="0"/>
          </a:p>
        </p:txBody>
      </p:sp>
      <p:sp>
        <p:nvSpPr>
          <p:cNvPr id="20" name="Text 16"/>
          <p:cNvSpPr txBox="1"/>
          <p:nvPr/>
        </p:nvSpPr>
        <p:spPr>
          <a:xfrm>
            <a:off x="3063240" y="3120334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</a:t>
            </a:r>
            <a:endParaRPr lang="en-US" sz="5600" dirty="0"/>
          </a:p>
        </p:txBody>
      </p:sp>
      <p:sp>
        <p:nvSpPr>
          <p:cNvPr id="21" name="Shape 17"/>
          <p:cNvSpPr/>
          <p:nvPr/>
        </p:nvSpPr>
        <p:spPr>
          <a:xfrm>
            <a:off x="1737360" y="3280354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103120" y="3280354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up each interface on the target board</a:t>
            </a:r>
            <a:endParaRPr lang="en-US" sz="3000" dirty="0"/>
          </a:p>
        </p:txBody>
      </p:sp>
      <p:sp>
        <p:nvSpPr>
          <p:cNvPr id="23" name="Shape 19"/>
          <p:cNvSpPr/>
          <p:nvPr/>
        </p:nvSpPr>
        <p:spPr>
          <a:xfrm>
            <a:off x="1737360" y="3403798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2103120" y="3403798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Acquire both IMUs at 200 Hz and calibrate them</a:t>
            </a:r>
            <a:endParaRPr lang="en-US" sz="3000" dirty="0"/>
          </a:p>
        </p:txBody>
      </p:sp>
      <p:sp>
        <p:nvSpPr>
          <p:cNvPr id="25" name="Shape 21"/>
          <p:cNvSpPr/>
          <p:nvPr/>
        </p:nvSpPr>
        <p:spPr>
          <a:xfrm>
            <a:off x="1737360" y="3527242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2103120" y="3527242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ride features and fuse the two IMUs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1737360" y="3650686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1565C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2103120" y="3650686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locally, publish over LTE, replay after an outage</a:t>
            </a:r>
            <a:endParaRPr lang="en-US" sz="3000" dirty="0"/>
          </a:p>
        </p:txBody>
      </p:sp>
      <p:sp>
        <p:nvSpPr>
          <p:cNvPr id="29" name="Shape 25"/>
          <p:cNvSpPr/>
          <p:nvPr/>
        </p:nvSpPr>
        <p:spPr>
          <a:xfrm>
            <a:off x="1737360" y="37741300"/>
            <a:ext cx="12348972" cy="96012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38100">
            <a:solidFill>
              <a:srgbClr val="D4700C"/>
            </a:solidFill>
            <a:prstDash val="dash"/>
          </a:ln>
        </p:spPr>
      </p:sp>
      <p:sp>
        <p:nvSpPr>
          <p:cNvPr id="30" name="Text 26"/>
          <p:cNvSpPr txBox="1"/>
          <p:nvPr/>
        </p:nvSpPr>
        <p:spPr>
          <a:xfrm>
            <a:off x="2103120" y="37741300"/>
            <a:ext cx="116174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470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</a:t>
            </a:r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on the moving vehicle</a:t>
            </a:r>
            <a:endParaRPr lang="en-US" sz="3000" dirty="0"/>
          </a:p>
        </p:txBody>
      </p:sp>
      <p:sp>
        <p:nvSpPr>
          <p:cNvPr id="31" name="Text 27"/>
          <p:cNvSpPr txBox="1"/>
          <p:nvPr/>
        </p:nvSpPr>
        <p:spPr>
          <a:xfrm>
            <a:off x="1737360" y="39021460"/>
            <a:ext cx="123489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tested before the next is built on it. Stage 5: road test planned for 14 October.</a:t>
            </a:r>
            <a:endParaRPr lang="en-US" sz="2400" dirty="0"/>
          </a:p>
        </p:txBody>
      </p:sp>
      <p:sp>
        <p:nvSpPr>
          <p:cNvPr id="32" name="Shape 28"/>
          <p:cNvSpPr/>
          <p:nvPr/>
        </p:nvSpPr>
        <p:spPr>
          <a:xfrm>
            <a:off x="15549372" y="10515600"/>
            <a:ext cx="13629132" cy="13903810"/>
          </a:xfrm>
          <a:prstGeom prst="roundRect">
            <a:avLst>
              <a:gd name="adj" fmla="val 2348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6052292" y="1097280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16052292" y="1097280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400" dirty="0"/>
          </a:p>
        </p:txBody>
      </p:sp>
      <p:sp>
        <p:nvSpPr>
          <p:cNvPr id="35" name="Text 31"/>
          <p:cNvSpPr txBox="1"/>
          <p:nvPr/>
        </p:nvSpPr>
        <p:spPr>
          <a:xfrm>
            <a:off x="17515332" y="1092708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results</a:t>
            </a:r>
            <a:endParaRPr lang="en-US" sz="5600" dirty="0"/>
          </a:p>
        </p:txBody>
      </p:sp>
      <p:sp>
        <p:nvSpPr>
          <p:cNvPr id="36" name="Shape 32"/>
          <p:cNvSpPr/>
          <p:nvPr/>
        </p:nvSpPr>
        <p:spPr>
          <a:xfrm>
            <a:off x="16189452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16463772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Hz</a:t>
            </a:r>
            <a:endParaRPr lang="en-US" sz="6600" dirty="0"/>
          </a:p>
        </p:txBody>
      </p:sp>
      <p:sp>
        <p:nvSpPr>
          <p:cNvPr id="38" name="Text 34"/>
          <p:cNvSpPr txBox="1"/>
          <p:nvPr/>
        </p:nvSpPr>
        <p:spPr>
          <a:xfrm>
            <a:off x="16463772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IMUs, no samples dropped; 149 of 149 windows fused</a:t>
            </a:r>
            <a:endParaRPr lang="en-US" sz="2600" dirty="0"/>
          </a:p>
        </p:txBody>
      </p:sp>
      <p:sp>
        <p:nvSpPr>
          <p:cNvPr id="39" name="Shape 35"/>
          <p:cNvSpPr/>
          <p:nvPr/>
        </p:nvSpPr>
        <p:spPr>
          <a:xfrm>
            <a:off x="22592538" y="1252728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22866858" y="1271016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ms</a:t>
            </a:r>
            <a:endParaRPr lang="en-US" sz="6600" dirty="0"/>
          </a:p>
        </p:txBody>
      </p:sp>
      <p:sp>
        <p:nvSpPr>
          <p:cNvPr id="41" name="Text 37"/>
          <p:cNvSpPr txBox="1"/>
          <p:nvPr/>
        </p:nvSpPr>
        <p:spPr>
          <a:xfrm>
            <a:off x="22866858" y="1412748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camera latency in the full system at 14.6 fps (detector alone: 102 ms)</a:t>
            </a:r>
            <a:endParaRPr lang="en-US" sz="2600" dirty="0"/>
          </a:p>
        </p:txBody>
      </p:sp>
      <p:sp>
        <p:nvSpPr>
          <p:cNvPr id="42" name="Shape 38"/>
          <p:cNvSpPr/>
          <p:nvPr/>
        </p:nvSpPr>
        <p:spPr>
          <a:xfrm>
            <a:off x="16189452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6463772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2.7 m</a:t>
            </a:r>
            <a:endParaRPr lang="en-US" sz="6600" dirty="0"/>
          </a:p>
        </p:txBody>
      </p:sp>
      <p:sp>
        <p:nvSpPr>
          <p:cNvPr id="44" name="Text 40"/>
          <p:cNvSpPr txBox="1"/>
          <p:nvPr/>
        </p:nvSpPr>
        <p:spPr>
          <a:xfrm>
            <a:off x="16463772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GNSS error against a phone, 104 fixes</a:t>
            </a:r>
            <a:endParaRPr lang="en-US" sz="2600" dirty="0"/>
          </a:p>
        </p:txBody>
      </p:sp>
      <p:sp>
        <p:nvSpPr>
          <p:cNvPr id="45" name="Shape 41"/>
          <p:cNvSpPr/>
          <p:nvPr/>
        </p:nvSpPr>
        <p:spPr>
          <a:xfrm>
            <a:off x="22592538" y="15681960"/>
            <a:ext cx="5945886" cy="2788920"/>
          </a:xfrm>
          <a:prstGeom prst="roundRect">
            <a:avLst>
              <a:gd name="adj" fmla="val 65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22866858" y="15864840"/>
            <a:ext cx="539724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 / 112</a:t>
            </a:r>
            <a:endParaRPr lang="en-US" sz="6600" dirty="0"/>
          </a:p>
        </p:txBody>
      </p:sp>
      <p:sp>
        <p:nvSpPr>
          <p:cNvPr id="47" name="Text 43"/>
          <p:cNvSpPr txBox="1"/>
          <p:nvPr/>
        </p:nvSpPr>
        <p:spPr>
          <a:xfrm>
            <a:off x="22866858" y="17282160"/>
            <a:ext cx="539724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stored in the database across a 10-minute LTE outage</a:t>
            </a:r>
            <a:endParaRPr lang="en-US" sz="2600" dirty="0"/>
          </a:p>
        </p:txBody>
      </p:sp>
      <p:pic>
        <p:nvPicPr>
          <p:cNvPr id="48" name="Image 2" descr="C:\Users\0geda\OneDrive - University of Cape Town\Documents\PlatformIO\Projects\Tukzie-HPEC-HUD\Presentation\source\assets\vibrati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89452" y="19019520"/>
            <a:ext cx="12348972" cy="4211170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16189452" y="23367850"/>
            <a:ext cx="123489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4A55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Recorded 150 s bench session: board still, then disturbed by hand from about 75 s. The fused estimate (green) sits between the two sensors.</a:t>
            </a:r>
            <a:endParaRPr lang="en-US" sz="2400" dirty="0"/>
          </a:p>
        </p:txBody>
      </p:sp>
      <p:sp>
        <p:nvSpPr>
          <p:cNvPr id="50" name="Shape 45"/>
          <p:cNvSpPr/>
          <p:nvPr/>
        </p:nvSpPr>
        <p:spPr>
          <a:xfrm>
            <a:off x="15549372" y="25242370"/>
            <a:ext cx="13629132" cy="8961120"/>
          </a:xfrm>
          <a:prstGeom prst="roundRect">
            <a:avLst>
              <a:gd name="adj" fmla="val 357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1" name="Shape 46"/>
          <p:cNvSpPr/>
          <p:nvPr/>
        </p:nvSpPr>
        <p:spPr>
          <a:xfrm>
            <a:off x="16052292" y="2569957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2" name="Text 47"/>
          <p:cNvSpPr txBox="1"/>
          <p:nvPr/>
        </p:nvSpPr>
        <p:spPr>
          <a:xfrm>
            <a:off x="16052292" y="2569957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53" name="Text 48"/>
          <p:cNvSpPr txBox="1"/>
          <p:nvPr/>
        </p:nvSpPr>
        <p:spPr>
          <a:xfrm>
            <a:off x="17515332" y="2565385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Fault investigations</a:t>
            </a:r>
            <a:endParaRPr lang="en-US" sz="5600" dirty="0"/>
          </a:p>
        </p:txBody>
      </p:sp>
      <p:sp>
        <p:nvSpPr>
          <p:cNvPr id="54" name="Text 49"/>
          <p:cNvSpPr txBox="1"/>
          <p:nvPr/>
        </p:nvSpPr>
        <p:spPr>
          <a:xfrm>
            <a:off x="16189452" y="27254050"/>
            <a:ext cx="12348972" cy="6766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 loop: flash asked for quad mode on a dual-mode chip; size, mode and table now set together.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GNSS reply layout not as assumed; the parser anchors on the hemisphere letter (2.7 m median).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Battery checksum summed one byte too many, so every frame failed by 3; fixed, 74.78 V read.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92% of logged records were invalid JSON (nan); read-back proved transfer intact; now null.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Pink image: no infrared-cut filter on the camera; NoIR tuning and saturation 1.8.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stuck distance sensor froze all three; 0.5 s timeout, wiring re-seated.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 4 reboots: power flags logged every 2 s showed the modem's current drawn through the Pi's USB; the unit needs its own supply.</a:t>
            </a:r>
            <a:endParaRPr lang="en-US" sz="25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5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Outage test: the ingest's broker session silently stopped delivery; made opt-in, records backfilled.</a:t>
            </a:r>
            <a:endParaRPr lang="en-US" sz="2500" dirty="0"/>
          </a:p>
        </p:txBody>
      </p:sp>
      <p:sp>
        <p:nvSpPr>
          <p:cNvPr id="55" name="Shape 50"/>
          <p:cNvSpPr/>
          <p:nvPr/>
        </p:nvSpPr>
        <p:spPr>
          <a:xfrm>
            <a:off x="15549372" y="35026450"/>
            <a:ext cx="13629132" cy="4941974"/>
          </a:xfrm>
          <a:prstGeom prst="roundRect">
            <a:avLst>
              <a:gd name="adj" fmla="val 647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6" name="Shape 51"/>
          <p:cNvSpPr/>
          <p:nvPr/>
        </p:nvSpPr>
        <p:spPr>
          <a:xfrm>
            <a:off x="16052292" y="35483650"/>
            <a:ext cx="1143000" cy="1143000"/>
          </a:xfrm>
          <a:prstGeom prst="ellipse">
            <a:avLst/>
          </a:prstGeom>
          <a:solidFill>
            <a:srgbClr val="14305C"/>
          </a:solidFill>
          <a:ln w="12700">
            <a:solidFill>
              <a:srgbClr val="14305C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16052292" y="3548365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400" dirty="0"/>
          </a:p>
        </p:txBody>
      </p:sp>
      <p:sp>
        <p:nvSpPr>
          <p:cNvPr id="58" name="Text 53"/>
          <p:cNvSpPr txBox="1"/>
          <p:nvPr/>
        </p:nvSpPr>
        <p:spPr>
          <a:xfrm>
            <a:off x="17515332" y="35437930"/>
            <a:ext cx="1125169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and next steps</a:t>
            </a:r>
            <a:endParaRPr lang="en-US" sz="5600" dirty="0"/>
          </a:p>
        </p:txBody>
      </p:sp>
      <p:sp>
        <p:nvSpPr>
          <p:cNvPr id="59" name="Text 54"/>
          <p:cNvSpPr txBox="1"/>
          <p:nvPr/>
        </p:nvSpPr>
        <p:spPr>
          <a:xfrm>
            <a:off x="16189452" y="37038130"/>
            <a:ext cx="12348972" cy="27474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subsystem runs together on the target hardware; hazards, navigation and destination search run on the existing dashboard (Pi 5).</a:t>
            </a:r>
            <a:endParaRPr lang="en-US" sz="26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Firmware v0.7.4: no record lost across a 10-minute outage. Pothole path built, off by default: too slow beside the detector on a Pi 4.</a:t>
            </a:r>
            <a:endParaRPr lang="en-US" sz="2600" dirty="0"/>
          </a:p>
          <a:p>
            <a:pPr marL="406400" indent="-406400">
              <a:spcAft>
                <a:spcPts val="1400"/>
              </a:spcAft>
              <a:buSzPct val="100000"/>
              <a:buChar char="•"/>
            </a:pPr>
            <a:r>
              <a:rPr lang="en-US" sz="2600" dirty="0">
                <a:solidFill>
                  <a:srgbClr val="1B1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road test (planned 14 Oct), recalibrate, end-to-end latency with GNSS time, RQ1, RQ3 and RQ4 on the move, glance time.</a:t>
            </a:r>
            <a:endParaRPr lang="en-US" sz="2600" dirty="0"/>
          </a:p>
        </p:txBody>
      </p:sp>
      <p:pic>
        <p:nvPicPr>
          <p:cNvPr id="60" name="Image 3" descr="C:\Users\0geda\OneDrive - University of Cape Town\Documents\PlatformIO\Projects\Tukzie-HPEC-HUD\Presentation\source\assets\uct_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40288464"/>
            <a:ext cx="2103120" cy="2139696"/>
          </a:xfrm>
          <a:prstGeom prst="rect">
            <a:avLst/>
          </a:prstGeom>
        </p:spPr>
      </p:pic>
      <p:sp>
        <p:nvSpPr>
          <p:cNvPr id="61" name="Text 55"/>
          <p:cNvSpPr txBox="1"/>
          <p:nvPr/>
        </p:nvSpPr>
        <p:spPr>
          <a:xfrm>
            <a:off x="3749040" y="40882824"/>
            <a:ext cx="254294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430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Electrical Engineering, University of Cape Town   |   EEE4022S 2026   |   Project SW-7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SW7 poster: Embedded HPEC telemetry unit and dashboard integration for the TUKZIE Rev 0</dc:title>
  <dc:subject>PptxGenJS Presentation</dc:subject>
  <dc:creator>PptxGenJS</dc:creator>
  <cp:lastModifiedBy>PptxGenJS</cp:lastModifiedBy>
  <cp:revision>1</cp:revision>
  <dcterms:created xsi:type="dcterms:W3CDTF">2026-10-11T07:55:24Z</dcterms:created>
  <dcterms:modified xsi:type="dcterms:W3CDTF">2026-10-11T07:55:24Z</dcterms:modified>
</cp:coreProperties>
</file>