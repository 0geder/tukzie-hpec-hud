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5784" cy="42803064"/>
  <p:notesSz cx="42803064" cy="302757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0geda\OneDrive - University of Cape Town\Documents\PlatformIO\Projects\Tukzie-HPEC-HUD\Presentation\source\assets\uct_bann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0275784" cy="96926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11480"/>
            <a:ext cx="28081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EEE4022S Final Year Project 2026, Department of Electrical Engineering, University of Cape Town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1234440"/>
            <a:ext cx="28081224" cy="301752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Embedded Telemetry Unit and Windshield HUD</a:t>
            </a:r>
            <a:endParaRPr lang="en-US" sz="7800" dirty="0"/>
          </a:p>
          <a:p>
            <a:pPr algn="ctr"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TUKZIE Rev 0 Electric Cargo Trike</a:t>
            </a:r>
            <a:endParaRPr lang="en-US" sz="78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434840"/>
            <a:ext cx="28081224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25400" dir="2700000">
              <a:srgbClr val="0000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Samson Okuthe (OKTSAM001)   |   Supervisor: A/Prof. Simon Winberg   |   Co-supervisor: Sampath Jayalath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97280" y="10515600"/>
            <a:ext cx="13629132" cy="6400800"/>
          </a:xfrm>
          <a:prstGeom prst="roundRect">
            <a:avLst>
              <a:gd name="adj" fmla="val 50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00200" y="1097280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00200" y="10972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3063240" y="1092708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5600" dirty="0"/>
          </a:p>
        </p:txBody>
      </p:sp>
      <p:sp>
        <p:nvSpPr>
          <p:cNvPr id="10" name="Text 7"/>
          <p:cNvSpPr txBox="1"/>
          <p:nvPr/>
        </p:nvSpPr>
        <p:spPr>
          <a:xfrm>
            <a:off x="1737360" y="12527280"/>
            <a:ext cx="1234897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2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 cargo trikes are a low-cost route to last-mile freight in African cities, but their ride and road conditions go unmeasured.</a:t>
            </a:r>
            <a:endParaRPr lang="en-US" sz="32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2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Head-down displays draw the driver's eyes off the road; single glances should stay under 2 s.</a:t>
            </a:r>
            <a:endParaRPr lang="en-US" sz="32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2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a low-cost unit that characterises the trike's ride at the edge and gives the driver only safety-relevant alerts.</a:t>
            </a:r>
            <a:endParaRPr lang="en-US" sz="3200" dirty="0"/>
          </a:p>
        </p:txBody>
      </p:sp>
      <p:sp>
        <p:nvSpPr>
          <p:cNvPr id="11" name="Shape 8"/>
          <p:cNvSpPr/>
          <p:nvPr/>
        </p:nvSpPr>
        <p:spPr>
          <a:xfrm>
            <a:off x="1097280" y="17739360"/>
            <a:ext cx="13629132" cy="12229540"/>
          </a:xfrm>
          <a:prstGeom prst="roundRect">
            <a:avLst>
              <a:gd name="adj" fmla="val 2617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600200" y="1819656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600200" y="181965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3063240" y="1815084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endParaRPr lang="en-US" sz="5600" dirty="0"/>
          </a:p>
        </p:txBody>
      </p:sp>
      <p:pic>
        <p:nvPicPr>
          <p:cNvPr id="15" name="Image 1" descr="C:\Users\0geda\OneDrive - University of Cape Town\Documents\PlatformIO\Projects\Tukzie-HPEC-HUD\Presentation\source\assets\bench_labell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9751040"/>
            <a:ext cx="12348972" cy="902914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737360" y="28917340"/>
            <a:ext cx="123489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setup: ESP32-S3 telemetry unit with LTE modem, two IMUs, GNSS, BLE battery link and Hall counter; Raspberry Pi 4 with camera detector and three distance sensors, time-aligned by a sync-pulse wire.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1097280" y="30791860"/>
            <a:ext cx="13629132" cy="9176564"/>
          </a:xfrm>
          <a:prstGeom prst="roundRect">
            <a:avLst>
              <a:gd name="adj" fmla="val 3488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600200" y="3124906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600200" y="312490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20" name="Text 16"/>
          <p:cNvSpPr txBox="1"/>
          <p:nvPr/>
        </p:nvSpPr>
        <p:spPr>
          <a:xfrm>
            <a:off x="3063240" y="3120334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5600" dirty="0"/>
          </a:p>
        </p:txBody>
      </p:sp>
      <p:sp>
        <p:nvSpPr>
          <p:cNvPr id="21" name="Shape 17"/>
          <p:cNvSpPr/>
          <p:nvPr/>
        </p:nvSpPr>
        <p:spPr>
          <a:xfrm>
            <a:off x="1737360" y="3280354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103120" y="3280354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up each interface on the target board</a:t>
            </a:r>
            <a:endParaRPr lang="en-US" sz="3000" dirty="0"/>
          </a:p>
        </p:txBody>
      </p:sp>
      <p:sp>
        <p:nvSpPr>
          <p:cNvPr id="23" name="Shape 19"/>
          <p:cNvSpPr/>
          <p:nvPr/>
        </p:nvSpPr>
        <p:spPr>
          <a:xfrm>
            <a:off x="1737360" y="3403798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103120" y="3403798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 both IMUs at 200 Hz and calibrate them</a:t>
            </a:r>
            <a:endParaRPr lang="en-US" sz="3000" dirty="0"/>
          </a:p>
        </p:txBody>
      </p:sp>
      <p:sp>
        <p:nvSpPr>
          <p:cNvPr id="25" name="Shape 21"/>
          <p:cNvSpPr/>
          <p:nvPr/>
        </p:nvSpPr>
        <p:spPr>
          <a:xfrm>
            <a:off x="1737360" y="3527242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103120" y="3527242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ride features and fuse the two IMUs</a:t>
            </a:r>
            <a:endParaRPr lang="en-US" sz="3000" dirty="0"/>
          </a:p>
        </p:txBody>
      </p:sp>
      <p:sp>
        <p:nvSpPr>
          <p:cNvPr id="27" name="Shape 23"/>
          <p:cNvSpPr/>
          <p:nvPr/>
        </p:nvSpPr>
        <p:spPr>
          <a:xfrm>
            <a:off x="1737360" y="3650686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103120" y="3650686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locally and publish over LTE</a:t>
            </a:r>
            <a:endParaRPr lang="en-US" sz="3000" dirty="0"/>
          </a:p>
        </p:txBody>
      </p:sp>
      <p:sp>
        <p:nvSpPr>
          <p:cNvPr id="29" name="Shape 25"/>
          <p:cNvSpPr/>
          <p:nvPr/>
        </p:nvSpPr>
        <p:spPr>
          <a:xfrm>
            <a:off x="1737360" y="3774130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D4700C"/>
            </a:solidFill>
            <a:prstDash val="dash"/>
          </a:ln>
        </p:spPr>
      </p:sp>
      <p:sp>
        <p:nvSpPr>
          <p:cNvPr id="30" name="Text 26"/>
          <p:cNvSpPr txBox="1"/>
          <p:nvPr/>
        </p:nvSpPr>
        <p:spPr>
          <a:xfrm>
            <a:off x="2103120" y="3774130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70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on the moving vehicle</a:t>
            </a:r>
            <a:endParaRPr lang="en-US" sz="3000" dirty="0"/>
          </a:p>
        </p:txBody>
      </p:sp>
      <p:sp>
        <p:nvSpPr>
          <p:cNvPr id="31" name="Text 27"/>
          <p:cNvSpPr txBox="1"/>
          <p:nvPr/>
        </p:nvSpPr>
        <p:spPr>
          <a:xfrm>
            <a:off x="1737360" y="39021460"/>
            <a:ext cx="123489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is tested before the next is built on it. Stage 5 is still to come.</a:t>
            </a:r>
            <a:endParaRPr lang="en-US" sz="2400" dirty="0"/>
          </a:p>
        </p:txBody>
      </p:sp>
      <p:sp>
        <p:nvSpPr>
          <p:cNvPr id="32" name="Shape 28"/>
          <p:cNvSpPr/>
          <p:nvPr/>
        </p:nvSpPr>
        <p:spPr>
          <a:xfrm>
            <a:off x="15549372" y="10515600"/>
            <a:ext cx="13629132" cy="13903810"/>
          </a:xfrm>
          <a:prstGeom prst="roundRect">
            <a:avLst>
              <a:gd name="adj" fmla="val 2348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6052292" y="1097280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16052292" y="10972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400" dirty="0"/>
          </a:p>
        </p:txBody>
      </p:sp>
      <p:sp>
        <p:nvSpPr>
          <p:cNvPr id="35" name="Text 31"/>
          <p:cNvSpPr txBox="1"/>
          <p:nvPr/>
        </p:nvSpPr>
        <p:spPr>
          <a:xfrm>
            <a:off x="17515332" y="1092708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results</a:t>
            </a:r>
            <a:endParaRPr lang="en-US" sz="5600" dirty="0"/>
          </a:p>
        </p:txBody>
      </p:sp>
      <p:sp>
        <p:nvSpPr>
          <p:cNvPr id="36" name="Shape 32"/>
          <p:cNvSpPr/>
          <p:nvPr/>
        </p:nvSpPr>
        <p:spPr>
          <a:xfrm>
            <a:off x="16189452" y="1252728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6463772" y="1271016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Hz</a:t>
            </a:r>
            <a:endParaRPr lang="en-US" sz="6600" dirty="0"/>
          </a:p>
        </p:txBody>
      </p:sp>
      <p:sp>
        <p:nvSpPr>
          <p:cNvPr id="38" name="Text 34"/>
          <p:cNvSpPr txBox="1"/>
          <p:nvPr/>
        </p:nvSpPr>
        <p:spPr>
          <a:xfrm>
            <a:off x="16463772" y="1412748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IMUs, zero dropped samples</a:t>
            </a:r>
            <a:endParaRPr lang="en-US" sz="2600" dirty="0"/>
          </a:p>
        </p:txBody>
      </p:sp>
      <p:sp>
        <p:nvSpPr>
          <p:cNvPr id="39" name="Shape 35"/>
          <p:cNvSpPr/>
          <p:nvPr/>
        </p:nvSpPr>
        <p:spPr>
          <a:xfrm>
            <a:off x="22592538" y="1252728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22866858" y="1271016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 ms</a:t>
            </a:r>
            <a:endParaRPr lang="en-US" sz="6600" dirty="0"/>
          </a:p>
        </p:txBody>
      </p:sp>
      <p:sp>
        <p:nvSpPr>
          <p:cNvPr id="41" name="Text 37"/>
          <p:cNvSpPr txBox="1"/>
          <p:nvPr/>
        </p:nvSpPr>
        <p:spPr>
          <a:xfrm>
            <a:off x="22866858" y="1412748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camera latency, sensor to result, at 19.5 fps</a:t>
            </a:r>
            <a:endParaRPr lang="en-US" sz="2600" dirty="0"/>
          </a:p>
        </p:txBody>
      </p:sp>
      <p:sp>
        <p:nvSpPr>
          <p:cNvPr id="42" name="Shape 38"/>
          <p:cNvSpPr/>
          <p:nvPr/>
        </p:nvSpPr>
        <p:spPr>
          <a:xfrm>
            <a:off x="16189452" y="1568196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6463772" y="1586484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 m</a:t>
            </a:r>
            <a:endParaRPr lang="en-US" sz="6600" dirty="0"/>
          </a:p>
        </p:txBody>
      </p:sp>
      <p:sp>
        <p:nvSpPr>
          <p:cNvPr id="44" name="Text 40"/>
          <p:cNvSpPr txBox="1"/>
          <p:nvPr/>
        </p:nvSpPr>
        <p:spPr>
          <a:xfrm>
            <a:off x="16463772" y="1728216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GNSS error against a phone, 104 fixes</a:t>
            </a:r>
            <a:endParaRPr lang="en-US" sz="2600" dirty="0"/>
          </a:p>
        </p:txBody>
      </p:sp>
      <p:sp>
        <p:nvSpPr>
          <p:cNvPr id="45" name="Shape 41"/>
          <p:cNvSpPr/>
          <p:nvPr/>
        </p:nvSpPr>
        <p:spPr>
          <a:xfrm>
            <a:off x="22592538" y="1568196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22866858" y="1586484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 / 149</a:t>
            </a:r>
            <a:endParaRPr lang="en-US" sz="6600" dirty="0"/>
          </a:p>
        </p:txBody>
      </p:sp>
      <p:sp>
        <p:nvSpPr>
          <p:cNvPr id="47" name="Text 43"/>
          <p:cNvSpPr txBox="1"/>
          <p:nvPr/>
        </p:nvSpPr>
        <p:spPr>
          <a:xfrm>
            <a:off x="22866858" y="1728216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fused from both IMUs</a:t>
            </a:r>
            <a:endParaRPr lang="en-US" sz="2600" dirty="0"/>
          </a:p>
        </p:txBody>
      </p:sp>
      <p:pic>
        <p:nvPicPr>
          <p:cNvPr id="48" name="Image 2" descr="C:\Users\0geda\OneDrive - University of Cape Town\Documents\PlatformIO\Projects\Tukzie-HPEC-HUD\Presentation\source\assets\vibration_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89452" y="19019520"/>
            <a:ext cx="12348972" cy="4211170"/>
          </a:xfrm>
          <a:prstGeom prst="rect">
            <a:avLst/>
          </a:prstGeom>
        </p:spPr>
      </p:pic>
      <p:sp>
        <p:nvSpPr>
          <p:cNvPr id="49" name="Text 44"/>
          <p:cNvSpPr txBox="1"/>
          <p:nvPr/>
        </p:nvSpPr>
        <p:spPr>
          <a:xfrm>
            <a:off x="16189452" y="23367850"/>
            <a:ext cx="123489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150 s bench session: board still, then disturbed by hand from about 75 s. The fused estimate (green) sits between the two sensors.</a:t>
            </a:r>
            <a:endParaRPr lang="en-US" sz="2400" dirty="0"/>
          </a:p>
        </p:txBody>
      </p:sp>
      <p:sp>
        <p:nvSpPr>
          <p:cNvPr id="50" name="Shape 45"/>
          <p:cNvSpPr/>
          <p:nvPr/>
        </p:nvSpPr>
        <p:spPr>
          <a:xfrm>
            <a:off x="15549372" y="25242370"/>
            <a:ext cx="13629132" cy="8229600"/>
          </a:xfrm>
          <a:prstGeom prst="roundRect">
            <a:avLst>
              <a:gd name="adj" fmla="val 3889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1" name="Shape 46"/>
          <p:cNvSpPr/>
          <p:nvPr/>
        </p:nvSpPr>
        <p:spPr>
          <a:xfrm>
            <a:off x="16052292" y="2569957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16052292" y="2569957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400" dirty="0"/>
          </a:p>
        </p:txBody>
      </p:sp>
      <p:sp>
        <p:nvSpPr>
          <p:cNvPr id="53" name="Text 48"/>
          <p:cNvSpPr txBox="1"/>
          <p:nvPr/>
        </p:nvSpPr>
        <p:spPr>
          <a:xfrm>
            <a:off x="17515332" y="2565385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</a:t>
            </a:r>
            <a:endParaRPr lang="en-US" sz="5600" dirty="0"/>
          </a:p>
        </p:txBody>
      </p:sp>
      <p:sp>
        <p:nvSpPr>
          <p:cNvPr id="54" name="Text 49"/>
          <p:cNvSpPr txBox="1"/>
          <p:nvPr/>
        </p:nvSpPr>
        <p:spPr>
          <a:xfrm>
            <a:off x="16189452" y="27254050"/>
            <a:ext cx="12348972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GNSS reply layout differed from the one assumed, so satellite counts were read as the position; the parser was rewritten.</a:t>
            </a:r>
            <a:endParaRPr lang="en-US" sz="27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checksum included one byte too many, so every real frame failed; fixed and confirmed on the pack.</a:t>
            </a:r>
            <a:endParaRPr lang="en-US" sz="27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writes stalled both IMUs (proved by switching the log off); the log is now buffered and written once a minute.</a:t>
            </a:r>
            <a:endParaRPr lang="en-US" sz="27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Pink image: the camera has no infrared filter; the NoIR tuning plus saturation 1.8 restores the colours.</a:t>
            </a:r>
            <a:endParaRPr lang="en-US" sz="27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records held nan, which is not valid JSON; now written as null.</a:t>
            </a:r>
            <a:endParaRPr lang="en-US" sz="2700" dirty="0"/>
          </a:p>
        </p:txBody>
      </p:sp>
      <p:sp>
        <p:nvSpPr>
          <p:cNvPr id="55" name="Shape 50"/>
          <p:cNvSpPr/>
          <p:nvPr/>
        </p:nvSpPr>
        <p:spPr>
          <a:xfrm>
            <a:off x="15549372" y="34294930"/>
            <a:ext cx="13629132" cy="5673494"/>
          </a:xfrm>
          <a:prstGeom prst="roundRect">
            <a:avLst>
              <a:gd name="adj" fmla="val 564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6" name="Shape 51"/>
          <p:cNvSpPr/>
          <p:nvPr/>
        </p:nvSpPr>
        <p:spPr>
          <a:xfrm>
            <a:off x="16052292" y="3475213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57" name="Text 52"/>
          <p:cNvSpPr txBox="1"/>
          <p:nvPr/>
        </p:nvSpPr>
        <p:spPr>
          <a:xfrm>
            <a:off x="16052292" y="3475213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400" dirty="0"/>
          </a:p>
        </p:txBody>
      </p:sp>
      <p:sp>
        <p:nvSpPr>
          <p:cNvPr id="58" name="Text 53"/>
          <p:cNvSpPr txBox="1"/>
          <p:nvPr/>
        </p:nvSpPr>
        <p:spPr>
          <a:xfrm>
            <a:off x="17515332" y="3470641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and next steps</a:t>
            </a:r>
            <a:endParaRPr lang="en-US" sz="5600" dirty="0"/>
          </a:p>
        </p:txBody>
      </p:sp>
      <p:sp>
        <p:nvSpPr>
          <p:cNvPr id="59" name="Text 54"/>
          <p:cNvSpPr txBox="1"/>
          <p:nvPr/>
        </p:nvSpPr>
        <p:spPr>
          <a:xfrm>
            <a:off x="16189452" y="36306610"/>
            <a:ext cx="12348972" cy="3387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subsystem runs together on the target board; camera alerts reach the existing dashboard in about 0.1 s.</a:t>
            </a:r>
            <a:endParaRPr lang="en-US" sz="27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mount on the trike, recalibrate in place, and run the field test for the ride and latency questions.</a:t>
            </a:r>
            <a:endParaRPr lang="en-US" sz="2700" dirty="0"/>
          </a:p>
        </p:txBody>
      </p:sp>
      <p:pic>
        <p:nvPicPr>
          <p:cNvPr id="60" name="Image 3" descr="C:\Users\0geda\OneDrive - University of Cape Town\Documents\PlatformIO\Projects\Tukzie-HPEC-HUD\Presentation\source\assets\uct_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40288464"/>
            <a:ext cx="2103120" cy="2139696"/>
          </a:xfrm>
          <a:prstGeom prst="rect">
            <a:avLst/>
          </a:prstGeom>
        </p:spPr>
      </p:pic>
      <p:sp>
        <p:nvSpPr>
          <p:cNvPr id="61" name="Text 55"/>
          <p:cNvSpPr txBox="1"/>
          <p:nvPr/>
        </p:nvSpPr>
        <p:spPr>
          <a:xfrm>
            <a:off x="3749040" y="40882824"/>
            <a:ext cx="25429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Electrical Engineering, University of Cape Town   |   EEE4022S 2026   |   Project SW-7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SW7 poster: Embedded telemetry unit and windshield HUD for the TUKZIE Rev 0</dc:title>
  <dc:subject>PptxGenJS Presentation</dc:subject>
  <dc:creator>PptxGenJS</dc:creator>
  <cp:lastModifiedBy>PptxGenJS</cp:lastModifiedBy>
  <cp:revision>1</cp:revision>
  <dcterms:created xsi:type="dcterms:W3CDTF">2026-10-01T09:42:34Z</dcterms:created>
  <dcterms:modified xsi:type="dcterms:W3CDTF">2026-10-01T09:42:34Z</dcterms:modified>
</cp:coreProperties>
</file>