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Telemetry, Road-Surface Characterisation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Camera-Based Hazard Detection for the TUKZIE Electric Tricycle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035040"/>
          </a:xfrm>
          <a:prstGeom prst="roundRect">
            <a:avLst>
              <a:gd name="adj" fmla="val 530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ride at the edge and gives the driver only safety-relevant alerts, each stage tested before the next.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1097280" y="17373600"/>
            <a:ext cx="13629132" cy="9144000"/>
          </a:xfrm>
          <a:prstGeom prst="roundRect">
            <a:avLst>
              <a:gd name="adj" fmla="val 35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7830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7830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7785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System: front and rear</a:t>
            </a:r>
            <a:endParaRPr lang="en-US" sz="5600" dirty="0"/>
          </a:p>
        </p:txBody>
      </p:sp>
      <p:sp>
        <p:nvSpPr>
          <p:cNvPr id="15" name="Shape 12"/>
          <p:cNvSpPr/>
          <p:nvPr/>
        </p:nvSpPr>
        <p:spPr>
          <a:xfrm>
            <a:off x="1737360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57400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Raspberry Pi 5,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dashboard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57400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 and object detector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Time-of-flight board and camera fusion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on the 10.1 in touchscreen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recorder for all four sources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283446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3486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Rear: Raspberry Pi 4,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the battery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9603486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camera, detector and time-of-flight board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unit: ESP32-S3 with LTE and GNSS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IMUs at 200 Hz; battery over Bluetooth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log and LTE uplink to a database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23126" y="22265640"/>
            <a:ext cx="2377440" cy="0"/>
          </a:xfrm>
          <a:prstGeom prst="line">
            <a:avLst/>
          </a:prstGeom>
          <a:noFill/>
          <a:ln w="63500">
            <a:solidFill>
              <a:srgbClr val="14305C"/>
            </a:solidFill>
            <a:prstDash val="solid"/>
            <a:headEnd type="triangl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23126" y="21396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6723126" y="22494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 Mb/s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 to 0.25 ms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25374600"/>
            <a:ext cx="123489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since 15 October: the battery's Bluetooth did not reach the front, and the Pi 5 runs the detector more than twice as fast.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1097280" y="27340560"/>
            <a:ext cx="13629132" cy="12627864"/>
          </a:xfrm>
          <a:prstGeom prst="roundRect">
            <a:avLst>
              <a:gd name="adj" fmla="val 25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00200" y="277977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600200" y="277977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5"/>
          <p:cNvSpPr txBox="1"/>
          <p:nvPr/>
        </p:nvSpPr>
        <p:spPr>
          <a:xfrm>
            <a:off x="3063240" y="277520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warnings on the dashboard</a:t>
            </a:r>
            <a:endParaRPr lang="en-US" sz="5600" dirty="0"/>
          </a:p>
        </p:txBody>
      </p:sp>
      <p:pic>
        <p:nvPicPr>
          <p:cNvPr id="29" name="Image 1" descr="C:\Users\0geda\OneDrive - University of Cape Town\Documents\PlatformIO\Projects\Tukzie-HPEC-HUD\Report\figures\ui\ui_dualcam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9352240"/>
            <a:ext cx="5945886" cy="3716179"/>
          </a:xfrm>
          <a:prstGeom prst="rect">
            <a:avLst/>
          </a:prstGeom>
        </p:spPr>
      </p:pic>
      <p:pic>
        <p:nvPicPr>
          <p:cNvPr id="30" name="Image 2" descr="C:\Users\0geda\OneDrive - University of Cape Town\Documents\PlatformIO\Projects\Tukzie-HPEC-HUD\Report\figures\ui\ui_dualcam_rear_approach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446" y="29352240"/>
            <a:ext cx="5945886" cy="3716179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737360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| Rear switch on the existing dashboard (test images).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8140446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view mirrored; a car approaching at 1.6 s.</a:t>
            </a:r>
            <a:endParaRPr lang="en-US" sz="2400" dirty="0"/>
          </a:p>
        </p:txBody>
      </p:sp>
      <p:sp>
        <p:nvSpPr>
          <p:cNvPr id="33" name="Text 28"/>
          <p:cNvSpPr txBox="1"/>
          <p:nvPr/>
        </p:nvSpPr>
        <p:spPr>
          <a:xfrm>
            <a:off x="1737360" y="34211419"/>
            <a:ext cx="12348972" cy="5391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on the Pi 5 beside the display: 51 to 54 ms median from sensor readout at 19.2 fps, against 118 to 122 ms on the Pi 4 with the whole system.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Approaching objects: time to contact from the growth of the box, τ = w / (dw/dt), with no focal length or object size (Lee 1976). Warning under 4 s, immediate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tests within 2 %; not yet tested on a real approach.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names the side and puts approaching objects first; live data only, frames never stored. Glance time not yet measured.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15549372" y="10515600"/>
            <a:ext cx="13629132" cy="10927080"/>
          </a:xfrm>
          <a:prstGeom prst="roundRect">
            <a:avLst>
              <a:gd name="adj" fmla="val 29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7" name="Text 32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8" name="Shape 33"/>
          <p:cNvSpPr/>
          <p:nvPr/>
        </p:nvSpPr>
        <p:spPr>
          <a:xfrm>
            <a:off x="16189452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6463772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Hz</a:t>
            </a:r>
            <a:endParaRPr lang="en-US" sz="6000" dirty="0"/>
          </a:p>
        </p:txBody>
      </p:sp>
      <p:sp>
        <p:nvSpPr>
          <p:cNvPr id="40" name="Text 35"/>
          <p:cNvSpPr txBox="1"/>
          <p:nvPr/>
        </p:nvSpPr>
        <p:spPr>
          <a:xfrm>
            <a:off x="16463772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no samples dropped; 149 of 149 windows fused</a:t>
            </a:r>
            <a:endParaRPr lang="en-US" sz="2400" dirty="0"/>
          </a:p>
        </p:txBody>
      </p:sp>
      <p:sp>
        <p:nvSpPr>
          <p:cNvPr id="41" name="Shape 36"/>
          <p:cNvSpPr/>
          <p:nvPr/>
        </p:nvSpPr>
        <p:spPr>
          <a:xfrm>
            <a:off x="22592538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2866858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to 54 ms</a:t>
            </a:r>
            <a:endParaRPr lang="en-US" sz="6000" dirty="0"/>
          </a:p>
        </p:txBody>
      </p:sp>
      <p:sp>
        <p:nvSpPr>
          <p:cNvPr id="43" name="Text 38"/>
          <p:cNvSpPr txBox="1"/>
          <p:nvPr/>
        </p:nvSpPr>
        <p:spPr>
          <a:xfrm>
            <a:off x="22866858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detection on the Pi 5 at 19.2 fps (Pi 4: about 120 ms)</a:t>
            </a:r>
            <a:endParaRPr lang="en-US" sz="2400" dirty="0"/>
          </a:p>
        </p:txBody>
      </p:sp>
      <p:sp>
        <p:nvSpPr>
          <p:cNvPr id="44" name="Shape 39"/>
          <p:cNvSpPr/>
          <p:nvPr/>
        </p:nvSpPr>
        <p:spPr>
          <a:xfrm>
            <a:off x="16189452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6463772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 m</a:t>
            </a:r>
            <a:endParaRPr lang="en-US" sz="6000" dirty="0"/>
          </a:p>
        </p:txBody>
      </p:sp>
      <p:sp>
        <p:nvSpPr>
          <p:cNvPr id="46" name="Text 41"/>
          <p:cNvSpPr txBox="1"/>
          <p:nvPr/>
        </p:nvSpPr>
        <p:spPr>
          <a:xfrm>
            <a:off x="16463772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400" dirty="0"/>
          </a:p>
        </p:txBody>
      </p:sp>
      <p:sp>
        <p:nvSpPr>
          <p:cNvPr id="47" name="Shape 42"/>
          <p:cNvSpPr/>
          <p:nvPr/>
        </p:nvSpPr>
        <p:spPr>
          <a:xfrm>
            <a:off x="22592538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2866858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/ 112</a:t>
            </a:r>
            <a:endParaRPr lang="en-US" sz="6000" dirty="0"/>
          </a:p>
        </p:txBody>
      </p:sp>
      <p:sp>
        <p:nvSpPr>
          <p:cNvPr id="49" name="Text 44"/>
          <p:cNvSpPr txBox="1"/>
          <p:nvPr/>
        </p:nvSpPr>
        <p:spPr>
          <a:xfrm>
            <a:off x="22866858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stored in the database across a 10-minute LTE outage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6189452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16463772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2 %</a:t>
            </a:r>
            <a:endParaRPr lang="en-US" sz="6000" dirty="0"/>
          </a:p>
        </p:txBody>
      </p:sp>
      <p:sp>
        <p:nvSpPr>
          <p:cNvPr id="52" name="Text 47"/>
          <p:cNvSpPr txBox="1"/>
          <p:nvPr/>
        </p:nvSpPr>
        <p:spPr>
          <a:xfrm>
            <a:off x="16463772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contact in 40 synthetic tests; 0.27 ms per frame</a:t>
            </a:r>
            <a:endParaRPr lang="en-US" sz="2400" dirty="0"/>
          </a:p>
        </p:txBody>
      </p:sp>
      <p:sp>
        <p:nvSpPr>
          <p:cNvPr id="53" name="Shape 48"/>
          <p:cNvSpPr/>
          <p:nvPr/>
        </p:nvSpPr>
        <p:spPr>
          <a:xfrm>
            <a:off x="22592538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22866858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 W</a:t>
            </a:r>
            <a:endParaRPr lang="en-US" sz="6000" dirty="0"/>
          </a:p>
        </p:txBody>
      </p:sp>
      <p:sp>
        <p:nvSpPr>
          <p:cNvPr id="55" name="Text 50"/>
          <p:cNvSpPr txBox="1"/>
          <p:nvPr/>
        </p:nvSpPr>
        <p:spPr>
          <a:xfrm>
            <a:off x="22866858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budget, 0.27 A from the 72 V pack; only the Pi 5 measured</a:t>
            </a:r>
            <a:endParaRPr lang="en-US" sz="2400" dirty="0"/>
          </a:p>
        </p:txBody>
      </p:sp>
      <p:sp>
        <p:nvSpPr>
          <p:cNvPr id="56" name="Shape 51"/>
          <p:cNvSpPr/>
          <p:nvPr/>
        </p:nvSpPr>
        <p:spPr>
          <a:xfrm>
            <a:off x="15549372" y="22265640"/>
            <a:ext cx="13629132" cy="7315200"/>
          </a:xfrm>
          <a:prstGeom prst="roundRect">
            <a:avLst>
              <a:gd name="adj" fmla="val 437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16052292" y="2272284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16052292" y="22722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9" name="Text 54"/>
          <p:cNvSpPr txBox="1"/>
          <p:nvPr/>
        </p:nvSpPr>
        <p:spPr>
          <a:xfrm>
            <a:off x="17515332" y="2267712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investigations</a:t>
            </a:r>
            <a:endParaRPr lang="en-US" sz="5600" dirty="0"/>
          </a:p>
        </p:txBody>
      </p:sp>
      <p:sp>
        <p:nvSpPr>
          <p:cNvPr id="60" name="Text 55"/>
          <p:cNvSpPr txBox="1"/>
          <p:nvPr/>
        </p:nvSpPr>
        <p:spPr>
          <a:xfrm>
            <a:off x="16189452" y="24277320"/>
            <a:ext cx="123489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faults diagnosed as symptom, candidate causes, deciding test, cause and fix: a flash-mode boot loop, the GNSS reply layout, a battery checksum off by 3, invalid JSON, a pink camera image, a frozen distance sensor.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that mattered most: Pi 4 reboots. Power flags logged every 2 s showed under-voltage 14 s after the telemetry unit's modem came up on its USB port; moved off, no restarts in 4 h.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returned in the closed box (76.9 °C, a brown-out restart): the unit needs its own supply, and the lids now have vents.</a:t>
            </a:r>
            <a:endParaRPr lang="en-US" sz="2800" dirty="0"/>
          </a:p>
        </p:txBody>
      </p:sp>
      <p:sp>
        <p:nvSpPr>
          <p:cNvPr id="61" name="Shape 56"/>
          <p:cNvSpPr/>
          <p:nvPr/>
        </p:nvSpPr>
        <p:spPr>
          <a:xfrm>
            <a:off x="15549372" y="30403800"/>
            <a:ext cx="13629132" cy="9564624"/>
          </a:xfrm>
          <a:prstGeom prst="roundRect">
            <a:avLst>
              <a:gd name="adj" fmla="val 334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16052292" y="308610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16052292" y="30861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64" name="Text 59"/>
          <p:cNvSpPr txBox="1"/>
          <p:nvPr/>
        </p:nvSpPr>
        <p:spPr>
          <a:xfrm>
            <a:off x="17515332" y="308152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road session (19 Oct)</a:t>
            </a:r>
            <a:endParaRPr lang="en-US" sz="5600" dirty="0"/>
          </a:p>
        </p:txBody>
      </p:sp>
      <p:sp>
        <p:nvSpPr>
          <p:cNvPr id="65" name="Text 60"/>
          <p:cNvSpPr txBox="1"/>
          <p:nvPr/>
        </p:nvSpPr>
        <p:spPr>
          <a:xfrm>
            <a:off x="16189452" y="32415480"/>
            <a:ext cx="123489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on the vehicle for 108.6 min, about 16 min of driving, with no laptop on board.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 held 200 Hz with no drops and one 2 s stall, but a third of the one-second records were lost on the USB link, now wired (R1 partly met). Battery link held under load: up to 46.9 A, 74.6 to 72.8 V.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1,342 front and 741 rear camera alerts, not yet checked against video.</a:t>
            </a:r>
            <a:endParaRPr lang="en-US" sz="3000" dirty="0"/>
          </a:p>
        </p:txBody>
      </p:sp>
      <p:sp>
        <p:nvSpPr>
          <p:cNvPr id="66" name="Text 61"/>
          <p:cNvSpPr txBox="1"/>
          <p:nvPr/>
        </p:nvSpPr>
        <p:spPr>
          <a:xfrm>
            <a:off x="16189452" y="35798760"/>
            <a:ext cx="12348972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GNSS fix, as no antenna was fitted (R4 untested on the vehicle); no raw samples or run markers, so RQ1 and RQ4 are not yet answered; glance time (RQ2) not measured.</a:t>
            </a:r>
            <a:endParaRPr lang="en-US" sz="3000" dirty="0"/>
          </a:p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shorter session with the raw stream and GNSS, the real approach test, and a regulated supply for the telemetry unit.</a:t>
            </a:r>
            <a:endParaRPr lang="en-US" sz="3000" dirty="0"/>
          </a:p>
        </p:txBody>
      </p:sp>
      <p:pic>
        <p:nvPicPr>
          <p:cNvPr id="67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telemetry, road-surface characterisation and camera-based hazard detection for the TUKZIE electric tricycle</dc:title>
  <dc:subject>PptxGenJS Presentation</dc:subject>
  <dc:creator>PptxGenJS</dc:creator>
  <cp:lastModifiedBy>PptxGenJS</cp:lastModifiedBy>
  <cp:revision>1</cp:revision>
  <dcterms:created xsi:type="dcterms:W3CDTF">2026-10-23T08:57:02Z</dcterms:created>
  <dcterms:modified xsi:type="dcterms:W3CDTF">2026-10-23T08:57:02Z</dcterms:modified>
</cp:coreProperties>
</file>