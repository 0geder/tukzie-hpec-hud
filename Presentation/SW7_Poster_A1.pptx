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000" cy="30276000"/>
  <p:notesSz cx="30276000" cy="2138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600" b="0" i="0" u="none" strike="noStrike">
                <a:solidFill>
                  <a:srgbClr val="14305C"/>
                </a:solidFill>
                <a:latin typeface="Calibri"/>
              </a:defRPr>
            </a:pPr>
            <a:r>
              <a:rPr sz="2600" b="0" i="0" u="none" strike="noStrike">
                <a:solidFill>
                  <a:srgbClr val="14305C"/>
                </a:solidFill>
                <a:latin typeface="Calibri"/>
              </a:rPr>
              <a:t>Mean weighted vibration per pass, 10 km/h (m/s²)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Rear</c:v>
                </c:pt>
              </c:strCache>
            </c:strRef>
          </c:tx>
          <c:spPr>
            <a:solidFill>
              <a:srgbClr val="14305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2400" u="none">
                    <a:solidFill>
                      <a:srgbClr val="1B1F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Smooth loop (5 passes)</c:v>
                  </c:pt>
                  <c:pt idx="1">
                    <c:v>Rough strip (4 passes)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1.78</c:v>
                </c:pt>
                <c:pt idx="1">
                  <c:v>3.61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Front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2400" u="none">
                    <a:solidFill>
                      <a:srgbClr val="1B1F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Smooth loop (5 passes)</c:v>
                  </c:pt>
                  <c:pt idx="1">
                    <c:v>Rough strip (4 passes)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1.16</c:v>
                </c:pt>
                <c:pt idx="1">
                  <c:v>2.26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2400" u="none">
                  <a:solidFill>
                    <a:srgbClr val="1B1F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400" b="0" i="0" u="none" strike="noStrike">
                <a:solidFill>
                  <a:srgbClr val="1B1F2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8F0FA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2400">
              <a:solidFill>
                <a:srgbClr val="1B1F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E8F0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.xm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8" Type="http://schemas.openxmlformats.org/officeDocument/2006/relationships/image" Target="../media/image-1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21384000" cy="6903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1384000" cy="6903720"/>
          </a:xfrm>
          <a:prstGeom prst="rect">
            <a:avLst/>
          </a:prstGeom>
          <a:solidFill>
            <a:srgbClr val="0B1F3F">
              <a:alpha val="6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320040"/>
            <a:ext cx="2240280" cy="224028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University of Cape Town cr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29768"/>
            <a:ext cx="2020824" cy="205474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337560" y="594360"/>
            <a:ext cx="17314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697480"/>
            <a:ext cx="20286720" cy="32461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Telemetry with Road-Surface Characterisation and Camera-Based Hazard Detection for the TUKZIE Electric Trike</a:t>
            </a:r>
            <a:endParaRPr lang="en-US" sz="8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6035040"/>
            <a:ext cx="1992096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</a:t>
            </a:r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Supervisor: A/Prof Simon Winberg   |   Co-supervisor: Sampath Jayalath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731520" y="7406640"/>
            <a:ext cx="9709020" cy="6035040"/>
          </a:xfrm>
          <a:prstGeom prst="roundRect">
            <a:avLst>
              <a:gd name="adj" fmla="val 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97280" y="772668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7726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2240280" y="768096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aim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1188720" y="8915400"/>
            <a:ext cx="52284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such as the TUKZIE carry last-mile freight cheaply, but their ride and the roads they use go unmeasured.</a:t>
            </a:r>
            <a:endParaRPr lang="en-US" sz="2800" dirty="0"/>
          </a:p>
          <a:p>
            <a:pPr marL="355600" indent="-355600">
              <a:buSzPct val="100000"/>
              <a:buChar char="•"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pPr indent="0" marL="0">
              <a:spcAft>
                <a:spcPts val="1000"/>
              </a:spcAft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unit that measures the ride at both ends, warns the driver of hazards and keeps its data through coverage gaps.</a:t>
            </a:r>
            <a:endParaRPr lang="en-US" sz="2800" dirty="0"/>
          </a:p>
        </p:txBody>
      </p:sp>
      <p:pic>
        <p:nvPicPr>
          <p:cNvPr id="14" name="Image 2" descr="The trike on the road test of 27 October 2026, side view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37220" y="8961120"/>
            <a:ext cx="3246120" cy="27000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737220" y="8961120"/>
            <a:ext cx="3246120" cy="2700044"/>
          </a:xfrm>
          <a:prstGeom prst="rect">
            <a:avLst/>
          </a:prstGeom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737220" y="117068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test, 27 Oct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731520" y="13944600"/>
            <a:ext cx="9709020" cy="9509760"/>
          </a:xfrm>
          <a:prstGeom prst="roundRect">
            <a:avLst>
              <a:gd name="adj" fmla="val 288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097280" y="1426464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97280" y="1426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2240280" y="1421892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on the trike, 27 Oct</a:t>
            </a:r>
            <a:endParaRPr lang="en-US" sz="4800" dirty="0"/>
          </a:p>
        </p:txBody>
      </p:sp>
      <p:sp>
        <p:nvSpPr>
          <p:cNvPr id="21" name="Shape 16"/>
          <p:cNvSpPr/>
          <p:nvPr/>
        </p:nvSpPr>
        <p:spPr>
          <a:xfrm>
            <a:off x="1188720" y="15453360"/>
            <a:ext cx="3703320" cy="379476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417320" y="15590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Raspberry Pi 5</a:t>
            </a:r>
            <a:endParaRPr lang="en-US" sz="2800" dirty="0"/>
          </a:p>
        </p:txBody>
      </p:sp>
      <p:sp>
        <p:nvSpPr>
          <p:cNvPr id="23" name="Text 18"/>
          <p:cNvSpPr txBox="1"/>
          <p:nvPr/>
        </p:nvSpPr>
        <p:spPr>
          <a:xfrm>
            <a:off x="1417320" y="16230600"/>
            <a:ext cx="3337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camera, detector</a:t>
            </a:r>
            <a:endParaRPr lang="en-US" sz="2400" dirty="0"/>
          </a:p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10.1 in screen</a:t>
            </a:r>
            <a:endParaRPr lang="en-US" sz="2400" dirty="0"/>
          </a:p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node: ESP32-S3, IMU at 200 Hz</a:t>
            </a:r>
            <a:endParaRPr lang="en-US" sz="2400" dirty="0"/>
          </a:p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Recorder; phone GNSS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6280020" y="15453360"/>
            <a:ext cx="3703320" cy="379476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08620" y="15590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Rear: Raspberry Pi 4</a:t>
            </a:r>
            <a:endParaRPr lang="en-US" sz="2800" dirty="0"/>
          </a:p>
        </p:txBody>
      </p:sp>
      <p:sp>
        <p:nvSpPr>
          <p:cNvPr id="26" name="Text 21"/>
          <p:cNvSpPr txBox="1"/>
          <p:nvPr/>
        </p:nvSpPr>
        <p:spPr>
          <a:xfrm>
            <a:off x="6508620" y="16230600"/>
            <a:ext cx="3337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camera, detector</a:t>
            </a:r>
            <a:endParaRPr lang="en-US" sz="2400" dirty="0"/>
          </a:p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node: ESP32-S3, IMU at 200 Hz</a:t>
            </a:r>
            <a:endParaRPr lang="en-US" sz="2400" dirty="0"/>
          </a:p>
          <a:p>
            <a:pPr marL="279400" indent="-279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unit: ESP32-S3 with battery, GNSS and LTE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4983480" y="17350740"/>
            <a:ext cx="1205100" cy="0"/>
          </a:xfrm>
          <a:prstGeom prst="line">
            <a:avLst/>
          </a:prstGeom>
          <a:noFill/>
          <a:ln w="63500">
            <a:solidFill>
              <a:srgbClr val="14305C"/>
            </a:solidFill>
            <a:prstDash val="solid"/>
            <a:headEnd type="triangle"/>
            <a:tailEnd type="triangle"/>
          </a:ln>
        </p:spPr>
      </p:sp>
      <p:sp>
        <p:nvSpPr>
          <p:cNvPr id="28" name="Text 23"/>
          <p:cNvSpPr txBox="1"/>
          <p:nvPr/>
        </p:nvSpPr>
        <p:spPr>
          <a:xfrm>
            <a:off x="4800600" y="16756380"/>
            <a:ext cx="15708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</a:t>
            </a:r>
            <a:endParaRPr lang="en-US" sz="2400" dirty="0"/>
          </a:p>
        </p:txBody>
      </p:sp>
      <p:pic>
        <p:nvPicPr>
          <p:cNvPr id="29" name="Image 3" descr="Front: Raspberry Pi 5 and front node under the dashboard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188720" y="19568160"/>
            <a:ext cx="2779140" cy="33375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188720" y="19568160"/>
            <a:ext cx="2779140" cy="3337560"/>
          </a:xfrm>
          <a:prstGeom prst="rect">
            <a:avLst/>
          </a:prstGeom>
          <a:ln w="38100">
            <a:solidFill>
              <a:srgbClr val="FFFFFF"/>
            </a:solidFill>
            <a:prstDash val="solid"/>
          </a:ln>
        </p:spPr>
      </p:sp>
      <p:pic>
        <p:nvPicPr>
          <p:cNvPr id="31" name="Image 4" descr="Front camera in its printed housing on the fram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196460" y="19568160"/>
            <a:ext cx="2779140" cy="333756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196460" y="19568160"/>
            <a:ext cx="2779140" cy="3337560"/>
          </a:xfrm>
          <a:prstGeom prst="rect">
            <a:avLst/>
          </a:prstGeom>
          <a:ln w="38100">
            <a:solidFill>
              <a:srgbClr val="FFFFFF"/>
            </a:solidFill>
            <a:prstDash val="solid"/>
          </a:ln>
        </p:spPr>
      </p:sp>
      <p:pic>
        <p:nvPicPr>
          <p:cNvPr id="33" name="Image 5" descr="Rear unit in its printed enclosure on the cargo b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204200" y="19568160"/>
            <a:ext cx="2779140" cy="3337560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7204200" y="19568160"/>
            <a:ext cx="2779140" cy="3337560"/>
          </a:xfrm>
          <a:prstGeom prst="rect">
            <a:avLst/>
          </a:prstGeom>
          <a:ln w="38100">
            <a:solidFill>
              <a:srgbClr val="FFFFFF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188720" y="22978872"/>
            <a:ext cx="2779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computer</a:t>
            </a:r>
            <a:endParaRPr lang="en-US" sz="2400" dirty="0"/>
          </a:p>
        </p:txBody>
      </p:sp>
      <p:sp>
        <p:nvSpPr>
          <p:cNvPr id="36" name="Text 28"/>
          <p:cNvSpPr txBox="1"/>
          <p:nvPr/>
        </p:nvSpPr>
        <p:spPr>
          <a:xfrm>
            <a:off x="4196460" y="22978872"/>
            <a:ext cx="2779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7204200" y="22978872"/>
            <a:ext cx="2779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unit</a:t>
            </a:r>
            <a:endParaRPr lang="en-US" sz="2400" dirty="0"/>
          </a:p>
        </p:txBody>
      </p:sp>
      <p:sp>
        <p:nvSpPr>
          <p:cNvPr id="38" name="Shape 30"/>
          <p:cNvSpPr/>
          <p:nvPr/>
        </p:nvSpPr>
        <p:spPr>
          <a:xfrm>
            <a:off x="731520" y="23957280"/>
            <a:ext cx="9709020" cy="5587200"/>
          </a:xfrm>
          <a:prstGeom prst="roundRect">
            <a:avLst>
              <a:gd name="adj" fmla="val 491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1097280" y="2427732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097280" y="2427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41" name="Text 33"/>
          <p:cNvSpPr txBox="1"/>
          <p:nvPr/>
        </p:nvSpPr>
        <p:spPr>
          <a:xfrm>
            <a:off x="2240280" y="2423160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4800" dirty="0"/>
          </a:p>
        </p:txBody>
      </p:sp>
      <p:sp>
        <p:nvSpPr>
          <p:cNvPr id="42" name="Text 34"/>
          <p:cNvSpPr txBox="1"/>
          <p:nvPr/>
        </p:nvSpPr>
        <p:spPr>
          <a:xfrm>
            <a:off x="1188720" y="25466040"/>
            <a:ext cx="8794620" cy="384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buSzPct val="100000"/>
              <a:buChar char="•"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first: </a:t>
            </a:r>
            <a:pPr indent="0" marL="0">
              <a:spcAft>
                <a:spcPts val="1000"/>
              </a:spcAft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requirements, each with a criterion fixed before its test; bench tests, then the vehicle.</a:t>
            </a:r>
            <a:endParaRPr lang="en-US" sz="2800" dirty="0"/>
          </a:p>
          <a:p>
            <a:pPr marL="355600" indent="-355600">
              <a:buSzPct val="100000"/>
              <a:buChar char="•"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Road, 27 Oct: </a:t>
            </a:r>
            <a:pPr indent="0" marL="0">
              <a:spcAft>
                <a:spcPts val="1000"/>
              </a:spcAft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passes of a smooth loop and four of a rough strip at 10 km/h; phone GNSS as the speed reference.</a:t>
            </a:r>
            <a:endParaRPr lang="en-US" sz="2800" dirty="0"/>
          </a:p>
          <a:p>
            <a:pPr marL="355600" indent="-355600">
              <a:buSzPct val="100000"/>
              <a:buChar char="•"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Analysis: </a:t>
            </a:r>
            <a:pPr indent="0" marL="0"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 2631-1 weighted vibration </a:t>
            </a:r>
            <a:pPr indent="0" marL="0"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2800" baseline="-40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pPr indent="0" marL="0">
              <a:spcAft>
                <a:spcPts val="1000"/>
              </a:spcAft>
              <a:buNone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pass; CV over passes (criterion 10 %); ICC in 8 m cells (0.75); share of the stand-run motor lines in the road spectrum.</a:t>
            </a:r>
            <a:endParaRPr lang="en-US" sz="2800" dirty="0"/>
          </a:p>
        </p:txBody>
      </p:sp>
      <p:sp>
        <p:nvSpPr>
          <p:cNvPr id="43" name="Shape 35"/>
          <p:cNvSpPr/>
          <p:nvPr/>
        </p:nvSpPr>
        <p:spPr>
          <a:xfrm>
            <a:off x="10943460" y="7406640"/>
            <a:ext cx="9709020" cy="13167360"/>
          </a:xfrm>
          <a:prstGeom prst="roundRect">
            <a:avLst>
              <a:gd name="adj" fmla="val 282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1309220" y="772668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11309220" y="7726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46" name="Text 38"/>
          <p:cNvSpPr txBox="1"/>
          <p:nvPr/>
        </p:nvSpPr>
        <p:spPr>
          <a:xfrm>
            <a:off x="12452220" y="768096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 on the road</a:t>
            </a:r>
            <a:endParaRPr lang="en-US" sz="48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11400660" y="8823960"/>
          <a:ext cx="87946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48" name="Shape 39"/>
          <p:cNvSpPr/>
          <p:nvPr/>
        </p:nvSpPr>
        <p:spPr>
          <a:xfrm>
            <a:off x="11400660" y="12481560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11583540" y="12573000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7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5.0 % / 5.3 %</a:t>
            </a:r>
            <a:endParaRPr lang="en-US" sz="4200" dirty="0"/>
          </a:p>
        </p:txBody>
      </p:sp>
      <p:sp>
        <p:nvSpPr>
          <p:cNvPr id="50" name="Text 41"/>
          <p:cNvSpPr txBox="1"/>
          <p:nvPr/>
        </p:nvSpPr>
        <p:spPr>
          <a:xfrm>
            <a:off x="11583540" y="13322808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of </a:t>
            </a:r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2400" baseline="-40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5 passes, rear / front; criterion 10 %: met</a:t>
            </a:r>
            <a:endParaRPr lang="en-US" sz="2400" dirty="0"/>
          </a:p>
        </p:txBody>
      </p:sp>
      <p:sp>
        <p:nvSpPr>
          <p:cNvPr id="51" name="Shape 42"/>
          <p:cNvSpPr/>
          <p:nvPr/>
        </p:nvSpPr>
        <p:spPr>
          <a:xfrm>
            <a:off x="15898554" y="12481560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16081434" y="12573000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 ×</a:t>
            </a:r>
            <a:endParaRPr lang="en-US" sz="4200" dirty="0"/>
          </a:p>
        </p:txBody>
      </p:sp>
      <p:sp>
        <p:nvSpPr>
          <p:cNvPr id="53" name="Text 44"/>
          <p:cNvSpPr txBox="1"/>
          <p:nvPr/>
        </p:nvSpPr>
        <p:spPr>
          <a:xfrm>
            <a:off x="16081434" y="13322808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strip against the smooth loop, at both ends</a:t>
            </a:r>
            <a:endParaRPr lang="en-US" sz="2400" dirty="0"/>
          </a:p>
        </p:txBody>
      </p:sp>
      <p:sp>
        <p:nvSpPr>
          <p:cNvPr id="54" name="Shape 45"/>
          <p:cNvSpPr/>
          <p:nvPr/>
        </p:nvSpPr>
        <p:spPr>
          <a:xfrm>
            <a:off x="11400660" y="14465808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11583540" y="14557248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 0.16 vs 0.75</a:t>
            </a:r>
            <a:endParaRPr lang="en-US" sz="4200" dirty="0"/>
          </a:p>
        </p:txBody>
      </p:sp>
      <p:sp>
        <p:nvSpPr>
          <p:cNvPr id="56" name="Text 47"/>
          <p:cNvSpPr txBox="1"/>
          <p:nvPr/>
        </p:nvSpPr>
        <p:spPr>
          <a:xfrm>
            <a:off x="11583540" y="15307056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met: repeats over whole passes, not place by place</a:t>
            </a:r>
            <a:endParaRPr lang="en-US" sz="2400" dirty="0"/>
          </a:p>
        </p:txBody>
      </p:sp>
      <p:sp>
        <p:nvSpPr>
          <p:cNvPr id="57" name="Shape 48"/>
          <p:cNvSpPr/>
          <p:nvPr/>
        </p:nvSpPr>
        <p:spPr>
          <a:xfrm>
            <a:off x="15898554" y="14465808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16081434" y="14557248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to 3.1 %</a:t>
            </a:r>
            <a:endParaRPr lang="en-US" sz="4200" dirty="0"/>
          </a:p>
        </p:txBody>
      </p:sp>
      <p:sp>
        <p:nvSpPr>
          <p:cNvPr id="59" name="Text 50"/>
          <p:cNvSpPr txBox="1"/>
          <p:nvPr/>
        </p:nvSpPr>
        <p:spPr>
          <a:xfrm>
            <a:off x="16081434" y="15307056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road vibration energy in the motor lines, powered passes</a:t>
            </a:r>
            <a:endParaRPr lang="en-US" sz="2400" dirty="0"/>
          </a:p>
        </p:txBody>
      </p:sp>
      <p:sp>
        <p:nvSpPr>
          <p:cNvPr id="60" name="Shape 51"/>
          <p:cNvSpPr/>
          <p:nvPr/>
        </p:nvSpPr>
        <p:spPr>
          <a:xfrm>
            <a:off x="11400660" y="16450056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11583540" y="16541496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7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gaps</a:t>
            </a:r>
            <a:endParaRPr lang="en-US" sz="4200" dirty="0"/>
          </a:p>
        </p:txBody>
      </p:sp>
      <p:sp>
        <p:nvSpPr>
          <p:cNvPr id="62" name="Text 53"/>
          <p:cNvSpPr txBox="1"/>
          <p:nvPr/>
        </p:nvSpPr>
        <p:spPr>
          <a:xfrm>
            <a:off x="11583540" y="17291304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IMU at 200 Hz; rear 0.08 % of samples lost</a:t>
            </a:r>
            <a:endParaRPr lang="en-US" sz="2400" dirty="0"/>
          </a:p>
        </p:txBody>
      </p:sp>
      <p:sp>
        <p:nvSpPr>
          <p:cNvPr id="63" name="Shape 54"/>
          <p:cNvSpPr/>
          <p:nvPr/>
        </p:nvSpPr>
        <p:spPr>
          <a:xfrm>
            <a:off x="15898554" y="16450056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16081434" y="16541496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7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99.9 %</a:t>
            </a:r>
            <a:endParaRPr lang="en-US" sz="4200" dirty="0"/>
          </a:p>
        </p:txBody>
      </p:sp>
      <p:sp>
        <p:nvSpPr>
          <p:cNvPr id="65" name="Text 56"/>
          <p:cNvSpPr txBox="1"/>
          <p:nvPr/>
        </p:nvSpPr>
        <p:spPr>
          <a:xfrm>
            <a:off x="16081434" y="17291304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records over the wired link to the Raspberry Pi 4</a:t>
            </a:r>
            <a:endParaRPr lang="en-US" sz="2400" dirty="0"/>
          </a:p>
        </p:txBody>
      </p:sp>
      <p:sp>
        <p:nvSpPr>
          <p:cNvPr id="66" name="Shape 57"/>
          <p:cNvSpPr/>
          <p:nvPr/>
        </p:nvSpPr>
        <p:spPr>
          <a:xfrm>
            <a:off x="11400660" y="18434304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1583540" y="18525744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records</a:t>
            </a:r>
            <a:endParaRPr lang="en-US" sz="4200" dirty="0"/>
          </a:p>
        </p:txBody>
      </p:sp>
      <p:sp>
        <p:nvSpPr>
          <p:cNvPr id="68" name="Text 59"/>
          <p:cNvSpPr txBox="1"/>
          <p:nvPr/>
        </p:nvSpPr>
        <p:spPr>
          <a:xfrm>
            <a:off x="11583540" y="19275552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LTE, 116 replayed after the drop; median 0.44 s (n = 9)</a:t>
            </a:r>
            <a:endParaRPr lang="en-US" sz="2400" dirty="0"/>
          </a:p>
        </p:txBody>
      </p:sp>
      <p:sp>
        <p:nvSpPr>
          <p:cNvPr id="69" name="Shape 60"/>
          <p:cNvSpPr/>
          <p:nvPr/>
        </p:nvSpPr>
        <p:spPr>
          <a:xfrm>
            <a:off x="15898554" y="18434304"/>
            <a:ext cx="4296726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1"/>
          <p:cNvSpPr txBox="1"/>
          <p:nvPr/>
        </p:nvSpPr>
        <p:spPr>
          <a:xfrm>
            <a:off x="16081434" y="18525744"/>
            <a:ext cx="3930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 / 12.1 fps</a:t>
            </a:r>
            <a:endParaRPr lang="en-US" sz="4200" dirty="0"/>
          </a:p>
        </p:txBody>
      </p:sp>
      <p:sp>
        <p:nvSpPr>
          <p:cNvPr id="71" name="Text 62"/>
          <p:cNvSpPr txBox="1"/>
          <p:nvPr/>
        </p:nvSpPr>
        <p:spPr>
          <a:xfrm>
            <a:off x="16081434" y="19275552"/>
            <a:ext cx="397668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front / rear; median 68 / 103 ms</a:t>
            </a:r>
            <a:endParaRPr lang="en-US" sz="2400" dirty="0"/>
          </a:p>
        </p:txBody>
      </p:sp>
      <p:sp>
        <p:nvSpPr>
          <p:cNvPr id="72" name="Shape 63"/>
          <p:cNvSpPr/>
          <p:nvPr/>
        </p:nvSpPr>
        <p:spPr>
          <a:xfrm>
            <a:off x="10943460" y="21076920"/>
            <a:ext cx="9709020" cy="4114800"/>
          </a:xfrm>
          <a:prstGeom prst="roundRect">
            <a:avLst>
              <a:gd name="adj" fmla="val 6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11309220" y="2139696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11309220" y="21396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75" name="Text 66"/>
          <p:cNvSpPr txBox="1"/>
          <p:nvPr/>
        </p:nvSpPr>
        <p:spPr>
          <a:xfrm>
            <a:off x="12452220" y="2135124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4800" dirty="0"/>
          </a:p>
        </p:txBody>
      </p:sp>
      <p:sp>
        <p:nvSpPr>
          <p:cNvPr id="76" name="Text 67"/>
          <p:cNvSpPr txBox="1"/>
          <p:nvPr/>
        </p:nvSpPr>
        <p:spPr>
          <a:xfrm>
            <a:off x="11400660" y="22585680"/>
            <a:ext cx="87946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vehicle, two short low-speed sessions; no reference accelerometer, so repeatability, not accuracy.</a:t>
            </a:r>
            <a:endParaRPr lang="en-US" sz="2500" dirty="0"/>
          </a:p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did not reconnect after 11:51; the vehicle's GNSS lay 8 to 25 m from the phone's.</a:t>
            </a:r>
            <a:endParaRPr lang="en-US" sz="2500" dirty="0"/>
          </a:p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below ISO 15008 legibility; the driver's glance time was not measured.</a:t>
            </a:r>
            <a:endParaRPr lang="en-US" sz="2500" dirty="0"/>
          </a:p>
        </p:txBody>
      </p:sp>
      <p:sp>
        <p:nvSpPr>
          <p:cNvPr id="77" name="Shape 68"/>
          <p:cNvSpPr/>
          <p:nvPr/>
        </p:nvSpPr>
        <p:spPr>
          <a:xfrm>
            <a:off x="10943460" y="25694640"/>
            <a:ext cx="9709020" cy="3849840"/>
          </a:xfrm>
          <a:prstGeom prst="roundRect">
            <a:avLst>
              <a:gd name="adj" fmla="val 712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8" name="Shape 69"/>
          <p:cNvSpPr/>
          <p:nvPr/>
        </p:nvSpPr>
        <p:spPr>
          <a:xfrm>
            <a:off x="11309220" y="26014680"/>
            <a:ext cx="914400" cy="9144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11309220" y="26014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80" name="Text 71"/>
          <p:cNvSpPr txBox="1"/>
          <p:nvPr/>
        </p:nvSpPr>
        <p:spPr>
          <a:xfrm>
            <a:off x="12452220" y="25968960"/>
            <a:ext cx="7880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800" dirty="0"/>
          </a:p>
        </p:txBody>
      </p:sp>
      <p:sp>
        <p:nvSpPr>
          <p:cNvPr id="81" name="Text 72"/>
          <p:cNvSpPr txBox="1"/>
          <p:nvPr/>
        </p:nvSpPr>
        <p:spPr>
          <a:xfrm>
            <a:off x="11400660" y="27203400"/>
            <a:ext cx="5594220" cy="2203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ran on the trike; its ride reading repeats over whole passes, separates two surfaces and is dominated by the road.</a:t>
            </a:r>
            <a:endParaRPr lang="en-US" sz="2500" dirty="0"/>
          </a:p>
          <a:p>
            <a:pPr marL="355600" indent="-3556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own supply, larger warnings, glance time.</a:t>
            </a:r>
            <a:endParaRPr lang="en-US" sz="2500" dirty="0"/>
          </a:p>
        </p:txBody>
      </p:sp>
      <p:sp>
        <p:nvSpPr>
          <p:cNvPr id="82" name="Shape 73"/>
          <p:cNvSpPr/>
          <p:nvPr/>
        </p:nvSpPr>
        <p:spPr>
          <a:xfrm>
            <a:off x="17863560" y="26014680"/>
            <a:ext cx="23317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3" name="Image 6" descr="QR code to https://tuksense.si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55000" y="26106120"/>
            <a:ext cx="2148840" cy="2148840"/>
          </a:xfrm>
          <a:prstGeom prst="rect">
            <a:avLst/>
          </a:prstGeom>
        </p:spPr>
      </p:pic>
      <p:sp>
        <p:nvSpPr>
          <p:cNvPr id="84" name="Text 74"/>
          <p:cNvSpPr txBox="1"/>
          <p:nvPr/>
        </p:nvSpPr>
        <p:spPr>
          <a:xfrm>
            <a:off x="17040600" y="284195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of the system on the road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tuksense.site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Embedded Telemetry with Road-Surface Characterisation and Camera-Based Hazard Detection for the TUKZIE Electric Trike</dc:title>
  <dc:subject>PptxGenJS Presentation</dc:subject>
  <dc:creator>Samson Okuthe</dc:creator>
  <cp:lastModifiedBy>Samson Okuthe</cp:lastModifiedBy>
  <cp:revision>1</cp:revision>
  <dcterms:created xsi:type="dcterms:W3CDTF">2026-10-30T12:29:52Z</dcterms:created>
  <dcterms:modified xsi:type="dcterms:W3CDTF">2026-10-30T12:29:52Z</dcterms:modified>
</cp:coreProperties>
</file>