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0geda\OneDrive - University of Cape Town\Documents\PlatformIO\Projects\Tukzie-HPEC-HUD\Presentation\source\assets\uct_bann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0275784" cy="9692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11480"/>
            <a:ext cx="28081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EEE4022S Final Year Project 2026, Department of Electrical Engineering, University of Cape Town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1234440"/>
            <a:ext cx="28081224" cy="30175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Telemetry with Road-Surface Characterisation</a:t>
            </a:r>
            <a:endParaRPr lang="en-US" sz="7800" dirty="0"/>
          </a:p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Camera-Based Hazard Detection for the TUKZIE Electric Trike</a:t>
            </a:r>
            <a:endParaRPr lang="en-US" sz="78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434840"/>
            <a:ext cx="28081224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27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Samson Okuthe (OKTSAM001)   |   Supervisor: A/Prof. Simon Winberg   |   Co-supervisor: Sampath Jayalath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097280" y="10515600"/>
            <a:ext cx="13629132" cy="6035040"/>
          </a:xfrm>
          <a:prstGeom prst="roundRect">
            <a:avLst>
              <a:gd name="adj" fmla="val 5303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00200" y="10972800"/>
            <a:ext cx="1143000" cy="1143000"/>
          </a:xfrm>
          <a:prstGeom prst="ellipse">
            <a:avLst/>
          </a:prstGeom>
          <a:solidFill>
            <a:srgbClr val="14305C"/>
          </a:solidFill>
          <a:ln w="12700">
            <a:solidFill>
              <a:srgbClr val="1430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600200" y="10972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3063240" y="10927080"/>
            <a:ext cx="11251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56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12527280"/>
            <a:ext cx="123489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cargo trikes are a low-cost route to last-mile freight in African cities, but their ride and road conditions go unmeasured.</a:t>
            </a:r>
            <a:endParaRPr lang="en-US" sz="30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Head-down displays draw the driver's eyes off the road; single glances should stay under 2 s.</a:t>
            </a:r>
            <a:endParaRPr lang="en-US" sz="30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a low-cost unit that characterises the ride at the edge and gives the driver only safety-relevant alerts, each stage tested before the next.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1097280" y="17373600"/>
            <a:ext cx="13629132" cy="9144000"/>
          </a:xfrm>
          <a:prstGeom prst="roundRect">
            <a:avLst>
              <a:gd name="adj" fmla="val 35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00200" y="17830800"/>
            <a:ext cx="1143000" cy="1143000"/>
          </a:xfrm>
          <a:prstGeom prst="ellipse">
            <a:avLst/>
          </a:prstGeom>
          <a:solidFill>
            <a:srgbClr val="14305C"/>
          </a:solidFill>
          <a:ln w="12700">
            <a:solidFill>
              <a:srgbClr val="1430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600200" y="17830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3063240" y="17785080"/>
            <a:ext cx="11251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front and rear</a:t>
            </a:r>
            <a:endParaRPr lang="en-US" sz="5600" dirty="0"/>
          </a:p>
        </p:txBody>
      </p:sp>
      <p:sp>
        <p:nvSpPr>
          <p:cNvPr id="15" name="Shape 12"/>
          <p:cNvSpPr/>
          <p:nvPr/>
        </p:nvSpPr>
        <p:spPr>
          <a:xfrm>
            <a:off x="1737360" y="19385280"/>
            <a:ext cx="4802886" cy="5760720"/>
          </a:xfrm>
          <a:prstGeom prst="roundRect">
            <a:avLst>
              <a:gd name="adj" fmla="val 3808"/>
            </a:avLst>
          </a:prstGeom>
          <a:solidFill>
            <a:srgbClr val="FFFFFF"/>
          </a:solidFill>
          <a:ln w="381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57400" y="19613880"/>
            <a:ext cx="41628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Front: Raspberry Pi 5,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dashboard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2057400" y="20894040"/>
            <a:ext cx="416280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camera, detector and time-of-flight board</a:t>
            </a:r>
            <a:endParaRPr lang="en-US" sz="24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node: ESP32-S3 with one IMU at 200 Hz</a:t>
            </a:r>
            <a:endParaRPr lang="en-US" sz="24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on the 10.1 in touchscreen</a:t>
            </a:r>
            <a:endParaRPr lang="en-US" sz="24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GNSS for speed; road recorder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283446" y="19385280"/>
            <a:ext cx="4802886" cy="5760720"/>
          </a:xfrm>
          <a:prstGeom prst="roundRect">
            <a:avLst>
              <a:gd name="adj" fmla="val 3808"/>
            </a:avLst>
          </a:prstGeom>
          <a:solidFill>
            <a:srgbClr val="FFFFFF"/>
          </a:solidFill>
          <a:ln w="38100">
            <a:solidFill>
              <a:srgbClr val="1565C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3486" y="19613880"/>
            <a:ext cx="41628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Rear: Raspberry Pi 4,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 the battery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9603486" y="20894040"/>
            <a:ext cx="416280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camera, detector and time-of-flight board</a:t>
            </a:r>
            <a:endParaRPr lang="en-US" sz="24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node: ESP32-S3 with one IMU at 200 Hz</a:t>
            </a:r>
            <a:endParaRPr lang="en-US" sz="24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LTE, GNSS, battery over Bluetooth</a:t>
            </a:r>
            <a:endParaRPr lang="en-US" sz="24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log and LTE uplink to a database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6723126" y="22265640"/>
            <a:ext cx="2377440" cy="0"/>
          </a:xfrm>
          <a:prstGeom prst="line">
            <a:avLst/>
          </a:prstGeom>
          <a:noFill/>
          <a:ln w="63500">
            <a:solidFill>
              <a:srgbClr val="14305C"/>
            </a:solidFill>
            <a:prstDash val="solid"/>
            <a:headEnd type="triangle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6723126" y="21396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6723126" y="22494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 Mb/s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 to 0.25 ms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1737360" y="25374600"/>
            <a:ext cx="123489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since 15 October: the battery's Bluetooth did not reach the front, and the Pi 5 runs the detector more than twice as fast.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1097280" y="27340560"/>
            <a:ext cx="13629132" cy="12627864"/>
          </a:xfrm>
          <a:prstGeom prst="roundRect">
            <a:avLst>
              <a:gd name="adj" fmla="val 2534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00200" y="27797760"/>
            <a:ext cx="1143000" cy="1143000"/>
          </a:xfrm>
          <a:prstGeom prst="ellipse">
            <a:avLst/>
          </a:prstGeom>
          <a:solidFill>
            <a:srgbClr val="14305C"/>
          </a:solidFill>
          <a:ln w="12700">
            <a:solidFill>
              <a:srgbClr val="1430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600200" y="277977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8" name="Text 25"/>
          <p:cNvSpPr txBox="1"/>
          <p:nvPr/>
        </p:nvSpPr>
        <p:spPr>
          <a:xfrm>
            <a:off x="3063240" y="27752040"/>
            <a:ext cx="11251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warnings on the dashboard</a:t>
            </a:r>
            <a:endParaRPr lang="en-US" sz="5600" dirty="0"/>
          </a:p>
        </p:txBody>
      </p:sp>
      <p:pic>
        <p:nvPicPr>
          <p:cNvPr id="29" name="Image 1" descr="C:\Users\0geda\OneDrive - University of Cape Town\Documents\PlatformIO\Projects\Tukzie-HPEC-HUD\Report\figures\ui\ui_dualcam_fro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9352240"/>
            <a:ext cx="5945886" cy="3716179"/>
          </a:xfrm>
          <a:prstGeom prst="rect">
            <a:avLst/>
          </a:prstGeom>
        </p:spPr>
      </p:pic>
      <p:pic>
        <p:nvPicPr>
          <p:cNvPr id="30" name="Image 2" descr="C:\Users\0geda\OneDrive - University of Cape Town\Documents\PlatformIO\Projects\Tukzie-HPEC-HUD\Report\figures\ui\ui_dualcam_rear_approach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446" y="29352240"/>
            <a:ext cx="5945886" cy="3716179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737360" y="33205579"/>
            <a:ext cx="59458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| Rear switch on the existing dashboard (test images).</a:t>
            </a:r>
            <a:endParaRPr lang="en-US" sz="2400" dirty="0"/>
          </a:p>
        </p:txBody>
      </p:sp>
      <p:sp>
        <p:nvSpPr>
          <p:cNvPr id="32" name="Text 27"/>
          <p:cNvSpPr txBox="1"/>
          <p:nvPr/>
        </p:nvSpPr>
        <p:spPr>
          <a:xfrm>
            <a:off x="8140446" y="33205579"/>
            <a:ext cx="59458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view mirrored; a car approaching at 1.6 s.</a:t>
            </a:r>
            <a:endParaRPr lang="en-US" sz="2400" dirty="0"/>
          </a:p>
        </p:txBody>
      </p:sp>
      <p:sp>
        <p:nvSpPr>
          <p:cNvPr id="33" name="Text 28"/>
          <p:cNvSpPr txBox="1"/>
          <p:nvPr/>
        </p:nvSpPr>
        <p:spPr>
          <a:xfrm>
            <a:off x="1737360" y="34211419"/>
            <a:ext cx="12348972" cy="5391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on the Pi 5 beside the display: 51 to 54 ms median from sensor readout at 19.2 fps, against 118 to 122 ms on the Pi 4 with the whole system.</a:t>
            </a:r>
            <a:endParaRPr lang="en-US" sz="28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objects: time to contact from the growth of the box, τ = w / (dw/dt), with no focal length or object size (Lee 1976). Warning under 4 s, immediate under 2 s.</a:t>
            </a:r>
            <a:endParaRPr lang="en-US" sz="28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tests within 2 %; not yet tested on a real approach. Live data only; frames never stored.</a:t>
            </a:r>
            <a:endParaRPr lang="en-US" sz="28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Legibility at 0.70 m (ISO 15008: 16 arc minutes acceptable, 20 recommended): speed digits 84, alert banner 9, labels a median of 9. The speed is legible at a glance; the warnings are not. Glance time needs a participant.</a:t>
            </a:r>
            <a:endParaRPr lang="en-US" sz="2800" dirty="0"/>
          </a:p>
        </p:txBody>
      </p:sp>
      <p:sp>
        <p:nvSpPr>
          <p:cNvPr id="34" name="Shape 29"/>
          <p:cNvSpPr/>
          <p:nvPr/>
        </p:nvSpPr>
        <p:spPr>
          <a:xfrm>
            <a:off x="15549372" y="10515600"/>
            <a:ext cx="13629132" cy="10927080"/>
          </a:xfrm>
          <a:prstGeom prst="roundRect">
            <a:avLst>
              <a:gd name="adj" fmla="val 2929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6052292" y="10972800"/>
            <a:ext cx="1143000" cy="1143000"/>
          </a:xfrm>
          <a:prstGeom prst="ellipse">
            <a:avLst/>
          </a:prstGeom>
          <a:solidFill>
            <a:srgbClr val="14305C"/>
          </a:solidFill>
          <a:ln w="12700">
            <a:solidFill>
              <a:srgbClr val="14305C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6052292" y="10972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37" name="Text 32"/>
          <p:cNvSpPr txBox="1"/>
          <p:nvPr/>
        </p:nvSpPr>
        <p:spPr>
          <a:xfrm>
            <a:off x="17515332" y="10927080"/>
            <a:ext cx="11251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results</a:t>
            </a:r>
            <a:endParaRPr lang="en-US" sz="5600" dirty="0"/>
          </a:p>
        </p:txBody>
      </p:sp>
      <p:sp>
        <p:nvSpPr>
          <p:cNvPr id="38" name="Shape 33"/>
          <p:cNvSpPr/>
          <p:nvPr/>
        </p:nvSpPr>
        <p:spPr>
          <a:xfrm>
            <a:off x="16189452" y="12527280"/>
            <a:ext cx="5945886" cy="260604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6463772" y="12664440"/>
            <a:ext cx="539724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 Hz</a:t>
            </a:r>
            <a:endParaRPr lang="en-US" sz="6000" dirty="0"/>
          </a:p>
        </p:txBody>
      </p:sp>
      <p:sp>
        <p:nvSpPr>
          <p:cNvPr id="40" name="Text 35"/>
          <p:cNvSpPr txBox="1"/>
          <p:nvPr/>
        </p:nvSpPr>
        <p:spPr>
          <a:xfrm>
            <a:off x="16463772" y="13944600"/>
            <a:ext cx="53972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IMUs, no samples dropped; 149 of 149 windows fused</a:t>
            </a:r>
            <a:endParaRPr lang="en-US" sz="2400" dirty="0"/>
          </a:p>
        </p:txBody>
      </p:sp>
      <p:sp>
        <p:nvSpPr>
          <p:cNvPr id="41" name="Shape 36"/>
          <p:cNvSpPr/>
          <p:nvPr/>
        </p:nvSpPr>
        <p:spPr>
          <a:xfrm>
            <a:off x="22592538" y="12527280"/>
            <a:ext cx="5945886" cy="260604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22866858" y="12664440"/>
            <a:ext cx="539724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to 54 ms</a:t>
            </a:r>
            <a:endParaRPr lang="en-US" sz="6000" dirty="0"/>
          </a:p>
        </p:txBody>
      </p:sp>
      <p:sp>
        <p:nvSpPr>
          <p:cNvPr id="43" name="Text 38"/>
          <p:cNvSpPr txBox="1"/>
          <p:nvPr/>
        </p:nvSpPr>
        <p:spPr>
          <a:xfrm>
            <a:off x="22866858" y="13944600"/>
            <a:ext cx="53972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detection on the Pi 5 at 19.2 fps (Pi 4: about 120 ms)</a:t>
            </a:r>
            <a:endParaRPr lang="en-US" sz="2400" dirty="0"/>
          </a:p>
        </p:txBody>
      </p:sp>
      <p:sp>
        <p:nvSpPr>
          <p:cNvPr id="44" name="Shape 39"/>
          <p:cNvSpPr/>
          <p:nvPr/>
        </p:nvSpPr>
        <p:spPr>
          <a:xfrm>
            <a:off x="16189452" y="15453360"/>
            <a:ext cx="5945886" cy="260604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16463772" y="15590520"/>
            <a:ext cx="539724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 m</a:t>
            </a:r>
            <a:endParaRPr lang="en-US" sz="6000" dirty="0"/>
          </a:p>
        </p:txBody>
      </p:sp>
      <p:sp>
        <p:nvSpPr>
          <p:cNvPr id="46" name="Text 41"/>
          <p:cNvSpPr txBox="1"/>
          <p:nvPr/>
        </p:nvSpPr>
        <p:spPr>
          <a:xfrm>
            <a:off x="16463772" y="16870680"/>
            <a:ext cx="53972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GNSS error against a phone, 104 fixes</a:t>
            </a:r>
            <a:endParaRPr lang="en-US" sz="2400" dirty="0"/>
          </a:p>
        </p:txBody>
      </p:sp>
      <p:sp>
        <p:nvSpPr>
          <p:cNvPr id="47" name="Shape 42"/>
          <p:cNvSpPr/>
          <p:nvPr/>
        </p:nvSpPr>
        <p:spPr>
          <a:xfrm>
            <a:off x="22592538" y="15453360"/>
            <a:ext cx="5945886" cy="260604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22866858" y="15590520"/>
            <a:ext cx="539724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/ 112</a:t>
            </a:r>
            <a:endParaRPr lang="en-US" sz="6000" dirty="0"/>
          </a:p>
        </p:txBody>
      </p:sp>
      <p:sp>
        <p:nvSpPr>
          <p:cNvPr id="49" name="Text 44"/>
          <p:cNvSpPr txBox="1"/>
          <p:nvPr/>
        </p:nvSpPr>
        <p:spPr>
          <a:xfrm>
            <a:off x="22866858" y="16870680"/>
            <a:ext cx="53972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stored in the database across a 10-minute LTE outage</a:t>
            </a:r>
            <a:endParaRPr lang="en-US" sz="2400" dirty="0"/>
          </a:p>
        </p:txBody>
      </p:sp>
      <p:sp>
        <p:nvSpPr>
          <p:cNvPr id="50" name="Shape 45"/>
          <p:cNvSpPr/>
          <p:nvPr/>
        </p:nvSpPr>
        <p:spPr>
          <a:xfrm>
            <a:off x="16189452" y="18379440"/>
            <a:ext cx="5945886" cy="260604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16463772" y="18516600"/>
            <a:ext cx="539724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2 %</a:t>
            </a:r>
            <a:endParaRPr lang="en-US" sz="6000" dirty="0"/>
          </a:p>
        </p:txBody>
      </p:sp>
      <p:sp>
        <p:nvSpPr>
          <p:cNvPr id="52" name="Text 47"/>
          <p:cNvSpPr txBox="1"/>
          <p:nvPr/>
        </p:nvSpPr>
        <p:spPr>
          <a:xfrm>
            <a:off x="16463772" y="19796760"/>
            <a:ext cx="53972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contact in 40 synthetic tests; 0.27 ms per frame</a:t>
            </a:r>
            <a:endParaRPr lang="en-US" sz="2400" dirty="0"/>
          </a:p>
        </p:txBody>
      </p:sp>
      <p:sp>
        <p:nvSpPr>
          <p:cNvPr id="53" name="Shape 48"/>
          <p:cNvSpPr/>
          <p:nvPr/>
        </p:nvSpPr>
        <p:spPr>
          <a:xfrm>
            <a:off x="22592538" y="18379440"/>
            <a:ext cx="5945886" cy="260604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22866858" y="18516600"/>
            <a:ext cx="539724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20 W</a:t>
            </a:r>
            <a:endParaRPr lang="en-US" sz="6000" dirty="0"/>
          </a:p>
        </p:txBody>
      </p:sp>
      <p:sp>
        <p:nvSpPr>
          <p:cNvPr id="55" name="Text 50"/>
          <p:cNvSpPr txBox="1"/>
          <p:nvPr/>
        </p:nvSpPr>
        <p:spPr>
          <a:xfrm>
            <a:off x="22866858" y="19796760"/>
            <a:ext cx="53972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budget, 0.27 A from the 72 V pack; only the Pi 5 measured</a:t>
            </a:r>
            <a:endParaRPr lang="en-US" sz="2400" dirty="0"/>
          </a:p>
        </p:txBody>
      </p:sp>
      <p:sp>
        <p:nvSpPr>
          <p:cNvPr id="56" name="Shape 51"/>
          <p:cNvSpPr/>
          <p:nvPr/>
        </p:nvSpPr>
        <p:spPr>
          <a:xfrm>
            <a:off x="15549372" y="22265640"/>
            <a:ext cx="13629132" cy="6035040"/>
          </a:xfrm>
          <a:prstGeom prst="roundRect">
            <a:avLst>
              <a:gd name="adj" fmla="val 5303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16052292" y="22722840"/>
            <a:ext cx="1143000" cy="1143000"/>
          </a:xfrm>
          <a:prstGeom prst="ellipse">
            <a:avLst/>
          </a:prstGeom>
          <a:solidFill>
            <a:srgbClr val="14305C"/>
          </a:solidFill>
          <a:ln w="12700">
            <a:solidFill>
              <a:srgbClr val="14305C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16052292" y="22722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59" name="Text 54"/>
          <p:cNvSpPr txBox="1"/>
          <p:nvPr/>
        </p:nvSpPr>
        <p:spPr>
          <a:xfrm>
            <a:off x="17515332" y="22677120"/>
            <a:ext cx="11251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investigations</a:t>
            </a:r>
            <a:endParaRPr lang="en-US" sz="5600" dirty="0"/>
          </a:p>
        </p:txBody>
      </p:sp>
      <p:sp>
        <p:nvSpPr>
          <p:cNvPr id="60" name="Text 55"/>
          <p:cNvSpPr txBox="1"/>
          <p:nvPr/>
        </p:nvSpPr>
        <p:spPr>
          <a:xfrm>
            <a:off x="16189452" y="24277320"/>
            <a:ext cx="123489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faults diagnosed as symptom, candidate causes, deciding test, cause and fix, from a flash-mode boot loop to a battery checksum off by 3.</a:t>
            </a:r>
            <a:endParaRPr lang="en-US" sz="2800" dirty="0"/>
          </a:p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mattered most: Pi 4 reboots. Power flags logged every 2 s showed under-voltage 14 s after the modem came up on its USB port; it returned in the closed box (76.9 °C), so the unit needs its own supply.</a:t>
            </a:r>
            <a:endParaRPr lang="en-US" sz="2800" dirty="0"/>
          </a:p>
        </p:txBody>
      </p:sp>
      <p:sp>
        <p:nvSpPr>
          <p:cNvPr id="61" name="Shape 56"/>
          <p:cNvSpPr/>
          <p:nvPr/>
        </p:nvSpPr>
        <p:spPr>
          <a:xfrm>
            <a:off x="15549372" y="29123640"/>
            <a:ext cx="13629132" cy="10844784"/>
          </a:xfrm>
          <a:prstGeom prst="roundRect">
            <a:avLst>
              <a:gd name="adj" fmla="val 2951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16052292" y="29580840"/>
            <a:ext cx="1143000" cy="1143000"/>
          </a:xfrm>
          <a:prstGeom prst="ellipse">
            <a:avLst/>
          </a:prstGeom>
          <a:solidFill>
            <a:srgbClr val="14305C"/>
          </a:solidFill>
          <a:ln w="12700">
            <a:solidFill>
              <a:srgbClr val="14305C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16052292" y="29580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64" name="Text 59"/>
          <p:cNvSpPr txBox="1"/>
          <p:nvPr/>
        </p:nvSpPr>
        <p:spPr>
          <a:xfrm>
            <a:off x="17515332" y="29535120"/>
            <a:ext cx="11251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vehicle: road and stands</a:t>
            </a:r>
            <a:endParaRPr lang="en-US" sz="5600" dirty="0"/>
          </a:p>
        </p:txBody>
      </p:sp>
      <p:sp>
        <p:nvSpPr>
          <p:cNvPr id="65" name="Text 60"/>
          <p:cNvSpPr txBox="1"/>
          <p:nvPr/>
        </p:nvSpPr>
        <p:spPr>
          <a:xfrm>
            <a:off x="16189452" y="31135320"/>
            <a:ext cx="123489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session, 19 Oct: 108.6 min recorded, about 16 min driving. 200 Hz with no counted drops, but one 2 s stall: R1 not met on the vehicle. Battery link held at up to 46.9 A. No GNSS fix (no antenna).</a:t>
            </a:r>
            <a:endParaRPr lang="en-US" sz="2800" dirty="0"/>
          </a:p>
        </p:txBody>
      </p:sp>
      <p:pic>
        <p:nvPicPr>
          <p:cNvPr id="66" name="Image 3" descr="C:\Users\0geda\OneDrive - University of Cape Town\Documents\PlatformIO\Projects\Tukzie-HPEC-HUD\Report\figures\results\stand_spectra_10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0418" y="33055560"/>
            <a:ext cx="10607040" cy="3818534"/>
          </a:xfrm>
          <a:prstGeom prst="rect">
            <a:avLst/>
          </a:prstGeom>
        </p:spPr>
      </p:pic>
      <p:sp>
        <p:nvSpPr>
          <p:cNvPr id="67" name="Text 61"/>
          <p:cNvSpPr txBox="1"/>
          <p:nvPr/>
        </p:nvSpPr>
        <p:spPr>
          <a:xfrm>
            <a:off x="16189452" y="36965534"/>
            <a:ext cx="123489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runs, 23 Oct, drive wheel raised: rear vibration 5 to 7 times rest, energy 40 to 70 Hz; the same lines at the front (42.75, 49.0, 64.0 Hz). Throttle settings not recorded.</a:t>
            </a:r>
            <a:endParaRPr lang="en-US" sz="2400" dirty="0"/>
          </a:p>
        </p:txBody>
      </p:sp>
      <p:sp>
        <p:nvSpPr>
          <p:cNvPr id="68" name="Text 62"/>
          <p:cNvSpPr txBox="1"/>
          <p:nvPr/>
        </p:nvSpPr>
        <p:spPr>
          <a:xfrm>
            <a:off x="16189452" y="37879934"/>
            <a:ext cx="12348972" cy="181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buSzPct val="100000"/>
              <a:buChar char="•"/>
            </a:pPr>
            <a:r>
              <a:rPr lang="en-US" sz="2600" b="1" dirty="0">
                <a:solidFill>
                  <a:srgbClr val="D47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road run 26 Oct: </a:t>
            </a:r>
            <a:pPr indent="0" marL="0">
              <a:spcAft>
                <a:spcPts val="1000"/>
              </a:spcAft>
              <a:buNone/>
            </a:pPr>
            <a:r>
              <a:rPr lang="en-US" sz="2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over passes (RQ1) and the stand lines' share of the road spectrum (RQ4).</a:t>
            </a:r>
            <a:endParaRPr lang="en-US" sz="2600" dirty="0"/>
          </a:p>
          <a:p>
            <a:pPr marL="406400" indent="-406400">
              <a:buSzPct val="100000"/>
              <a:buChar char="•"/>
            </a:pPr>
            <a:r>
              <a:rPr lang="en-US" sz="2600" b="1" dirty="0">
                <a:solidFill>
                  <a:srgbClr val="D47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spcAft>
                <a:spcPts val="1000"/>
              </a:spcAft>
              <a:buNone/>
            </a:pPr>
            <a:r>
              <a:rPr lang="en-US" sz="2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 the warnings, then glance time; the real approach test; a regulated supply for the telemetry unit.</a:t>
            </a:r>
            <a:endParaRPr lang="en-US" sz="2600" dirty="0"/>
          </a:p>
        </p:txBody>
      </p:sp>
      <p:pic>
        <p:nvPicPr>
          <p:cNvPr id="69" name="Image 4" descr="C:\Users\0geda\OneDrive - University of Cape Town\Documents\PlatformIO\Projects\Tukzie-HPEC-HUD\Presentation\source\assets\uct_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0288464"/>
            <a:ext cx="2103120" cy="2139696"/>
          </a:xfrm>
          <a:prstGeom prst="rect">
            <a:avLst/>
          </a:prstGeom>
        </p:spPr>
      </p:pic>
      <p:sp>
        <p:nvSpPr>
          <p:cNvPr id="70" name="Text 63"/>
          <p:cNvSpPr txBox="1"/>
          <p:nvPr/>
        </p:nvSpPr>
        <p:spPr>
          <a:xfrm>
            <a:off x="3749040" y="40882824"/>
            <a:ext cx="25429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Engineering, University of Cape Town   |   EEE4022S 2026   |   Project SW-7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SW7 poster: Embedded telemetry, road-surface characterisation and camera-based hazard detection for the TUKZIE electric tricycle</dc:title>
  <dc:subject>PptxGenJS Presentation</dc:subject>
  <dc:creator>PptxGenJS</dc:creator>
  <cp:lastModifiedBy>PptxGenJS</cp:lastModifiedBy>
  <cp:revision>1</cp:revision>
  <dcterms:created xsi:type="dcterms:W3CDTF">2026-10-26T21:46:31Z</dcterms:created>
  <dcterms:modified xsi:type="dcterms:W3CDTF">2026-10-26T21:46:31Z</dcterms:modified>
</cp:coreProperties>
</file>