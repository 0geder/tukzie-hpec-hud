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305C"/>
                </a:solidFill>
                <a:latin typeface="Calibri"/>
              </a:defRPr>
            </a:pPr>
            <a:r>
              <a:rPr sz="1500" b="0" i="0" u="none" strike="noStrike">
                <a:solidFill>
                  <a:srgbClr val="14305C"/>
                </a:solidFill>
                <a:latin typeface="Calibri"/>
              </a:rPr>
              <a:t>Median, sensor readout to detection (ms)</a:t>
            </a:r>
          </a:p>
        </c:rich>
      </c:tx>
      <c:layout/>
      <c:overlay val="0"/>
    </c:title>
    <c:autoTitleDeleted val="0"/>
    <c:plotArea>
      <c:layout/>
      <c:barChart>
        <c:barDir val="bar"/>
        <c:grouping val="clustered"/>
        <c:varyColors val="0"/>
        <c:ser>
          <c:idx val="0"/>
          <c:order val="0"/>
          <c:tx>
            <c:strRef>
              <c:f>Sheet1!$B$1</c:f>
              <c:strCache>
                <c:ptCount val="1"/>
                <c:pt idx="0">
                  <c:v>Median readout to result (ms)</c:v>
                </c:pt>
              </c:strCache>
            </c:strRef>
          </c:tx>
          <c:spPr>
            <a:solidFill>
              <a:srgbClr val="1565C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Pi 4, whole system: 118 to 122 ms</c:v>
                  </c:pt>
                  <c:pt idx="1">
                    <c:v>Pi 4, detector alone: 102 ms</c:v>
                  </c:pt>
                  <c:pt idx="2">
                    <c:v>Pi 5, with the dashboard: 51 to 54 ms</c:v>
                  </c:pt>
                </c:lvl>
              </c:multiLvlStrCache>
            </c:multiLvlStrRef>
          </c:cat>
          <c:val>
            <c:numRef>
              <c:f>Sheet1!$B$2:$B$4</c:f>
              <c:numCache>
                <c:formatCode>General</c:formatCode>
                <c:ptCount val="3"/>
                <c:pt idx="0">
                  <c:v>120</c:v>
                </c:pt>
                <c:pt idx="1">
                  <c:v>102</c:v>
                </c:pt>
                <c:pt idx="2">
                  <c:v>52.5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4"/>
                </a:solidFill>
                <a:latin typeface="Calibri"/>
              </a:defRPr>
            </a:pPr>
            <a:endParaRPr lang="en-US"/>
          </a:p>
        </c:txPr>
        <c:crossAx val="2094734552"/>
        <c:crosses val="autoZero"/>
        <c:auto val="1"/>
        <c:lblAlgn val="ctr"/>
        <c:noMultiLvlLbl val="1"/>
      </c:catAx>
      <c:valAx>
        <c:axId val="2094734552"/>
        <c:scaling>
          <c:orientation val="minMax"/>
          <c:max val="140"/>
          <c:min val="0"/>
        </c:scaling>
        <c:delete val="0"/>
        <c:axPos val="b"/>
        <c:majorGridlines>
          <c:spPr>
            <a:ln w="9525" cap="flat">
              <a:solidFill>
                <a:srgbClr val="C9D6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4A5566"/>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Samson Okuthe, and my project is SW-7, supervised by Associate Professor Simon Winberg with Sampath Jayalath. It is part of TUKZIE, a 72 volt electric cargo trike for last-mile freight. I built its on-board electronics: a telemetry unit that measures how the trike rides, and safety alerts on the dashboard it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Electric trikes make economic sense for freight in African cities: on delivery routes in Dar es Salaam, an electric cargo tricycle cut the operating cost per kilometre by 45.5 percent against a motorcycle. But anything that takes the driver's eyes off the road is a risk; NHTSA guidance limits a single glance to two seconds. So the problem is to combine edge telemetry with short, safety-only alerts on a low-cost trike, and to measure whether each part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research questions, and where each honestly stands. RQ1, how accurately and repeatably a low-cost unit characterises the ride: the instrument is verified, and on the first road session it held its rate, but repeatability is not measured yet. RQ2, alerts on the existing dashboard with the least distraction: this replaced the head-up display with my supervisor's agreement. It is built; glance time is not measured. RQ3, latency, loss and recovery: loss and recovery pass a ten-minute outage test; latency needs GNSS time. RQ4, road against powertrain vibration, needs the second road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fifteenth of October the system has two sides, joined by one Ethernet cable. At the front, a Raspberry Pi 5 behind the dashboard runs its own camera, the detector, a time-of-flight board and the fusion, so a front alert never crosses the network. At the rear, beside the battery, the Pi 4 runs the rear camera and sensors and carries the telemetry unit: an ESP32-S3 with LTE and GNSS, two IMUs at 200 hertz and the battery link. Two findings drove this: the battery's Bluetooth did not reach the front, and the Pi 5 runs the detector more than twice as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firmware runs on FreeRTOS across two cores. Core 1 holds one task per IMU at the highest priority, on a fixed 5 millisecond period. They never block: each sample is time-stamped into a bounded queue, and if it is full the sample is dropped and counted. Core 0 does the modem, GNSS, MQTT and the flash log, in one task because the modem's serial line has no lock. Version 0.7.4 adds sequence numbers, backlog replay and a 94 hertz filter against aliasing.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IMUs run at 200 hertz with no dropped samples, counted, not assumed. Flash writes cause one gap of under 45 milliseconds a minute, and the queue holds the samples through it. A gravity factor per sensor brings both to 9.80 or 9.81, but only in that orientation, so it is redone once mounted. Fusion is an equal-weight mean; windows pair only if they end within half a window, and the disagreement is reported. In a 150 second session all 149 windows fused with under a millisecond of skew.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each stage was tested before the next, every fault could be traced to one change. Seven needed a real diagnosis; here is the one that mattered most. The Pi 4 kept throttling and rebooting. A logger recorded its power flags every two seconds: clear with nothing attached, then under-voltage fourteen seconds after the telemetry unit's modem came up on its USB port. Moved off, no restarts in four hours. It came back in the closed box: 76.9 degrees and a brown-out restart. So the unit needs its own supply, and the lids gained vents. The Pi 5's restarts while mounting were different: abrupt power loss, not a brown-out.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sync wire gives a median interval of 500.06 milliseconds over 121 edges, with under 0.7 of spread, so camera and IMU clocks line up. On a rooftop, GNSS was a median 2.7 metres from a phone. The outage test: I switched the radio off for ten minutes. The unit reconnected 5.2 seconds after it came back and cleared 60 records in about 40 seconds; the database holds 112 of 112. The public test broker does not queue, so the log read-back is the safety net, and latency needs GNSS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is a pretrained 8-bit SSD-MobileNet. On the Pi 4 with the whole system running it takes 118 to 122 milliseconds from sensor readout to result, at 14.6 frames per second. On the Pi 5 beside the dashboard it is 51 to 54 milliseconds at 19.2 frames per second, with no throttling. At 30 kilometres an hour that is about 0.6 metres less travel before an alert. An alert needs three frames to raise and five to clear, and no frame is ever stored. My pothole model works on a test image but is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Distance bands say how near an object is, not whether it is coming closer. For an object closing at constant speed, the inverse of its box width falls in a straight line to zero at contact. So time to contact is the width over its rate of growth, after Lee in 1976, and it needs no focal length or object size. I fit that line robustly over the last 0.6 seconds, and warn below 4 seconds, immediate below 2. In 40 synthetic tests it is within 2 percent, at 0.27 milliseconds a frame. It has not been tested on a real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RQ2 lands, on the dashboard the team already runs. The Surroundings page now has a Front and Rear switch, which moves the picture, alerts, distances and hazards together, each from that side's own unit. The rear view is mirrored like a reversing camera. The banner shows warnings from both sides, names the side, and puts an approaching object first. It shows only live data, never a simulated value. It is tested offscreen and live on the Pi 5; glance time on the vehicle is still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enclosures were modelled from scripts in SOLIDWORKS, each checked for interference, fasteners and thin walls: a display mount, a front pod for the Pi 5 and its AI HAT, and a screwless IMU pod. After the Pi 4 reached 76.9 degrees in its closed box, both lids gained an exhaust grille under a rain hood. The power budget is about 20 watts, 0.27 amps from the 72 volt pack, under one percent of the motor's rated input. Only the Pi 5 is measured; the rest are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nineteenth of October the whole system was mounted and the first road session run. A recorder on the Pi 5 ran for 108.6 minutes, about 16 of them driving, with no laptop on board. Both IMUs held 200 hertz with no drops and one short stall, but a third of the per-second records were lost on the USB link, now replaced by wires, so R1 is only partly met on the vehicle. The battery link held under load: up to 46.9 amps, the pack falling from 74.6 to 72.8 volts. The cameras raised 1,342 front and 741 rear alerts, not yet checked against video. But GNSS had no fix, as no antenna was fitted, and there were no raw samples or run markers, so RQ1 and RQ4 are not answered yet. A second, shorter session is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Every subsystem runs together, now on the vehicle: two IMUs at 200 hertz, fused; a database that lost nothing across an outage; detection in about 50 milliseconds at the front; an approaching-object warning; and both cameras on the existing dashboard. What remains is the second road session with raw data and GNSS for RQ1 and RQ4, the real approach test, glance time for RQ2, and a separate supply for the telemetry unit.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5C"/>
        </a:solidFill>
      </p:bgPr>
    </p:bg>
    <p:spTree>
      <p:nvGrpSpPr>
        <p:cNvPr id="1" name=""/>
        <p:cNvGrpSpPr/>
        <p:nvPr/>
      </p:nvGrpSpPr>
      <p:grpSpPr>
        <a:xfrm>
          <a:off x="0" y="0"/>
          <a:ext cx="0" cy="0"/>
          <a:chOff x="0" y="0"/>
          <a:chExt cx="0" cy="0"/>
        </a:xfrm>
      </p:grpSpPr>
      <p:pic>
        <p:nvPicPr>
          <p:cNvPr id="2" name="Image 0" descr="C:\Users\0geda\OneDrive - University of Cape Town\Documents\PlatformIO\Projects\Tukzie-HPEC-HUD\Presentation\source\assets\uct_banner.jpg">    </p:cNvPr>
          <p:cNvPicPr>
            <a:picLocks noChangeAspect="1"/>
          </p:cNvPicPr>
          <p:nvPr/>
        </p:nvPicPr>
        <p:blipFill>
          <a:blip r:embed="rId1"/>
          <a:srcRect l="0" r="0" t="0" b="0"/>
          <a:stretch/>
        </p:blipFill>
        <p:spPr>
          <a:xfrm>
            <a:off x="0" y="0"/>
            <a:ext cx="12191695" cy="6858000"/>
          </a:xfrm>
          <a:prstGeom prst="rect">
            <a:avLst/>
          </a:prstGeom>
        </p:spPr>
      </p:pic>
      <p:sp>
        <p:nvSpPr>
          <p:cNvPr id="4" name="Text 0"/>
          <p:cNvSpPr txBox="1"/>
          <p:nvPr/>
        </p:nvSpPr>
        <p:spPr>
          <a:xfrm>
            <a:off x="548640" y="32004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EEE4022S Final Year Project 2026, Department of Electrical Engineering, University of Cape Town</a:t>
            </a:r>
            <a:endParaRPr lang="en-US" sz="1500" dirty="0"/>
          </a:p>
        </p:txBody>
      </p:sp>
      <p:sp>
        <p:nvSpPr>
          <p:cNvPr id="5" name="Text 1"/>
          <p:cNvSpPr txBox="1"/>
          <p:nvPr/>
        </p:nvSpPr>
        <p:spPr>
          <a:xfrm>
            <a:off x="548640" y="777240"/>
            <a:ext cx="11094415" cy="146304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Development of an Embedded HPEC Telemetry Unit</a:t>
            </a:r>
            <a:endParaRPr lang="en-US" sz="3400" dirty="0"/>
          </a:p>
          <a:p>
            <a:pPr algn="ctr" indent="0" marL="0">
              <a:buNone/>
            </a:pPr>
            <a:r>
              <a:rPr lang="en-US" sz="3400" b="1" dirty="0">
                <a:solidFill>
                  <a:srgbClr val="FFFFFF"/>
                </a:solidFill>
                <a:latin typeface="Calibri" pitchFamily="34" charset="0"/>
                <a:ea typeface="Calibri" pitchFamily="34" charset="-122"/>
                <a:cs typeface="Calibri" pitchFamily="34" charset="-120"/>
              </a:rPr>
              <a:t>and Dashboard Integration for the TUKZIE Rev 0 Platform</a:t>
            </a:r>
            <a:endParaRPr lang="en-US" sz="3400" dirty="0"/>
          </a:p>
        </p:txBody>
      </p:sp>
      <p:sp>
        <p:nvSpPr>
          <p:cNvPr id="6" name="Text 2"/>
          <p:cNvSpPr txBox="1"/>
          <p:nvPr/>
        </p:nvSpPr>
        <p:spPr>
          <a:xfrm>
            <a:off x="548640" y="2286000"/>
            <a:ext cx="11094415" cy="41148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Samson Okuthe (OKTSAM001)</a:t>
            </a:r>
            <a:endParaRPr lang="en-US" sz="2000" dirty="0"/>
          </a:p>
        </p:txBody>
      </p:sp>
      <p:sp>
        <p:nvSpPr>
          <p:cNvPr id="7" name="Text 3"/>
          <p:cNvSpPr txBox="1"/>
          <p:nvPr/>
        </p:nvSpPr>
        <p:spPr>
          <a:xfrm>
            <a:off x="548640" y="269748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Supervisor: A/Prof. Simon Winberg   |   Co-supervisor: Sampath Jayalath   |   Project SW-7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Why this matters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2 / 14</a:t>
            </a:r>
            <a:endParaRPr lang="en-US" sz="1100" dirty="0"/>
          </a:p>
        </p:txBody>
      </p:sp>
      <p:sp>
        <p:nvSpPr>
          <p:cNvPr id="9" name="Shape 5"/>
          <p:cNvSpPr/>
          <p:nvPr/>
        </p:nvSpPr>
        <p:spPr>
          <a:xfrm>
            <a:off x="548640" y="1325880"/>
            <a:ext cx="5318608" cy="3017520"/>
          </a:xfrm>
          <a:prstGeom prst="roundRect">
            <a:avLst>
              <a:gd name="adj" fmla="val 3636"/>
            </a:avLst>
          </a:prstGeom>
          <a:solidFill>
            <a:srgbClr val="E8F0FA"/>
          </a:solidFill>
          <a:ln w="12700">
            <a:solidFill>
              <a:srgbClr val="E8F0FA"/>
            </a:solidFill>
            <a:prstDash val="solid"/>
          </a:ln>
        </p:spPr>
      </p:sp>
      <p:sp>
        <p:nvSpPr>
          <p:cNvPr id="10" name="Text 6"/>
          <p:cNvSpPr txBox="1"/>
          <p:nvPr/>
        </p:nvSpPr>
        <p:spPr>
          <a:xfrm>
            <a:off x="914400"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45.5 to 86%</a:t>
            </a:r>
            <a:endParaRPr lang="en-US" sz="6000" dirty="0"/>
          </a:p>
        </p:txBody>
      </p:sp>
      <p:sp>
        <p:nvSpPr>
          <p:cNvPr id="11" name="Text 7"/>
          <p:cNvSpPr txBox="1"/>
          <p:nvPr/>
        </p:nvSpPr>
        <p:spPr>
          <a:xfrm>
            <a:off x="914400"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lower operating cost per km for an electric cargo tricycle than a motorcycle, petrol tuk-tuk or light car on delivery routes in Dar es Salaam</a:t>
            </a:r>
            <a:endParaRPr lang="en-US" sz="1800" dirty="0"/>
          </a:p>
        </p:txBody>
      </p:sp>
      <p:sp>
        <p:nvSpPr>
          <p:cNvPr id="12" name="Text 8"/>
          <p:cNvSpPr txBox="1"/>
          <p:nvPr/>
        </p:nvSpPr>
        <p:spPr>
          <a:xfrm>
            <a:off x="914400"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Sebwa et al., 2025</a:t>
            </a:r>
            <a:endParaRPr lang="en-US" sz="1300" dirty="0"/>
          </a:p>
        </p:txBody>
      </p:sp>
      <p:sp>
        <p:nvSpPr>
          <p:cNvPr id="13" name="Shape 9"/>
          <p:cNvSpPr/>
          <p:nvPr/>
        </p:nvSpPr>
        <p:spPr>
          <a:xfrm>
            <a:off x="6324448" y="1325880"/>
            <a:ext cx="5318608" cy="3017520"/>
          </a:xfrm>
          <a:prstGeom prst="roundRect">
            <a:avLst>
              <a:gd name="adj" fmla="val 3636"/>
            </a:avLst>
          </a:prstGeom>
          <a:solidFill>
            <a:srgbClr val="E8F0FA"/>
          </a:solidFill>
          <a:ln w="12700">
            <a:solidFill>
              <a:srgbClr val="E8F0FA"/>
            </a:solidFill>
            <a:prstDash val="solid"/>
          </a:ln>
        </p:spPr>
      </p:sp>
      <p:sp>
        <p:nvSpPr>
          <p:cNvPr id="14" name="Text 10"/>
          <p:cNvSpPr txBox="1"/>
          <p:nvPr/>
        </p:nvSpPr>
        <p:spPr>
          <a:xfrm>
            <a:off x="6690208"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2 s</a:t>
            </a:r>
            <a:endParaRPr lang="en-US" sz="6000" dirty="0"/>
          </a:p>
        </p:txBody>
      </p:sp>
      <p:sp>
        <p:nvSpPr>
          <p:cNvPr id="15" name="Text 11"/>
          <p:cNvSpPr txBox="1"/>
          <p:nvPr/>
        </p:nvSpPr>
        <p:spPr>
          <a:xfrm>
            <a:off x="6690208"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longest single glance away from the road that NHTSA guidance allows, so driver information must be short and safety-only</a:t>
            </a:r>
            <a:endParaRPr lang="en-US" sz="1800" dirty="0"/>
          </a:p>
        </p:txBody>
      </p:sp>
      <p:sp>
        <p:nvSpPr>
          <p:cNvPr id="16" name="Text 12"/>
          <p:cNvSpPr txBox="1"/>
          <p:nvPr/>
        </p:nvSpPr>
        <p:spPr>
          <a:xfrm>
            <a:off x="6690208"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NHTSA, 2013</a:t>
            </a:r>
            <a:endParaRPr lang="en-US" sz="1300" dirty="0"/>
          </a:p>
        </p:txBody>
      </p:sp>
      <p:sp>
        <p:nvSpPr>
          <p:cNvPr id="17" name="Text 13"/>
          <p:cNvSpPr txBox="1"/>
          <p:nvPr/>
        </p:nvSpPr>
        <p:spPr>
          <a:xfrm>
            <a:off x="548640" y="4754880"/>
            <a:ext cx="11094415" cy="91440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The open problem: </a:t>
            </a:r>
            <a:pPr indent="0" marL="0">
              <a:buNone/>
            </a:pPr>
            <a:r>
              <a:rPr lang="en-US" sz="2000" dirty="0">
                <a:solidFill>
                  <a:srgbClr val="1B1F24"/>
                </a:solidFill>
                <a:latin typeface="Calibri" pitchFamily="34" charset="0"/>
                <a:ea typeface="Calibri" pitchFamily="34" charset="-122"/>
                <a:cs typeface="Calibri" pitchFamily="34" charset="-120"/>
              </a:rPr>
              <a:t>bringing on-board edge telemetry and sparse, safety-only driver alerts together on a low-cost electric trike, and measuring whether each part works.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Aim and research questions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3 / 14</a:t>
            </a:r>
            <a:endParaRPr lang="en-US" sz="1100" dirty="0"/>
          </a:p>
        </p:txBody>
      </p:sp>
      <p:sp>
        <p:nvSpPr>
          <p:cNvPr id="9" name="Shape 5"/>
          <p:cNvSpPr/>
          <p:nvPr/>
        </p:nvSpPr>
        <p:spPr>
          <a:xfrm>
            <a:off x="548640" y="1325880"/>
            <a:ext cx="11094415" cy="987552"/>
          </a:xfrm>
          <a:prstGeom prst="roundRect">
            <a:avLst>
              <a:gd name="adj" fmla="val 11111"/>
            </a:avLst>
          </a:prstGeom>
          <a:solidFill>
            <a:srgbClr val="E8F0FA"/>
          </a:solidFill>
          <a:ln w="12700">
            <a:solidFill>
              <a:srgbClr val="E8F0FA"/>
            </a:solidFill>
            <a:prstDash val="solid"/>
          </a:ln>
        </p:spPr>
      </p:sp>
      <p:sp>
        <p:nvSpPr>
          <p:cNvPr id="10" name="Text 6"/>
          <p:cNvSpPr txBox="1"/>
          <p:nvPr/>
        </p:nvSpPr>
        <p:spPr>
          <a:xfrm>
            <a:off x="822960" y="1325880"/>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RQ1</a:t>
            </a:r>
            <a:endParaRPr lang="en-US" sz="2400" dirty="0"/>
          </a:p>
        </p:txBody>
      </p:sp>
      <p:sp>
        <p:nvSpPr>
          <p:cNvPr id="11" name="Text 7"/>
          <p:cNvSpPr txBox="1"/>
          <p:nvPr/>
        </p:nvSpPr>
        <p:spPr>
          <a:xfrm>
            <a:off x="1783080" y="1325880"/>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How accurately and repeatably can a low-cost edge unit characterise the trike's ride response?</a:t>
            </a:r>
            <a:endParaRPr lang="en-US" sz="1800" dirty="0"/>
          </a:p>
        </p:txBody>
      </p:sp>
      <p:sp>
        <p:nvSpPr>
          <p:cNvPr id="12" name="Shape 8"/>
          <p:cNvSpPr/>
          <p:nvPr/>
        </p:nvSpPr>
        <p:spPr>
          <a:xfrm>
            <a:off x="9128455" y="1591056"/>
            <a:ext cx="2240280" cy="457200"/>
          </a:xfrm>
          <a:prstGeom prst="roundRect">
            <a:avLst>
              <a:gd name="adj" fmla="val 50000"/>
            </a:avLst>
          </a:prstGeom>
          <a:solidFill>
            <a:srgbClr val="14305C"/>
          </a:solidFill>
          <a:ln w="19050">
            <a:solidFill>
              <a:srgbClr val="14305C"/>
            </a:solidFill>
            <a:prstDash val="solid"/>
          </a:ln>
        </p:spPr>
      </p:sp>
      <p:sp>
        <p:nvSpPr>
          <p:cNvPr id="13" name="Text 9"/>
          <p:cNvSpPr txBox="1"/>
          <p:nvPr/>
        </p:nvSpPr>
        <p:spPr>
          <a:xfrm>
            <a:off x="9128455" y="1591056"/>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Rate held on road</a:t>
            </a:r>
            <a:endParaRPr lang="en-US" sz="1500" dirty="0"/>
          </a:p>
        </p:txBody>
      </p:sp>
      <p:sp>
        <p:nvSpPr>
          <p:cNvPr id="14" name="Shape 10"/>
          <p:cNvSpPr/>
          <p:nvPr/>
        </p:nvSpPr>
        <p:spPr>
          <a:xfrm>
            <a:off x="548640" y="2478024"/>
            <a:ext cx="11094415" cy="987552"/>
          </a:xfrm>
          <a:prstGeom prst="roundRect">
            <a:avLst>
              <a:gd name="adj" fmla="val 11111"/>
            </a:avLst>
          </a:prstGeom>
          <a:solidFill>
            <a:srgbClr val="E8F0FA"/>
          </a:solidFill>
          <a:ln w="12700">
            <a:solidFill>
              <a:srgbClr val="E8F0FA"/>
            </a:solidFill>
            <a:prstDash val="solid"/>
          </a:ln>
        </p:spPr>
      </p:sp>
      <p:sp>
        <p:nvSpPr>
          <p:cNvPr id="15" name="Text 11"/>
          <p:cNvSpPr txBox="1"/>
          <p:nvPr/>
        </p:nvSpPr>
        <p:spPr>
          <a:xfrm>
            <a:off x="822960" y="2478024"/>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RQ2</a:t>
            </a:r>
            <a:endParaRPr lang="en-US" sz="2400" dirty="0"/>
          </a:p>
        </p:txBody>
      </p:sp>
      <p:sp>
        <p:nvSpPr>
          <p:cNvPr id="16" name="Text 12"/>
          <p:cNvSpPr txBox="1"/>
          <p:nvPr/>
        </p:nvSpPr>
        <p:spPr>
          <a:xfrm>
            <a:off x="1783080" y="2478024"/>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Which layout and update strategy show safety alerts on the existing dashboard with least distraction?</a:t>
            </a:r>
            <a:endParaRPr lang="en-US" sz="1800" dirty="0"/>
          </a:p>
        </p:txBody>
      </p:sp>
      <p:sp>
        <p:nvSpPr>
          <p:cNvPr id="17" name="Shape 13"/>
          <p:cNvSpPr/>
          <p:nvPr/>
        </p:nvSpPr>
        <p:spPr>
          <a:xfrm>
            <a:off x="9128455" y="2743200"/>
            <a:ext cx="2240280" cy="457200"/>
          </a:xfrm>
          <a:prstGeom prst="roundRect">
            <a:avLst>
              <a:gd name="adj" fmla="val 50000"/>
            </a:avLst>
          </a:prstGeom>
          <a:solidFill>
            <a:srgbClr val="FFFFFF"/>
          </a:solidFill>
          <a:ln w="19050">
            <a:solidFill>
              <a:srgbClr val="D4700C"/>
            </a:solidFill>
            <a:prstDash val="dash"/>
          </a:ln>
        </p:spPr>
      </p:sp>
      <p:sp>
        <p:nvSpPr>
          <p:cNvPr id="18" name="Text 14"/>
          <p:cNvSpPr txBox="1"/>
          <p:nvPr/>
        </p:nvSpPr>
        <p:spPr>
          <a:xfrm>
            <a:off x="9128455" y="2743200"/>
            <a:ext cx="2240280" cy="457200"/>
          </a:xfrm>
          <a:prstGeom prst="rect">
            <a:avLst/>
          </a:prstGeom>
          <a:noFill/>
          <a:ln/>
        </p:spPr>
        <p:txBody>
          <a:bodyPr wrap="square" lIns="0" tIns="0" rIns="0" bIns="0" rtlCol="0" anchor="ctr"/>
          <a:lstStyle/>
          <a:p>
            <a:pPr algn="ctr" indent="0" marL="0">
              <a:buNone/>
            </a:pPr>
            <a:r>
              <a:rPr lang="en-US" sz="1500" b="1" dirty="0">
                <a:solidFill>
                  <a:srgbClr val="D4700C"/>
                </a:solidFill>
                <a:latin typeface="Calibri" pitchFamily="34" charset="0"/>
                <a:ea typeface="Calibri" pitchFamily="34" charset="-122"/>
                <a:cs typeface="Calibri" pitchFamily="34" charset="-120"/>
              </a:rPr>
              <a:t>Glance untested</a:t>
            </a:r>
            <a:endParaRPr lang="en-US" sz="1500" dirty="0"/>
          </a:p>
        </p:txBody>
      </p:sp>
      <p:sp>
        <p:nvSpPr>
          <p:cNvPr id="19" name="Shape 15"/>
          <p:cNvSpPr/>
          <p:nvPr/>
        </p:nvSpPr>
        <p:spPr>
          <a:xfrm>
            <a:off x="548640" y="3630168"/>
            <a:ext cx="11094415" cy="987552"/>
          </a:xfrm>
          <a:prstGeom prst="roundRect">
            <a:avLst>
              <a:gd name="adj" fmla="val 11111"/>
            </a:avLst>
          </a:prstGeom>
          <a:solidFill>
            <a:srgbClr val="E8F0FA"/>
          </a:solidFill>
          <a:ln w="12700">
            <a:solidFill>
              <a:srgbClr val="E8F0FA"/>
            </a:solidFill>
            <a:prstDash val="solid"/>
          </a:ln>
        </p:spPr>
      </p:sp>
      <p:sp>
        <p:nvSpPr>
          <p:cNvPr id="20" name="Text 16"/>
          <p:cNvSpPr txBox="1"/>
          <p:nvPr/>
        </p:nvSpPr>
        <p:spPr>
          <a:xfrm>
            <a:off x="822960" y="3630168"/>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RQ3</a:t>
            </a:r>
            <a:endParaRPr lang="en-US" sz="2400" dirty="0"/>
          </a:p>
        </p:txBody>
      </p:sp>
      <p:sp>
        <p:nvSpPr>
          <p:cNvPr id="21" name="Text 17"/>
          <p:cNvSpPr txBox="1"/>
          <p:nvPr/>
        </p:nvSpPr>
        <p:spPr>
          <a:xfrm>
            <a:off x="1783080" y="3630168"/>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What latency, data loss and recovery from sensor through local log to the LTE link?</a:t>
            </a:r>
            <a:endParaRPr lang="en-US" sz="1800" dirty="0"/>
          </a:p>
        </p:txBody>
      </p:sp>
      <p:sp>
        <p:nvSpPr>
          <p:cNvPr id="22" name="Shape 18"/>
          <p:cNvSpPr/>
          <p:nvPr/>
        </p:nvSpPr>
        <p:spPr>
          <a:xfrm>
            <a:off x="9128455" y="3895344"/>
            <a:ext cx="2240280" cy="457200"/>
          </a:xfrm>
          <a:prstGeom prst="roundRect">
            <a:avLst>
              <a:gd name="adj" fmla="val 50000"/>
            </a:avLst>
          </a:prstGeom>
          <a:solidFill>
            <a:srgbClr val="1565C0"/>
          </a:solidFill>
          <a:ln w="19050">
            <a:solidFill>
              <a:srgbClr val="1565C0"/>
            </a:solidFill>
            <a:prstDash val="solid"/>
          </a:ln>
        </p:spPr>
      </p:sp>
      <p:sp>
        <p:nvSpPr>
          <p:cNvPr id="23" name="Text 19"/>
          <p:cNvSpPr txBox="1"/>
          <p:nvPr/>
        </p:nvSpPr>
        <p:spPr>
          <a:xfrm>
            <a:off x="9128455" y="3895344"/>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Loss tested</a:t>
            </a:r>
            <a:endParaRPr lang="en-US" sz="1500" dirty="0"/>
          </a:p>
        </p:txBody>
      </p:sp>
      <p:sp>
        <p:nvSpPr>
          <p:cNvPr id="24" name="Shape 20"/>
          <p:cNvSpPr/>
          <p:nvPr/>
        </p:nvSpPr>
        <p:spPr>
          <a:xfrm>
            <a:off x="548640" y="4782312"/>
            <a:ext cx="11094415" cy="987552"/>
          </a:xfrm>
          <a:prstGeom prst="roundRect">
            <a:avLst>
              <a:gd name="adj" fmla="val 11111"/>
            </a:avLst>
          </a:prstGeom>
          <a:solidFill>
            <a:srgbClr val="E8F0FA"/>
          </a:solidFill>
          <a:ln w="12700">
            <a:solidFill>
              <a:srgbClr val="E8F0FA"/>
            </a:solidFill>
            <a:prstDash val="solid"/>
          </a:ln>
        </p:spPr>
      </p:sp>
      <p:sp>
        <p:nvSpPr>
          <p:cNvPr id="25" name="Text 21"/>
          <p:cNvSpPr txBox="1"/>
          <p:nvPr/>
        </p:nvSpPr>
        <p:spPr>
          <a:xfrm>
            <a:off x="822960" y="4782312"/>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RQ4</a:t>
            </a:r>
            <a:endParaRPr lang="en-US" sz="2400" dirty="0"/>
          </a:p>
        </p:txBody>
      </p:sp>
      <p:sp>
        <p:nvSpPr>
          <p:cNvPr id="26" name="Text 22"/>
          <p:cNvSpPr txBox="1"/>
          <p:nvPr/>
        </p:nvSpPr>
        <p:spPr>
          <a:xfrm>
            <a:off x="1783080" y="4782312"/>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Which ride features separate road-induced from powertrain vibration?</a:t>
            </a:r>
            <a:endParaRPr lang="en-US" sz="1800" dirty="0"/>
          </a:p>
        </p:txBody>
      </p:sp>
      <p:sp>
        <p:nvSpPr>
          <p:cNvPr id="27" name="Shape 23"/>
          <p:cNvSpPr/>
          <p:nvPr/>
        </p:nvSpPr>
        <p:spPr>
          <a:xfrm>
            <a:off x="9128455" y="5047488"/>
            <a:ext cx="2240280" cy="457200"/>
          </a:xfrm>
          <a:prstGeom prst="roundRect">
            <a:avLst>
              <a:gd name="adj" fmla="val 50000"/>
            </a:avLst>
          </a:prstGeom>
          <a:solidFill>
            <a:srgbClr val="FFFFFF"/>
          </a:solidFill>
          <a:ln w="19050">
            <a:solidFill>
              <a:srgbClr val="D4700C"/>
            </a:solidFill>
            <a:prstDash val="dash"/>
          </a:ln>
        </p:spPr>
      </p:sp>
      <p:sp>
        <p:nvSpPr>
          <p:cNvPr id="28" name="Text 24"/>
          <p:cNvSpPr txBox="1"/>
          <p:nvPr/>
        </p:nvSpPr>
        <p:spPr>
          <a:xfrm>
            <a:off x="9128455" y="5047488"/>
            <a:ext cx="2240280" cy="457200"/>
          </a:xfrm>
          <a:prstGeom prst="rect">
            <a:avLst/>
          </a:prstGeom>
          <a:noFill/>
          <a:ln/>
        </p:spPr>
        <p:txBody>
          <a:bodyPr wrap="square" lIns="0" tIns="0" rIns="0" bIns="0" rtlCol="0" anchor="ctr"/>
          <a:lstStyle/>
          <a:p>
            <a:pPr algn="ctr" indent="0" marL="0">
              <a:buNone/>
            </a:pPr>
            <a:r>
              <a:rPr lang="en-US" sz="1500" b="1" dirty="0">
                <a:solidFill>
                  <a:srgbClr val="D4700C"/>
                </a:solidFill>
                <a:latin typeface="Calibri" pitchFamily="34" charset="0"/>
                <a:ea typeface="Calibri" pitchFamily="34" charset="-122"/>
                <a:cs typeface="Calibri" pitchFamily="34" charset="-120"/>
              </a:rPr>
              <a:t>Needs session 2</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The system: front and rear, joined by one cable</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4 / 14</a:t>
            </a:r>
            <a:endParaRPr lang="en-US" sz="1100" dirty="0"/>
          </a:p>
        </p:txBody>
      </p:sp>
      <p:sp>
        <p:nvSpPr>
          <p:cNvPr id="9" name="Shape 5"/>
          <p:cNvSpPr/>
          <p:nvPr/>
        </p:nvSpPr>
        <p:spPr>
          <a:xfrm>
            <a:off x="548640" y="1325880"/>
            <a:ext cx="4572000" cy="3154680"/>
          </a:xfrm>
          <a:prstGeom prst="roundRect">
            <a:avLst>
              <a:gd name="adj" fmla="val 3478"/>
            </a:avLst>
          </a:prstGeom>
          <a:solidFill>
            <a:srgbClr val="E8F0FA"/>
          </a:solidFill>
          <a:ln w="12700">
            <a:solidFill>
              <a:srgbClr val="E8F0FA"/>
            </a:solidFill>
            <a:prstDash val="solid"/>
          </a:ln>
        </p:spPr>
      </p:sp>
      <p:sp>
        <p:nvSpPr>
          <p:cNvPr id="10" name="Text 6"/>
          <p:cNvSpPr txBox="1"/>
          <p:nvPr/>
        </p:nvSpPr>
        <p:spPr>
          <a:xfrm>
            <a:off x="822960" y="1490472"/>
            <a:ext cx="4023360" cy="685800"/>
          </a:xfrm>
          <a:prstGeom prst="rect">
            <a:avLst/>
          </a:prstGeom>
          <a:noFill/>
          <a:ln/>
        </p:spPr>
        <p:txBody>
          <a:bodyPr wrap="square" lIns="0" tIns="0" rIns="0" bIns="0" rtlCol="0" anchor="t"/>
          <a:lstStyle/>
          <a:p>
            <a:pPr indent="0" marL="0">
              <a:buNone/>
            </a:pPr>
            <a:r>
              <a:rPr lang="en-US" sz="1900" b="1" dirty="0">
                <a:solidFill>
                  <a:srgbClr val="14305C"/>
                </a:solidFill>
                <a:latin typeface="Calibri" pitchFamily="34" charset="0"/>
                <a:ea typeface="Calibri" pitchFamily="34" charset="-122"/>
                <a:cs typeface="Calibri" pitchFamily="34" charset="-120"/>
              </a:rPr>
              <a:t>Front: Raspberry Pi 5,</a:t>
            </a:r>
            <a:endParaRPr lang="en-US" sz="1900" dirty="0"/>
          </a:p>
          <a:p>
            <a:pPr indent="0" marL="0">
              <a:buNone/>
            </a:pPr>
            <a:r>
              <a:rPr lang="en-US" sz="1900" b="1" dirty="0">
                <a:solidFill>
                  <a:srgbClr val="14305C"/>
                </a:solidFill>
                <a:latin typeface="Calibri" pitchFamily="34" charset="0"/>
                <a:ea typeface="Calibri" pitchFamily="34" charset="-122"/>
                <a:cs typeface="Calibri" pitchFamily="34" charset="-120"/>
              </a:rPr>
              <a:t>behind the dashboard</a:t>
            </a:r>
            <a:endParaRPr lang="en-US" sz="1900" dirty="0"/>
          </a:p>
        </p:txBody>
      </p:sp>
      <p:sp>
        <p:nvSpPr>
          <p:cNvPr id="11" name="Text 7"/>
          <p:cNvSpPr txBox="1"/>
          <p:nvPr/>
        </p:nvSpPr>
        <p:spPr>
          <a:xfrm>
            <a:off x="822960" y="2240280"/>
            <a:ext cx="4023360" cy="2148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Front camera and object detector</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Time-of-flight board (left, ahead, right) and camera fusion</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Dashboard on the 10.1 in touchscreen</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Road recorder: all four sources at 2 Hz</a:t>
            </a:r>
            <a:endParaRPr lang="en-US" sz="1600" dirty="0"/>
          </a:p>
        </p:txBody>
      </p:sp>
      <p:sp>
        <p:nvSpPr>
          <p:cNvPr id="12" name="Shape 8"/>
          <p:cNvSpPr/>
          <p:nvPr/>
        </p:nvSpPr>
        <p:spPr>
          <a:xfrm>
            <a:off x="7071055" y="1325880"/>
            <a:ext cx="4572000" cy="3154680"/>
          </a:xfrm>
          <a:prstGeom prst="roundRect">
            <a:avLst>
              <a:gd name="adj" fmla="val 3478"/>
            </a:avLst>
          </a:prstGeom>
          <a:solidFill>
            <a:srgbClr val="E8F0FA"/>
          </a:solidFill>
          <a:ln w="12700">
            <a:solidFill>
              <a:srgbClr val="E8F0FA"/>
            </a:solidFill>
            <a:prstDash val="solid"/>
          </a:ln>
        </p:spPr>
      </p:sp>
      <p:sp>
        <p:nvSpPr>
          <p:cNvPr id="13" name="Text 9"/>
          <p:cNvSpPr txBox="1"/>
          <p:nvPr/>
        </p:nvSpPr>
        <p:spPr>
          <a:xfrm>
            <a:off x="7345375" y="1490472"/>
            <a:ext cx="4023360" cy="685800"/>
          </a:xfrm>
          <a:prstGeom prst="rect">
            <a:avLst/>
          </a:prstGeom>
          <a:noFill/>
          <a:ln/>
        </p:spPr>
        <p:txBody>
          <a:bodyPr wrap="square" lIns="0" tIns="0" rIns="0" bIns="0" rtlCol="0" anchor="t"/>
          <a:lstStyle/>
          <a:p>
            <a:pPr indent="0" marL="0">
              <a:buNone/>
            </a:pPr>
            <a:r>
              <a:rPr lang="en-US" sz="1900" b="1" dirty="0">
                <a:solidFill>
                  <a:srgbClr val="14305C"/>
                </a:solidFill>
                <a:latin typeface="Calibri" pitchFamily="34" charset="0"/>
                <a:ea typeface="Calibri" pitchFamily="34" charset="-122"/>
                <a:cs typeface="Calibri" pitchFamily="34" charset="-120"/>
              </a:rPr>
              <a:t>Rear: Raspberry Pi 4,</a:t>
            </a:r>
            <a:endParaRPr lang="en-US" sz="1900" dirty="0"/>
          </a:p>
          <a:p>
            <a:pPr indent="0" marL="0">
              <a:buNone/>
            </a:pPr>
            <a:r>
              <a:rPr lang="en-US" sz="1900" b="1" dirty="0">
                <a:solidFill>
                  <a:srgbClr val="14305C"/>
                </a:solidFill>
                <a:latin typeface="Calibri" pitchFamily="34" charset="0"/>
                <a:ea typeface="Calibri" pitchFamily="34" charset="-122"/>
                <a:cs typeface="Calibri" pitchFamily="34" charset="-120"/>
              </a:rPr>
              <a:t>beside the battery</a:t>
            </a:r>
            <a:endParaRPr lang="en-US" sz="1900" dirty="0"/>
          </a:p>
        </p:txBody>
      </p:sp>
      <p:sp>
        <p:nvSpPr>
          <p:cNvPr id="14" name="Text 10"/>
          <p:cNvSpPr txBox="1"/>
          <p:nvPr/>
        </p:nvSpPr>
        <p:spPr>
          <a:xfrm>
            <a:off x="7345375" y="2240280"/>
            <a:ext cx="4023360" cy="2148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Rear camera, detector, time-of-flight board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Telemetry unit on USB: ESP32-S3 with LTE, GNSS, local log</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Two IMUs at 200 Hz; battery over Bluetooth; Hall counter</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LTE uplink to the central database</a:t>
            </a:r>
            <a:endParaRPr lang="en-US" sz="1600" dirty="0"/>
          </a:p>
        </p:txBody>
      </p:sp>
      <p:sp>
        <p:nvSpPr>
          <p:cNvPr id="15" name="Shape 11"/>
          <p:cNvSpPr/>
          <p:nvPr/>
        </p:nvSpPr>
        <p:spPr>
          <a:xfrm>
            <a:off x="5230368" y="2903220"/>
            <a:ext cx="1730959" cy="0"/>
          </a:xfrm>
          <a:prstGeom prst="line">
            <a:avLst/>
          </a:prstGeom>
          <a:noFill/>
          <a:ln w="38100">
            <a:solidFill>
              <a:srgbClr val="14305C"/>
            </a:solidFill>
            <a:prstDash val="solid"/>
            <a:headEnd type="triangle"/>
            <a:tailEnd type="triangle"/>
          </a:ln>
        </p:spPr>
      </p:sp>
      <p:sp>
        <p:nvSpPr>
          <p:cNvPr id="16" name="Text 12"/>
          <p:cNvSpPr txBox="1"/>
          <p:nvPr/>
        </p:nvSpPr>
        <p:spPr>
          <a:xfrm>
            <a:off x="5230368" y="2400300"/>
            <a:ext cx="1730959" cy="365760"/>
          </a:xfrm>
          <a:prstGeom prst="rect">
            <a:avLst/>
          </a:prstGeom>
          <a:noFill/>
          <a:ln/>
        </p:spPr>
        <p:txBody>
          <a:bodyPr wrap="square" lIns="0" tIns="0" rIns="0" bIns="0" rtlCol="0" anchor="ctr"/>
          <a:lstStyle/>
          <a:p>
            <a:pPr algn="ctr" indent="0" marL="0">
              <a:buNone/>
            </a:pPr>
            <a:r>
              <a:rPr lang="en-US" sz="1600" b="1" dirty="0">
                <a:solidFill>
                  <a:srgbClr val="14305C"/>
                </a:solidFill>
                <a:latin typeface="Calibri" pitchFamily="34" charset="0"/>
                <a:ea typeface="Calibri" pitchFamily="34" charset="-122"/>
                <a:cs typeface="Calibri" pitchFamily="34" charset="-120"/>
              </a:rPr>
              <a:t>Ethernet</a:t>
            </a:r>
            <a:endParaRPr lang="en-US" sz="1600" dirty="0"/>
          </a:p>
        </p:txBody>
      </p:sp>
      <p:sp>
        <p:nvSpPr>
          <p:cNvPr id="17" name="Text 13"/>
          <p:cNvSpPr txBox="1"/>
          <p:nvPr/>
        </p:nvSpPr>
        <p:spPr>
          <a:xfrm>
            <a:off x="5230368" y="3040380"/>
            <a:ext cx="1730959" cy="640080"/>
          </a:xfrm>
          <a:prstGeom prst="rect">
            <a:avLst/>
          </a:prstGeom>
          <a:noFill/>
          <a:ln/>
        </p:spPr>
        <p:txBody>
          <a:bodyPr wrap="square" lIns="0" tIns="0" rIns="0" bIns="0" rtlCol="0" anchor="t"/>
          <a:lstStyle/>
          <a:p>
            <a:pPr algn="ctr" indent="0" marL="0">
              <a:buNone/>
            </a:pPr>
            <a:r>
              <a:rPr lang="en-US" sz="1300" dirty="0">
                <a:solidFill>
                  <a:srgbClr val="4A5566"/>
                </a:solidFill>
                <a:latin typeface="Calibri" pitchFamily="34" charset="0"/>
                <a:ea typeface="Calibri" pitchFamily="34" charset="-122"/>
                <a:cs typeface="Calibri" pitchFamily="34" charset="-120"/>
              </a:rPr>
              <a:t>1000 Mb/s</a:t>
            </a:r>
            <a:endParaRPr lang="en-US" sz="1300" dirty="0"/>
          </a:p>
          <a:p>
            <a:pPr algn="ctr" indent="0" marL="0">
              <a:buNone/>
            </a:pPr>
            <a:r>
              <a:rPr lang="en-US" sz="1300" dirty="0">
                <a:solidFill>
                  <a:srgbClr val="4A5566"/>
                </a:solidFill>
                <a:latin typeface="Calibri" pitchFamily="34" charset="0"/>
                <a:ea typeface="Calibri" pitchFamily="34" charset="-122"/>
                <a:cs typeface="Calibri" pitchFamily="34" charset="-120"/>
              </a:rPr>
              <a:t>0.22 to 0.25 ms</a:t>
            </a:r>
            <a:endParaRPr lang="en-US" sz="1300" dirty="0"/>
          </a:p>
        </p:txBody>
      </p:sp>
      <p:sp>
        <p:nvSpPr>
          <p:cNvPr id="18" name="Shape 14"/>
          <p:cNvSpPr/>
          <p:nvPr/>
        </p:nvSpPr>
        <p:spPr>
          <a:xfrm>
            <a:off x="548640" y="4754880"/>
            <a:ext cx="11094415" cy="1417320"/>
          </a:xfrm>
          <a:prstGeom prst="roundRect">
            <a:avLst>
              <a:gd name="adj" fmla="val 7742"/>
            </a:avLst>
          </a:prstGeom>
          <a:solidFill>
            <a:srgbClr val="FFFFFF"/>
          </a:solidFill>
          <a:ln w="19050">
            <a:solidFill>
              <a:srgbClr val="1565C0"/>
            </a:solidFill>
            <a:prstDash val="solid"/>
          </a:ln>
        </p:spPr>
      </p:sp>
      <p:sp>
        <p:nvSpPr>
          <p:cNvPr id="19" name="Text 15"/>
          <p:cNvSpPr txBox="1"/>
          <p:nvPr/>
        </p:nvSpPr>
        <p:spPr>
          <a:xfrm>
            <a:off x="822960" y="4754880"/>
            <a:ext cx="10545775" cy="1417320"/>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Why two sides (15 Oct): </a:t>
            </a:r>
            <a:pPr indent="0" marL="0">
              <a:buNone/>
            </a:pPr>
            <a:r>
              <a:rPr lang="en-US" sz="1600" dirty="0">
                <a:solidFill>
                  <a:srgbClr val="1B1F24"/>
                </a:solidFill>
                <a:latin typeface="Calibri" pitchFamily="34" charset="0"/>
                <a:ea typeface="Calibri" pitchFamily="34" charset="-122"/>
                <a:cs typeface="Calibri" pitchFamily="34" charset="-120"/>
              </a:rPr>
              <a:t>the battery's Bluetooth link did not reach the telemetry unit at the front, and the Pi 5 runs the detector more than twice as fast as the Pi 4. A front alert no longer crosses the network to reach the screen.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Firmware: deterministic acquisition first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5 / 14</a:t>
            </a:r>
            <a:endParaRPr lang="en-US" sz="1100" dirty="0"/>
          </a:p>
        </p:txBody>
      </p:sp>
      <p:sp>
        <p:nvSpPr>
          <p:cNvPr id="9" name="Shape 5"/>
          <p:cNvSpPr/>
          <p:nvPr/>
        </p:nvSpPr>
        <p:spPr>
          <a:xfrm>
            <a:off x="548640" y="1325880"/>
            <a:ext cx="7406640" cy="4343400"/>
          </a:xfrm>
          <a:prstGeom prst="roundRect">
            <a:avLst>
              <a:gd name="adj" fmla="val 2526"/>
            </a:avLst>
          </a:prstGeom>
          <a:solidFill>
            <a:srgbClr val="E8F0FA"/>
          </a:solidFill>
          <a:ln w="12700">
            <a:solidFill>
              <a:srgbClr val="E8F0FA"/>
            </a:solidFill>
            <a:prstDash val="solid"/>
          </a:ln>
        </p:spPr>
      </p:sp>
      <p:sp>
        <p:nvSpPr>
          <p:cNvPr id="10" name="Text 6"/>
          <p:cNvSpPr txBox="1"/>
          <p:nvPr/>
        </p:nvSpPr>
        <p:spPr>
          <a:xfrm>
            <a:off x="777240" y="1435608"/>
            <a:ext cx="3657600"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1: timing-critical</a:t>
            </a:r>
            <a:endParaRPr lang="en-US" sz="1600" dirty="0"/>
          </a:p>
        </p:txBody>
      </p:sp>
      <p:sp>
        <p:nvSpPr>
          <p:cNvPr id="11" name="Shape 7"/>
          <p:cNvSpPr/>
          <p:nvPr/>
        </p:nvSpPr>
        <p:spPr>
          <a:xfrm>
            <a:off x="822960" y="1965960"/>
            <a:ext cx="2011680" cy="914400"/>
          </a:xfrm>
          <a:prstGeom prst="roundRect">
            <a:avLst>
              <a:gd name="adj" fmla="val 10000"/>
            </a:avLst>
          </a:prstGeom>
          <a:solidFill>
            <a:srgbClr val="FFFFFF"/>
          </a:solidFill>
          <a:ln w="19050">
            <a:solidFill>
              <a:srgbClr val="1565C0"/>
            </a:solidFill>
            <a:prstDash val="solid"/>
          </a:ln>
        </p:spPr>
      </p:sp>
      <p:sp>
        <p:nvSpPr>
          <p:cNvPr id="12" name="Text 8"/>
          <p:cNvSpPr txBox="1"/>
          <p:nvPr/>
        </p:nvSpPr>
        <p:spPr>
          <a:xfrm>
            <a:off x="93268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Imu1Task</a:t>
            </a:r>
            <a:endParaRPr lang="en-US" sz="1500" dirty="0"/>
          </a:p>
        </p:txBody>
      </p:sp>
      <p:sp>
        <p:nvSpPr>
          <p:cNvPr id="13" name="Text 9"/>
          <p:cNvSpPr txBox="1"/>
          <p:nvPr/>
        </p:nvSpPr>
        <p:spPr>
          <a:xfrm>
            <a:off x="93268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 94 Hz filter</a:t>
            </a:r>
            <a:endParaRPr lang="en-US" sz="1200" dirty="0"/>
          </a:p>
        </p:txBody>
      </p:sp>
      <p:sp>
        <p:nvSpPr>
          <p:cNvPr id="14" name="Shape 10"/>
          <p:cNvSpPr/>
          <p:nvPr/>
        </p:nvSpPr>
        <p:spPr>
          <a:xfrm>
            <a:off x="822960" y="3200400"/>
            <a:ext cx="2011680" cy="914400"/>
          </a:xfrm>
          <a:prstGeom prst="roundRect">
            <a:avLst>
              <a:gd name="adj" fmla="val 10000"/>
            </a:avLst>
          </a:prstGeom>
          <a:solidFill>
            <a:srgbClr val="FFFFFF"/>
          </a:solidFill>
          <a:ln w="19050">
            <a:solidFill>
              <a:srgbClr val="1565C0"/>
            </a:solidFill>
            <a:prstDash val="solid"/>
          </a:ln>
        </p:spPr>
      </p:sp>
      <p:sp>
        <p:nvSpPr>
          <p:cNvPr id="15" name="Text 11"/>
          <p:cNvSpPr txBox="1"/>
          <p:nvPr/>
        </p:nvSpPr>
        <p:spPr>
          <a:xfrm>
            <a:off x="93268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Imu2Task</a:t>
            </a:r>
            <a:endParaRPr lang="en-US" sz="1500" dirty="0"/>
          </a:p>
        </p:txBody>
      </p:sp>
      <p:sp>
        <p:nvSpPr>
          <p:cNvPr id="16" name="Text 12"/>
          <p:cNvSpPr txBox="1"/>
          <p:nvPr/>
        </p:nvSpPr>
        <p:spPr>
          <a:xfrm>
            <a:off x="93268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 94 Hz filter</a:t>
            </a:r>
            <a:endParaRPr lang="en-US" sz="1200" dirty="0"/>
          </a:p>
        </p:txBody>
      </p:sp>
      <p:sp>
        <p:nvSpPr>
          <p:cNvPr id="17" name="Shape 13"/>
          <p:cNvSpPr/>
          <p:nvPr/>
        </p:nvSpPr>
        <p:spPr>
          <a:xfrm>
            <a:off x="3246120" y="1965960"/>
            <a:ext cx="2011680" cy="914400"/>
          </a:xfrm>
          <a:prstGeom prst="roundRect">
            <a:avLst>
              <a:gd name="adj" fmla="val 10000"/>
            </a:avLst>
          </a:prstGeom>
          <a:solidFill>
            <a:srgbClr val="FFFFFF"/>
          </a:solidFill>
          <a:ln w="19050">
            <a:solidFill>
              <a:srgbClr val="1565C0"/>
            </a:solidFill>
            <a:prstDash val="solid"/>
          </a:ln>
        </p:spPr>
      </p:sp>
      <p:sp>
        <p:nvSpPr>
          <p:cNvPr id="18" name="Text 14"/>
          <p:cNvSpPr txBox="1"/>
          <p:nvPr/>
        </p:nvSpPr>
        <p:spPr>
          <a:xfrm>
            <a:off x="335584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Queues</a:t>
            </a:r>
            <a:endParaRPr lang="en-US" sz="1500" dirty="0"/>
          </a:p>
        </p:txBody>
      </p:sp>
      <p:sp>
        <p:nvSpPr>
          <p:cNvPr id="19" name="Text 15"/>
          <p:cNvSpPr txBox="1"/>
          <p:nvPr/>
        </p:nvSpPr>
        <p:spPr>
          <a:xfrm>
            <a:off x="335584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bounded; drop and count, never block</a:t>
            </a:r>
            <a:endParaRPr lang="en-US" sz="1200" dirty="0"/>
          </a:p>
        </p:txBody>
      </p:sp>
      <p:sp>
        <p:nvSpPr>
          <p:cNvPr id="20" name="Shape 16"/>
          <p:cNvSpPr/>
          <p:nvPr/>
        </p:nvSpPr>
        <p:spPr>
          <a:xfrm>
            <a:off x="3246120" y="3200400"/>
            <a:ext cx="2011680" cy="914400"/>
          </a:xfrm>
          <a:prstGeom prst="roundRect">
            <a:avLst>
              <a:gd name="adj" fmla="val 10000"/>
            </a:avLst>
          </a:prstGeom>
          <a:solidFill>
            <a:srgbClr val="FFFFFF"/>
          </a:solidFill>
          <a:ln w="19050">
            <a:solidFill>
              <a:srgbClr val="1565C0"/>
            </a:solidFill>
            <a:prstDash val="solid"/>
          </a:ln>
        </p:spPr>
      </p:sp>
      <p:sp>
        <p:nvSpPr>
          <p:cNvPr id="21" name="Text 17"/>
          <p:cNvSpPr txBox="1"/>
          <p:nvPr/>
        </p:nvSpPr>
        <p:spPr>
          <a:xfrm>
            <a:off x="335584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StatsTask</a:t>
            </a:r>
            <a:endParaRPr lang="en-US" sz="1500" dirty="0"/>
          </a:p>
        </p:txBody>
      </p:sp>
      <p:sp>
        <p:nvSpPr>
          <p:cNvPr id="22" name="Text 18"/>
          <p:cNvSpPr txBox="1"/>
          <p:nvPr/>
        </p:nvSpPr>
        <p:spPr>
          <a:xfrm>
            <a:off x="335584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rate, jitter, drops every 2 s</a:t>
            </a:r>
            <a:endParaRPr lang="en-US" sz="1200" dirty="0"/>
          </a:p>
        </p:txBody>
      </p:sp>
      <p:sp>
        <p:nvSpPr>
          <p:cNvPr id="23" name="Shape 19"/>
          <p:cNvSpPr/>
          <p:nvPr/>
        </p:nvSpPr>
        <p:spPr>
          <a:xfrm>
            <a:off x="5669280" y="1965960"/>
            <a:ext cx="2011680" cy="914400"/>
          </a:xfrm>
          <a:prstGeom prst="roundRect">
            <a:avLst>
              <a:gd name="adj" fmla="val 10000"/>
            </a:avLst>
          </a:prstGeom>
          <a:solidFill>
            <a:srgbClr val="FFFFFF"/>
          </a:solidFill>
          <a:ln w="19050">
            <a:solidFill>
              <a:srgbClr val="1565C0"/>
            </a:solidFill>
            <a:prstDash val="solid"/>
          </a:ln>
        </p:spPr>
      </p:sp>
      <p:sp>
        <p:nvSpPr>
          <p:cNvPr id="24" name="Text 20"/>
          <p:cNvSpPr txBox="1"/>
          <p:nvPr/>
        </p:nvSpPr>
        <p:spPr>
          <a:xfrm>
            <a:off x="577900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RideChar x2</a:t>
            </a:r>
            <a:endParaRPr lang="en-US" sz="1500" dirty="0"/>
          </a:p>
        </p:txBody>
      </p:sp>
      <p:sp>
        <p:nvSpPr>
          <p:cNvPr id="25" name="Text 21"/>
          <p:cNvSpPr txBox="1"/>
          <p:nvPr/>
        </p:nvSpPr>
        <p:spPr>
          <a:xfrm>
            <a:off x="577900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1 s windows: RMS, std, peak-to-peak, jerk</a:t>
            </a:r>
            <a:endParaRPr lang="en-US" sz="1200" dirty="0"/>
          </a:p>
        </p:txBody>
      </p:sp>
      <p:sp>
        <p:nvSpPr>
          <p:cNvPr id="26" name="Shape 22"/>
          <p:cNvSpPr/>
          <p:nvPr/>
        </p:nvSpPr>
        <p:spPr>
          <a:xfrm>
            <a:off x="5669280" y="3200400"/>
            <a:ext cx="2011680" cy="914400"/>
          </a:xfrm>
          <a:prstGeom prst="roundRect">
            <a:avLst>
              <a:gd name="adj" fmla="val 10000"/>
            </a:avLst>
          </a:prstGeom>
          <a:solidFill>
            <a:srgbClr val="FFFFFF"/>
          </a:solidFill>
          <a:ln w="19050">
            <a:solidFill>
              <a:srgbClr val="D4700C"/>
            </a:solidFill>
            <a:prstDash val="solid"/>
          </a:ln>
        </p:spPr>
      </p:sp>
      <p:sp>
        <p:nvSpPr>
          <p:cNvPr id="27" name="Text 23"/>
          <p:cNvSpPr txBox="1"/>
          <p:nvPr/>
        </p:nvSpPr>
        <p:spPr>
          <a:xfrm>
            <a:off x="577900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Fusion</a:t>
            </a:r>
            <a:endParaRPr lang="en-US" sz="1500" dirty="0"/>
          </a:p>
        </p:txBody>
      </p:sp>
      <p:sp>
        <p:nvSpPr>
          <p:cNvPr id="28" name="Text 24"/>
          <p:cNvSpPr txBox="1"/>
          <p:nvPr/>
        </p:nvSpPr>
        <p:spPr>
          <a:xfrm>
            <a:off x="577900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pairs windows, reports disagreement</a:t>
            </a:r>
            <a:endParaRPr lang="en-US" sz="1200" dirty="0"/>
          </a:p>
        </p:txBody>
      </p:sp>
      <p:sp>
        <p:nvSpPr>
          <p:cNvPr id="29" name="Shape 25"/>
          <p:cNvSpPr/>
          <p:nvPr/>
        </p:nvSpPr>
        <p:spPr>
          <a:xfrm>
            <a:off x="2834640" y="2423160"/>
            <a:ext cx="411480" cy="0"/>
          </a:xfrm>
          <a:prstGeom prst="line">
            <a:avLst/>
          </a:prstGeom>
          <a:noFill/>
          <a:ln w="19050">
            <a:solidFill>
              <a:srgbClr val="14305C"/>
            </a:solidFill>
            <a:prstDash val="solid"/>
            <a:tailEnd type="triangle"/>
          </a:ln>
        </p:spPr>
      </p:sp>
      <p:sp>
        <p:nvSpPr>
          <p:cNvPr id="30" name="Shape 26"/>
          <p:cNvSpPr/>
          <p:nvPr/>
        </p:nvSpPr>
        <p:spPr>
          <a:xfrm flipV="1">
            <a:off x="2834640" y="2651760"/>
            <a:ext cx="411480" cy="1005840"/>
          </a:xfrm>
          <a:prstGeom prst="line">
            <a:avLst/>
          </a:prstGeom>
          <a:noFill/>
          <a:ln w="19050">
            <a:solidFill>
              <a:srgbClr val="14305C"/>
            </a:solidFill>
            <a:prstDash val="solid"/>
            <a:tailEnd type="triangle"/>
          </a:ln>
        </p:spPr>
      </p:sp>
      <p:sp>
        <p:nvSpPr>
          <p:cNvPr id="31" name="Shape 27"/>
          <p:cNvSpPr/>
          <p:nvPr/>
        </p:nvSpPr>
        <p:spPr>
          <a:xfrm>
            <a:off x="5257800" y="2423160"/>
            <a:ext cx="411480" cy="0"/>
          </a:xfrm>
          <a:prstGeom prst="line">
            <a:avLst/>
          </a:prstGeom>
          <a:noFill/>
          <a:ln w="19050">
            <a:solidFill>
              <a:srgbClr val="14305C"/>
            </a:solidFill>
            <a:prstDash val="solid"/>
            <a:tailEnd type="triangle"/>
          </a:ln>
        </p:spPr>
      </p:sp>
      <p:sp>
        <p:nvSpPr>
          <p:cNvPr id="32" name="Shape 28"/>
          <p:cNvSpPr/>
          <p:nvPr/>
        </p:nvSpPr>
        <p:spPr>
          <a:xfrm>
            <a:off x="4251960" y="2880360"/>
            <a:ext cx="0" cy="320040"/>
          </a:xfrm>
          <a:prstGeom prst="line">
            <a:avLst/>
          </a:prstGeom>
          <a:noFill/>
          <a:ln w="19050">
            <a:solidFill>
              <a:srgbClr val="14305C"/>
            </a:solidFill>
            <a:prstDash val="solid"/>
            <a:tailEnd type="triangle"/>
          </a:ln>
        </p:spPr>
      </p:sp>
      <p:sp>
        <p:nvSpPr>
          <p:cNvPr id="33" name="Shape 29"/>
          <p:cNvSpPr/>
          <p:nvPr/>
        </p:nvSpPr>
        <p:spPr>
          <a:xfrm>
            <a:off x="6675120" y="2880360"/>
            <a:ext cx="0" cy="320040"/>
          </a:xfrm>
          <a:prstGeom prst="line">
            <a:avLst/>
          </a:prstGeom>
          <a:noFill/>
          <a:ln w="19050">
            <a:solidFill>
              <a:srgbClr val="14305C"/>
            </a:solidFill>
            <a:prstDash val="solid"/>
            <a:tailEnd type="triangle"/>
          </a:ln>
        </p:spPr>
      </p:sp>
      <p:sp>
        <p:nvSpPr>
          <p:cNvPr id="34" name="Shape 30"/>
          <p:cNvSpPr/>
          <p:nvPr/>
        </p:nvSpPr>
        <p:spPr>
          <a:xfrm>
            <a:off x="822960" y="4434840"/>
            <a:ext cx="2011680" cy="914400"/>
          </a:xfrm>
          <a:prstGeom prst="roundRect">
            <a:avLst>
              <a:gd name="adj" fmla="val 10000"/>
            </a:avLst>
          </a:prstGeom>
          <a:solidFill>
            <a:srgbClr val="FFFFFF"/>
          </a:solidFill>
          <a:ln w="19050">
            <a:solidFill>
              <a:srgbClr val="1565C0"/>
            </a:solidFill>
            <a:prstDash val="solid"/>
          </a:ln>
        </p:spPr>
      </p:sp>
      <p:sp>
        <p:nvSpPr>
          <p:cNvPr id="35" name="Text 31"/>
          <p:cNvSpPr txBox="1"/>
          <p:nvPr/>
        </p:nvSpPr>
        <p:spPr>
          <a:xfrm>
            <a:off x="932688" y="448970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SyncTask</a:t>
            </a:r>
            <a:endParaRPr lang="en-US" sz="1500" dirty="0"/>
          </a:p>
        </p:txBody>
      </p:sp>
      <p:sp>
        <p:nvSpPr>
          <p:cNvPr id="36" name="Text 32"/>
          <p:cNvSpPr txBox="1"/>
          <p:nvPr/>
        </p:nvSpPr>
        <p:spPr>
          <a:xfrm>
            <a:off x="932688" y="481888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pulse to the Pi every 500 ms</a:t>
            </a:r>
            <a:endParaRPr lang="en-US" sz="1200" dirty="0"/>
          </a:p>
        </p:txBody>
      </p:sp>
      <p:sp>
        <p:nvSpPr>
          <p:cNvPr id="37" name="Text 33"/>
          <p:cNvSpPr txBox="1"/>
          <p:nvPr/>
        </p:nvSpPr>
        <p:spPr>
          <a:xfrm>
            <a:off x="3246120" y="4480560"/>
            <a:ext cx="4434840" cy="822960"/>
          </a:xfrm>
          <a:prstGeom prst="rect">
            <a:avLst/>
          </a:prstGeom>
          <a:noFill/>
          <a:ln/>
        </p:spPr>
        <p:txBody>
          <a:bodyPr wrap="square" lIns="0" tIns="0" rIns="0" bIns="0" rtlCol="0" anchor="ctr"/>
          <a:lstStyle/>
          <a:p>
            <a:pPr indent="0" marL="0">
              <a:buNone/>
            </a:pPr>
            <a:r>
              <a:rPr lang="en-US" sz="1400" i="1" dirty="0">
                <a:solidFill>
                  <a:srgbClr val="4A5566"/>
                </a:solidFill>
                <a:latin typeface="Calibri" pitchFamily="34" charset="0"/>
                <a:ea typeface="Calibri" pitchFamily="34" charset="-122"/>
                <a:cs typeface="Calibri" pitchFamily="34" charset="-120"/>
              </a:rPr>
              <a:t>Each sample carries a sensor ID, a sequence number and a microsecond timestamp from esp_timer.</a:t>
            </a:r>
            <a:endParaRPr lang="en-US" sz="1400" dirty="0"/>
          </a:p>
        </p:txBody>
      </p:sp>
      <p:sp>
        <p:nvSpPr>
          <p:cNvPr id="38" name="Shape 34"/>
          <p:cNvSpPr/>
          <p:nvPr/>
        </p:nvSpPr>
        <p:spPr>
          <a:xfrm>
            <a:off x="8275320" y="1325880"/>
            <a:ext cx="3367735" cy="4343400"/>
          </a:xfrm>
          <a:prstGeom prst="roundRect">
            <a:avLst>
              <a:gd name="adj" fmla="val 3258"/>
            </a:avLst>
          </a:prstGeom>
          <a:solidFill>
            <a:srgbClr val="E8F0FA"/>
          </a:solidFill>
          <a:ln w="12700">
            <a:solidFill>
              <a:srgbClr val="E8F0FA"/>
            </a:solidFill>
            <a:prstDash val="solid"/>
          </a:ln>
        </p:spPr>
      </p:sp>
      <p:sp>
        <p:nvSpPr>
          <p:cNvPr id="39" name="Text 35"/>
          <p:cNvSpPr txBox="1"/>
          <p:nvPr/>
        </p:nvSpPr>
        <p:spPr>
          <a:xfrm>
            <a:off x="8503920" y="1435608"/>
            <a:ext cx="2910535"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0: blocking I/O</a:t>
            </a:r>
            <a:endParaRPr lang="en-US" sz="1600" dirty="0"/>
          </a:p>
        </p:txBody>
      </p:sp>
      <p:sp>
        <p:nvSpPr>
          <p:cNvPr id="40" name="Shape 36"/>
          <p:cNvSpPr/>
          <p:nvPr/>
        </p:nvSpPr>
        <p:spPr>
          <a:xfrm>
            <a:off x="8549640" y="1920240"/>
            <a:ext cx="2819095" cy="1188720"/>
          </a:xfrm>
          <a:prstGeom prst="roundRect">
            <a:avLst>
              <a:gd name="adj" fmla="val 7692"/>
            </a:avLst>
          </a:prstGeom>
          <a:solidFill>
            <a:srgbClr val="FFFFFF"/>
          </a:solidFill>
          <a:ln w="19050">
            <a:solidFill>
              <a:srgbClr val="1565C0"/>
            </a:solidFill>
            <a:prstDash val="solid"/>
          </a:ln>
        </p:spPr>
      </p:sp>
      <p:sp>
        <p:nvSpPr>
          <p:cNvPr id="41" name="Text 37"/>
          <p:cNvSpPr txBox="1"/>
          <p:nvPr/>
        </p:nvSpPr>
        <p:spPr>
          <a:xfrm>
            <a:off x="8659368" y="197510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ModemTask</a:t>
            </a:r>
            <a:endParaRPr lang="en-US" sz="1500" dirty="0"/>
          </a:p>
        </p:txBody>
      </p:sp>
      <p:sp>
        <p:nvSpPr>
          <p:cNvPr id="42" name="Text 38"/>
          <p:cNvSpPr txBox="1"/>
          <p:nvPr/>
        </p:nvSpPr>
        <p:spPr>
          <a:xfrm>
            <a:off x="8659368" y="2304288"/>
            <a:ext cx="2599639" cy="7498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GNSS, MQTT with sequence numbers and backlog replay (v0.7.4), flash log once a minute</a:t>
            </a:r>
            <a:endParaRPr lang="en-US" sz="1200" dirty="0"/>
          </a:p>
        </p:txBody>
      </p:sp>
      <p:sp>
        <p:nvSpPr>
          <p:cNvPr id="43" name="Shape 39"/>
          <p:cNvSpPr/>
          <p:nvPr/>
        </p:nvSpPr>
        <p:spPr>
          <a:xfrm>
            <a:off x="8549640" y="3246120"/>
            <a:ext cx="2819095" cy="731520"/>
          </a:xfrm>
          <a:prstGeom prst="roundRect">
            <a:avLst>
              <a:gd name="adj" fmla="val 12500"/>
            </a:avLst>
          </a:prstGeom>
          <a:solidFill>
            <a:srgbClr val="FFFFFF"/>
          </a:solidFill>
          <a:ln w="19050">
            <a:solidFill>
              <a:srgbClr val="1565C0"/>
            </a:solidFill>
            <a:prstDash val="solid"/>
          </a:ln>
        </p:spPr>
      </p:sp>
      <p:sp>
        <p:nvSpPr>
          <p:cNvPr id="44" name="Text 40"/>
          <p:cNvSpPr txBox="1"/>
          <p:nvPr/>
        </p:nvSpPr>
        <p:spPr>
          <a:xfrm>
            <a:off x="8659368" y="330098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BmsTask</a:t>
            </a:r>
            <a:endParaRPr lang="en-US" sz="1500" dirty="0"/>
          </a:p>
        </p:txBody>
      </p:sp>
      <p:sp>
        <p:nvSpPr>
          <p:cNvPr id="45" name="Text 41"/>
          <p:cNvSpPr txBox="1"/>
          <p:nvPr/>
        </p:nvSpPr>
        <p:spPr>
          <a:xfrm>
            <a:off x="8659368" y="363016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battery over BLE</a:t>
            </a:r>
            <a:endParaRPr lang="en-US" sz="1200" dirty="0"/>
          </a:p>
        </p:txBody>
      </p:sp>
      <p:sp>
        <p:nvSpPr>
          <p:cNvPr id="46" name="Shape 42"/>
          <p:cNvSpPr/>
          <p:nvPr/>
        </p:nvSpPr>
        <p:spPr>
          <a:xfrm>
            <a:off x="8549640" y="4114800"/>
            <a:ext cx="2819095" cy="731520"/>
          </a:xfrm>
          <a:prstGeom prst="roundRect">
            <a:avLst>
              <a:gd name="adj" fmla="val 12500"/>
            </a:avLst>
          </a:prstGeom>
          <a:solidFill>
            <a:srgbClr val="FFFFFF"/>
          </a:solidFill>
          <a:ln w="19050">
            <a:solidFill>
              <a:srgbClr val="1565C0"/>
            </a:solidFill>
            <a:prstDash val="solid"/>
          </a:ln>
        </p:spPr>
      </p:sp>
      <p:sp>
        <p:nvSpPr>
          <p:cNvPr id="47" name="Text 43"/>
          <p:cNvSpPr txBox="1"/>
          <p:nvPr/>
        </p:nvSpPr>
        <p:spPr>
          <a:xfrm>
            <a:off x="8659368" y="416966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HallTask</a:t>
            </a:r>
            <a:endParaRPr lang="en-US" sz="1500" dirty="0"/>
          </a:p>
        </p:txBody>
      </p:sp>
      <p:sp>
        <p:nvSpPr>
          <p:cNvPr id="48" name="Text 44"/>
          <p:cNvSpPr txBox="1"/>
          <p:nvPr/>
        </p:nvSpPr>
        <p:spPr>
          <a:xfrm>
            <a:off x="8659368" y="449884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hardware pulse counter</a:t>
            </a:r>
            <a:endParaRPr lang="en-US" sz="1200" dirty="0"/>
          </a:p>
        </p:txBody>
      </p:sp>
      <p:sp>
        <p:nvSpPr>
          <p:cNvPr id="49" name="Text 45"/>
          <p:cNvSpPr txBox="1"/>
          <p:nvPr/>
        </p:nvSpPr>
        <p:spPr>
          <a:xfrm>
            <a:off x="8549640" y="4937760"/>
            <a:ext cx="2819095" cy="64008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The modem UART has no lock, so all modem traffic stays in one task.</a:t>
            </a:r>
            <a:endParaRPr lang="en-US" sz="1200" dirty="0"/>
          </a:p>
        </p:txBody>
      </p:sp>
      <p:sp>
        <p:nvSpPr>
          <p:cNvPr id="50" name="Text 46"/>
          <p:cNvSpPr txBox="1"/>
          <p:nvPr/>
        </p:nvSpPr>
        <p:spPr>
          <a:xfrm>
            <a:off x="548640" y="5806440"/>
            <a:ext cx="11094415" cy="411480"/>
          </a:xfrm>
          <a:prstGeom prst="rect">
            <a:avLst/>
          </a:prstGeom>
          <a:noFill/>
          <a:ln/>
        </p:spPr>
        <p:txBody>
          <a:bodyPr wrap="square" lIns="0" tIns="0" rIns="0" bIns="0" rtlCol="0" anchor="t"/>
          <a:lstStyle/>
          <a:p>
            <a:pPr indent="0" marL="0">
              <a:buNone/>
            </a:pPr>
            <a:r>
              <a:rPr lang="en-US" sz="1400" i="1" dirty="0">
                <a:solidFill>
                  <a:srgbClr val="4A5566"/>
                </a:solidFill>
                <a:latin typeface="Calibri" pitchFamily="34" charset="0"/>
                <a:ea typeface="Calibri" pitchFamily="34" charset="-122"/>
                <a:cs typeface="Calibri" pitchFamily="34" charset="-120"/>
              </a:rPr>
              <a:t>Method: each stage (bring-up, acquisition, features and fusion, log and uplink, vehicle) was tested against a pass criterion before the next was built on it.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200 Hz acquisition and dual-IMU fusion</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6 / 14</a:t>
            </a:r>
            <a:endParaRPr lang="en-US" sz="1100" dirty="0"/>
          </a:p>
        </p:txBody>
      </p:sp>
      <p:sp>
        <p:nvSpPr>
          <p:cNvPr id="9" name="Shape 5"/>
          <p:cNvSpPr/>
          <p:nvPr/>
        </p:nvSpPr>
        <p:spPr>
          <a:xfrm>
            <a:off x="548640" y="1280160"/>
            <a:ext cx="2567864" cy="1463040"/>
          </a:xfrm>
          <a:prstGeom prst="roundRect">
            <a:avLst>
              <a:gd name="adj" fmla="val 7500"/>
            </a:avLst>
          </a:prstGeom>
          <a:solidFill>
            <a:srgbClr val="E8F0FA"/>
          </a:solidFill>
          <a:ln w="12700">
            <a:solidFill>
              <a:srgbClr val="E8F0FA"/>
            </a:solidFill>
            <a:prstDash val="solid"/>
          </a:ln>
        </p:spPr>
      </p:sp>
      <p:sp>
        <p:nvSpPr>
          <p:cNvPr id="10" name="Text 6"/>
          <p:cNvSpPr txBox="1"/>
          <p:nvPr/>
        </p:nvSpPr>
        <p:spPr>
          <a:xfrm>
            <a:off x="777240"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200 Hz</a:t>
            </a:r>
            <a:endParaRPr lang="en-US" sz="3400" dirty="0"/>
          </a:p>
        </p:txBody>
      </p:sp>
      <p:sp>
        <p:nvSpPr>
          <p:cNvPr id="11" name="Text 7"/>
          <p:cNvSpPr txBox="1"/>
          <p:nvPr/>
        </p:nvSpPr>
        <p:spPr>
          <a:xfrm>
            <a:off x="777240"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on both IMUs, no samples dropped</a:t>
            </a:r>
            <a:endParaRPr lang="en-US" sz="1400" dirty="0"/>
          </a:p>
        </p:txBody>
      </p:sp>
      <p:sp>
        <p:nvSpPr>
          <p:cNvPr id="12" name="Shape 8"/>
          <p:cNvSpPr/>
          <p:nvPr/>
        </p:nvSpPr>
        <p:spPr>
          <a:xfrm>
            <a:off x="3390824" y="1280160"/>
            <a:ext cx="2567864" cy="1463040"/>
          </a:xfrm>
          <a:prstGeom prst="roundRect">
            <a:avLst>
              <a:gd name="adj" fmla="val 7500"/>
            </a:avLst>
          </a:prstGeom>
          <a:solidFill>
            <a:srgbClr val="E8F0FA"/>
          </a:solidFill>
          <a:ln w="12700">
            <a:solidFill>
              <a:srgbClr val="E8F0FA"/>
            </a:solidFill>
            <a:prstDash val="solid"/>
          </a:ln>
        </p:spPr>
      </p:sp>
      <p:sp>
        <p:nvSpPr>
          <p:cNvPr id="13" name="Text 9"/>
          <p:cNvSpPr txBox="1"/>
          <p:nvPr/>
        </p:nvSpPr>
        <p:spPr>
          <a:xfrm>
            <a:off x="3619424"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9.8 m/s²</a:t>
            </a:r>
            <a:endParaRPr lang="en-US" sz="3400" dirty="0"/>
          </a:p>
        </p:txBody>
      </p:sp>
      <p:sp>
        <p:nvSpPr>
          <p:cNvPr id="14" name="Text 10"/>
          <p:cNvSpPr txBox="1"/>
          <p:nvPr/>
        </p:nvSpPr>
        <p:spPr>
          <a:xfrm>
            <a:off x="3619424"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both IMUs at rest just after calibration (9.80, 9.81)</a:t>
            </a:r>
            <a:endParaRPr lang="en-US" sz="1400" dirty="0"/>
          </a:p>
        </p:txBody>
      </p:sp>
      <p:sp>
        <p:nvSpPr>
          <p:cNvPr id="15" name="Shape 11"/>
          <p:cNvSpPr/>
          <p:nvPr/>
        </p:nvSpPr>
        <p:spPr>
          <a:xfrm>
            <a:off x="6233008" y="1280160"/>
            <a:ext cx="2567864" cy="1463040"/>
          </a:xfrm>
          <a:prstGeom prst="roundRect">
            <a:avLst>
              <a:gd name="adj" fmla="val 7500"/>
            </a:avLst>
          </a:prstGeom>
          <a:solidFill>
            <a:srgbClr val="E8F0FA"/>
          </a:solidFill>
          <a:ln w="12700">
            <a:solidFill>
              <a:srgbClr val="E8F0FA"/>
            </a:solidFill>
            <a:prstDash val="solid"/>
          </a:ln>
        </p:spPr>
      </p:sp>
      <p:sp>
        <p:nvSpPr>
          <p:cNvPr id="16" name="Text 12"/>
          <p:cNvSpPr txBox="1"/>
          <p:nvPr/>
        </p:nvSpPr>
        <p:spPr>
          <a:xfrm>
            <a:off x="6461608"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149 / 149</a:t>
            </a:r>
            <a:endParaRPr lang="en-US" sz="3400" dirty="0"/>
          </a:p>
        </p:txBody>
      </p:sp>
      <p:sp>
        <p:nvSpPr>
          <p:cNvPr id="17" name="Text 13"/>
          <p:cNvSpPr txBox="1"/>
          <p:nvPr/>
        </p:nvSpPr>
        <p:spPr>
          <a:xfrm>
            <a:off x="6461608"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windows fused from both IMUs</a:t>
            </a:r>
            <a:endParaRPr lang="en-US" sz="1400" dirty="0"/>
          </a:p>
        </p:txBody>
      </p:sp>
      <p:sp>
        <p:nvSpPr>
          <p:cNvPr id="18" name="Shape 14"/>
          <p:cNvSpPr/>
          <p:nvPr/>
        </p:nvSpPr>
        <p:spPr>
          <a:xfrm>
            <a:off x="9075191" y="1280160"/>
            <a:ext cx="2567864" cy="1463040"/>
          </a:xfrm>
          <a:prstGeom prst="roundRect">
            <a:avLst>
              <a:gd name="adj" fmla="val 7500"/>
            </a:avLst>
          </a:prstGeom>
          <a:solidFill>
            <a:srgbClr val="E8F0FA"/>
          </a:solidFill>
          <a:ln w="12700">
            <a:solidFill>
              <a:srgbClr val="E8F0FA"/>
            </a:solidFill>
            <a:prstDash val="solid"/>
          </a:ln>
        </p:spPr>
      </p:sp>
      <p:sp>
        <p:nvSpPr>
          <p:cNvPr id="19" name="Text 15"/>
          <p:cNvSpPr txBox="1"/>
          <p:nvPr/>
        </p:nvSpPr>
        <p:spPr>
          <a:xfrm>
            <a:off x="9303791"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&lt; 1 ms</a:t>
            </a:r>
            <a:endParaRPr lang="en-US" sz="3400" dirty="0"/>
          </a:p>
        </p:txBody>
      </p:sp>
      <p:sp>
        <p:nvSpPr>
          <p:cNvPr id="20" name="Text 16"/>
          <p:cNvSpPr txBox="1"/>
          <p:nvPr/>
        </p:nvSpPr>
        <p:spPr>
          <a:xfrm>
            <a:off x="9303791"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skew between paired windows</a:t>
            </a:r>
            <a:endParaRPr lang="en-US" sz="1400" dirty="0"/>
          </a:p>
        </p:txBody>
      </p:sp>
      <p:pic>
        <p:nvPicPr>
          <p:cNvPr id="21" name="Image 1" descr="C:\Users\0geda\OneDrive - University of Cape Town\Documents\PlatformIO\Projects\Tukzie-HPEC-HUD\Presentation\source\assets\vibration_chart.png">    </p:cNvPr>
          <p:cNvPicPr>
            <a:picLocks noChangeAspect="1"/>
          </p:cNvPicPr>
          <p:nvPr/>
        </p:nvPicPr>
        <p:blipFill>
          <a:blip r:embed="rId2"/>
          <a:stretch>
            <a:fillRect/>
          </a:stretch>
        </p:blipFill>
        <p:spPr>
          <a:xfrm>
            <a:off x="548640" y="3017520"/>
            <a:ext cx="6949440" cy="2369855"/>
          </a:xfrm>
          <a:prstGeom prst="rect">
            <a:avLst/>
          </a:prstGeom>
        </p:spPr>
      </p:pic>
      <p:sp>
        <p:nvSpPr>
          <p:cNvPr id="22" name="Text 17"/>
          <p:cNvSpPr txBox="1"/>
          <p:nvPr/>
        </p:nvSpPr>
        <p:spPr>
          <a:xfrm>
            <a:off x="548640" y="5433095"/>
            <a:ext cx="6949440" cy="45720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Recorded 150 s session: still, then disturbed by hand from about 75 s. Fused (green) sits between IMU1 and IMU2.</a:t>
            </a:r>
            <a:endParaRPr lang="en-US" sz="1300" dirty="0"/>
          </a:p>
        </p:txBody>
      </p:sp>
      <p:sp>
        <p:nvSpPr>
          <p:cNvPr id="23" name="Shape 18"/>
          <p:cNvSpPr/>
          <p:nvPr/>
        </p:nvSpPr>
        <p:spPr>
          <a:xfrm>
            <a:off x="7818120" y="3017520"/>
            <a:ext cx="3824935" cy="3154680"/>
          </a:xfrm>
          <a:prstGeom prst="roundRect">
            <a:avLst>
              <a:gd name="adj" fmla="val 3478"/>
            </a:avLst>
          </a:prstGeom>
          <a:solidFill>
            <a:srgbClr val="E8F0FA"/>
          </a:solidFill>
          <a:ln w="12700">
            <a:solidFill>
              <a:srgbClr val="E8F0FA"/>
            </a:solidFill>
            <a:prstDash val="solid"/>
          </a:ln>
        </p:spPr>
      </p:sp>
      <p:sp>
        <p:nvSpPr>
          <p:cNvPr id="24" name="Text 19"/>
          <p:cNvSpPr txBox="1"/>
          <p:nvPr/>
        </p:nvSpPr>
        <p:spPr>
          <a:xfrm>
            <a:off x="8092440" y="3154680"/>
            <a:ext cx="3276295" cy="36576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Fusion rules and limits</a:t>
            </a:r>
            <a:endParaRPr lang="en-US" sz="1800" dirty="0"/>
          </a:p>
        </p:txBody>
      </p:sp>
      <p:sp>
        <p:nvSpPr>
          <p:cNvPr id="25" name="Text 20"/>
          <p:cNvSpPr txBox="1"/>
          <p:nvPr/>
        </p:nvSpPr>
        <p:spPr>
          <a:xfrm>
            <a:off x="8092440" y="3584448"/>
            <a:ext cx="3276295" cy="246888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Equal-weight mean (equal noise)</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Paired if windows end within 500 ms</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Disagreement reported; 3 s fallback</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Flash gaps 33 to 44 ms, once a minute</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Uncalibrated: 8% apart (earlier run)</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Calibration holds in one orientation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Seven fault investigations: symptom, test, cause, fix</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7 / 14</a:t>
            </a:r>
            <a:endParaRPr lang="en-US" sz="1100" dirty="0"/>
          </a:p>
        </p:txBody>
      </p:sp>
      <p:sp>
        <p:nvSpPr>
          <p:cNvPr id="9" name="Shape 5"/>
          <p:cNvSpPr/>
          <p:nvPr/>
        </p:nvSpPr>
        <p:spPr>
          <a:xfrm>
            <a:off x="548640" y="1234440"/>
            <a:ext cx="2622728" cy="2194560"/>
          </a:xfrm>
          <a:prstGeom prst="roundRect">
            <a:avLst>
              <a:gd name="adj" fmla="val 5000"/>
            </a:avLst>
          </a:prstGeom>
          <a:solidFill>
            <a:srgbClr val="E8F0FA"/>
          </a:solidFill>
          <a:ln w="12700">
            <a:solidFill>
              <a:srgbClr val="E8F0FA"/>
            </a:solidFill>
            <a:prstDash val="solid"/>
          </a:ln>
        </p:spPr>
      </p:sp>
      <p:sp>
        <p:nvSpPr>
          <p:cNvPr id="10" name="Text 6"/>
          <p:cNvSpPr txBox="1"/>
          <p:nvPr/>
        </p:nvSpPr>
        <p:spPr>
          <a:xfrm>
            <a:off x="731520"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Boot loop, full flash</a:t>
            </a:r>
            <a:endParaRPr lang="en-US" sz="1500" dirty="0"/>
          </a:p>
        </p:txBody>
      </p:sp>
      <p:sp>
        <p:nvSpPr>
          <p:cNvPr id="11" name="Text 7"/>
          <p:cNvSpPr txBox="1"/>
          <p:nvPr/>
        </p:nvSpPr>
        <p:spPr>
          <a:xfrm>
            <a:off x="731520"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reset once a second at one address. Tests: PSRAM setting, all overrides off, ROM banner. Cause: quad mode asked, chip runs dual (DIO). Fix: size, mode and table set together.</a:t>
            </a:r>
            <a:endParaRPr lang="en-US" sz="1200" dirty="0"/>
          </a:p>
        </p:txBody>
      </p:sp>
      <p:sp>
        <p:nvSpPr>
          <p:cNvPr id="12" name="Shape 8"/>
          <p:cNvSpPr/>
          <p:nvPr/>
        </p:nvSpPr>
        <p:spPr>
          <a:xfrm>
            <a:off x="3372536" y="1234440"/>
            <a:ext cx="2622728" cy="2194560"/>
          </a:xfrm>
          <a:prstGeom prst="roundRect">
            <a:avLst>
              <a:gd name="adj" fmla="val 5000"/>
            </a:avLst>
          </a:prstGeom>
          <a:solidFill>
            <a:srgbClr val="E8F0FA"/>
          </a:solidFill>
          <a:ln w="12700">
            <a:solidFill>
              <a:srgbClr val="E8F0FA"/>
            </a:solidFill>
            <a:prstDash val="solid"/>
          </a:ln>
        </p:spPr>
      </p:sp>
      <p:sp>
        <p:nvSpPr>
          <p:cNvPr id="13" name="Text 9"/>
          <p:cNvSpPr txBox="1"/>
          <p:nvPr/>
        </p:nvSpPr>
        <p:spPr>
          <a:xfrm>
            <a:off x="3555416"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GNSS reply layout</a:t>
            </a:r>
            <a:endParaRPr lang="en-US" sz="1500" dirty="0"/>
          </a:p>
        </p:txBody>
      </p:sp>
      <p:sp>
        <p:nvSpPr>
          <p:cNvPr id="14" name="Text 10"/>
          <p:cNvSpPr txBox="1"/>
          <p:nvPr/>
        </p:nvSpPr>
        <p:spPr>
          <a:xfrm>
            <a:off x="3555416"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first fix near 0, 0. Test: raw replies logged: 17 fields in decimal degrees, not 13 as assumed. Fix: parser anchors on the hemisphere letter; median 2.7 m.</a:t>
            </a:r>
            <a:endParaRPr lang="en-US" sz="1200" dirty="0"/>
          </a:p>
        </p:txBody>
      </p:sp>
      <p:sp>
        <p:nvSpPr>
          <p:cNvPr id="15" name="Shape 11"/>
          <p:cNvSpPr/>
          <p:nvPr/>
        </p:nvSpPr>
        <p:spPr>
          <a:xfrm>
            <a:off x="6196432" y="1234440"/>
            <a:ext cx="2622728" cy="2194560"/>
          </a:xfrm>
          <a:prstGeom prst="roundRect">
            <a:avLst>
              <a:gd name="adj" fmla="val 5000"/>
            </a:avLst>
          </a:prstGeom>
          <a:solidFill>
            <a:srgbClr val="E8F0FA"/>
          </a:solidFill>
          <a:ln w="12700">
            <a:solidFill>
              <a:srgbClr val="E8F0FA"/>
            </a:solidFill>
            <a:prstDash val="solid"/>
          </a:ln>
        </p:spPr>
      </p:sp>
      <p:sp>
        <p:nvSpPr>
          <p:cNvPr id="16" name="Text 12"/>
          <p:cNvSpPr txBox="1"/>
          <p:nvPr/>
        </p:nvSpPr>
        <p:spPr>
          <a:xfrm>
            <a:off x="6379312"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Battery checksum</a:t>
            </a:r>
            <a:endParaRPr lang="en-US" sz="1500" dirty="0"/>
          </a:p>
        </p:txBody>
      </p:sp>
      <p:sp>
        <p:nvSpPr>
          <p:cNvPr id="17" name="Text 13"/>
          <p:cNvSpPr txBox="1"/>
          <p:nvPr/>
        </p:nvSpPr>
        <p:spPr>
          <a:xfrm>
            <a:off x="6379312"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every frame rejected. Test: the firmware's own query frame shows the rule. Cause: register byte summed too, so each reply failed by 3. Fix: 14 valid records, 74.78 V.</a:t>
            </a:r>
            <a:endParaRPr lang="en-US" sz="1200" dirty="0"/>
          </a:p>
        </p:txBody>
      </p:sp>
      <p:sp>
        <p:nvSpPr>
          <p:cNvPr id="18" name="Shape 14"/>
          <p:cNvSpPr/>
          <p:nvPr/>
        </p:nvSpPr>
        <p:spPr>
          <a:xfrm>
            <a:off x="9020327" y="1234440"/>
            <a:ext cx="2622728" cy="2194560"/>
          </a:xfrm>
          <a:prstGeom prst="roundRect">
            <a:avLst>
              <a:gd name="adj" fmla="val 5000"/>
            </a:avLst>
          </a:prstGeom>
          <a:solidFill>
            <a:srgbClr val="E8F0FA"/>
          </a:solidFill>
          <a:ln w="12700">
            <a:solidFill>
              <a:srgbClr val="E8F0FA"/>
            </a:solidFill>
            <a:prstDash val="solid"/>
          </a:ln>
        </p:spPr>
      </p:sp>
      <p:sp>
        <p:nvSpPr>
          <p:cNvPr id="19" name="Text 15"/>
          <p:cNvSpPr txBox="1"/>
          <p:nvPr/>
        </p:nvSpPr>
        <p:spPr>
          <a:xfrm>
            <a:off x="9203207"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Invalid JSON in the log</a:t>
            </a:r>
            <a:endParaRPr lang="en-US" sz="1500" dirty="0"/>
          </a:p>
        </p:txBody>
      </p:sp>
      <p:sp>
        <p:nvSpPr>
          <p:cNvPr id="20" name="Text 16"/>
          <p:cNvSpPr txBox="1"/>
          <p:nvPr/>
        </p:nvSpPr>
        <p:spPr>
          <a:xfrm>
            <a:off x="9203207"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5,545 of 6,020 records failed to parse. Test: indexed, length-checked read-back: all intact, so not transfer. Cause: nan for missing values. Fix: null; all parse.</a:t>
            </a:r>
            <a:endParaRPr lang="en-US" sz="1200" dirty="0"/>
          </a:p>
        </p:txBody>
      </p:sp>
      <p:sp>
        <p:nvSpPr>
          <p:cNvPr id="21" name="Shape 17"/>
          <p:cNvSpPr/>
          <p:nvPr/>
        </p:nvSpPr>
        <p:spPr>
          <a:xfrm>
            <a:off x="548640" y="3593592"/>
            <a:ext cx="2622728" cy="2194560"/>
          </a:xfrm>
          <a:prstGeom prst="roundRect">
            <a:avLst>
              <a:gd name="adj" fmla="val 5000"/>
            </a:avLst>
          </a:prstGeom>
          <a:solidFill>
            <a:srgbClr val="E8F0FA"/>
          </a:solidFill>
          <a:ln w="12700">
            <a:solidFill>
              <a:srgbClr val="E8F0FA"/>
            </a:solidFill>
            <a:prstDash val="solid"/>
          </a:ln>
        </p:spPr>
      </p:sp>
      <p:sp>
        <p:nvSpPr>
          <p:cNvPr id="22" name="Text 18"/>
          <p:cNvSpPr txBox="1"/>
          <p:nvPr/>
        </p:nvSpPr>
        <p:spPr>
          <a:xfrm>
            <a:off x="731520" y="3703320"/>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Camera colour cast</a:t>
            </a:r>
            <a:endParaRPr lang="en-US" sz="1500" dirty="0"/>
          </a:p>
        </p:txBody>
      </p:sp>
      <p:sp>
        <p:nvSpPr>
          <p:cNvPr id="23" name="Text 19"/>
          <p:cNvSpPr txBox="1"/>
          <p:nvPr/>
        </p:nvSpPr>
        <p:spPr>
          <a:xfrm>
            <a:off x="731520"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pink image. Tests: stills with the standard and the NoIR tuning. Cause: no infrared-cut filter, not channel order. Fix: NoIR tuning plus saturation 1.8.</a:t>
            </a:r>
            <a:endParaRPr lang="en-US" sz="1200" dirty="0"/>
          </a:p>
        </p:txBody>
      </p:sp>
      <p:sp>
        <p:nvSpPr>
          <p:cNvPr id="24" name="Shape 20"/>
          <p:cNvSpPr/>
          <p:nvPr/>
        </p:nvSpPr>
        <p:spPr>
          <a:xfrm>
            <a:off x="3372536" y="3593592"/>
            <a:ext cx="2622728" cy="2194560"/>
          </a:xfrm>
          <a:prstGeom prst="roundRect">
            <a:avLst>
              <a:gd name="adj" fmla="val 5000"/>
            </a:avLst>
          </a:prstGeom>
          <a:solidFill>
            <a:srgbClr val="E8F0FA"/>
          </a:solidFill>
          <a:ln w="12700">
            <a:solidFill>
              <a:srgbClr val="E8F0FA"/>
            </a:solidFill>
            <a:prstDash val="solid"/>
          </a:ln>
        </p:spPr>
      </p:sp>
      <p:sp>
        <p:nvSpPr>
          <p:cNvPr id="25" name="Text 21"/>
          <p:cNvSpPr txBox="1"/>
          <p:nvPr/>
        </p:nvSpPr>
        <p:spPr>
          <a:xfrm>
            <a:off x="3555416" y="3703320"/>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Distance-sensor hang</a:t>
            </a:r>
            <a:endParaRPr lang="en-US" sz="1500" dirty="0"/>
          </a:p>
        </p:txBody>
      </p:sp>
      <p:sp>
        <p:nvSpPr>
          <p:cNvPr id="26" name="Text 22"/>
          <p:cNvSpPr txBox="1"/>
          <p:nvPr/>
        </p:nvSpPr>
        <p:spPr>
          <a:xfrm>
            <a:off x="3555416"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nulls, then a frozen reader. Test: bus scan; driver timeout found to be zero, wait for ever. Fix: 0.5 s timeout, wiring re-seated; all three read again.</a:t>
            </a:r>
            <a:endParaRPr lang="en-US" sz="1200" dirty="0"/>
          </a:p>
        </p:txBody>
      </p:sp>
      <p:sp>
        <p:nvSpPr>
          <p:cNvPr id="27" name="Shape 23"/>
          <p:cNvSpPr/>
          <p:nvPr/>
        </p:nvSpPr>
        <p:spPr>
          <a:xfrm>
            <a:off x="6196432" y="3593592"/>
            <a:ext cx="2622728" cy="2194560"/>
          </a:xfrm>
          <a:prstGeom prst="roundRect">
            <a:avLst>
              <a:gd name="adj" fmla="val 5000"/>
            </a:avLst>
          </a:prstGeom>
          <a:solidFill>
            <a:srgbClr val="E8F0FA"/>
          </a:solidFill>
          <a:ln w="12700">
            <a:solidFill>
              <a:srgbClr val="E8F0FA"/>
            </a:solidFill>
            <a:prstDash val="solid"/>
          </a:ln>
        </p:spPr>
      </p:sp>
      <p:sp>
        <p:nvSpPr>
          <p:cNvPr id="28" name="Text 24"/>
          <p:cNvSpPr txBox="1"/>
          <p:nvPr/>
        </p:nvSpPr>
        <p:spPr>
          <a:xfrm>
            <a:off x="6379312" y="3703320"/>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Pi 4 under-voltage, reboots</a:t>
            </a:r>
            <a:endParaRPr lang="en-US" sz="1500" dirty="0"/>
          </a:p>
        </p:txBody>
      </p:sp>
      <p:sp>
        <p:nvSpPr>
          <p:cNvPr id="29" name="Text 25"/>
          <p:cNvSpPr txBox="1"/>
          <p:nvPr/>
        </p:nvSpPr>
        <p:spPr>
          <a:xfrm>
            <a:off x="6379312"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Candidates: supply, sensor board, telemetry unit on USB, heat. Test: power flags every 2 s: under-voltage 14 s after the modem came up. Unit moved off: 3 restarts in 20 min, then none in 4 h.</a:t>
            </a:r>
            <a:endParaRPr lang="en-US" sz="1200" dirty="0"/>
          </a:p>
        </p:txBody>
      </p:sp>
      <p:sp>
        <p:nvSpPr>
          <p:cNvPr id="30" name="Shape 26"/>
          <p:cNvSpPr/>
          <p:nvPr/>
        </p:nvSpPr>
        <p:spPr>
          <a:xfrm>
            <a:off x="9020327" y="3593592"/>
            <a:ext cx="2622728" cy="2194560"/>
          </a:xfrm>
          <a:prstGeom prst="roundRect">
            <a:avLst>
              <a:gd name="adj" fmla="val 5000"/>
            </a:avLst>
          </a:prstGeom>
          <a:solidFill>
            <a:srgbClr val="FFFFFF"/>
          </a:solidFill>
          <a:ln w="25400">
            <a:solidFill>
              <a:srgbClr val="D4700C"/>
            </a:solidFill>
            <a:prstDash val="dash"/>
          </a:ln>
        </p:spPr>
      </p:sp>
      <p:sp>
        <p:nvSpPr>
          <p:cNvPr id="31" name="Text 27"/>
          <p:cNvSpPr txBox="1"/>
          <p:nvPr/>
        </p:nvSpPr>
        <p:spPr>
          <a:xfrm>
            <a:off x="9203207" y="3703320"/>
            <a:ext cx="2256968" cy="347472"/>
          </a:xfrm>
          <a:prstGeom prst="rect">
            <a:avLst/>
          </a:prstGeom>
          <a:noFill/>
          <a:ln/>
        </p:spPr>
        <p:txBody>
          <a:bodyPr wrap="square" lIns="0" tIns="0" rIns="0" bIns="0" rtlCol="0" anchor="ctr"/>
          <a:lstStyle/>
          <a:p>
            <a:pPr indent="0" marL="0">
              <a:buNone/>
            </a:pPr>
            <a:r>
              <a:rPr lang="en-US" sz="1500" b="1" dirty="0">
                <a:solidFill>
                  <a:srgbClr val="D4700C"/>
                </a:solidFill>
                <a:latin typeface="Calibri" pitchFamily="34" charset="0"/>
                <a:ea typeface="Calibri" pitchFamily="34" charset="-122"/>
                <a:cs typeface="Calibri" pitchFamily="34" charset="-120"/>
              </a:rPr>
              <a:t>It came back (16 to 19 Oct)</a:t>
            </a:r>
            <a:endParaRPr lang="en-US" sz="1500" dirty="0"/>
          </a:p>
        </p:txBody>
      </p:sp>
      <p:sp>
        <p:nvSpPr>
          <p:cNvPr id="32" name="Text 28"/>
          <p:cNvSpPr txBox="1"/>
          <p:nvPr/>
        </p:nvSpPr>
        <p:spPr>
          <a:xfrm>
            <a:off x="9203207"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Closed rear box, unit still on the Pi's USB: 76.9 °C and a brown-out restart. Fix: own supply for the unit; vented lids. Pi 5 restarts: last readings normal, so abrupt power loss, not a brown-out.</a:t>
            </a:r>
            <a:endParaRPr lang="en-US" sz="1200" dirty="0"/>
          </a:p>
        </p:txBody>
      </p:sp>
      <p:sp>
        <p:nvSpPr>
          <p:cNvPr id="33" name="Text 29"/>
          <p:cNvSpPr txBox="1"/>
          <p:nvPr/>
        </p:nvSpPr>
        <p:spPr>
          <a:xfrm>
            <a:off x="548640" y="5943600"/>
            <a:ext cx="11094415" cy="320040"/>
          </a:xfrm>
          <a:prstGeom prst="rect">
            <a:avLst/>
          </a:prstGeom>
          <a:noFill/>
          <a:ln/>
        </p:spPr>
        <p:txBody>
          <a:bodyPr wrap="square" lIns="0" tIns="0" rIns="0" bIns="0" rtlCol="0" anchor="ctr"/>
          <a:lstStyle/>
          <a:p>
            <a:pPr algn="ctr" indent="0" marL="0">
              <a:buNone/>
            </a:pPr>
            <a:r>
              <a:rPr lang="en-US" sz="1400" i="1" dirty="0">
                <a:solidFill>
                  <a:srgbClr val="4A5566"/>
                </a:solidFill>
                <a:latin typeface="Calibri" pitchFamily="34" charset="0"/>
                <a:ea typeface="Calibri" pitchFamily="34" charset="-122"/>
                <a:cs typeface="Calibri" pitchFamily="34" charset="-120"/>
              </a:rPr>
              <a:t>Each is told in the report as symptom, candidate causes, deciding test, cause and fix, consequence; each test was run again after the fix.</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timing, position, and no data lost in an outage</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8 / 14</a:t>
            </a:r>
            <a:endParaRPr lang="en-US" sz="1100" dirty="0"/>
          </a:p>
        </p:txBody>
      </p:sp>
      <p:sp>
        <p:nvSpPr>
          <p:cNvPr id="9" name="Shape 5"/>
          <p:cNvSpPr/>
          <p:nvPr/>
        </p:nvSpPr>
        <p:spPr>
          <a:xfrm>
            <a:off x="548640" y="1280160"/>
            <a:ext cx="3484778" cy="4892040"/>
          </a:xfrm>
          <a:prstGeom prst="roundRect">
            <a:avLst>
              <a:gd name="adj" fmla="val 3149"/>
            </a:avLst>
          </a:prstGeom>
          <a:solidFill>
            <a:srgbClr val="E8F0FA"/>
          </a:solidFill>
          <a:ln w="12700">
            <a:solidFill>
              <a:srgbClr val="E8F0FA"/>
            </a:solidFill>
            <a:prstDash val="solid"/>
          </a:ln>
        </p:spPr>
      </p:sp>
      <p:sp>
        <p:nvSpPr>
          <p:cNvPr id="10" name="Text 6"/>
          <p:cNvSpPr txBox="1"/>
          <p:nvPr/>
        </p:nvSpPr>
        <p:spPr>
          <a:xfrm>
            <a:off x="822960"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Camera to IMU timing</a:t>
            </a:r>
            <a:endParaRPr lang="en-US" sz="1900" dirty="0"/>
          </a:p>
        </p:txBody>
      </p:sp>
      <p:sp>
        <p:nvSpPr>
          <p:cNvPr id="11" name="Text 7"/>
          <p:cNvSpPr txBox="1"/>
          <p:nvPr/>
        </p:nvSpPr>
        <p:spPr>
          <a:xfrm>
            <a:off x="822960"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500.06 ms</a:t>
            </a:r>
            <a:endParaRPr lang="en-US" sz="4000" dirty="0"/>
          </a:p>
        </p:txBody>
      </p:sp>
      <p:sp>
        <p:nvSpPr>
          <p:cNvPr id="12" name="Text 8"/>
          <p:cNvSpPr txBox="1"/>
          <p:nvPr/>
        </p:nvSpPr>
        <p:spPr>
          <a:xfrm>
            <a:off x="822960"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sync interval over 121 edges, kernel timestamps</a:t>
            </a:r>
            <a:endParaRPr lang="en-US" sz="1400" dirty="0"/>
          </a:p>
        </p:txBody>
      </p:sp>
      <p:sp>
        <p:nvSpPr>
          <p:cNvPr id="13" name="Text 9"/>
          <p:cNvSpPr txBox="1"/>
          <p:nvPr/>
        </p:nvSpPr>
        <p:spPr>
          <a:xfrm>
            <a:off x="822960"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Spread under 0.7 ms</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Video frames placed on the IMU clock within 1 s</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 loose jumper twice gave false edges: a latched connector is needed</a:t>
            </a:r>
            <a:endParaRPr lang="en-US" sz="1400" dirty="0"/>
          </a:p>
        </p:txBody>
      </p:sp>
      <p:sp>
        <p:nvSpPr>
          <p:cNvPr id="14" name="Shape 10"/>
          <p:cNvSpPr/>
          <p:nvPr/>
        </p:nvSpPr>
        <p:spPr>
          <a:xfrm>
            <a:off x="4353458" y="1280160"/>
            <a:ext cx="3484778" cy="4892040"/>
          </a:xfrm>
          <a:prstGeom prst="roundRect">
            <a:avLst>
              <a:gd name="adj" fmla="val 3149"/>
            </a:avLst>
          </a:prstGeom>
          <a:solidFill>
            <a:srgbClr val="E8F0FA"/>
          </a:solidFill>
          <a:ln w="12700">
            <a:solidFill>
              <a:srgbClr val="E8F0FA"/>
            </a:solidFill>
            <a:prstDash val="solid"/>
          </a:ln>
        </p:spPr>
      </p:sp>
      <p:sp>
        <p:nvSpPr>
          <p:cNvPr id="15" name="Text 11"/>
          <p:cNvSpPr txBox="1"/>
          <p:nvPr/>
        </p:nvSpPr>
        <p:spPr>
          <a:xfrm>
            <a:off x="4627778"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GNSS outdoors (bench)</a:t>
            </a:r>
            <a:endParaRPr lang="en-US" sz="1900" dirty="0"/>
          </a:p>
        </p:txBody>
      </p:sp>
      <p:sp>
        <p:nvSpPr>
          <p:cNvPr id="16" name="Text 12"/>
          <p:cNvSpPr txBox="1"/>
          <p:nvPr/>
        </p:nvSpPr>
        <p:spPr>
          <a:xfrm>
            <a:off x="4627778"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2.7 m</a:t>
            </a:r>
            <a:endParaRPr lang="en-US" sz="4000" dirty="0"/>
          </a:p>
        </p:txBody>
      </p:sp>
      <p:sp>
        <p:nvSpPr>
          <p:cNvPr id="17" name="Text 13"/>
          <p:cNvSpPr txBox="1"/>
          <p:nvPr/>
        </p:nvSpPr>
        <p:spPr>
          <a:xfrm>
            <a:off x="4627778"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from a phone's position over 104 fixes</a:t>
            </a:r>
            <a:endParaRPr lang="en-US" sz="1400" dirty="0"/>
          </a:p>
        </p:txBody>
      </p:sp>
      <p:sp>
        <p:nvSpPr>
          <p:cNvPr id="18" name="Text 14"/>
          <p:cNvSpPr txBox="1"/>
          <p:nvPr/>
        </p:nvSpPr>
        <p:spPr>
          <a:xfrm>
            <a:off x="4627778"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95% within 11 m; fix 105 s after a cold start</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Indoors: network position in 0.7 s, 550 m stated</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No fix at all on the first road session</a:t>
            </a:r>
            <a:endParaRPr lang="en-US" sz="1400" dirty="0"/>
          </a:p>
        </p:txBody>
      </p:sp>
      <p:sp>
        <p:nvSpPr>
          <p:cNvPr id="19" name="Shape 15"/>
          <p:cNvSpPr/>
          <p:nvPr/>
        </p:nvSpPr>
        <p:spPr>
          <a:xfrm>
            <a:off x="8158277" y="1280160"/>
            <a:ext cx="3484778" cy="4892040"/>
          </a:xfrm>
          <a:prstGeom prst="roundRect">
            <a:avLst>
              <a:gd name="adj" fmla="val 3149"/>
            </a:avLst>
          </a:prstGeom>
          <a:solidFill>
            <a:srgbClr val="E8F0FA"/>
          </a:solidFill>
          <a:ln w="12700">
            <a:solidFill>
              <a:srgbClr val="E8F0FA"/>
            </a:solidFill>
            <a:prstDash val="solid"/>
          </a:ln>
        </p:spPr>
      </p:sp>
      <p:sp>
        <p:nvSpPr>
          <p:cNvPr id="20" name="Text 16"/>
          <p:cNvSpPr txBox="1"/>
          <p:nvPr/>
        </p:nvSpPr>
        <p:spPr>
          <a:xfrm>
            <a:off x="8432597"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10-minute LTE outage (T15)</a:t>
            </a:r>
            <a:endParaRPr lang="en-US" sz="1900" dirty="0"/>
          </a:p>
        </p:txBody>
      </p:sp>
      <p:sp>
        <p:nvSpPr>
          <p:cNvPr id="21" name="Text 17"/>
          <p:cNvSpPr txBox="1"/>
          <p:nvPr/>
        </p:nvSpPr>
        <p:spPr>
          <a:xfrm>
            <a:off x="8432597"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112 / 112</a:t>
            </a:r>
            <a:endParaRPr lang="en-US" sz="4000" dirty="0"/>
          </a:p>
        </p:txBody>
      </p:sp>
      <p:sp>
        <p:nvSpPr>
          <p:cNvPr id="22" name="Text 18"/>
          <p:cNvSpPr txBox="1"/>
          <p:nvPr/>
        </p:nvSpPr>
        <p:spPr>
          <a:xfrm>
            <a:off x="8432597"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records stored in the Pi 5 database, none missing or doubled</a:t>
            </a:r>
            <a:endParaRPr lang="en-US" sz="1400" dirty="0"/>
          </a:p>
        </p:txBody>
      </p:sp>
      <p:sp>
        <p:nvSpPr>
          <p:cNvPr id="23" name="Text 19"/>
          <p:cNvSpPr txBox="1"/>
          <p:nvPr/>
        </p:nvSpPr>
        <p:spPr>
          <a:xfrm>
            <a:off x="8432597"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60 records built up; reconnected 5.2 s after radio on</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Backlog cleared in 37 to 43 s; 111 of 111 against the unit's log</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An ingest fault found in the test was fixed; 24 records backfilled from the log</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Latency not yet measured (needs GNSS time)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Hazard detection: twice as fast at the front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9 / 14</a:t>
            </a:r>
            <a:endParaRPr lang="en-US" sz="1100" dirty="0"/>
          </a:p>
        </p:txBody>
      </p:sp>
      <p:sp>
        <p:nvSpPr>
          <p:cNvPr id="9" name="Shape 5"/>
          <p:cNvSpPr/>
          <p:nvPr/>
        </p:nvSpPr>
        <p:spPr>
          <a:xfrm>
            <a:off x="548640" y="1280160"/>
            <a:ext cx="5989320" cy="4160520"/>
          </a:xfrm>
          <a:prstGeom prst="roundRect">
            <a:avLst>
              <a:gd name="adj" fmla="val 2637"/>
            </a:avLst>
          </a:prstGeom>
          <a:solidFill>
            <a:srgbClr val="E8F0FA"/>
          </a:solidFill>
          <a:ln w="12700">
            <a:solidFill>
              <a:srgbClr val="E8F0FA"/>
            </a:solidFill>
            <a:prstDash val="solid"/>
          </a:ln>
        </p:spPr>
      </p:sp>
      <p:graphicFrame>
        <p:nvGraphicFramePr>
          <p:cNvPr id="10" name="Chart 0" descr=""/>
          <p:cNvGraphicFramePr/>
          <p:nvPr/>
        </p:nvGraphicFramePr>
        <p:xfrm>
          <a:off x="731520" y="1417320"/>
          <a:ext cx="5623560" cy="3886200"/>
        </p:xfrm>
        <a:graphic xmlns:a="http://schemas.openxmlformats.org/drawingml/2006/main">
          <a:graphicData uri="http://schemas.openxmlformats.org/drawingml/2006/chart">
            <c:chart xmlns:c="http://schemas.openxmlformats.org/drawingml/2006/chart" r:id="rId2"/>
          </a:graphicData>
        </a:graphic>
      </p:graphicFrame>
      <p:sp>
        <p:nvSpPr>
          <p:cNvPr id="11" name="Text 6"/>
          <p:cNvSpPr txBox="1"/>
          <p:nvPr/>
        </p:nvSpPr>
        <p:spPr>
          <a:xfrm>
            <a:off x="548640" y="5532120"/>
            <a:ext cx="5989320" cy="54864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Bench runs: Pi 4 whole system 11 Oct; Pi 5 with the dashboard 15 Oct, 60 s. At 30 km/h the Pi 5 saves about 0.6 m of travel before an alert.</a:t>
            </a:r>
            <a:endParaRPr lang="en-US" sz="1200" dirty="0"/>
          </a:p>
        </p:txBody>
      </p:sp>
      <p:sp>
        <p:nvSpPr>
          <p:cNvPr id="12" name="Shape 7"/>
          <p:cNvSpPr/>
          <p:nvPr/>
        </p:nvSpPr>
        <p:spPr>
          <a:xfrm>
            <a:off x="6858000" y="1280160"/>
            <a:ext cx="4785055" cy="1120140"/>
          </a:xfrm>
          <a:prstGeom prst="roundRect">
            <a:avLst>
              <a:gd name="adj" fmla="val 9796"/>
            </a:avLst>
          </a:prstGeom>
          <a:solidFill>
            <a:srgbClr val="E8F0FA"/>
          </a:solidFill>
          <a:ln w="12700">
            <a:solidFill>
              <a:srgbClr val="E8F0FA"/>
            </a:solidFill>
            <a:prstDash val="solid"/>
          </a:ln>
        </p:spPr>
      </p:sp>
      <p:sp>
        <p:nvSpPr>
          <p:cNvPr id="13" name="Text 8"/>
          <p:cNvSpPr txBox="1"/>
          <p:nvPr/>
        </p:nvSpPr>
        <p:spPr>
          <a:xfrm>
            <a:off x="7086600" y="13716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Front, Raspberry Pi 5 (bench)</a:t>
            </a:r>
            <a:endParaRPr lang="en-US" sz="1600" dirty="0"/>
          </a:p>
        </p:txBody>
      </p:sp>
      <p:sp>
        <p:nvSpPr>
          <p:cNvPr id="14" name="Text 9"/>
          <p:cNvSpPr txBox="1"/>
          <p:nvPr/>
        </p:nvSpPr>
        <p:spPr>
          <a:xfrm>
            <a:off x="7086600" y="17190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19.2 fps; 51 to 54 ms median, 61 to 63 ms 95th percentile; CPU 64 to 73 %, 53 to 54 °C, no throttling.</a:t>
            </a:r>
            <a:endParaRPr lang="en-US" sz="1300" dirty="0"/>
          </a:p>
        </p:txBody>
      </p:sp>
      <p:sp>
        <p:nvSpPr>
          <p:cNvPr id="15" name="Shape 10"/>
          <p:cNvSpPr/>
          <p:nvPr/>
        </p:nvSpPr>
        <p:spPr>
          <a:xfrm>
            <a:off x="6858000" y="2537460"/>
            <a:ext cx="4785055" cy="1120140"/>
          </a:xfrm>
          <a:prstGeom prst="roundRect">
            <a:avLst>
              <a:gd name="adj" fmla="val 9796"/>
            </a:avLst>
          </a:prstGeom>
          <a:solidFill>
            <a:srgbClr val="E8F0FA"/>
          </a:solidFill>
          <a:ln w="12700">
            <a:solidFill>
              <a:srgbClr val="E8F0FA"/>
            </a:solidFill>
            <a:prstDash val="solid"/>
          </a:ln>
        </p:spPr>
      </p:sp>
      <p:sp>
        <p:nvSpPr>
          <p:cNvPr id="16" name="Text 11"/>
          <p:cNvSpPr txBox="1"/>
          <p:nvPr/>
        </p:nvSpPr>
        <p:spPr>
          <a:xfrm>
            <a:off x="7086600" y="26289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Mounted on the vehicle (19 Oct)</a:t>
            </a:r>
            <a:endParaRPr lang="en-US" sz="1600" dirty="0"/>
          </a:p>
        </p:txBody>
      </p:sp>
      <p:sp>
        <p:nvSpPr>
          <p:cNvPr id="17" name="Text 12"/>
          <p:cNvSpPr txBox="1"/>
          <p:nvPr/>
        </p:nvSpPr>
        <p:spPr>
          <a:xfrm>
            <a:off x="7086600" y="29763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Front 17.5 to 22.0 fps, 53 to 102 ms. Rear 14.4 to 14.5 fps, 126 to 151 ms, slower while the Pi 4 was throttled.</a:t>
            </a:r>
            <a:endParaRPr lang="en-US" sz="1300" dirty="0"/>
          </a:p>
        </p:txBody>
      </p:sp>
      <p:sp>
        <p:nvSpPr>
          <p:cNvPr id="18" name="Shape 13"/>
          <p:cNvSpPr/>
          <p:nvPr/>
        </p:nvSpPr>
        <p:spPr>
          <a:xfrm>
            <a:off x="6858000" y="3794760"/>
            <a:ext cx="4785055" cy="1120140"/>
          </a:xfrm>
          <a:prstGeom prst="roundRect">
            <a:avLst>
              <a:gd name="adj" fmla="val 9796"/>
            </a:avLst>
          </a:prstGeom>
          <a:solidFill>
            <a:srgbClr val="E8F0FA"/>
          </a:solidFill>
          <a:ln w="12700">
            <a:solidFill>
              <a:srgbClr val="E8F0FA"/>
            </a:solidFill>
            <a:prstDash val="solid"/>
          </a:ln>
        </p:spPr>
      </p:sp>
      <p:sp>
        <p:nvSpPr>
          <p:cNvPr id="19" name="Text 14"/>
          <p:cNvSpPr txBox="1"/>
          <p:nvPr/>
        </p:nvSpPr>
        <p:spPr>
          <a:xfrm>
            <a:off x="7086600" y="38862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Alert logic and privacy</a:t>
            </a:r>
            <a:endParaRPr lang="en-US" sz="1600" dirty="0"/>
          </a:p>
        </p:txBody>
      </p:sp>
      <p:sp>
        <p:nvSpPr>
          <p:cNvPr id="20" name="Text 15"/>
          <p:cNvSpPr txBox="1"/>
          <p:nvPr/>
        </p:nvSpPr>
        <p:spPr>
          <a:xfrm>
            <a:off x="7086600" y="42336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Raised after 3 frames, cleared after 5 empty frames. Frames are never stored; five fields per alert.</a:t>
            </a:r>
            <a:endParaRPr lang="en-US" sz="1300" dirty="0"/>
          </a:p>
        </p:txBody>
      </p:sp>
      <p:sp>
        <p:nvSpPr>
          <p:cNvPr id="21" name="Shape 16"/>
          <p:cNvSpPr/>
          <p:nvPr/>
        </p:nvSpPr>
        <p:spPr>
          <a:xfrm>
            <a:off x="6858000" y="5052060"/>
            <a:ext cx="4785055" cy="1120140"/>
          </a:xfrm>
          <a:prstGeom prst="roundRect">
            <a:avLst>
              <a:gd name="adj" fmla="val 9796"/>
            </a:avLst>
          </a:prstGeom>
          <a:solidFill>
            <a:srgbClr val="E8F0FA"/>
          </a:solidFill>
          <a:ln w="12700">
            <a:solidFill>
              <a:srgbClr val="E8F0FA"/>
            </a:solidFill>
            <a:prstDash val="solid"/>
          </a:ln>
        </p:spPr>
      </p:sp>
      <p:sp>
        <p:nvSpPr>
          <p:cNvPr id="22" name="Text 17"/>
          <p:cNvSpPr txBox="1"/>
          <p:nvPr/>
        </p:nvSpPr>
        <p:spPr>
          <a:xfrm>
            <a:off x="7086600" y="51435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Pothole model (off by default)</a:t>
            </a:r>
            <a:endParaRPr lang="en-US" sz="1600" dirty="0"/>
          </a:p>
        </p:txBody>
      </p:sp>
      <p:sp>
        <p:nvSpPr>
          <p:cNvPr id="23" name="Text 18"/>
          <p:cNvSpPr txBox="1"/>
          <p:nvPr/>
        </p:nvSpPr>
        <p:spPr>
          <a:xfrm>
            <a:off x="7086600" y="54909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mAP@50 0.714 on validation tiles; found at 0.63 in a test image; too slow beside the detector on the Pi 4.</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9</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Approaching objects: time to contact from box growth</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10 / 14</a:t>
            </a:r>
            <a:endParaRPr lang="en-US" sz="1100" dirty="0"/>
          </a:p>
        </p:txBody>
      </p:sp>
      <p:sp>
        <p:nvSpPr>
          <p:cNvPr id="9" name="Shape 5"/>
          <p:cNvSpPr/>
          <p:nvPr/>
        </p:nvSpPr>
        <p:spPr>
          <a:xfrm>
            <a:off x="548640" y="1280160"/>
            <a:ext cx="5760720" cy="4892040"/>
          </a:xfrm>
          <a:prstGeom prst="roundRect">
            <a:avLst>
              <a:gd name="adj" fmla="val 2243"/>
            </a:avLst>
          </a:prstGeom>
          <a:solidFill>
            <a:srgbClr val="E8F0FA"/>
          </a:solidFill>
          <a:ln w="12700">
            <a:solidFill>
              <a:srgbClr val="E8F0FA"/>
            </a:solidFill>
            <a:prstDash val="solid"/>
          </a:ln>
        </p:spPr>
      </p:sp>
      <p:sp>
        <p:nvSpPr>
          <p:cNvPr id="10" name="Shape 6"/>
          <p:cNvSpPr/>
          <p:nvPr/>
        </p:nvSpPr>
        <p:spPr>
          <a:xfrm>
            <a:off x="1165860" y="2862072"/>
            <a:ext cx="502920" cy="384048"/>
          </a:xfrm>
          <a:prstGeom prst="rect">
            <a:avLst/>
          </a:prstGeom>
          <a:solidFill>
            <a:srgbClr val="FFFFFF"/>
          </a:solidFill>
          <a:ln w="25400">
            <a:solidFill>
              <a:srgbClr val="1565C0"/>
            </a:solidFill>
            <a:prstDash val="solid"/>
          </a:ln>
        </p:spPr>
      </p:sp>
      <p:sp>
        <p:nvSpPr>
          <p:cNvPr id="11" name="Shape 7"/>
          <p:cNvSpPr/>
          <p:nvPr/>
        </p:nvSpPr>
        <p:spPr>
          <a:xfrm>
            <a:off x="2857500" y="2587752"/>
            <a:ext cx="868680" cy="658368"/>
          </a:xfrm>
          <a:prstGeom prst="rect">
            <a:avLst/>
          </a:prstGeom>
          <a:solidFill>
            <a:srgbClr val="FFFFFF"/>
          </a:solidFill>
          <a:ln w="25400">
            <a:solidFill>
              <a:srgbClr val="1565C0"/>
            </a:solidFill>
            <a:prstDash val="solid"/>
          </a:ln>
        </p:spPr>
      </p:sp>
      <p:sp>
        <p:nvSpPr>
          <p:cNvPr id="12" name="Shape 8"/>
          <p:cNvSpPr/>
          <p:nvPr/>
        </p:nvSpPr>
        <p:spPr>
          <a:xfrm>
            <a:off x="4457700" y="2167128"/>
            <a:ext cx="1417320" cy="1078992"/>
          </a:xfrm>
          <a:prstGeom prst="rect">
            <a:avLst/>
          </a:prstGeom>
          <a:solidFill>
            <a:srgbClr val="FFFFFF"/>
          </a:solidFill>
          <a:ln w="25400">
            <a:solidFill>
              <a:srgbClr val="D4700C"/>
            </a:solidFill>
            <a:prstDash val="solid"/>
          </a:ln>
        </p:spPr>
      </p:sp>
      <p:sp>
        <p:nvSpPr>
          <p:cNvPr id="13" name="Text 9"/>
          <p:cNvSpPr txBox="1"/>
          <p:nvPr/>
        </p:nvSpPr>
        <p:spPr>
          <a:xfrm>
            <a:off x="685800" y="3319272"/>
            <a:ext cx="1463040" cy="274320"/>
          </a:xfrm>
          <a:prstGeom prst="rect">
            <a:avLst/>
          </a:prstGeom>
          <a:noFill/>
          <a:ln/>
        </p:spPr>
        <p:txBody>
          <a:bodyPr wrap="square" lIns="0" tIns="0" rIns="0" bIns="0" rtlCol="0" anchor="ctr"/>
          <a:lstStyle/>
          <a:p>
            <a:pPr algn="ctr" indent="0" marL="0">
              <a:buNone/>
            </a:pPr>
            <a:r>
              <a:rPr lang="en-US" sz="1300" dirty="0">
                <a:solidFill>
                  <a:srgbClr val="4A5566"/>
                </a:solidFill>
                <a:latin typeface="Calibri" pitchFamily="34" charset="0"/>
                <a:ea typeface="Calibri" pitchFamily="34" charset="-122"/>
                <a:cs typeface="Calibri" pitchFamily="34" charset="-120"/>
              </a:rPr>
              <a:t>t − 0.6 s</a:t>
            </a:r>
            <a:endParaRPr lang="en-US" sz="1300" dirty="0"/>
          </a:p>
        </p:txBody>
      </p:sp>
      <p:sp>
        <p:nvSpPr>
          <p:cNvPr id="14" name="Text 10"/>
          <p:cNvSpPr txBox="1"/>
          <p:nvPr/>
        </p:nvSpPr>
        <p:spPr>
          <a:xfrm>
            <a:off x="2560320" y="3319272"/>
            <a:ext cx="1463040" cy="274320"/>
          </a:xfrm>
          <a:prstGeom prst="rect">
            <a:avLst/>
          </a:prstGeom>
          <a:noFill/>
          <a:ln/>
        </p:spPr>
        <p:txBody>
          <a:bodyPr wrap="square" lIns="0" tIns="0" rIns="0" bIns="0" rtlCol="0" anchor="ctr"/>
          <a:lstStyle/>
          <a:p>
            <a:pPr algn="ctr" indent="0" marL="0">
              <a:buNone/>
            </a:pPr>
            <a:r>
              <a:rPr lang="en-US" sz="1300" dirty="0">
                <a:solidFill>
                  <a:srgbClr val="4A5566"/>
                </a:solidFill>
                <a:latin typeface="Calibri" pitchFamily="34" charset="0"/>
                <a:ea typeface="Calibri" pitchFamily="34" charset="-122"/>
                <a:cs typeface="Calibri" pitchFamily="34" charset="-120"/>
              </a:rPr>
              <a:t>t − 0.3 s</a:t>
            </a:r>
            <a:endParaRPr lang="en-US" sz="1300" dirty="0"/>
          </a:p>
        </p:txBody>
      </p:sp>
      <p:sp>
        <p:nvSpPr>
          <p:cNvPr id="15" name="Text 11"/>
          <p:cNvSpPr txBox="1"/>
          <p:nvPr/>
        </p:nvSpPr>
        <p:spPr>
          <a:xfrm>
            <a:off x="4434840" y="3319272"/>
            <a:ext cx="1463040" cy="274320"/>
          </a:xfrm>
          <a:prstGeom prst="rect">
            <a:avLst/>
          </a:prstGeom>
          <a:noFill/>
          <a:ln/>
        </p:spPr>
        <p:txBody>
          <a:bodyPr wrap="square" lIns="0" tIns="0" rIns="0" bIns="0" rtlCol="0" anchor="ctr"/>
          <a:lstStyle/>
          <a:p>
            <a:pPr algn="ctr" indent="0" marL="0">
              <a:buNone/>
            </a:pPr>
            <a:r>
              <a:rPr lang="en-US" sz="1300" dirty="0">
                <a:solidFill>
                  <a:srgbClr val="4A5566"/>
                </a:solidFill>
                <a:latin typeface="Calibri" pitchFamily="34" charset="0"/>
                <a:ea typeface="Calibri" pitchFamily="34" charset="-122"/>
                <a:cs typeface="Calibri" pitchFamily="34" charset="-120"/>
              </a:rPr>
              <a:t>now</a:t>
            </a:r>
            <a:endParaRPr lang="en-US" sz="1300" dirty="0"/>
          </a:p>
        </p:txBody>
      </p:sp>
      <p:sp>
        <p:nvSpPr>
          <p:cNvPr id="16" name="Text 12"/>
          <p:cNvSpPr txBox="1"/>
          <p:nvPr/>
        </p:nvSpPr>
        <p:spPr>
          <a:xfrm>
            <a:off x="822960" y="1444752"/>
            <a:ext cx="5212080" cy="365760"/>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The box width w of a tracked object grows as it closes</a:t>
            </a:r>
            <a:endParaRPr lang="en-US" sz="1600" dirty="0"/>
          </a:p>
        </p:txBody>
      </p:sp>
      <p:sp>
        <p:nvSpPr>
          <p:cNvPr id="17" name="Text 13"/>
          <p:cNvSpPr txBox="1"/>
          <p:nvPr/>
        </p:nvSpPr>
        <p:spPr>
          <a:xfrm>
            <a:off x="822960" y="3703320"/>
            <a:ext cx="5212080"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τ = w / (dw/dt)</a:t>
            </a:r>
            <a:endParaRPr lang="en-US" sz="3400" dirty="0"/>
          </a:p>
        </p:txBody>
      </p:sp>
      <p:sp>
        <p:nvSpPr>
          <p:cNvPr id="18" name="Text 14"/>
          <p:cNvSpPr txBox="1"/>
          <p:nvPr/>
        </p:nvSpPr>
        <p:spPr>
          <a:xfrm>
            <a:off x="822960" y="4480560"/>
            <a:ext cx="5212080" cy="160020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1/w falls in a straight line to zero at contact; a Theil-Sen line is fitted over the last 0.6 s</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No focal length or object size needed (Lee 1976; Dagan et al. 2004)</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Used only with 5 frames over 0.25 s, 75 % of slopes agreeing, 5 % growth, box clear of the image edge</a:t>
            </a:r>
            <a:endParaRPr lang="en-US" sz="1400" dirty="0"/>
          </a:p>
        </p:txBody>
      </p:sp>
      <p:sp>
        <p:nvSpPr>
          <p:cNvPr id="19" name="Shape 15"/>
          <p:cNvSpPr/>
          <p:nvPr/>
        </p:nvSpPr>
        <p:spPr>
          <a:xfrm>
            <a:off x="6629400" y="1280160"/>
            <a:ext cx="5013655" cy="1520952"/>
          </a:xfrm>
          <a:prstGeom prst="roundRect">
            <a:avLst>
              <a:gd name="adj" fmla="val 7214"/>
            </a:avLst>
          </a:prstGeom>
          <a:solidFill>
            <a:srgbClr val="E8F0FA"/>
          </a:solidFill>
          <a:ln w="12700">
            <a:solidFill>
              <a:srgbClr val="E8F0FA"/>
            </a:solidFill>
            <a:prstDash val="solid"/>
          </a:ln>
        </p:spPr>
      </p:sp>
      <p:sp>
        <p:nvSpPr>
          <p:cNvPr id="20" name="Text 16"/>
          <p:cNvSpPr txBox="1"/>
          <p:nvPr/>
        </p:nvSpPr>
        <p:spPr>
          <a:xfrm>
            <a:off x="6858000" y="1371600"/>
            <a:ext cx="45564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Warning rule</a:t>
            </a:r>
            <a:endParaRPr lang="en-US" sz="1600" dirty="0"/>
          </a:p>
        </p:txBody>
      </p:sp>
      <p:sp>
        <p:nvSpPr>
          <p:cNvPr id="21" name="Text 17"/>
          <p:cNvSpPr txBox="1"/>
          <p:nvPr/>
        </p:nvSpPr>
        <p:spPr>
          <a:xfrm>
            <a:off x="6858000" y="1719072"/>
            <a:ext cx="4556455" cy="101803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Approaching when τ is under 4 s (warning) or 2 s (immediate), after the 3-frame onset; released above 5 s. Inside the time-of-flight range the sensor's own closing rate gives τ.</a:t>
            </a:r>
            <a:endParaRPr lang="en-US" sz="1300" dirty="0"/>
          </a:p>
        </p:txBody>
      </p:sp>
      <p:sp>
        <p:nvSpPr>
          <p:cNvPr id="22" name="Shape 18"/>
          <p:cNvSpPr/>
          <p:nvPr/>
        </p:nvSpPr>
        <p:spPr>
          <a:xfrm>
            <a:off x="6629400" y="2965704"/>
            <a:ext cx="5013655" cy="1520952"/>
          </a:xfrm>
          <a:prstGeom prst="roundRect">
            <a:avLst>
              <a:gd name="adj" fmla="val 7214"/>
            </a:avLst>
          </a:prstGeom>
          <a:solidFill>
            <a:srgbClr val="E8F0FA"/>
          </a:solidFill>
          <a:ln w="12700">
            <a:solidFill>
              <a:srgbClr val="E8F0FA"/>
            </a:solidFill>
            <a:prstDash val="solid"/>
          </a:ln>
        </p:spPr>
      </p:sp>
      <p:sp>
        <p:nvSpPr>
          <p:cNvPr id="23" name="Text 19"/>
          <p:cNvSpPr txBox="1"/>
          <p:nvPr/>
        </p:nvSpPr>
        <p:spPr>
          <a:xfrm>
            <a:off x="6858000" y="3057144"/>
            <a:ext cx="45564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Tested (synthetic, 15 Oct)</a:t>
            </a:r>
            <a:endParaRPr lang="en-US" sz="1600" dirty="0"/>
          </a:p>
        </p:txBody>
      </p:sp>
      <p:sp>
        <p:nvSpPr>
          <p:cNvPr id="24" name="Text 20"/>
          <p:cNvSpPr txBox="1"/>
          <p:nvPr/>
        </p:nvSpPr>
        <p:spPr>
          <a:xfrm>
            <a:off x="6858000" y="3404616"/>
            <a:ext cx="4556455" cy="101803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40 tests pass: τ within 2 % at constant speed; no alerts in 5,000 frames of receding, still or jittering boxes. 0.27 ms per frame on a laptop.</a:t>
            </a:r>
            <a:endParaRPr lang="en-US" sz="1300" dirty="0"/>
          </a:p>
        </p:txBody>
      </p:sp>
      <p:sp>
        <p:nvSpPr>
          <p:cNvPr id="25" name="Shape 21"/>
          <p:cNvSpPr/>
          <p:nvPr/>
        </p:nvSpPr>
        <p:spPr>
          <a:xfrm>
            <a:off x="6629400" y="4651248"/>
            <a:ext cx="5013655" cy="1520952"/>
          </a:xfrm>
          <a:prstGeom prst="roundRect">
            <a:avLst>
              <a:gd name="adj" fmla="val 7214"/>
            </a:avLst>
          </a:prstGeom>
          <a:solidFill>
            <a:srgbClr val="FFFFFF"/>
          </a:solidFill>
          <a:ln w="25400">
            <a:solidFill>
              <a:srgbClr val="D4700C"/>
            </a:solidFill>
            <a:prstDash val="dash"/>
          </a:ln>
        </p:spPr>
      </p:sp>
      <p:sp>
        <p:nvSpPr>
          <p:cNvPr id="26" name="Text 22"/>
          <p:cNvSpPr txBox="1"/>
          <p:nvPr/>
        </p:nvSpPr>
        <p:spPr>
          <a:xfrm>
            <a:off x="6858000" y="4742688"/>
            <a:ext cx="4556455" cy="329184"/>
          </a:xfrm>
          <a:prstGeom prst="rect">
            <a:avLst/>
          </a:prstGeom>
          <a:noFill/>
          <a:ln/>
        </p:spPr>
        <p:txBody>
          <a:bodyPr wrap="square" lIns="0" tIns="0" rIns="0" bIns="0" rtlCol="0" anchor="ctr"/>
          <a:lstStyle/>
          <a:p>
            <a:pPr indent="0" marL="0">
              <a:buNone/>
            </a:pPr>
            <a:r>
              <a:rPr lang="en-US" sz="1600" b="1" dirty="0">
                <a:solidFill>
                  <a:srgbClr val="D4700C"/>
                </a:solidFill>
                <a:latin typeface="Calibri" pitchFamily="34" charset="0"/>
                <a:ea typeface="Calibri" pitchFamily="34" charset="-122"/>
                <a:cs typeface="Calibri" pitchFamily="34" charset="-120"/>
              </a:rPr>
              <a:t>Untested</a:t>
            </a:r>
            <a:endParaRPr lang="en-US" sz="1600" dirty="0"/>
          </a:p>
        </p:txBody>
      </p:sp>
      <p:sp>
        <p:nvSpPr>
          <p:cNvPr id="27" name="Text 23"/>
          <p:cNvSpPr txBox="1"/>
          <p:nvPr/>
        </p:nvSpPr>
        <p:spPr>
          <a:xfrm>
            <a:off x="6858000" y="5090160"/>
            <a:ext cx="4556455" cy="101803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No real approach yet (test C11). On the road the front camera marked 261 car alerts as approaching, not yet checked against video. A still object ahead counts while driving: intended.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10</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Both cameras on the existing dashboard</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11 / 14</a:t>
            </a:r>
            <a:endParaRPr lang="en-US" sz="1100" dirty="0"/>
          </a:p>
        </p:txBody>
      </p:sp>
      <p:pic>
        <p:nvPicPr>
          <p:cNvPr id="9" name="Image 1" descr="C:\Users\0geda\OneDrive - University of Cape Town\Documents\PlatformIO\Projects\Tukzie-HPEC-HUD\Report\figures\ui\ui_dualcam_front.png">    </p:cNvPr>
          <p:cNvPicPr>
            <a:picLocks noChangeAspect="1"/>
          </p:cNvPicPr>
          <p:nvPr/>
        </p:nvPicPr>
        <p:blipFill>
          <a:blip r:embed="rId2"/>
          <a:stretch>
            <a:fillRect/>
          </a:stretch>
        </p:blipFill>
        <p:spPr>
          <a:xfrm>
            <a:off x="548640" y="1280160"/>
            <a:ext cx="3291840" cy="2057400"/>
          </a:xfrm>
          <a:prstGeom prst="rect">
            <a:avLst/>
          </a:prstGeom>
        </p:spPr>
      </p:pic>
      <p:pic>
        <p:nvPicPr>
          <p:cNvPr id="10" name="Image 2" descr="C:\Users\0geda\OneDrive - University of Cape Town\Documents\PlatformIO\Projects\Tukzie-HPEC-HUD\Report\figures\ui\ui_dualcam_rear_approaching.png">    </p:cNvPr>
          <p:cNvPicPr>
            <a:picLocks noChangeAspect="1"/>
          </p:cNvPicPr>
          <p:nvPr/>
        </p:nvPicPr>
        <p:blipFill>
          <a:blip r:embed="rId3"/>
          <a:stretch>
            <a:fillRect/>
          </a:stretch>
        </p:blipFill>
        <p:spPr>
          <a:xfrm>
            <a:off x="4023360" y="1280160"/>
            <a:ext cx="3291840" cy="2057400"/>
          </a:xfrm>
          <a:prstGeom prst="rect">
            <a:avLst/>
          </a:prstGeom>
        </p:spPr>
      </p:pic>
      <p:sp>
        <p:nvSpPr>
          <p:cNvPr id="11" name="Text 5"/>
          <p:cNvSpPr txBox="1"/>
          <p:nvPr/>
        </p:nvSpPr>
        <p:spPr>
          <a:xfrm>
            <a:off x="548640" y="3392424"/>
            <a:ext cx="3291840" cy="27432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Front: Pi 5 camera and ToF (test image)</a:t>
            </a:r>
            <a:endParaRPr lang="en-US" sz="1200" dirty="0"/>
          </a:p>
        </p:txBody>
      </p:sp>
      <p:sp>
        <p:nvSpPr>
          <p:cNvPr id="12" name="Text 6"/>
          <p:cNvSpPr txBox="1"/>
          <p:nvPr/>
        </p:nvSpPr>
        <p:spPr>
          <a:xfrm>
            <a:off x="4023360" y="3392424"/>
            <a:ext cx="3291840" cy="27432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Rear, mirrored: car approaching at 1.6 s (test)</a:t>
            </a:r>
            <a:endParaRPr lang="en-US" sz="1200" dirty="0"/>
          </a:p>
        </p:txBody>
      </p:sp>
      <p:sp>
        <p:nvSpPr>
          <p:cNvPr id="13" name="Shape 7"/>
          <p:cNvSpPr/>
          <p:nvPr/>
        </p:nvSpPr>
        <p:spPr>
          <a:xfrm>
            <a:off x="548640" y="3794760"/>
            <a:ext cx="6766560" cy="2377440"/>
          </a:xfrm>
          <a:prstGeom prst="roundRect">
            <a:avLst>
              <a:gd name="adj" fmla="val 4615"/>
            </a:avLst>
          </a:prstGeom>
          <a:solidFill>
            <a:srgbClr val="E8F0FA"/>
          </a:solidFill>
          <a:ln w="12700">
            <a:solidFill>
              <a:srgbClr val="E8F0FA"/>
            </a:solidFill>
            <a:prstDash val="solid"/>
          </a:ln>
        </p:spPr>
      </p:sp>
      <p:sp>
        <p:nvSpPr>
          <p:cNvPr id="14" name="Text 8"/>
          <p:cNvSpPr txBox="1"/>
          <p:nvPr/>
        </p:nvSpPr>
        <p:spPr>
          <a:xfrm>
            <a:off x="822960" y="3904488"/>
            <a:ext cx="6217920" cy="347472"/>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Two cameras, one page (15 Oct)</a:t>
            </a:r>
            <a:endParaRPr lang="en-US" sz="1600" dirty="0"/>
          </a:p>
        </p:txBody>
      </p:sp>
      <p:sp>
        <p:nvSpPr>
          <p:cNvPr id="15" name="Text 9"/>
          <p:cNvSpPr txBox="1"/>
          <p:nvPr/>
        </p:nvSpPr>
        <p:spPr>
          <a:xfrm>
            <a:off x="822960" y="4297680"/>
            <a:ext cx="6217920" cy="182880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Front | Rear switch moves picture, alerts, distances and hazards together</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Rear view mirrored like a car's reversing camera</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Banner names the side; an approaching object comes first</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Live data only: a lost side shows offline, never zero or the other side</a:t>
            </a:r>
            <a:endParaRPr lang="en-US" sz="1400" dirty="0"/>
          </a:p>
        </p:txBody>
      </p:sp>
      <p:sp>
        <p:nvSpPr>
          <p:cNvPr id="16" name="Shape 10"/>
          <p:cNvSpPr/>
          <p:nvPr/>
        </p:nvSpPr>
        <p:spPr>
          <a:xfrm>
            <a:off x="7635240" y="1280160"/>
            <a:ext cx="4007815" cy="4892040"/>
          </a:xfrm>
          <a:prstGeom prst="roundRect">
            <a:avLst>
              <a:gd name="adj" fmla="val 2738"/>
            </a:avLst>
          </a:prstGeom>
          <a:solidFill>
            <a:srgbClr val="E8F0FA"/>
          </a:solidFill>
          <a:ln w="12700">
            <a:solidFill>
              <a:srgbClr val="E8F0FA"/>
            </a:solidFill>
            <a:prstDash val="solid"/>
          </a:ln>
        </p:spPr>
      </p:sp>
      <p:sp>
        <p:nvSpPr>
          <p:cNvPr id="17" name="Text 11"/>
          <p:cNvSpPr txBox="1"/>
          <p:nvPr/>
        </p:nvSpPr>
        <p:spPr>
          <a:xfrm>
            <a:off x="7909560" y="1389888"/>
            <a:ext cx="3459175" cy="384048"/>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Live on the Pi 5</a:t>
            </a:r>
            <a:endParaRPr lang="en-US" sz="1800" dirty="0"/>
          </a:p>
        </p:txBody>
      </p:sp>
      <p:pic>
        <p:nvPicPr>
          <p:cNvPr id="18" name="Image 3" descr="C:\Users\0geda\OneDrive - University of Cape Town\Documents\PlatformIO\Projects\Tukzie-HPEC-HUD\Report\figures\ui\ui_pi5_live_dualcam.png">    </p:cNvPr>
          <p:cNvPicPr>
            <a:picLocks noChangeAspect="1"/>
          </p:cNvPicPr>
          <p:nvPr/>
        </p:nvPicPr>
        <p:blipFill>
          <a:blip r:embed="rId4"/>
          <a:stretch>
            <a:fillRect/>
          </a:stretch>
        </p:blipFill>
        <p:spPr>
          <a:xfrm>
            <a:off x="7909560" y="1828800"/>
            <a:ext cx="3459175" cy="2161985"/>
          </a:xfrm>
          <a:prstGeom prst="rect">
            <a:avLst/>
          </a:prstGeom>
        </p:spPr>
      </p:pic>
      <p:sp>
        <p:nvSpPr>
          <p:cNvPr id="19" name="Text 12"/>
          <p:cNvSpPr txBox="1"/>
          <p:nvPr/>
        </p:nvSpPr>
        <p:spPr>
          <a:xfrm>
            <a:off x="7909560" y="4045649"/>
            <a:ext cx="3459175" cy="45720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15 Oct: live front camera at 23.6 fps, a rear warning in the banner</a:t>
            </a:r>
            <a:endParaRPr lang="en-US" sz="1200" dirty="0"/>
          </a:p>
        </p:txBody>
      </p:sp>
      <p:sp>
        <p:nvSpPr>
          <p:cNvPr id="20" name="Text 13"/>
          <p:cNvSpPr txBox="1"/>
          <p:nvPr/>
        </p:nvSpPr>
        <p:spPr>
          <a:xfrm>
            <a:off x="7909560" y="4539425"/>
            <a:ext cx="3459175" cy="73152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Tested offscreen with four fake servers</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Paper theme, one tap colour, status in words</a:t>
            </a:r>
            <a:endParaRPr lang="en-US" sz="1300" dirty="0"/>
          </a:p>
        </p:txBody>
      </p:sp>
      <p:sp>
        <p:nvSpPr>
          <p:cNvPr id="21" name="Text 14"/>
          <p:cNvSpPr txBox="1"/>
          <p:nvPr/>
        </p:nvSpPr>
        <p:spPr>
          <a:xfrm>
            <a:off x="7909560" y="5532120"/>
            <a:ext cx="3459175" cy="548640"/>
          </a:xfrm>
          <a:prstGeom prst="rect">
            <a:avLst/>
          </a:prstGeom>
          <a:noFill/>
          <a:ln/>
        </p:spPr>
        <p:txBody>
          <a:bodyPr wrap="square" lIns="0" tIns="0" rIns="0" bIns="0" rtlCol="0" anchor="t"/>
          <a:lstStyle/>
          <a:p>
            <a:pPr indent="0" marL="0">
              <a:buNone/>
            </a:pPr>
            <a:r>
              <a:rPr lang="en-US" sz="1400" b="1" dirty="0">
                <a:solidFill>
                  <a:srgbClr val="D4700C"/>
                </a:solidFill>
                <a:latin typeface="Calibri" pitchFamily="34" charset="0"/>
                <a:ea typeface="Calibri" pitchFamily="34" charset="-122"/>
                <a:cs typeface="Calibri" pitchFamily="34" charset="-120"/>
              </a:rPr>
              <a:t>Still open: </a:t>
            </a:r>
            <a:pPr indent="0" marL="0">
              <a:buNone/>
            </a:pPr>
            <a:r>
              <a:rPr lang="en-US" sz="1400" dirty="0">
                <a:solidFill>
                  <a:srgbClr val="1B1F24"/>
                </a:solidFill>
                <a:latin typeface="Calibri" pitchFamily="34" charset="0"/>
                <a:ea typeface="Calibri" pitchFamily="34" charset="-122"/>
                <a:cs typeface="Calibri" pitchFamily="34" charset="-120"/>
              </a:rPr>
              <a:t>glance time on the vehicle, against NHTSA and ISO 15008.</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On the vehicle: enclosures, heat and power</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12 / 14</a:t>
            </a:r>
            <a:endParaRPr lang="en-US" sz="1100" dirty="0"/>
          </a:p>
        </p:txBody>
      </p:sp>
      <p:sp>
        <p:nvSpPr>
          <p:cNvPr id="9" name="Shape 5"/>
          <p:cNvSpPr/>
          <p:nvPr/>
        </p:nvSpPr>
        <p:spPr>
          <a:xfrm>
            <a:off x="548640" y="1280160"/>
            <a:ext cx="3291840" cy="2514600"/>
          </a:xfrm>
          <a:prstGeom prst="roundRect">
            <a:avLst>
              <a:gd name="adj" fmla="val 4364"/>
            </a:avLst>
          </a:prstGeom>
          <a:solidFill>
            <a:srgbClr val="FFFFFF"/>
          </a:solidFill>
          <a:ln w="12700">
            <a:solidFill>
              <a:srgbClr val="C9D6E8"/>
            </a:solidFill>
            <a:prstDash val="solid"/>
          </a:ln>
        </p:spPr>
      </p:sp>
      <p:pic>
        <p:nvPicPr>
          <p:cNvPr id="10" name="Image 1" descr="C:\Users\0geda\OneDrive - University of Cape Town\Documents\PlatformIO\Projects\Tukzie-HPEC-HUD\Presentation\source\assets\cad_front_pod.png">    </p:cNvPr>
          <p:cNvPicPr>
            <a:picLocks noChangeAspect="1"/>
          </p:cNvPicPr>
          <p:nvPr/>
        </p:nvPicPr>
        <p:blipFill>
          <a:blip r:embed="rId2"/>
          <a:stretch>
            <a:fillRect/>
          </a:stretch>
        </p:blipFill>
        <p:spPr>
          <a:xfrm>
            <a:off x="698479" y="1371600"/>
            <a:ext cx="2992163" cy="2011680"/>
          </a:xfrm>
          <a:prstGeom prst="rect">
            <a:avLst/>
          </a:prstGeom>
        </p:spPr>
      </p:pic>
      <p:sp>
        <p:nvSpPr>
          <p:cNvPr id="11" name="Text 6"/>
          <p:cNvSpPr txBox="1"/>
          <p:nvPr/>
        </p:nvSpPr>
        <p:spPr>
          <a:xfrm>
            <a:off x="685800" y="341071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Front pod: Pi 5 with AI HAT+, camera, ToF</a:t>
            </a:r>
            <a:endParaRPr lang="en-US" sz="1200" dirty="0"/>
          </a:p>
        </p:txBody>
      </p:sp>
      <p:sp>
        <p:nvSpPr>
          <p:cNvPr id="12" name="Shape 7"/>
          <p:cNvSpPr/>
          <p:nvPr/>
        </p:nvSpPr>
        <p:spPr>
          <a:xfrm>
            <a:off x="4023360" y="1280160"/>
            <a:ext cx="3291840" cy="2514600"/>
          </a:xfrm>
          <a:prstGeom prst="roundRect">
            <a:avLst>
              <a:gd name="adj" fmla="val 4364"/>
            </a:avLst>
          </a:prstGeom>
          <a:solidFill>
            <a:srgbClr val="FFFFFF"/>
          </a:solidFill>
          <a:ln w="12700">
            <a:solidFill>
              <a:srgbClr val="C9D6E8"/>
            </a:solidFill>
            <a:prstDash val="solid"/>
          </a:ln>
        </p:spPr>
      </p:sp>
      <p:pic>
        <p:nvPicPr>
          <p:cNvPr id="13" name="Image 2" descr="C:\Users\0geda\OneDrive - University of Cape Town\Documents\PlatformIO\Projects\Tukzie-HPEC-HUD\Presentation\source\assets\cad_display_mount.png">    </p:cNvPr>
          <p:cNvPicPr>
            <a:picLocks noChangeAspect="1"/>
          </p:cNvPicPr>
          <p:nvPr/>
        </p:nvPicPr>
        <p:blipFill>
          <a:blip r:embed="rId3"/>
          <a:stretch>
            <a:fillRect/>
          </a:stretch>
        </p:blipFill>
        <p:spPr>
          <a:xfrm>
            <a:off x="4230370" y="1371600"/>
            <a:ext cx="2877820" cy="2011680"/>
          </a:xfrm>
          <a:prstGeom prst="rect">
            <a:avLst/>
          </a:prstGeom>
        </p:spPr>
      </p:pic>
      <p:sp>
        <p:nvSpPr>
          <p:cNvPr id="14" name="Text 8"/>
          <p:cNvSpPr txBox="1"/>
          <p:nvPr/>
        </p:nvSpPr>
        <p:spPr>
          <a:xfrm>
            <a:off x="4160520" y="341071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Display mount: bar clamp, dovetail rail</a:t>
            </a:r>
            <a:endParaRPr lang="en-US" sz="1200" dirty="0"/>
          </a:p>
        </p:txBody>
      </p:sp>
      <p:sp>
        <p:nvSpPr>
          <p:cNvPr id="15" name="Shape 9"/>
          <p:cNvSpPr/>
          <p:nvPr/>
        </p:nvSpPr>
        <p:spPr>
          <a:xfrm>
            <a:off x="548640" y="3977640"/>
            <a:ext cx="3291840" cy="1600200"/>
          </a:xfrm>
          <a:prstGeom prst="roundRect">
            <a:avLst>
              <a:gd name="adj" fmla="val 6857"/>
            </a:avLst>
          </a:prstGeom>
          <a:solidFill>
            <a:srgbClr val="FFFFFF"/>
          </a:solidFill>
          <a:ln w="12700">
            <a:solidFill>
              <a:srgbClr val="C9D6E8"/>
            </a:solidFill>
            <a:prstDash val="solid"/>
          </a:ln>
        </p:spPr>
      </p:sp>
      <p:pic>
        <p:nvPicPr>
          <p:cNvPr id="16" name="Image 3" descr="C:\Users\0geda\OneDrive - University of Cape Town\Documents\PlatformIO\Projects\Tukzie-HPEC-HUD\Presentation\source\assets\cad_vented_lid.png">    </p:cNvPr>
          <p:cNvPicPr>
            <a:picLocks noChangeAspect="1"/>
          </p:cNvPicPr>
          <p:nvPr/>
        </p:nvPicPr>
        <p:blipFill>
          <a:blip r:embed="rId4"/>
          <a:stretch>
            <a:fillRect/>
          </a:stretch>
        </p:blipFill>
        <p:spPr>
          <a:xfrm>
            <a:off x="1259840" y="4069080"/>
            <a:ext cx="1869440" cy="1097280"/>
          </a:xfrm>
          <a:prstGeom prst="rect">
            <a:avLst/>
          </a:prstGeom>
        </p:spPr>
      </p:pic>
      <p:sp>
        <p:nvSpPr>
          <p:cNvPr id="17" name="Text 10"/>
          <p:cNvSpPr txBox="1"/>
          <p:nvPr/>
        </p:nvSpPr>
        <p:spPr>
          <a:xfrm>
            <a:off x="685800" y="519379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Vented lid: grille under a rain hood</a:t>
            </a:r>
            <a:endParaRPr lang="en-US" sz="1200" dirty="0"/>
          </a:p>
        </p:txBody>
      </p:sp>
      <p:sp>
        <p:nvSpPr>
          <p:cNvPr id="18" name="Shape 11"/>
          <p:cNvSpPr/>
          <p:nvPr/>
        </p:nvSpPr>
        <p:spPr>
          <a:xfrm>
            <a:off x="4023360" y="3977640"/>
            <a:ext cx="3291840" cy="1600200"/>
          </a:xfrm>
          <a:prstGeom prst="roundRect">
            <a:avLst>
              <a:gd name="adj" fmla="val 6857"/>
            </a:avLst>
          </a:prstGeom>
          <a:solidFill>
            <a:srgbClr val="FFFFFF"/>
          </a:solidFill>
          <a:ln w="12700">
            <a:solidFill>
              <a:srgbClr val="C9D6E8"/>
            </a:solidFill>
            <a:prstDash val="solid"/>
          </a:ln>
        </p:spPr>
      </p:sp>
      <p:pic>
        <p:nvPicPr>
          <p:cNvPr id="19" name="Image 4" descr="C:\Users\0geda\OneDrive - University of Cape Town\Documents\PlatformIO\Projects\Tukzie-HPEC-HUD\Presentation\source\assets\cad_front_pod_inside.png">    </p:cNvPr>
          <p:cNvPicPr>
            <a:picLocks noChangeAspect="1"/>
          </p:cNvPicPr>
          <p:nvPr/>
        </p:nvPicPr>
        <p:blipFill>
          <a:blip r:embed="rId5"/>
          <a:stretch>
            <a:fillRect/>
          </a:stretch>
        </p:blipFill>
        <p:spPr>
          <a:xfrm>
            <a:off x="4242816" y="4069080"/>
            <a:ext cx="2852928" cy="1097280"/>
          </a:xfrm>
          <a:prstGeom prst="rect">
            <a:avLst/>
          </a:prstGeom>
        </p:spPr>
      </p:pic>
      <p:sp>
        <p:nvSpPr>
          <p:cNvPr id="20" name="Text 12"/>
          <p:cNvSpPr txBox="1"/>
          <p:nvPr/>
        </p:nvSpPr>
        <p:spPr>
          <a:xfrm>
            <a:off x="4160520" y="519379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Front pod inside: Pi 5, cooler, AI HAT+</a:t>
            </a:r>
            <a:endParaRPr lang="en-US" sz="1200" dirty="0"/>
          </a:p>
        </p:txBody>
      </p:sp>
      <p:sp>
        <p:nvSpPr>
          <p:cNvPr id="21" name="Text 13"/>
          <p:cNvSpPr txBox="1"/>
          <p:nvPr/>
        </p:nvSpPr>
        <p:spPr>
          <a:xfrm>
            <a:off x="548640" y="5669280"/>
            <a:ext cx="6766560" cy="54864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Also an IMU pod (rev 3, push-fit, no screws). Printed so far: the rear box and a first IMU pod; the rest are checked in CAD only, fit tests outstanding.</a:t>
            </a:r>
            <a:endParaRPr lang="en-US" sz="1200" dirty="0"/>
          </a:p>
        </p:txBody>
      </p:sp>
      <p:sp>
        <p:nvSpPr>
          <p:cNvPr id="22" name="Shape 14"/>
          <p:cNvSpPr/>
          <p:nvPr/>
        </p:nvSpPr>
        <p:spPr>
          <a:xfrm>
            <a:off x="7635240" y="1280160"/>
            <a:ext cx="4007815" cy="4892040"/>
          </a:xfrm>
          <a:prstGeom prst="roundRect">
            <a:avLst>
              <a:gd name="adj" fmla="val 2738"/>
            </a:avLst>
          </a:prstGeom>
          <a:solidFill>
            <a:srgbClr val="E8F0FA"/>
          </a:solidFill>
          <a:ln w="12700">
            <a:solidFill>
              <a:srgbClr val="E8F0FA"/>
            </a:solidFill>
            <a:prstDash val="solid"/>
          </a:ln>
        </p:spPr>
      </p:sp>
      <p:sp>
        <p:nvSpPr>
          <p:cNvPr id="23" name="Text 15"/>
          <p:cNvSpPr txBox="1"/>
          <p:nvPr/>
        </p:nvSpPr>
        <p:spPr>
          <a:xfrm>
            <a:off x="7909560" y="1417320"/>
            <a:ext cx="3459175" cy="36576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Power budget</a:t>
            </a:r>
            <a:endParaRPr lang="en-US" sz="1800" dirty="0"/>
          </a:p>
        </p:txBody>
      </p:sp>
      <p:sp>
        <p:nvSpPr>
          <p:cNvPr id="24" name="Text 16"/>
          <p:cNvSpPr txBox="1"/>
          <p:nvPr/>
        </p:nvSpPr>
        <p:spPr>
          <a:xfrm>
            <a:off x="7909560" y="1828800"/>
            <a:ext cx="3459175" cy="73152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about 20 W</a:t>
            </a:r>
            <a:endParaRPr lang="en-US" sz="4000" dirty="0"/>
          </a:p>
        </p:txBody>
      </p:sp>
      <p:sp>
        <p:nvSpPr>
          <p:cNvPr id="25" name="Text 17"/>
          <p:cNvSpPr txBox="1"/>
          <p:nvPr/>
        </p:nvSpPr>
        <p:spPr>
          <a:xfrm>
            <a:off x="7909560" y="2578608"/>
            <a:ext cx="3459175"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0.27 A from the 72 V pack while driving; 35 W short peaks</a:t>
            </a:r>
            <a:endParaRPr lang="en-US" sz="1400" dirty="0"/>
          </a:p>
        </p:txBody>
      </p:sp>
      <p:sp>
        <p:nvSpPr>
          <p:cNvPr id="26" name="Text 18"/>
          <p:cNvSpPr txBox="1"/>
          <p:nvPr/>
        </p:nvSpPr>
        <p:spPr>
          <a:xfrm>
            <a:off x="7909560" y="3246120"/>
            <a:ext cx="3459175" cy="28346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About 0.8 % of the motor's 2.5 kW rated input</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Pack from the BMS: 24 cells, 150 A, about 60 to 88 V</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Converter: rated to 100 V, 40 W at 5 V, fused, off with the vehicle</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Measured: only the Pi 5 (2.2 to 3.0 W on its rails); the rest are estimates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12</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First road session, 19 October</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13 / 14</a:t>
            </a:r>
            <a:endParaRPr lang="en-US" sz="1100" dirty="0"/>
          </a:p>
        </p:txBody>
      </p:sp>
      <p:sp>
        <p:nvSpPr>
          <p:cNvPr id="9" name="Shape 5"/>
          <p:cNvSpPr/>
          <p:nvPr/>
        </p:nvSpPr>
        <p:spPr>
          <a:xfrm>
            <a:off x="548640" y="1280160"/>
            <a:ext cx="3268980" cy="2011680"/>
          </a:xfrm>
          <a:prstGeom prst="roundRect">
            <a:avLst>
              <a:gd name="adj" fmla="val 5455"/>
            </a:avLst>
          </a:prstGeom>
          <a:solidFill>
            <a:srgbClr val="E8F0FA"/>
          </a:solidFill>
          <a:ln w="12700">
            <a:solidFill>
              <a:srgbClr val="E8F0FA"/>
            </a:solidFill>
            <a:prstDash val="solid"/>
          </a:ln>
        </p:spPr>
      </p:sp>
      <p:sp>
        <p:nvSpPr>
          <p:cNvPr id="10" name="Text 6"/>
          <p:cNvSpPr txBox="1"/>
          <p:nvPr/>
        </p:nvSpPr>
        <p:spPr>
          <a:xfrm>
            <a:off x="822960" y="1417320"/>
            <a:ext cx="2720340" cy="777240"/>
          </a:xfrm>
          <a:prstGeom prst="rect">
            <a:avLst/>
          </a:prstGeom>
          <a:noFill/>
          <a:ln/>
        </p:spPr>
        <p:txBody>
          <a:bodyPr wrap="square" lIns="0" tIns="0" rIns="0" bIns="0" rtlCol="0" anchor="ctr"/>
          <a:lstStyle/>
          <a:p>
            <a:pPr indent="0" marL="0">
              <a:buNone/>
            </a:pPr>
            <a:r>
              <a:rPr lang="en-US" sz="3600" b="1" dirty="0">
                <a:solidFill>
                  <a:srgbClr val="14305C"/>
                </a:solidFill>
                <a:latin typeface="Calibri" pitchFamily="34" charset="0"/>
                <a:ea typeface="Calibri" pitchFamily="34" charset="-122"/>
                <a:cs typeface="Calibri" pitchFamily="34" charset="-120"/>
              </a:rPr>
              <a:t>108.6 min</a:t>
            </a:r>
            <a:endParaRPr lang="en-US" sz="3600" dirty="0"/>
          </a:p>
        </p:txBody>
      </p:sp>
      <p:sp>
        <p:nvSpPr>
          <p:cNvPr id="11" name="Text 7"/>
          <p:cNvSpPr txBox="1"/>
          <p:nvPr/>
        </p:nvSpPr>
        <p:spPr>
          <a:xfrm>
            <a:off x="822960" y="2240280"/>
            <a:ext cx="2720340"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recorded on the vehicle by the Pi 5, about 16 min of it driving</a:t>
            </a:r>
            <a:endParaRPr lang="en-US" sz="1400" dirty="0"/>
          </a:p>
        </p:txBody>
      </p:sp>
      <p:sp>
        <p:nvSpPr>
          <p:cNvPr id="12" name="Shape 8"/>
          <p:cNvSpPr/>
          <p:nvPr/>
        </p:nvSpPr>
        <p:spPr>
          <a:xfrm>
            <a:off x="4046220" y="1280160"/>
            <a:ext cx="3268980" cy="2011680"/>
          </a:xfrm>
          <a:prstGeom prst="roundRect">
            <a:avLst>
              <a:gd name="adj" fmla="val 5455"/>
            </a:avLst>
          </a:prstGeom>
          <a:solidFill>
            <a:srgbClr val="E8F0FA"/>
          </a:solidFill>
          <a:ln w="12700">
            <a:solidFill>
              <a:srgbClr val="E8F0FA"/>
            </a:solidFill>
            <a:prstDash val="solid"/>
          </a:ln>
        </p:spPr>
      </p:sp>
      <p:sp>
        <p:nvSpPr>
          <p:cNvPr id="13" name="Text 9"/>
          <p:cNvSpPr txBox="1"/>
          <p:nvPr/>
        </p:nvSpPr>
        <p:spPr>
          <a:xfrm>
            <a:off x="4320540" y="1417320"/>
            <a:ext cx="2720340" cy="777240"/>
          </a:xfrm>
          <a:prstGeom prst="rect">
            <a:avLst/>
          </a:prstGeom>
          <a:noFill/>
          <a:ln/>
        </p:spPr>
        <p:txBody>
          <a:bodyPr wrap="square" lIns="0" tIns="0" rIns="0" bIns="0" rtlCol="0" anchor="ctr"/>
          <a:lstStyle/>
          <a:p>
            <a:pPr indent="0" marL="0">
              <a:buNone/>
            </a:pPr>
            <a:r>
              <a:rPr lang="en-US" sz="3600" b="1" dirty="0">
                <a:solidFill>
                  <a:srgbClr val="14305C"/>
                </a:solidFill>
                <a:latin typeface="Calibri" pitchFamily="34" charset="0"/>
                <a:ea typeface="Calibri" pitchFamily="34" charset="-122"/>
                <a:cs typeface="Calibri" pitchFamily="34" charset="-120"/>
              </a:rPr>
              <a:t>200 Hz</a:t>
            </a:r>
            <a:endParaRPr lang="en-US" sz="3600" dirty="0"/>
          </a:p>
        </p:txBody>
      </p:sp>
      <p:sp>
        <p:nvSpPr>
          <p:cNvPr id="14" name="Text 10"/>
          <p:cNvSpPr txBox="1"/>
          <p:nvPr/>
        </p:nvSpPr>
        <p:spPr>
          <a:xfrm>
            <a:off x="4320540" y="2240280"/>
            <a:ext cx="2720340"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both IMUs, no drops, one 2 s stall; 38 % of records lost on USB: R1 partly met</a:t>
            </a:r>
            <a:endParaRPr lang="en-US" sz="1400" dirty="0"/>
          </a:p>
        </p:txBody>
      </p:sp>
      <p:sp>
        <p:nvSpPr>
          <p:cNvPr id="15" name="Shape 11"/>
          <p:cNvSpPr/>
          <p:nvPr/>
        </p:nvSpPr>
        <p:spPr>
          <a:xfrm>
            <a:off x="548640" y="3520440"/>
            <a:ext cx="3268980" cy="2011680"/>
          </a:xfrm>
          <a:prstGeom prst="roundRect">
            <a:avLst>
              <a:gd name="adj" fmla="val 5455"/>
            </a:avLst>
          </a:prstGeom>
          <a:solidFill>
            <a:srgbClr val="E8F0FA"/>
          </a:solidFill>
          <a:ln w="12700">
            <a:solidFill>
              <a:srgbClr val="E8F0FA"/>
            </a:solidFill>
            <a:prstDash val="solid"/>
          </a:ln>
        </p:spPr>
      </p:sp>
      <p:sp>
        <p:nvSpPr>
          <p:cNvPr id="16" name="Text 12"/>
          <p:cNvSpPr txBox="1"/>
          <p:nvPr/>
        </p:nvSpPr>
        <p:spPr>
          <a:xfrm>
            <a:off x="822960" y="3657600"/>
            <a:ext cx="2720340" cy="777240"/>
          </a:xfrm>
          <a:prstGeom prst="rect">
            <a:avLst/>
          </a:prstGeom>
          <a:noFill/>
          <a:ln/>
        </p:spPr>
        <p:txBody>
          <a:bodyPr wrap="square" lIns="0" tIns="0" rIns="0" bIns="0" rtlCol="0" anchor="ctr"/>
          <a:lstStyle/>
          <a:p>
            <a:pPr indent="0" marL="0">
              <a:buNone/>
            </a:pPr>
            <a:r>
              <a:rPr lang="en-US" sz="3600" b="1" dirty="0">
                <a:solidFill>
                  <a:srgbClr val="14305C"/>
                </a:solidFill>
                <a:latin typeface="Calibri" pitchFamily="34" charset="0"/>
                <a:ea typeface="Calibri" pitchFamily="34" charset="-122"/>
                <a:cs typeface="Calibri" pitchFamily="34" charset="-120"/>
              </a:rPr>
              <a:t>46.9 A</a:t>
            </a:r>
            <a:endParaRPr lang="en-US" sz="3600" dirty="0"/>
          </a:p>
        </p:txBody>
      </p:sp>
      <p:sp>
        <p:nvSpPr>
          <p:cNvPr id="17" name="Text 13"/>
          <p:cNvSpPr txBox="1"/>
          <p:nvPr/>
        </p:nvSpPr>
        <p:spPr>
          <a:xfrm>
            <a:off x="822960" y="4480560"/>
            <a:ext cx="2720340"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peak battery current; 74.6 to 72.8 V, 60 to 58 %: R5 partly met (no meter check)</a:t>
            </a:r>
            <a:endParaRPr lang="en-US" sz="1400" dirty="0"/>
          </a:p>
        </p:txBody>
      </p:sp>
      <p:sp>
        <p:nvSpPr>
          <p:cNvPr id="18" name="Shape 14"/>
          <p:cNvSpPr/>
          <p:nvPr/>
        </p:nvSpPr>
        <p:spPr>
          <a:xfrm>
            <a:off x="4046220" y="3520440"/>
            <a:ext cx="3268980" cy="2011680"/>
          </a:xfrm>
          <a:prstGeom prst="roundRect">
            <a:avLst>
              <a:gd name="adj" fmla="val 5455"/>
            </a:avLst>
          </a:prstGeom>
          <a:solidFill>
            <a:srgbClr val="E8F0FA"/>
          </a:solidFill>
          <a:ln w="12700">
            <a:solidFill>
              <a:srgbClr val="E8F0FA"/>
            </a:solidFill>
            <a:prstDash val="solid"/>
          </a:ln>
        </p:spPr>
      </p:sp>
      <p:sp>
        <p:nvSpPr>
          <p:cNvPr id="19" name="Text 15"/>
          <p:cNvSpPr txBox="1"/>
          <p:nvPr/>
        </p:nvSpPr>
        <p:spPr>
          <a:xfrm>
            <a:off x="4320540" y="3657600"/>
            <a:ext cx="2720340" cy="777240"/>
          </a:xfrm>
          <a:prstGeom prst="rect">
            <a:avLst/>
          </a:prstGeom>
          <a:noFill/>
          <a:ln/>
        </p:spPr>
        <p:txBody>
          <a:bodyPr wrap="square" lIns="0" tIns="0" rIns="0" bIns="0" rtlCol="0" anchor="ctr"/>
          <a:lstStyle/>
          <a:p>
            <a:pPr indent="0" marL="0">
              <a:buNone/>
            </a:pPr>
            <a:r>
              <a:rPr lang="en-US" sz="3600" b="1" dirty="0">
                <a:solidFill>
                  <a:srgbClr val="14305C"/>
                </a:solidFill>
                <a:latin typeface="Calibri" pitchFamily="34" charset="0"/>
                <a:ea typeface="Calibri" pitchFamily="34" charset="-122"/>
                <a:cs typeface="Calibri" pitchFamily="34" charset="-120"/>
              </a:rPr>
              <a:t>1,342 / 741</a:t>
            </a:r>
            <a:endParaRPr lang="en-US" sz="3600" dirty="0"/>
          </a:p>
        </p:txBody>
      </p:sp>
      <p:sp>
        <p:nvSpPr>
          <p:cNvPr id="20" name="Text 16"/>
          <p:cNvSpPr txBox="1"/>
          <p:nvPr/>
        </p:nvSpPr>
        <p:spPr>
          <a:xfrm>
            <a:off x="4320540" y="4480560"/>
            <a:ext cx="2720340"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front and rear camera alerts, not yet checked against video</a:t>
            </a:r>
            <a:endParaRPr lang="en-US" sz="1400" dirty="0"/>
          </a:p>
        </p:txBody>
      </p:sp>
      <p:sp>
        <p:nvSpPr>
          <p:cNvPr id="21" name="Text 17"/>
          <p:cNvSpPr txBox="1"/>
          <p:nvPr/>
        </p:nvSpPr>
        <p:spPr>
          <a:xfrm>
            <a:off x="548640" y="5623560"/>
            <a:ext cx="6766560" cy="54864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Parked and driving separate clearly: one-second vibration median 0.03 parked; while driving median 1.39, 95th percentile 3.1, maximum 5.09.</a:t>
            </a:r>
            <a:endParaRPr lang="en-US" sz="1200" dirty="0"/>
          </a:p>
        </p:txBody>
      </p:sp>
      <p:sp>
        <p:nvSpPr>
          <p:cNvPr id="22" name="Shape 18"/>
          <p:cNvSpPr/>
          <p:nvPr/>
        </p:nvSpPr>
        <p:spPr>
          <a:xfrm>
            <a:off x="7635240" y="1280160"/>
            <a:ext cx="4007815" cy="4892040"/>
          </a:xfrm>
          <a:prstGeom prst="roundRect">
            <a:avLst>
              <a:gd name="adj" fmla="val 2738"/>
            </a:avLst>
          </a:prstGeom>
          <a:solidFill>
            <a:srgbClr val="FFFFFF"/>
          </a:solidFill>
          <a:ln w="25400">
            <a:solidFill>
              <a:srgbClr val="D4700C"/>
            </a:solidFill>
            <a:prstDash val="dash"/>
          </a:ln>
        </p:spPr>
      </p:sp>
      <p:sp>
        <p:nvSpPr>
          <p:cNvPr id="23" name="Text 19"/>
          <p:cNvSpPr txBox="1"/>
          <p:nvPr/>
        </p:nvSpPr>
        <p:spPr>
          <a:xfrm>
            <a:off x="7909560" y="1417320"/>
            <a:ext cx="3459175" cy="365760"/>
          </a:xfrm>
          <a:prstGeom prst="rect">
            <a:avLst/>
          </a:prstGeom>
          <a:noFill/>
          <a:ln/>
        </p:spPr>
        <p:txBody>
          <a:bodyPr wrap="square" lIns="0" tIns="0" rIns="0" bIns="0" rtlCol="0" anchor="ctr"/>
          <a:lstStyle/>
          <a:p>
            <a:pPr indent="0" marL="0">
              <a:buNone/>
            </a:pPr>
            <a:r>
              <a:rPr lang="en-US" sz="1800" b="1" dirty="0">
                <a:solidFill>
                  <a:srgbClr val="D4700C"/>
                </a:solidFill>
                <a:latin typeface="Calibri" pitchFamily="34" charset="0"/>
                <a:ea typeface="Calibri" pitchFamily="34" charset="-122"/>
                <a:cs typeface="Calibri" pitchFamily="34" charset="-120"/>
              </a:rPr>
              <a:t>Not captured, so still open</a:t>
            </a:r>
            <a:endParaRPr lang="en-US" sz="1800" dirty="0"/>
          </a:p>
        </p:txBody>
      </p:sp>
      <p:sp>
        <p:nvSpPr>
          <p:cNvPr id="24" name="Text 20"/>
          <p:cNvSpPr txBox="1"/>
          <p:nvPr/>
        </p:nvSpPr>
        <p:spPr>
          <a:xfrm>
            <a:off x="7909560" y="1920240"/>
            <a:ext cx="3459175" cy="41148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No GNSS fix in any record (no antenna fitted): R4 untested on the vehicle, and no speed</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No raw 200 Hz samples (v0.7.4) and no run markers: RQ1 and RQ4 not answered yet</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LTE upload down: no latency</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Driving found afterwards from battery current and vibration; no gear or speed signal</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Next: a second, shorter session with the raw stream (v0.7.5), a working GNSS antenna, timed runs and the powertrain baseline on stands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13</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Conclusions and next steps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14 / 14</a:t>
            </a:r>
            <a:endParaRPr lang="en-US" sz="1100" dirty="0"/>
          </a:p>
        </p:txBody>
      </p:sp>
      <p:sp>
        <p:nvSpPr>
          <p:cNvPr id="9" name="Shape 5"/>
          <p:cNvSpPr/>
          <p:nvPr/>
        </p:nvSpPr>
        <p:spPr>
          <a:xfrm>
            <a:off x="548640" y="1280160"/>
            <a:ext cx="5364328" cy="4069080"/>
          </a:xfrm>
          <a:prstGeom prst="roundRect">
            <a:avLst>
              <a:gd name="adj" fmla="val 2697"/>
            </a:avLst>
          </a:prstGeom>
          <a:solidFill>
            <a:srgbClr val="E8F0FA"/>
          </a:solidFill>
          <a:ln w="12700">
            <a:solidFill>
              <a:srgbClr val="E8F0FA"/>
            </a:solidFill>
            <a:prstDash val="solid"/>
          </a:ln>
        </p:spPr>
      </p:sp>
      <p:sp>
        <p:nvSpPr>
          <p:cNvPr id="10" name="Text 6"/>
          <p:cNvSpPr txBox="1"/>
          <p:nvPr/>
        </p:nvSpPr>
        <p:spPr>
          <a:xfrm>
            <a:off x="868680" y="1463040"/>
            <a:ext cx="4724248" cy="41148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Done and measured</a:t>
            </a:r>
            <a:endParaRPr lang="en-US" sz="2000" dirty="0"/>
          </a:p>
        </p:txBody>
      </p:sp>
      <p:sp>
        <p:nvSpPr>
          <p:cNvPr id="11" name="Text 7"/>
          <p:cNvSpPr txBox="1"/>
          <p:nvPr/>
        </p:nvSpPr>
        <p:spPr>
          <a:xfrm>
            <a:off x="868680"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Two IMUs at 200 Hz, fused; held on the vehicle (R1)</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112 of 112 records stored across an LTE outage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Front detection 51 to 54 ms on the Pi 5 (Pi 4: about 120 ms)</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Approaching-object warning: synthetic tests within 2 %</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Both cameras on the existing dashboard, live data only</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Battery under load on the vehicle (R5); seven faults fixed</a:t>
            </a:r>
            <a:endParaRPr lang="en-US" sz="1600" dirty="0"/>
          </a:p>
        </p:txBody>
      </p:sp>
      <p:sp>
        <p:nvSpPr>
          <p:cNvPr id="12" name="Shape 8"/>
          <p:cNvSpPr/>
          <p:nvPr/>
        </p:nvSpPr>
        <p:spPr>
          <a:xfrm>
            <a:off x="6278728" y="1280160"/>
            <a:ext cx="5364328" cy="4069080"/>
          </a:xfrm>
          <a:prstGeom prst="roundRect">
            <a:avLst>
              <a:gd name="adj" fmla="val 2697"/>
            </a:avLst>
          </a:prstGeom>
          <a:solidFill>
            <a:srgbClr val="FFFFFF"/>
          </a:solidFill>
          <a:ln w="25400">
            <a:solidFill>
              <a:srgbClr val="D4700C"/>
            </a:solidFill>
            <a:prstDash val="dash"/>
          </a:ln>
        </p:spPr>
      </p:sp>
      <p:sp>
        <p:nvSpPr>
          <p:cNvPr id="13" name="Text 9"/>
          <p:cNvSpPr txBox="1"/>
          <p:nvPr/>
        </p:nvSpPr>
        <p:spPr>
          <a:xfrm>
            <a:off x="6598768" y="1463040"/>
            <a:ext cx="4724248" cy="411480"/>
          </a:xfrm>
          <a:prstGeom prst="rect">
            <a:avLst/>
          </a:prstGeom>
          <a:noFill/>
          <a:ln/>
        </p:spPr>
        <p:txBody>
          <a:bodyPr wrap="square" lIns="0" tIns="0" rIns="0" bIns="0" rtlCol="0" anchor="ctr"/>
          <a:lstStyle/>
          <a:p>
            <a:pPr indent="0" marL="0">
              <a:buNone/>
            </a:pPr>
            <a:r>
              <a:rPr lang="en-US" sz="2000" b="1" dirty="0">
                <a:solidFill>
                  <a:srgbClr val="D4700C"/>
                </a:solidFill>
                <a:latin typeface="Calibri" pitchFamily="34" charset="0"/>
                <a:ea typeface="Calibri" pitchFamily="34" charset="-122"/>
                <a:cs typeface="Calibri" pitchFamily="34" charset="-120"/>
              </a:rPr>
              <a:t>Open, and next</a:t>
            </a:r>
            <a:endParaRPr lang="en-US" sz="2000" dirty="0"/>
          </a:p>
        </p:txBody>
      </p:sp>
      <p:sp>
        <p:nvSpPr>
          <p:cNvPr id="14" name="Text 10"/>
          <p:cNvSpPr txBox="1"/>
          <p:nvPr/>
        </p:nvSpPr>
        <p:spPr>
          <a:xfrm>
            <a:off x="6598768"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Second road session: raw samples, GNSS, timed runs (RQ1, RQ4)</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Real approach test (C11), fusion and focal calibration (C9)</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Glance time on the vehicle (RQ2); latency with GNSS time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Own supply for the telemetry unit; measure each unit's power</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Fit-test the printed enclosures on the vehicle</a:t>
            </a:r>
            <a:endParaRPr lang="en-US" sz="1600" dirty="0"/>
          </a:p>
        </p:txBody>
      </p:sp>
      <p:sp>
        <p:nvSpPr>
          <p:cNvPr id="15" name="Text 11"/>
          <p:cNvSpPr txBox="1"/>
          <p:nvPr/>
        </p:nvSpPr>
        <p:spPr>
          <a:xfrm>
            <a:off x="548640" y="5532120"/>
            <a:ext cx="11094415" cy="548640"/>
          </a:xfrm>
          <a:prstGeom prst="rect">
            <a:avLst/>
          </a:prstGeom>
          <a:noFill/>
          <a:ln/>
        </p:spPr>
        <p:txBody>
          <a:bodyPr wrap="square" lIns="0" tIns="0" rIns="0" bIns="0" rtlCol="0" anchor="ctr"/>
          <a:lstStyle/>
          <a:p>
            <a:pPr algn="ctr" indent="0" marL="0">
              <a:buNone/>
            </a:pPr>
            <a:r>
              <a:rPr lang="en-US" sz="2600" b="1" dirty="0">
                <a:solidFill>
                  <a:srgbClr val="14305C"/>
                </a:solidFill>
                <a:latin typeface="Calibri" pitchFamily="34" charset="0"/>
                <a:ea typeface="Calibri" pitchFamily="34" charset="-122"/>
                <a:cs typeface="Calibri" pitchFamily="34" charset="-120"/>
              </a:rPr>
              <a:t>Thank you. Questions?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SW7: Development of an Embedded HPEC Telemetry Unit and Dashboard Integration for the TUKZIE Rev 0 Platform</dc:title>
  <dc:subject>PptxGenJS Presentation</dc:subject>
  <dc:creator>Samson Okuthe</dc:creator>
  <cp:lastModifiedBy>Samson Okuthe</cp:lastModifiedBy>
  <cp:revision>1</cp:revision>
  <dcterms:created xsi:type="dcterms:W3CDTF">2026-10-21T14:27:43Z</dcterms:created>
  <dcterms:modified xsi:type="dcterms:W3CDTF">2026-10-21T14:27:43Z</dcterms:modified>
</cp:coreProperties>
</file>