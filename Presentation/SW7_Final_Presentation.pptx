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the TUKZIE programme, which is building a 72 volt electric cargo trike for last-mile freight. My part is the on-board electronics: a telemetry unit that measures how the trike rides, and a windshield head-up display that shows the driver only what matters for safety. In the next ten minutes I'll cover why this is needed, how I built and tested it, what the bench results show,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can make economic sense for freight in African cities: on the routes a 2025 study examined in Dar es Salaam, an electric cargo tricycle cut operating cost per kilometre by 45.5 percent against a motorcycle and up to 86 percent against a light car. Second, any display that pulls the driver's eyes down is a risk. NHTSA guidance says a single glance away from the road should not exceed two seconds. So the question is whether we can put edge telemetry and a head-up display together on a low-cost trike, which the literature treats as an open problem. I'll keep the background short and move to what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trike's ride at the edge and shows only safety-relevant data head-up. I split that into four research questions, and I've marked honestly where each one stands. RQ1, dual-IMU acquisition at 200 hertz with the sensors agreeing within noise, is verified on the bench. RQ3, the data path from sensor to cloud, is verified on the bench for acquisition and the MQTT publish, but not yet on the vehicle. RQ4, the ride features, passes its self-test but needs real road data. RQ2, the HUD, depends on the field test and is still outstanding.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with each part labelled. On the right is the telemetry unit: an ESP32-S3 on a Makerfabs board with a built-in A7670X LTE modem, which also gives us GNSS. Two MPU6050 IMUs are sampled at 200 hertz each, and the battery management system is read over Bluetooth Low Energy. On the left is a Raspberry Pi 4 with the camera. The two boards share one wire: the ESP32 toggles a sync pulse that the Pi logs, so camera frames and IMU data can be lined up in time. The Pi 4 is used rather than the team's Pi 5 so the existing vehicle dashboard on the Pi 5 is not disturbed.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and is split across the two cores. Core 1 holds everything timing-critical: one task per IMU at the highest priority, each holding a 5 millisecond period with vTaskDelayUntil so the rate cannot drift. The acquisition tasks never print or block. They time-stamp each sample with a microsecond clock and push it into a bounded queue; if a queue is full the sample is dropped and counted, so a slow consumer can never stall acquisition. Separate tasks compute the ride features over one-second windows and fuse the two sensors. Core 0 handles the slow, blocking work: the modem, GNSS, MQTT, the flash log and the battery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on its own on the real board, with a defined pass criterion, before anything was built on top of it. Then both IMUs were acquired at 200 hertz and calibrated against gravity. Then the ride features and the fusion, each with a self-test at boot. Then the local log and the LTE publish. The last stage, validation on the moving vehicle, is still to come, and it's drawn dashed for that reason. This order paid off: several of the faults I'll show later would have been invisible if I'd integrated everything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and the drop counters prove that rather than assuming it. Two nominally identical accelerometers disagreed by 5 to 8 percent at rest; per-sensor calibration against true gravity brought that down to measurement noise, which meets RQ1. The two are then fused into one ride estimate. With equal noise on both sensors, inverse-variance weighting reduces to a plain mean. Windows are only paired if they ended within half a window of each other, a disagreement figure is reported rather than hidden, and if one sensor goes silent for three seconds the output falls back to the other. The chart is a recorded 150 second session: still, then disturbed by hand from about 75 seconds. All 222 windows were fused from both sensors with skew under a millisecond, and all five boot self-tests passed. One honest finding: the latest resting readings were 1.6 and 2.7 percent above gravity, so the calibration has drifted and will be redone before the field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bench results. On the camera side, a 15 second combined test produced 439 frames, consistent with about 29 frames a second, and 33 sync edges, consistent with the 2 hertz pulse. A dedicated calibration then bounded the offset between the camera clock and the IMU clock to under about one second, which is enough for labelling ride events after the fact. On the network side, the full chain worked end to end on real hardware: SIM, registration, data context, MQTT connect, and an acknowledged publish, tested against a public broker. Registration was intermittent, so this proves the mechanism, not reliability under vehicle conditions. Telemetry is also logged to the board's own flash so nothing depends on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on real hardware found faults that would have been hard to trace later. The GNSS reply was assumed to have 13 fields; the real modem gave 9, and the manual documents 16 with speed in knots. The parser checks the count, so this showed up in the log instead of producing wrong positions. The BLE service lookup assumed the wrong parent service; it now searches all services, and my frame decoding matched an independent parser byte for byte. The microSD chip-select resistor isn't fitted, so logging moved to internal flash. A boot loop came from a flash-size mismatch. And one open finding: the flash writes line up with 25 to 30 millisecond stalls on both IMUs every 12 seconds. No samples were lost, and disabling the log for one session will confirm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supervisor direction, the camera's role grew from a visual record to a hazard-awareness function. I designed a three-part casing and 3D printed it: a bottom shell and top cover that protect the camera and its ribbon cable, and a 30 degree corner mount to fix it to the trike. A second casing houses a second camera. The casings are printed but not yet fixed to the vehicle. The detector is a pretrained, 8-bit SSD-MobileNet chosen to fit the Pi 4, with no training of my own. It reports only a few object types in three coarse distance bands. It is implemented but has not yet been run on live camera data. For a live near-object alert I chose a VL53L5CX time-of-flight sensor with an 8 by 8 zone grid, so it can tell left, centre and right apart. It has been sourced and is awaiting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replace this slide once the on-vehicle test has been done. Planned content: the ride features against known road and powertrain events for RQ4; end-to-end latency, data loss and recovery over LTE on the moving vehicle for RQ3; the HUD and glance observation for RQ2; and the first outdoor GNSS fix, which confirms the field order and speed units and lets the speed-normalised index be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board: two IMUs at 200 hertz with no loss, calibrated and fused live, battery and GNSS interfaces, a local log, an acknowledged cellular publish, and a camera aligned to the IMU data within a second. Testing each stage on real hardware found and fixed several faults that assumptions had hidden. What's left is the part that answers the ride and HUD questions: recalibrate the IMUs, run the field test on the trike, confirm the flash-write stall, integrate the time-of-flight and air-quality sensors, and build the HUD.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AppData\Local\Temp\claude\c--Users-0geda-OneDrive---University-of-Cape-Town-Documents-PlatformIO-Projects\02999ba8-77fc-45f7-8817-da26b024fcdd\scratchpad\deck\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An Embedded Telemetry Unit and Windshield HUD</a:t>
            </a:r>
            <a:endParaRPr lang="en-US" sz="3800" dirty="0"/>
          </a:p>
          <a:p>
            <a:pPr algn="ctr" indent="0" marL="0">
              <a:buNone/>
            </a:pPr>
            <a:r>
              <a:rPr lang="en-US" sz="3800" b="1" dirty="0">
                <a:solidFill>
                  <a:srgbClr val="FFFFFF"/>
                </a:solidFill>
                <a:latin typeface="Calibri" pitchFamily="34" charset="0"/>
                <a:ea typeface="Calibri" pitchFamily="34" charset="-122"/>
                <a:cs typeface="Calibri" pitchFamily="34" charset="-120"/>
              </a:rPr>
              <a:t>for the TUKZIE Rev 0 Electric Cargo Trike</a:t>
            </a:r>
            <a:endParaRPr lang="en-US" sz="38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which a head-down display works against</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a sparse head-up display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311335" y="1591056"/>
            <a:ext cx="205740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311335" y="1591056"/>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data head-up without exceeding the 2 s glance guidance</a:t>
            </a:r>
            <a:endParaRPr lang="en-US" sz="1800" dirty="0"/>
          </a:p>
        </p:txBody>
      </p:sp>
      <p:sp>
        <p:nvSpPr>
          <p:cNvPr id="17" name="Shape 13"/>
          <p:cNvSpPr/>
          <p:nvPr/>
        </p:nvSpPr>
        <p:spPr>
          <a:xfrm>
            <a:off x="9311335" y="2743200"/>
            <a:ext cx="205740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311335" y="2743200"/>
            <a:ext cx="205740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Outstanding</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311335" y="3895344"/>
            <a:ext cx="2057400" cy="457200"/>
          </a:xfrm>
          <a:prstGeom prst="roundRect">
            <a:avLst>
              <a:gd name="adj" fmla="val 50000"/>
            </a:avLst>
          </a:prstGeom>
          <a:solidFill>
            <a:srgbClr val="14305C"/>
          </a:solidFill>
          <a:ln w="19050">
            <a:solidFill>
              <a:srgbClr val="14305C"/>
            </a:solidFill>
            <a:prstDash val="solid"/>
          </a:ln>
        </p:spPr>
      </p:sp>
      <p:sp>
        <p:nvSpPr>
          <p:cNvPr id="23" name="Text 19"/>
          <p:cNvSpPr txBox="1"/>
          <p:nvPr/>
        </p:nvSpPr>
        <p:spPr>
          <a:xfrm>
            <a:off x="9311335" y="3895344"/>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Partly 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311335" y="5047488"/>
            <a:ext cx="205740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311335" y="5047488"/>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AppData\Local\Temp\claude\c--Users-0geda-OneDrive---University-of-Cape-Town-Documents-PlatformIO-Projects\02999ba8-77fc-45f7-8817-da26b024fcdd\scratchpad\deck\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1115568"/>
          </a:xfrm>
          <a:prstGeom prst="roundRect">
            <a:avLst>
              <a:gd name="adj" fmla="val 9836"/>
            </a:avLst>
          </a:prstGeom>
          <a:solidFill>
            <a:srgbClr val="E8F0FA"/>
          </a:solidFill>
          <a:ln w="12700">
            <a:solidFill>
              <a:srgbClr val="E8F0FA"/>
            </a:solidFill>
            <a:prstDash val="solid"/>
          </a:ln>
        </p:spPr>
      </p:sp>
      <p:sp>
        <p:nvSpPr>
          <p:cNvPr id="11" name="Text 6"/>
          <p:cNvSpPr txBox="1"/>
          <p:nvPr/>
        </p:nvSpPr>
        <p:spPr>
          <a:xfrm>
            <a:off x="8129585" y="1344168"/>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Telemetry unit</a:t>
            </a:r>
            <a:endParaRPr lang="en-US" sz="1700" dirty="0"/>
          </a:p>
        </p:txBody>
      </p:sp>
      <p:sp>
        <p:nvSpPr>
          <p:cNvPr id="12" name="Text 7"/>
          <p:cNvSpPr txBox="1"/>
          <p:nvPr/>
        </p:nvSpPr>
        <p:spPr>
          <a:xfrm>
            <a:off x="8129585" y="1691640"/>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ESP32-S3 with A7670X LTE and GNSS: acquisition, ride features, local log, MQTT</a:t>
            </a:r>
            <a:endParaRPr lang="en-US" sz="1400" dirty="0"/>
          </a:p>
        </p:txBody>
      </p:sp>
      <p:sp>
        <p:nvSpPr>
          <p:cNvPr id="13" name="Shape 8"/>
          <p:cNvSpPr/>
          <p:nvPr/>
        </p:nvSpPr>
        <p:spPr>
          <a:xfrm>
            <a:off x="7900985" y="2532888"/>
            <a:ext cx="3742070" cy="1115568"/>
          </a:xfrm>
          <a:prstGeom prst="roundRect">
            <a:avLst>
              <a:gd name="adj" fmla="val 9836"/>
            </a:avLst>
          </a:prstGeom>
          <a:solidFill>
            <a:srgbClr val="E8F0FA"/>
          </a:solidFill>
          <a:ln w="12700">
            <a:solidFill>
              <a:srgbClr val="E8F0FA"/>
            </a:solidFill>
            <a:prstDash val="solid"/>
          </a:ln>
        </p:spPr>
      </p:sp>
      <p:sp>
        <p:nvSpPr>
          <p:cNvPr id="14" name="Text 9"/>
          <p:cNvSpPr txBox="1"/>
          <p:nvPr/>
        </p:nvSpPr>
        <p:spPr>
          <a:xfrm>
            <a:off x="8129585" y="2642616"/>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Two IMUs</a:t>
            </a:r>
            <a:endParaRPr lang="en-US" sz="1700" dirty="0"/>
          </a:p>
        </p:txBody>
      </p:sp>
      <p:sp>
        <p:nvSpPr>
          <p:cNvPr id="15" name="Text 10"/>
          <p:cNvSpPr txBox="1"/>
          <p:nvPr/>
        </p:nvSpPr>
        <p:spPr>
          <a:xfrm>
            <a:off x="8129585" y="2990088"/>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MPU6050s at 200 Hz each, fused into one ride estimate</a:t>
            </a:r>
            <a:endParaRPr lang="en-US" sz="1400" dirty="0"/>
          </a:p>
        </p:txBody>
      </p:sp>
      <p:sp>
        <p:nvSpPr>
          <p:cNvPr id="16" name="Shape 11"/>
          <p:cNvSpPr/>
          <p:nvPr/>
        </p:nvSpPr>
        <p:spPr>
          <a:xfrm>
            <a:off x="7900985" y="3831336"/>
            <a:ext cx="3742070" cy="1115568"/>
          </a:xfrm>
          <a:prstGeom prst="roundRect">
            <a:avLst>
              <a:gd name="adj" fmla="val 9836"/>
            </a:avLst>
          </a:prstGeom>
          <a:solidFill>
            <a:srgbClr val="E8F0FA"/>
          </a:solidFill>
          <a:ln w="12700">
            <a:solidFill>
              <a:srgbClr val="E8F0FA"/>
            </a:solidFill>
            <a:prstDash val="solid"/>
          </a:ln>
        </p:spPr>
      </p:sp>
      <p:sp>
        <p:nvSpPr>
          <p:cNvPr id="17" name="Text 12"/>
          <p:cNvSpPr txBox="1"/>
          <p:nvPr/>
        </p:nvSpPr>
        <p:spPr>
          <a:xfrm>
            <a:off x="8129585" y="3941064"/>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link</a:t>
            </a:r>
            <a:endParaRPr lang="en-US" sz="1700" dirty="0"/>
          </a:p>
        </p:txBody>
      </p:sp>
      <p:sp>
        <p:nvSpPr>
          <p:cNvPr id="18" name="Text 13"/>
          <p:cNvSpPr txBox="1"/>
          <p:nvPr/>
        </p:nvSpPr>
        <p:spPr>
          <a:xfrm>
            <a:off x="8129585" y="4288536"/>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BMS read over Bluetooth Low Energy</a:t>
            </a:r>
            <a:endParaRPr lang="en-US" sz="1400" dirty="0"/>
          </a:p>
        </p:txBody>
      </p:sp>
      <p:sp>
        <p:nvSpPr>
          <p:cNvPr id="19" name="Shape 14"/>
          <p:cNvSpPr/>
          <p:nvPr/>
        </p:nvSpPr>
        <p:spPr>
          <a:xfrm>
            <a:off x="7900985" y="5129784"/>
            <a:ext cx="3742070" cy="1115568"/>
          </a:xfrm>
          <a:prstGeom prst="roundRect">
            <a:avLst>
              <a:gd name="adj" fmla="val 9836"/>
            </a:avLst>
          </a:prstGeom>
          <a:solidFill>
            <a:srgbClr val="E8F0FA"/>
          </a:solidFill>
          <a:ln w="12700">
            <a:solidFill>
              <a:srgbClr val="E8F0FA"/>
            </a:solidFill>
            <a:prstDash val="solid"/>
          </a:ln>
        </p:spPr>
      </p:sp>
      <p:sp>
        <p:nvSpPr>
          <p:cNvPr id="20" name="Text 15"/>
          <p:cNvSpPr txBox="1"/>
          <p:nvPr/>
        </p:nvSpPr>
        <p:spPr>
          <a:xfrm>
            <a:off x="8129585" y="5239512"/>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Camera</a:t>
            </a:r>
            <a:endParaRPr lang="en-US" sz="1700" dirty="0"/>
          </a:p>
        </p:txBody>
      </p:sp>
      <p:sp>
        <p:nvSpPr>
          <p:cNvPr id="21" name="Text 16"/>
          <p:cNvSpPr txBox="1"/>
          <p:nvPr/>
        </p:nvSpPr>
        <p:spPr>
          <a:xfrm>
            <a:off x="8129585" y="5586984"/>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Raspberry Pi 4 and OV5647, time-aligned by a sync-pulse wire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GPIO pulse to the Pi</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65960"/>
            <a:ext cx="2819095" cy="1280160"/>
          </a:xfrm>
          <a:prstGeom prst="roundRect">
            <a:avLst>
              <a:gd name="adj" fmla="val 7143"/>
            </a:avLst>
          </a:prstGeom>
          <a:solidFill>
            <a:srgbClr val="FFFFFF"/>
          </a:solidFill>
          <a:ln w="19050">
            <a:solidFill>
              <a:srgbClr val="1565C0"/>
            </a:solidFill>
            <a:prstDash val="solid"/>
          </a:ln>
        </p:spPr>
      </p:sp>
      <p:sp>
        <p:nvSpPr>
          <p:cNvPr id="41" name="Text 37"/>
          <p:cNvSpPr txBox="1"/>
          <p:nvPr/>
        </p:nvSpPr>
        <p:spPr>
          <a:xfrm>
            <a:off x="8659368" y="202082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50008"/>
            <a:ext cx="2599639" cy="84124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polling, MQTT publish, flash log</a:t>
            </a:r>
            <a:endParaRPr lang="en-US" sz="1200" dirty="0"/>
          </a:p>
        </p:txBody>
      </p:sp>
      <p:sp>
        <p:nvSpPr>
          <p:cNvPr id="43" name="Shape 39"/>
          <p:cNvSpPr/>
          <p:nvPr/>
        </p:nvSpPr>
        <p:spPr>
          <a:xfrm>
            <a:off x="8549640" y="3474720"/>
            <a:ext cx="2819095" cy="914400"/>
          </a:xfrm>
          <a:prstGeom prst="roundRect">
            <a:avLst>
              <a:gd name="adj" fmla="val 10000"/>
            </a:avLst>
          </a:prstGeom>
          <a:solidFill>
            <a:srgbClr val="FFFFFF"/>
          </a:solidFill>
          <a:ln w="19050">
            <a:solidFill>
              <a:srgbClr val="1565C0"/>
            </a:solidFill>
            <a:prstDash val="solid"/>
          </a:ln>
        </p:spPr>
      </p:sp>
      <p:sp>
        <p:nvSpPr>
          <p:cNvPr id="44" name="Text 40"/>
          <p:cNvSpPr txBox="1"/>
          <p:nvPr/>
        </p:nvSpPr>
        <p:spPr>
          <a:xfrm>
            <a:off x="8659368" y="35295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858768"/>
            <a:ext cx="2599639"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Text 42"/>
          <p:cNvSpPr txBox="1"/>
          <p:nvPr/>
        </p:nvSpPr>
        <p:spPr>
          <a:xfrm>
            <a:off x="8549640" y="4526280"/>
            <a:ext cx="2819095" cy="10972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The modem UART has no lock, so everything that talks to the modem stays in one task.</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depends on vehicle access and is the main outstanding 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5 to 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222 / 222</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AppData\Local\Temp\claude\c--Users-0geda-OneDrive---University-of-Cape-Town-Documents-PlatformIO-Projects\02999ba8-77fc-45f7-8817-da26b024fcdd\scratchpad\deck\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Equal-weight mean (inverse-variance weighting with equal noise)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Paired only if windows end within 500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Disagreement figure reported, not hidden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One-sensor fallback after 3 s of silence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5 / 5 boot self-tests passed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camera alignment and the cellular path</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80160"/>
            <a:ext cx="5364328" cy="4892040"/>
          </a:xfrm>
          <a:prstGeom prst="roundRect">
            <a:avLst>
              <a:gd name="adj" fmla="val 2243"/>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Camera to IMU alignment</a:t>
            </a:r>
            <a:endParaRPr lang="en-US" sz="2000" dirty="0"/>
          </a:p>
        </p:txBody>
      </p:sp>
      <p:sp>
        <p:nvSpPr>
          <p:cNvPr id="11" name="Text 7"/>
          <p:cNvSpPr txBox="1"/>
          <p:nvPr/>
        </p:nvSpPr>
        <p:spPr>
          <a:xfrm>
            <a:off x="868680" y="1965960"/>
            <a:ext cx="4724248" cy="914400"/>
          </a:xfrm>
          <a:prstGeom prst="rect">
            <a:avLst/>
          </a:prstGeom>
          <a:noFill/>
          <a:ln/>
        </p:spPr>
        <p:txBody>
          <a:bodyPr wrap="square" lIns="0" tIns="0" rIns="0" bIns="0" rtlCol="0" anchor="ctr"/>
          <a:lstStyle/>
          <a:p>
            <a:pPr indent="0" marL="0">
              <a:buNone/>
            </a:pPr>
            <a:r>
              <a:rPr lang="en-US" sz="4800" b="1" dirty="0">
                <a:solidFill>
                  <a:srgbClr val="1565C0"/>
                </a:solidFill>
                <a:latin typeface="Calibri" pitchFamily="34" charset="0"/>
                <a:ea typeface="Calibri" pitchFamily="34" charset="-122"/>
                <a:cs typeface="Calibri" pitchFamily="34" charset="-120"/>
              </a:rPr>
              <a:t>&lt; 1 s</a:t>
            </a:r>
            <a:endParaRPr lang="en-US" sz="4800" dirty="0"/>
          </a:p>
        </p:txBody>
      </p:sp>
      <p:sp>
        <p:nvSpPr>
          <p:cNvPr id="12" name="Text 8"/>
          <p:cNvSpPr txBox="1"/>
          <p:nvPr/>
        </p:nvSpPr>
        <p:spPr>
          <a:xfrm>
            <a:off x="868680" y="2926080"/>
            <a:ext cx="4724248" cy="457200"/>
          </a:xfrm>
          <a:prstGeom prst="rect">
            <a:avLst/>
          </a:prstGeom>
          <a:noFill/>
          <a:ln/>
        </p:spPr>
        <p:txBody>
          <a:bodyPr wrap="square" lIns="0" tIns="0" rIns="0" bIns="0" rtlCol="0" anchor="ctr"/>
          <a:lstStyle/>
          <a:p>
            <a:pPr indent="0" marL="0">
              <a:buNone/>
            </a:pPr>
            <a:r>
              <a:rPr lang="en-US" sz="1600" dirty="0">
                <a:solidFill>
                  <a:srgbClr val="4A5566"/>
                </a:solidFill>
                <a:latin typeface="Calibri" pitchFamily="34" charset="0"/>
                <a:ea typeface="Calibri" pitchFamily="34" charset="-122"/>
                <a:cs typeface="Calibri" pitchFamily="34" charset="-120"/>
              </a:rPr>
              <a:t>offset between camera frames and IMU data</a:t>
            </a:r>
            <a:endParaRPr lang="en-US" sz="1600" dirty="0"/>
          </a:p>
        </p:txBody>
      </p:sp>
      <p:sp>
        <p:nvSpPr>
          <p:cNvPr id="13" name="Text 9"/>
          <p:cNvSpPr txBox="1"/>
          <p:nvPr/>
        </p:nvSpPr>
        <p:spPr>
          <a:xfrm>
            <a:off x="868680" y="3520440"/>
            <a:ext cx="4724248"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15 s combined test: 439 frames (about 29 fps) and 33 sync edges (2 Hz pulse)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Adequate for labelling ride events after the fact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 tighter bound would need an optical check driven from the sync pin</a:t>
            </a:r>
            <a:endParaRPr lang="en-US" sz="1600" dirty="0"/>
          </a:p>
        </p:txBody>
      </p:sp>
      <p:sp>
        <p:nvSpPr>
          <p:cNvPr id="14" name="Shape 10"/>
          <p:cNvSpPr/>
          <p:nvPr/>
        </p:nvSpPr>
        <p:spPr>
          <a:xfrm>
            <a:off x="6278728" y="1280160"/>
            <a:ext cx="5364328" cy="4892040"/>
          </a:xfrm>
          <a:prstGeom prst="roundRect">
            <a:avLst>
              <a:gd name="adj" fmla="val 2243"/>
            </a:avLst>
          </a:prstGeom>
          <a:solidFill>
            <a:srgbClr val="E8F0FA"/>
          </a:solidFill>
          <a:ln w="12700">
            <a:solidFill>
              <a:srgbClr val="E8F0FA"/>
            </a:solidFill>
            <a:prstDash val="solid"/>
          </a:ln>
        </p:spPr>
      </p:sp>
      <p:sp>
        <p:nvSpPr>
          <p:cNvPr id="15" name="Text 11"/>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Cellular publish path</a:t>
            </a:r>
            <a:endParaRPr lang="en-US" sz="2000" dirty="0"/>
          </a:p>
        </p:txBody>
      </p:sp>
      <p:sp>
        <p:nvSpPr>
          <p:cNvPr id="16" name="Text 12"/>
          <p:cNvSpPr txBox="1"/>
          <p:nvPr/>
        </p:nvSpPr>
        <p:spPr>
          <a:xfrm>
            <a:off x="6598768" y="1965960"/>
            <a:ext cx="4724248" cy="91440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Acknowledged</a:t>
            </a:r>
            <a:endParaRPr lang="en-US" sz="4000" dirty="0"/>
          </a:p>
        </p:txBody>
      </p:sp>
      <p:sp>
        <p:nvSpPr>
          <p:cNvPr id="17" name="Text 13"/>
          <p:cNvSpPr txBox="1"/>
          <p:nvPr/>
        </p:nvSpPr>
        <p:spPr>
          <a:xfrm>
            <a:off x="6598768" y="2926080"/>
            <a:ext cx="4724248" cy="457200"/>
          </a:xfrm>
          <a:prstGeom prst="rect">
            <a:avLst/>
          </a:prstGeom>
          <a:noFill/>
          <a:ln/>
        </p:spPr>
        <p:txBody>
          <a:bodyPr wrap="square" lIns="0" tIns="0" rIns="0" bIns="0" rtlCol="0" anchor="ctr"/>
          <a:lstStyle/>
          <a:p>
            <a:pPr indent="0" marL="0">
              <a:buNone/>
            </a:pPr>
            <a:r>
              <a:rPr lang="en-US" sz="1600" dirty="0">
                <a:solidFill>
                  <a:srgbClr val="4A5566"/>
                </a:solidFill>
                <a:latin typeface="Calibri" pitchFamily="34" charset="0"/>
                <a:ea typeface="Calibri" pitchFamily="34" charset="-122"/>
                <a:cs typeface="Calibri" pitchFamily="34" charset="-120"/>
              </a:rPr>
              <a:t>SIM, registration, data context, MQTT connect, publish</a:t>
            </a:r>
            <a:endParaRPr lang="en-US" sz="1600" dirty="0"/>
          </a:p>
        </p:txBody>
      </p:sp>
      <p:sp>
        <p:nvSpPr>
          <p:cNvPr id="18" name="Text 14"/>
          <p:cNvSpPr txBox="1"/>
          <p:nvPr/>
        </p:nvSpPr>
        <p:spPr>
          <a:xfrm>
            <a:off x="6598768" y="3520440"/>
            <a:ext cx="4724248"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Tested end to end on real hardware against a public test broker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Registration was intermittent: the mechanism works, reliability on the vehicle is untested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Local log on the 16 MB internal flash keeps a full record without coverage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5410048" cy="1481328"/>
          </a:xfrm>
          <a:prstGeom prst="roundRect">
            <a:avLst>
              <a:gd name="adj" fmla="val 7407"/>
            </a:avLst>
          </a:prstGeom>
          <a:solidFill>
            <a:srgbClr val="E8F0FA"/>
          </a:solidFill>
          <a:ln w="12700">
            <a:solidFill>
              <a:srgbClr val="E8F0FA"/>
            </a:solidFill>
            <a:prstDash val="solid"/>
          </a:ln>
        </p:spPr>
      </p:sp>
      <p:sp>
        <p:nvSpPr>
          <p:cNvPr id="10" name="Text 6"/>
          <p:cNvSpPr txBox="1"/>
          <p:nvPr/>
        </p:nvSpPr>
        <p:spPr>
          <a:xfrm>
            <a:off x="822960" y="1417320"/>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GNSS reply format</a:t>
            </a:r>
            <a:endParaRPr lang="en-US" sz="1800" dirty="0"/>
          </a:p>
        </p:txBody>
      </p:sp>
      <p:sp>
        <p:nvSpPr>
          <p:cNvPr id="11" name="Text 7"/>
          <p:cNvSpPr txBox="1"/>
          <p:nvPr/>
        </p:nvSpPr>
        <p:spPr>
          <a:xfrm>
            <a:off x="822960" y="1828800"/>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Assumed 13 fields, measured 9; the manual documents 16, with speed in knots. The field-count check caught it.</a:t>
            </a:r>
            <a:endParaRPr lang="en-US" sz="1500" dirty="0"/>
          </a:p>
        </p:txBody>
      </p:sp>
      <p:sp>
        <p:nvSpPr>
          <p:cNvPr id="12" name="Shape 8"/>
          <p:cNvSpPr/>
          <p:nvPr/>
        </p:nvSpPr>
        <p:spPr>
          <a:xfrm>
            <a:off x="6233008" y="1280160"/>
            <a:ext cx="5410048" cy="1481328"/>
          </a:xfrm>
          <a:prstGeom prst="roundRect">
            <a:avLst>
              <a:gd name="adj" fmla="val 7407"/>
            </a:avLst>
          </a:prstGeom>
          <a:solidFill>
            <a:srgbClr val="E8F0FA"/>
          </a:solidFill>
          <a:ln w="12700">
            <a:solidFill>
              <a:srgbClr val="E8F0FA"/>
            </a:solidFill>
            <a:prstDash val="solid"/>
          </a:ln>
        </p:spPr>
      </p:sp>
      <p:sp>
        <p:nvSpPr>
          <p:cNvPr id="13" name="Text 9"/>
          <p:cNvSpPr txBox="1"/>
          <p:nvPr/>
        </p:nvSpPr>
        <p:spPr>
          <a:xfrm>
            <a:off x="6507328" y="1417320"/>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Battery (BLE) lookup</a:t>
            </a:r>
            <a:endParaRPr lang="en-US" sz="1800" dirty="0"/>
          </a:p>
        </p:txBody>
      </p:sp>
      <p:sp>
        <p:nvSpPr>
          <p:cNvPr id="14" name="Text 10"/>
          <p:cNvSpPr txBox="1"/>
          <p:nvPr/>
        </p:nvSpPr>
        <p:spPr>
          <a:xfrm>
            <a:off x="6507328" y="1828800"/>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Wrong parent-service assumption; now searches all services. Decoding matched an independent parser byte for byte.</a:t>
            </a:r>
            <a:endParaRPr lang="en-US" sz="1500" dirty="0"/>
          </a:p>
        </p:txBody>
      </p:sp>
      <p:sp>
        <p:nvSpPr>
          <p:cNvPr id="15" name="Shape 11"/>
          <p:cNvSpPr/>
          <p:nvPr/>
        </p:nvSpPr>
        <p:spPr>
          <a:xfrm>
            <a:off x="548640" y="2990088"/>
            <a:ext cx="5410048" cy="1481328"/>
          </a:xfrm>
          <a:prstGeom prst="roundRect">
            <a:avLst>
              <a:gd name="adj" fmla="val 7407"/>
            </a:avLst>
          </a:prstGeom>
          <a:solidFill>
            <a:srgbClr val="E8F0FA"/>
          </a:solidFill>
          <a:ln w="12700">
            <a:solidFill>
              <a:srgbClr val="E8F0FA"/>
            </a:solidFill>
            <a:prstDash val="solid"/>
          </a:ln>
        </p:spPr>
      </p:sp>
      <p:sp>
        <p:nvSpPr>
          <p:cNvPr id="16" name="Text 12"/>
          <p:cNvSpPr txBox="1"/>
          <p:nvPr/>
        </p:nvSpPr>
        <p:spPr>
          <a:xfrm>
            <a:off x="822960" y="3127248"/>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microSD not wired</a:t>
            </a:r>
            <a:endParaRPr lang="en-US" sz="1800" dirty="0"/>
          </a:p>
        </p:txBody>
      </p:sp>
      <p:sp>
        <p:nvSpPr>
          <p:cNvPr id="17" name="Text 13"/>
          <p:cNvSpPr txBox="1"/>
          <p:nvPr/>
        </p:nvSpPr>
        <p:spPr>
          <a:xfrm>
            <a:off x="822960" y="3538728"/>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Chip-select resistor R23 is not fitted, so logging moved to LittleFS on internal flash.</a:t>
            </a:r>
            <a:endParaRPr lang="en-US" sz="1500" dirty="0"/>
          </a:p>
        </p:txBody>
      </p:sp>
      <p:sp>
        <p:nvSpPr>
          <p:cNvPr id="18" name="Shape 14"/>
          <p:cNvSpPr/>
          <p:nvPr/>
        </p:nvSpPr>
        <p:spPr>
          <a:xfrm>
            <a:off x="6233008" y="2990088"/>
            <a:ext cx="5410048" cy="1481328"/>
          </a:xfrm>
          <a:prstGeom prst="roundRect">
            <a:avLst>
              <a:gd name="adj" fmla="val 7407"/>
            </a:avLst>
          </a:prstGeom>
          <a:solidFill>
            <a:srgbClr val="E8F0FA"/>
          </a:solidFill>
          <a:ln w="12700">
            <a:solidFill>
              <a:srgbClr val="E8F0FA"/>
            </a:solidFill>
            <a:prstDash val="solid"/>
          </a:ln>
        </p:spPr>
      </p:sp>
      <p:sp>
        <p:nvSpPr>
          <p:cNvPr id="19" name="Text 15"/>
          <p:cNvSpPr txBox="1"/>
          <p:nvPr/>
        </p:nvSpPr>
        <p:spPr>
          <a:xfrm>
            <a:off x="6507328" y="3127248"/>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Boot loop</a:t>
            </a:r>
            <a:endParaRPr lang="en-US" sz="1800" dirty="0"/>
          </a:p>
        </p:txBody>
      </p:sp>
      <p:sp>
        <p:nvSpPr>
          <p:cNvPr id="20" name="Text 16"/>
          <p:cNvSpPr txBox="1"/>
          <p:nvPr/>
        </p:nvSpPr>
        <p:spPr>
          <a:xfrm>
            <a:off x="6507328" y="3538728"/>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Flash size did not match the 16 MB partition table; set to 16 MB, DIO mode.</a:t>
            </a:r>
            <a:endParaRPr lang="en-US" sz="1500" dirty="0"/>
          </a:p>
        </p:txBody>
      </p:sp>
      <p:sp>
        <p:nvSpPr>
          <p:cNvPr id="21" name="Shape 17"/>
          <p:cNvSpPr/>
          <p:nvPr/>
        </p:nvSpPr>
        <p:spPr>
          <a:xfrm>
            <a:off x="548640" y="4700016"/>
            <a:ext cx="11094415" cy="1234440"/>
          </a:xfrm>
          <a:prstGeom prst="roundRect">
            <a:avLst>
              <a:gd name="adj" fmla="val 8889"/>
            </a:avLst>
          </a:prstGeom>
          <a:solidFill>
            <a:srgbClr val="FFFFFF"/>
          </a:solidFill>
          <a:ln w="25400">
            <a:solidFill>
              <a:srgbClr val="D4700C"/>
            </a:solidFill>
            <a:prstDash val="dash"/>
          </a:ln>
        </p:spPr>
      </p:sp>
      <p:sp>
        <p:nvSpPr>
          <p:cNvPr id="22" name="Text 18"/>
          <p:cNvSpPr txBox="1"/>
          <p:nvPr/>
        </p:nvSpPr>
        <p:spPr>
          <a:xfrm>
            <a:off x="822960" y="4837176"/>
            <a:ext cx="2743200" cy="384048"/>
          </a:xfrm>
          <a:prstGeom prst="rect">
            <a:avLst/>
          </a:prstGeom>
          <a:noFill/>
          <a:ln/>
        </p:spPr>
        <p:txBody>
          <a:bodyPr wrap="square" lIns="0" tIns="0" rIns="0" bIns="0" rtlCol="0" anchor="ctr"/>
          <a:lstStyle/>
          <a:p>
            <a:pPr indent="0" marL="0">
              <a:buNone/>
            </a:pPr>
            <a:r>
              <a:rPr lang="en-US" sz="1800" b="1" dirty="0">
                <a:solidFill>
                  <a:srgbClr val="D4700C"/>
                </a:solidFill>
                <a:latin typeface="Calibri" pitchFamily="34" charset="0"/>
                <a:ea typeface="Calibri" pitchFamily="34" charset="-122"/>
                <a:cs typeface="Calibri" pitchFamily="34" charset="-120"/>
              </a:rPr>
              <a:t>Open finding</a:t>
            </a:r>
            <a:endParaRPr lang="en-US" sz="1800" dirty="0"/>
          </a:p>
        </p:txBody>
      </p:sp>
      <p:sp>
        <p:nvSpPr>
          <p:cNvPr id="23" name="Text 19"/>
          <p:cNvSpPr txBox="1"/>
          <p:nvPr/>
        </p:nvSpPr>
        <p:spPr>
          <a:xfrm>
            <a:off x="822960" y="5230368"/>
            <a:ext cx="10545775" cy="6400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Flash writes line up with 25 to 30 ms gaps on both IMUs every 12 s (nominal 5 ms). No samples lost. To confirm: one session with logging disabled.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casing and hazard awareness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AppData\Local\Temp\claude\c--Users-0geda-OneDrive---University-of-Cape-Town-Documents-PlatformIO-Projects\02999ba8-77fc-45f7-8817-da26b024fcdd\scratchpad\deck\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3D-printed casing</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Designed and printed in this project: shell, cover and 30-degree corner mount. A second casing holds a second camera. Not yet fixed to the vehicle.</a:t>
            </a:r>
            <a:endParaRPr lang="en-US" sz="14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detector</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Pretrained 8-bit SSD-MobileNet sized for the Pi 4: a few object types in three distance bands. Implemented, not yet run on live data.</a:t>
            </a:r>
            <a:endParaRPr lang="en-US" sz="14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Time-of-flight sensor</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VL53L5CX, 8x8 zones over 63 degrees, up to 4 m, for left, centre and right alerts. Sourced, awaiting delivery.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Field test on the TUKZIE Rev 0</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sp>
        <p:nvSpPr>
          <p:cNvPr id="9" name="Shape 5"/>
          <p:cNvSpPr/>
          <p:nvPr/>
        </p:nvSpPr>
        <p:spPr>
          <a:xfrm>
            <a:off x="548640" y="1280160"/>
            <a:ext cx="11094415" cy="4892040"/>
          </a:xfrm>
          <a:prstGeom prst="roundRect">
            <a:avLst>
              <a:gd name="adj" fmla="val 2243"/>
            </a:avLst>
          </a:prstGeom>
          <a:solidFill>
            <a:srgbClr val="FFFFFF"/>
          </a:solidFill>
          <a:ln w="31750">
            <a:solidFill>
              <a:srgbClr val="D4700C"/>
            </a:solidFill>
            <a:prstDash val="dash"/>
          </a:ln>
        </p:spPr>
      </p:sp>
      <p:sp>
        <p:nvSpPr>
          <p:cNvPr id="10" name="Text 6"/>
          <p:cNvSpPr txBox="1"/>
          <p:nvPr/>
        </p:nvSpPr>
        <p:spPr>
          <a:xfrm>
            <a:off x="914400" y="1463040"/>
            <a:ext cx="10362895" cy="502920"/>
          </a:xfrm>
          <a:prstGeom prst="rect">
            <a:avLst/>
          </a:prstGeom>
          <a:noFill/>
          <a:ln/>
        </p:spPr>
        <p:txBody>
          <a:bodyPr wrap="square" lIns="0" tIns="0" rIns="0" bIns="0" rtlCol="0" anchor="ctr"/>
          <a:lstStyle/>
          <a:p>
            <a:pPr indent="0" marL="0">
              <a:buNone/>
            </a:pPr>
            <a:r>
              <a:rPr lang="en-US" sz="2400" b="1" dirty="0">
                <a:solidFill>
                  <a:srgbClr val="D4700C"/>
                </a:solidFill>
                <a:latin typeface="Calibri" pitchFamily="34" charset="0"/>
                <a:ea typeface="Calibri" pitchFamily="34" charset="-122"/>
                <a:cs typeface="Calibri" pitchFamily="34" charset="-120"/>
              </a:rPr>
              <a:t>To be completed after the on-vehicle test</a:t>
            </a:r>
            <a:endParaRPr lang="en-US" sz="2400" dirty="0"/>
          </a:p>
        </p:txBody>
      </p:sp>
      <p:sp>
        <p:nvSpPr>
          <p:cNvPr id="11" name="Shape 7"/>
          <p:cNvSpPr/>
          <p:nvPr/>
        </p:nvSpPr>
        <p:spPr>
          <a:xfrm>
            <a:off x="914400" y="2194560"/>
            <a:ext cx="5044288" cy="1691640"/>
          </a:xfrm>
          <a:prstGeom prst="roundRect">
            <a:avLst>
              <a:gd name="adj" fmla="val 6486"/>
            </a:avLst>
          </a:prstGeom>
          <a:solidFill>
            <a:srgbClr val="E8F0FA"/>
          </a:solidFill>
          <a:ln w="12700">
            <a:solidFill>
              <a:srgbClr val="E8F0FA"/>
            </a:solidFill>
            <a:prstDash val="solid"/>
          </a:ln>
        </p:spPr>
      </p:sp>
      <p:sp>
        <p:nvSpPr>
          <p:cNvPr id="12" name="Text 8"/>
          <p:cNvSpPr txBox="1"/>
          <p:nvPr/>
        </p:nvSpPr>
        <p:spPr>
          <a:xfrm>
            <a:off x="1188720" y="237744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RQ4</a:t>
            </a:r>
            <a:endParaRPr lang="en-US" sz="2200" dirty="0"/>
          </a:p>
        </p:txBody>
      </p:sp>
      <p:sp>
        <p:nvSpPr>
          <p:cNvPr id="13" name="Text 9"/>
          <p:cNvSpPr txBox="1"/>
          <p:nvPr/>
        </p:nvSpPr>
        <p:spPr>
          <a:xfrm>
            <a:off x="1188720" y="288036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Ride features against known road and powertrain events</a:t>
            </a:r>
            <a:endParaRPr lang="en-US" sz="1700" dirty="0"/>
          </a:p>
        </p:txBody>
      </p:sp>
      <p:sp>
        <p:nvSpPr>
          <p:cNvPr id="14" name="Shape 10"/>
          <p:cNvSpPr/>
          <p:nvPr/>
        </p:nvSpPr>
        <p:spPr>
          <a:xfrm>
            <a:off x="6233008" y="2194560"/>
            <a:ext cx="5044288" cy="1691640"/>
          </a:xfrm>
          <a:prstGeom prst="roundRect">
            <a:avLst>
              <a:gd name="adj" fmla="val 6486"/>
            </a:avLst>
          </a:prstGeom>
          <a:solidFill>
            <a:srgbClr val="E8F0FA"/>
          </a:solidFill>
          <a:ln w="12700">
            <a:solidFill>
              <a:srgbClr val="E8F0FA"/>
            </a:solidFill>
            <a:prstDash val="solid"/>
          </a:ln>
        </p:spPr>
      </p:sp>
      <p:sp>
        <p:nvSpPr>
          <p:cNvPr id="15" name="Text 11"/>
          <p:cNvSpPr txBox="1"/>
          <p:nvPr/>
        </p:nvSpPr>
        <p:spPr>
          <a:xfrm>
            <a:off x="6507328" y="237744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RQ3</a:t>
            </a:r>
            <a:endParaRPr lang="en-US" sz="2200" dirty="0"/>
          </a:p>
        </p:txBody>
      </p:sp>
      <p:sp>
        <p:nvSpPr>
          <p:cNvPr id="16" name="Text 12"/>
          <p:cNvSpPr txBox="1"/>
          <p:nvPr/>
        </p:nvSpPr>
        <p:spPr>
          <a:xfrm>
            <a:off x="6507328" y="288036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Latency, data loss and recovery over LTE while moving</a:t>
            </a:r>
            <a:endParaRPr lang="en-US" sz="1700" dirty="0"/>
          </a:p>
        </p:txBody>
      </p:sp>
      <p:sp>
        <p:nvSpPr>
          <p:cNvPr id="17" name="Shape 13"/>
          <p:cNvSpPr/>
          <p:nvPr/>
        </p:nvSpPr>
        <p:spPr>
          <a:xfrm>
            <a:off x="914400" y="4114800"/>
            <a:ext cx="5044288" cy="1691640"/>
          </a:xfrm>
          <a:prstGeom prst="roundRect">
            <a:avLst>
              <a:gd name="adj" fmla="val 6486"/>
            </a:avLst>
          </a:prstGeom>
          <a:solidFill>
            <a:srgbClr val="E8F0FA"/>
          </a:solidFill>
          <a:ln w="12700">
            <a:solidFill>
              <a:srgbClr val="E8F0FA"/>
            </a:solidFill>
            <a:prstDash val="solid"/>
          </a:ln>
        </p:spPr>
      </p:sp>
      <p:sp>
        <p:nvSpPr>
          <p:cNvPr id="18" name="Text 14"/>
          <p:cNvSpPr txBox="1"/>
          <p:nvPr/>
        </p:nvSpPr>
        <p:spPr>
          <a:xfrm>
            <a:off x="1188720" y="429768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RQ2</a:t>
            </a:r>
            <a:endParaRPr lang="en-US" sz="2200" dirty="0"/>
          </a:p>
        </p:txBody>
      </p:sp>
      <p:sp>
        <p:nvSpPr>
          <p:cNvPr id="19" name="Text 15"/>
          <p:cNvSpPr txBox="1"/>
          <p:nvPr/>
        </p:nvSpPr>
        <p:spPr>
          <a:xfrm>
            <a:off x="1188720" y="480060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HUD layout and glance observation</a:t>
            </a:r>
            <a:endParaRPr lang="en-US" sz="1700" dirty="0"/>
          </a:p>
        </p:txBody>
      </p:sp>
      <p:sp>
        <p:nvSpPr>
          <p:cNvPr id="20" name="Shape 16"/>
          <p:cNvSpPr/>
          <p:nvPr/>
        </p:nvSpPr>
        <p:spPr>
          <a:xfrm>
            <a:off x="6233008" y="4114800"/>
            <a:ext cx="5044288" cy="1691640"/>
          </a:xfrm>
          <a:prstGeom prst="roundRect">
            <a:avLst>
              <a:gd name="adj" fmla="val 6486"/>
            </a:avLst>
          </a:prstGeom>
          <a:solidFill>
            <a:srgbClr val="E8F0FA"/>
          </a:solidFill>
          <a:ln w="12700">
            <a:solidFill>
              <a:srgbClr val="E8F0FA"/>
            </a:solidFill>
            <a:prstDash val="solid"/>
          </a:ln>
        </p:spPr>
      </p:sp>
      <p:sp>
        <p:nvSpPr>
          <p:cNvPr id="21" name="Text 17"/>
          <p:cNvSpPr txBox="1"/>
          <p:nvPr/>
        </p:nvSpPr>
        <p:spPr>
          <a:xfrm>
            <a:off x="6507328" y="429768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GNSS</a:t>
            </a:r>
            <a:endParaRPr lang="en-US" sz="2200" dirty="0"/>
          </a:p>
        </p:txBody>
      </p:sp>
      <p:sp>
        <p:nvSpPr>
          <p:cNvPr id="22" name="Text 18"/>
          <p:cNvSpPr txBox="1"/>
          <p:nvPr/>
        </p:nvSpPr>
        <p:spPr>
          <a:xfrm>
            <a:off x="6507328" y="480060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First outdoor fix: confirms field order and speed units, enables the speed-normalised index</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All subsystems running together on the target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200 Hz dual-IMU acquisition, calibrated and fused live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Acknowledged MQTT publish over LTE, plus a local flash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aligned to IMU data within 1 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Faults found early by testing each stage on real hardware</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Recalibrate both IMUs while stationary</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On-vehicle field test with the TUKZIE team</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Confirm the flash-write stall with logging disabled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Integrate the VL53L5CX and SEN55 sensors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Build and evaluate the HUD</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Embedded telemetry unit and windshield HUD for the TUKZIE Rev 0</dc:title>
  <dc:subject>PptxGenJS Presentation</dc:subject>
  <dc:creator>Samson Okuthe</dc:creator>
  <cp:lastModifiedBy>Samson Okuthe</cp:lastModifiedBy>
  <cp:revision>1</cp:revision>
  <dcterms:created xsi:type="dcterms:W3CDTF">2026-09-25T14:54:28Z</dcterms:created>
  <dcterms:modified xsi:type="dcterms:W3CDTF">2026-09-25T14:54:28Z</dcterms:modified>
</cp:coreProperties>
</file>