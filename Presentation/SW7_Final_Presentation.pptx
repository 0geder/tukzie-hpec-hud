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I'm Samson Okuthe, and my project is SW-7, supervised by Associate Professor Simon Winberg with Sampath Jayalath as co-supervisor. It is part of the TUKZIE programme, which is building a 72 volt electric cargo trike for last-mile freight. My part is the on-board electronics: a telemetry unit that measures how the trike rides, and a way of showing the driver only what matters for safety. In the next ten minutes I'll cover why this is needed, how I built and tested it, what the results show, and what is left.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facts frame the project. First, electric trikes can make economic sense for freight in African cities: on the routes a 2025 study examined in Dar es Salaam, an electric cargo tricycle cut operating cost per kilometre by 45.5 percent against a motorcycle and up to 86 percent against a light car. Second, anything that pulls the driver's eyes off the road is a risk. NHTSA guidance says a single glance away should not exceed two seconds, so the driver should see only short, safety-relevant alerts. The open problem is bringing edge telemetry and that kind of sparse driver information together on a low-cost trike, and measuring whether each part works.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aim is a low-cost unit that characterises the trike's ride at the edge and gives the driver only safety-relevant information. I split that into four research questions, and I've marked honestly where each one stands. RQ1, two IMUs at 200 hertz agreeing within noise, is verified on the bench. RQ3, bounded latency, measured data loss and recovery, is also verified on the bench: no dropped samples, a measured camera latency, and automatic recovery after the signal is cut. It still needs the moving vehicle. RQ4, separating road from powertrain vibration, passes its self-tests but needs road data. RQ2 was revised during the project. The trike already has a dashboard that shows what a HUD would show, and a second display adds distraction, so the camera's alerts now go on that dashboard instead.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whole system on the bench. The telemetry unit is an ESP32-S3 on a Makerfabs board with a built-in A7670X LTE modem, which also gives GNSS. Two MPU6050 IMUs are sampled at 200 hertz each, the battery management system is read over Bluetooth Low Energy, and a hardware counter is ready for the motor's Hall sensor. On the camera side, a Raspberry Pi 4 runs the object detector, and three time-of-flight distance sensors facing left, ahead and right. The two boards share one wire: the ESP32 sends a pulse every half second that the Pi logs, so camera and IMU data can be lined up in time. I use the Pi 4 rather than the team's Pi 5, so the dashboard running on the Pi 5 is not disturbed.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firmware runs on FreeRTOS and is split across the two cores. Core 1 holds everything timing-critical: one task per IMU at the highest priority, each holding a 5 millisecond period with vTaskDelayUntil so the rate cannot drift. The acquisition tasks never print or block. They time-stamp each sample with a microsecond clock and push it into a bounded queue; if a queue is full the sample is dropped and counted, so a slow consumer can never stall acquisition. Core 0 handles the slow, blocking work: the modem, GNSS, MQTT and the flash log in one task, because the modem's serial line has no lock, plus the battery link and the Hall counter, which counts pulses in hardware.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My method was staged verification. Each interface was brought up on its own on the real board, with a pass criterion written down before the test, before anything was built on top of it. Then both IMUs at 200 hertz, calibrated against gravity. Then the ride features and the fusion, each with a self-test at boot. Then the local log and the LTE publish. The last stage, validation on the moving vehicle, is still to come, and it's drawn dashed for that reason. This order paid off: most of the faults I'll show shortly would have been very hard to trace if I'd integrated everything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First results. Both IMUs run at 200 hertz with zero dropped samples, and the drop counters prove that rather than assuming it. Two identical accelerometers disagreed by about 8 percent at rest; a per-sensor calibration against gravity brought that down to noise. The two are then fused. With equal noise on both, inverse-variance weighting reduces to the mean. Windows are paired only if they end within half a window of each other, a disagreement figure is reported rather than hidden, and if one sensor goes silent for three seconds the output falls back to the other. In this recorded 150 second session all 149 windows were fused from both sensors with under a millisecond of skew. One honest finding: the calibration only holds in the orientation it was taken in, so it will be redone once the sensors are mounted on the trike.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Testing each stage on real hardware against a stated pass criterion found six faults that assumptions had hidden. The GNSS reply had a different layout from the one assumed, so the first outdoor fix put the trike in the sea; the parser now anchors on the hemisphere letter. The modem was switching itself off after every reprogramming, because its power key toggles. The battery checksum included one byte too many, so every real frame failed by exactly three. Flash writes stalled both IMUs; I proved it by switching the log off, and the log is now buffered and written six times less often. Reading the log back showed most records were invalid JSON. And the pink camera image came from a module with no infrared filter, which I showed by comparing tuning files on the same scene.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more bench results. Timing: the Pi now takes each sync edge's time from the kernel, and over 121 edges the median interval was 500.06 milliseconds with a spread under 0.7 milliseconds, so the camera and IMU clocks can be related precisely. A loose jumper twice produced false edges, so the vehicle needs a latched connector. Position: on a rooftop, 104 fixes were a median of 2.7 metres from a phone's position, and 95 percent within 11 metres. Cellular: 47 of 47 publishes were acknowledged. When I cut the radio for 60 seconds, the firmware detected the loss in under a second and reconnected about 5 seconds after the signal came back. Every record is also logged to flash, and all 6,020 stored records were read back.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camera's role grew, on supervisor direction, from a visual record to hazard awareness. I designed and 3D printed the three-part casing on the left, with a 30 degree corner mount. The detector is a pretrained 8-bit SSD-MobileNet sized for the Pi 4, with no training of my own. Using all four cores it runs at 19.5 frames per second, with a median of 102 milliseconds from the sensor to a result. With the three-frame debounce an alert comes about 0.2 seconds after an object appears, about 1.7 metres at 30 kilometres per hour. An alert clears only after five empty frames, which stopped one person producing 16 alerts in 47 seconds. Only five fields are logged and no frame is stored. For close range, three time-of-flight sensors stand in until the 8 by 8 zone sensor arrives.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where RQ2 now lands. Instead of a separate windshield display, I wrote a camera page for the dashboard the TUKZIE team already runs. Three reasons: that dashboard already carries what a HUD would show, two displays compete for the driver's attention, and the programme's move towards autonomy makes the camera's alerts more useful than a second screen. The page shows the live view and the active alerts in the dashboard's own status colours. Tested against the live camera, it showed video 0.6 seconds after opening, listed this person alert half a second after opening, and switched to an offline state within a second of the camera stopping. The glance-time question is still open, and so is running it on the dashboard's own Pi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conclude. Every subsystem runs together on the target board: two IMUs at 200 hertz with no loss, calibrated and fused; GNSS within about 3 metres; the battery read over Bluetooth; a cellular link that recovers by itself; a full local log; and camera alerts in about a tenth of a second, shown on the existing dashboard. Each fault was found by a test with a stated pass criterion, then fixed and tested again. What's left is the vehicle: mount and recalibrate the unit in place, then the field test that answers the ride and latency questions on the move, calibrate the camera's distance bands, and fit the zoned distance and air-quality sensors when they arrive. Thank you, I'm happy to take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4305C"/>
        </a:solidFill>
      </p:bgPr>
    </p:bg>
    <p:spTree>
      <p:nvGrpSpPr>
        <p:cNvPr id="1" name=""/>
        <p:cNvGrpSpPr/>
        <p:nvPr/>
      </p:nvGrpSpPr>
      <p:grpSpPr>
        <a:xfrm>
          <a:off x="0" y="0"/>
          <a:ext cx="0" cy="0"/>
          <a:chOff x="0" y="0"/>
          <a:chExt cx="0" cy="0"/>
        </a:xfrm>
      </p:grpSpPr>
      <p:pic>
        <p:nvPicPr>
          <p:cNvPr id="2" name="Image 0" descr="C:\Users\0geda\OneDrive - University of Cape Town\Documents\PlatformIO\Projects\Tukzie-HPEC-HUD\Presentation\source\assets\uct_banner.jpg">    </p:cNvPr>
          <p:cNvPicPr>
            <a:picLocks noChangeAspect="1"/>
          </p:cNvPicPr>
          <p:nvPr/>
        </p:nvPicPr>
        <p:blipFill>
          <a:blip r:embed="rId1"/>
          <a:srcRect l="0" r="0" t="0" b="0"/>
          <a:stretch/>
        </p:blipFill>
        <p:spPr>
          <a:xfrm>
            <a:off x="0" y="0"/>
            <a:ext cx="12191695" cy="6858000"/>
          </a:xfrm>
          <a:prstGeom prst="rect">
            <a:avLst/>
          </a:prstGeom>
        </p:spPr>
      </p:pic>
      <p:sp>
        <p:nvSpPr>
          <p:cNvPr id="4" name="Text 0"/>
          <p:cNvSpPr txBox="1"/>
          <p:nvPr/>
        </p:nvSpPr>
        <p:spPr>
          <a:xfrm>
            <a:off x="548640" y="320040"/>
            <a:ext cx="11094415" cy="365760"/>
          </a:xfrm>
          <a:prstGeom prst="rect">
            <a:avLst/>
          </a:prstGeom>
          <a:noFill/>
          <a:ln/>
          <a:effectLst>
            <a:outerShdw sx="100000" sy="100000" kx="0" ky="0" algn="bl" rotWithShape="0" blurRad="76200" dist="25400" dir="2700000">
              <a:srgbClr val="000000">
                <a:alpha val="60000"/>
              </a:srgbClr>
            </a:outerShdw>
          </a:effectLst>
        </p:spPr>
        <p:txBody>
          <a:bodyPr wrap="square" lIns="0" tIns="0" rIns="0" bIns="0" rtlCol="0" anchor="ctr"/>
          <a:lstStyle/>
          <a:p>
            <a:pPr algn="ctr" indent="0" marL="0">
              <a:buNone/>
            </a:pPr>
            <a:r>
              <a:rPr lang="en-US" sz="1500" dirty="0">
                <a:solidFill>
                  <a:srgbClr val="FFFFFF"/>
                </a:solidFill>
                <a:latin typeface="Calibri" pitchFamily="34" charset="0"/>
                <a:ea typeface="Calibri" pitchFamily="34" charset="-122"/>
                <a:cs typeface="Calibri" pitchFamily="34" charset="-120"/>
              </a:rPr>
              <a:t>EEE4022S Final Year Project 2026, Department of Electrical Engineering, University of Cape Town</a:t>
            </a:r>
            <a:endParaRPr lang="en-US" sz="1500" dirty="0"/>
          </a:p>
        </p:txBody>
      </p:sp>
      <p:sp>
        <p:nvSpPr>
          <p:cNvPr id="5" name="Text 1"/>
          <p:cNvSpPr txBox="1"/>
          <p:nvPr/>
        </p:nvSpPr>
        <p:spPr>
          <a:xfrm>
            <a:off x="548640" y="777240"/>
            <a:ext cx="11094415" cy="1463040"/>
          </a:xfrm>
          <a:prstGeom prst="rect">
            <a:avLst/>
          </a:prstGeom>
          <a:noFill/>
          <a:ln/>
          <a:effectLst>
            <a:outerShdw sx="100000" sy="100000" kx="0" ky="0" algn="bl" rotWithShape="0" blurRad="76200" dist="25400" dir="2700000">
              <a:srgbClr val="000000">
                <a:alpha val="60000"/>
              </a:srgbClr>
            </a:outerShdw>
          </a:effectLst>
        </p:spPr>
        <p:txBody>
          <a:bodyPr wrap="square" lIns="0" tIns="0" rIns="0" bIns="0" rtlCol="0" anchor="ctr"/>
          <a:lstStyle/>
          <a:p>
            <a:pPr algn="ctr" indent="0" marL="0">
              <a:buNone/>
            </a:pPr>
            <a:r>
              <a:rPr lang="en-US" sz="3800" b="1" dirty="0">
                <a:solidFill>
                  <a:srgbClr val="FFFFFF"/>
                </a:solidFill>
                <a:latin typeface="Calibri" pitchFamily="34" charset="0"/>
                <a:ea typeface="Calibri" pitchFamily="34" charset="-122"/>
                <a:cs typeface="Calibri" pitchFamily="34" charset="-120"/>
              </a:rPr>
              <a:t>An Embedded Telemetry Unit and Windshield HUD</a:t>
            </a:r>
            <a:endParaRPr lang="en-US" sz="3800" dirty="0"/>
          </a:p>
          <a:p>
            <a:pPr algn="ctr" indent="0" marL="0">
              <a:buNone/>
            </a:pPr>
            <a:r>
              <a:rPr lang="en-US" sz="3800" b="1" dirty="0">
                <a:solidFill>
                  <a:srgbClr val="FFFFFF"/>
                </a:solidFill>
                <a:latin typeface="Calibri" pitchFamily="34" charset="0"/>
                <a:ea typeface="Calibri" pitchFamily="34" charset="-122"/>
                <a:cs typeface="Calibri" pitchFamily="34" charset="-120"/>
              </a:rPr>
              <a:t>for the TUKZIE Rev 0 Electric Cargo Trike</a:t>
            </a:r>
            <a:endParaRPr lang="en-US" sz="3800" dirty="0"/>
          </a:p>
        </p:txBody>
      </p:sp>
      <p:sp>
        <p:nvSpPr>
          <p:cNvPr id="6" name="Text 2"/>
          <p:cNvSpPr txBox="1"/>
          <p:nvPr/>
        </p:nvSpPr>
        <p:spPr>
          <a:xfrm>
            <a:off x="548640" y="2286000"/>
            <a:ext cx="11094415" cy="411480"/>
          </a:xfrm>
          <a:prstGeom prst="rect">
            <a:avLst/>
          </a:prstGeom>
          <a:noFill/>
          <a:ln/>
          <a:effectLst>
            <a:outerShdw sx="100000" sy="100000" kx="0" ky="0" algn="bl" rotWithShape="0" blurRad="76200" dist="25400" dir="2700000">
              <a:srgbClr val="000000">
                <a:alpha val="60000"/>
              </a:srgbClr>
            </a:outerShdw>
          </a:effectLst>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Samson Okuthe (OKTSAM001)</a:t>
            </a:r>
            <a:endParaRPr lang="en-US" sz="2000" dirty="0"/>
          </a:p>
        </p:txBody>
      </p:sp>
      <p:sp>
        <p:nvSpPr>
          <p:cNvPr id="7" name="Text 3"/>
          <p:cNvSpPr txBox="1"/>
          <p:nvPr/>
        </p:nvSpPr>
        <p:spPr>
          <a:xfrm>
            <a:off x="548640" y="2697480"/>
            <a:ext cx="11094415" cy="365760"/>
          </a:xfrm>
          <a:prstGeom prst="rect">
            <a:avLst/>
          </a:prstGeom>
          <a:noFill/>
          <a:ln/>
          <a:effectLst>
            <a:outerShdw sx="100000" sy="100000" kx="0" ky="0" algn="bl" rotWithShape="0" blurRad="76200" dist="25400" dir="2700000">
              <a:srgbClr val="000000">
                <a:alpha val="60000"/>
              </a:srgbClr>
            </a:outerShdw>
          </a:effectLst>
        </p:spPr>
        <p:txBody>
          <a:bodyPr wrap="square" lIns="0" tIns="0" rIns="0" bIns="0" rtlCol="0" anchor="ctr"/>
          <a:lstStyle/>
          <a:p>
            <a:pPr algn="ctr" indent="0" marL="0">
              <a:buNone/>
            </a:pPr>
            <a:r>
              <a:rPr lang="en-US" sz="1600" dirty="0">
                <a:solidFill>
                  <a:srgbClr val="FFFFFF"/>
                </a:solidFill>
                <a:latin typeface="Calibri" pitchFamily="34" charset="0"/>
                <a:ea typeface="Calibri" pitchFamily="34" charset="-122"/>
                <a:cs typeface="Calibri" pitchFamily="34" charset="-120"/>
              </a:rPr>
              <a:t>Supervisor: A/Prof. Simon Winberg   |   Co-supervisor: Sampath Jayalath   |   Project SW-7</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84048"/>
            <a:ext cx="566928" cy="566928"/>
          </a:xfrm>
          <a:prstGeom prst="ellipse">
            <a:avLst/>
          </a:prstGeom>
          <a:solidFill>
            <a:srgbClr val="14305C"/>
          </a:solidFill>
          <a:ln w="12700">
            <a:solidFill>
              <a:srgbClr val="14305C"/>
            </a:solidFill>
            <a:prstDash val="solid"/>
          </a:ln>
        </p:spPr>
      </p:sp>
      <p:sp>
        <p:nvSpPr>
          <p:cNvPr id="3" name="Text 1"/>
          <p:cNvSpPr txBox="1"/>
          <p:nvPr/>
        </p:nvSpPr>
        <p:spPr>
          <a:xfrm>
            <a:off x="548640" y="384048"/>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4" name="Text 2"/>
          <p:cNvSpPr txBox="1"/>
          <p:nvPr/>
        </p:nvSpPr>
        <p:spPr>
          <a:xfrm>
            <a:off x="1325880" y="310896"/>
            <a:ext cx="10317175" cy="731520"/>
          </a:xfrm>
          <a:prstGeom prst="rect">
            <a:avLst/>
          </a:prstGeom>
          <a:noFill/>
          <a:ln/>
        </p:spPr>
        <p:txBody>
          <a:bodyPr wrap="square" lIns="0" tIns="0" rIns="0" bIns="0" rtlCol="0" anchor="ctr"/>
          <a:lstStyle/>
          <a:p>
            <a:pPr indent="0" marL="0">
              <a:buNone/>
            </a:pPr>
            <a:r>
              <a:rPr lang="en-US" sz="3200" b="1" dirty="0">
                <a:solidFill>
                  <a:srgbClr val="14305C"/>
                </a:solidFill>
                <a:latin typeface="Calibri" pitchFamily="34" charset="0"/>
                <a:ea typeface="Calibri" pitchFamily="34" charset="-122"/>
                <a:cs typeface="Calibri" pitchFamily="34" charset="-120"/>
              </a:rPr>
              <a:t>Why this matters</a:t>
            </a:r>
            <a:endParaRPr lang="en-US" sz="3200" dirty="0"/>
          </a:p>
        </p:txBody>
      </p:sp>
      <p:pic>
        <p:nvPicPr>
          <p:cNvPr id="5" name="Image 0" descr="C:\Users\0geda\OneDrive - University of Cape Town\Documents\PlatformIO\Projects\Tukzie-HPEC-HUD\Presentation\source\assets\uct_logo.png">    </p:cNvPr>
          <p:cNvPicPr>
            <a:picLocks noChangeAspect="1"/>
          </p:cNvPicPr>
          <p:nvPr/>
        </p:nvPicPr>
        <p:blipFill>
          <a:blip r:embed="rId1"/>
          <a:stretch>
            <a:fillRect/>
          </a:stretch>
        </p:blipFill>
        <p:spPr>
          <a:xfrm>
            <a:off x="11259007" y="6327648"/>
            <a:ext cx="384048" cy="390449"/>
          </a:xfrm>
          <a:prstGeom prst="rect">
            <a:avLst/>
          </a:prstGeom>
        </p:spPr>
      </p:pic>
      <p:sp>
        <p:nvSpPr>
          <p:cNvPr id="6" name="Text 3"/>
          <p:cNvSpPr txBox="1"/>
          <p:nvPr/>
        </p:nvSpPr>
        <p:spPr>
          <a:xfrm>
            <a:off x="548640" y="6382512"/>
            <a:ext cx="5486400" cy="292608"/>
          </a:xfrm>
          <a:prstGeom prst="rect">
            <a:avLst/>
          </a:prstGeom>
          <a:noFill/>
          <a:ln/>
        </p:spPr>
        <p:txBody>
          <a:bodyPr wrap="square" lIns="0" tIns="0" rIns="0" bIns="0" rtlCol="0" anchor="ctr"/>
          <a:lstStyle/>
          <a:p>
            <a:pPr indent="0" marL="0">
              <a:buNone/>
            </a:pPr>
            <a:r>
              <a:rPr lang="en-US" sz="1100" dirty="0">
                <a:solidFill>
                  <a:srgbClr val="4A5566"/>
                </a:solidFill>
                <a:latin typeface="Calibri" pitchFamily="34" charset="0"/>
                <a:ea typeface="Calibri" pitchFamily="34" charset="-122"/>
                <a:cs typeface="Calibri" pitchFamily="34" charset="-120"/>
              </a:rPr>
              <a:t>SW-7   |   Samson Okuthe   |   EEE4022S 2026</a:t>
            </a:r>
            <a:endParaRPr lang="en-US" sz="1100" dirty="0"/>
          </a:p>
        </p:txBody>
      </p:sp>
      <p:sp>
        <p:nvSpPr>
          <p:cNvPr id="7" name="Text 4"/>
          <p:cNvSpPr txBox="1"/>
          <p:nvPr/>
        </p:nvSpPr>
        <p:spPr>
          <a:xfrm>
            <a:off x="10180015" y="6382512"/>
            <a:ext cx="914400" cy="292608"/>
          </a:xfrm>
          <a:prstGeom prst="rect">
            <a:avLst/>
          </a:prstGeom>
          <a:noFill/>
          <a:ln/>
        </p:spPr>
        <p:txBody>
          <a:bodyPr wrap="square" lIns="0" tIns="0" rIns="0" bIns="0" rtlCol="0" anchor="ctr"/>
          <a:lstStyle/>
          <a:p>
            <a:pPr algn="r" indent="0" marL="0">
              <a:buNone/>
            </a:pPr>
            <a:r>
              <a:rPr lang="en-US" sz="1100" dirty="0">
                <a:solidFill>
                  <a:srgbClr val="4A5566"/>
                </a:solidFill>
                <a:latin typeface="Calibri" pitchFamily="34" charset="0"/>
                <a:ea typeface="Calibri" pitchFamily="34" charset="-122"/>
                <a:cs typeface="Calibri" pitchFamily="34" charset="-120"/>
              </a:rPr>
              <a:t>2 / 12</a:t>
            </a:r>
            <a:endParaRPr lang="en-US" sz="1100" dirty="0"/>
          </a:p>
        </p:txBody>
      </p:sp>
      <p:sp>
        <p:nvSpPr>
          <p:cNvPr id="9" name="Shape 5"/>
          <p:cNvSpPr/>
          <p:nvPr/>
        </p:nvSpPr>
        <p:spPr>
          <a:xfrm>
            <a:off x="548640" y="1325880"/>
            <a:ext cx="5318608" cy="3017520"/>
          </a:xfrm>
          <a:prstGeom prst="roundRect">
            <a:avLst>
              <a:gd name="adj" fmla="val 3636"/>
            </a:avLst>
          </a:prstGeom>
          <a:solidFill>
            <a:srgbClr val="E8F0FA"/>
          </a:solidFill>
          <a:ln w="12700">
            <a:solidFill>
              <a:srgbClr val="E8F0FA"/>
            </a:solidFill>
            <a:prstDash val="solid"/>
          </a:ln>
        </p:spPr>
      </p:sp>
      <p:sp>
        <p:nvSpPr>
          <p:cNvPr id="10" name="Text 6"/>
          <p:cNvSpPr txBox="1"/>
          <p:nvPr/>
        </p:nvSpPr>
        <p:spPr>
          <a:xfrm>
            <a:off x="914400" y="1645920"/>
            <a:ext cx="4587088" cy="1097280"/>
          </a:xfrm>
          <a:prstGeom prst="rect">
            <a:avLst/>
          </a:prstGeom>
          <a:noFill/>
          <a:ln/>
        </p:spPr>
        <p:txBody>
          <a:bodyPr wrap="square" lIns="0" tIns="0" rIns="0" bIns="0" rtlCol="0" anchor="ctr"/>
          <a:lstStyle/>
          <a:p>
            <a:pPr indent="0" marL="0">
              <a:buNone/>
            </a:pPr>
            <a:r>
              <a:rPr lang="en-US" sz="6000" b="1" dirty="0">
                <a:solidFill>
                  <a:srgbClr val="14305C"/>
                </a:solidFill>
                <a:latin typeface="Calibri" pitchFamily="34" charset="0"/>
                <a:ea typeface="Calibri" pitchFamily="34" charset="-122"/>
                <a:cs typeface="Calibri" pitchFamily="34" charset="-120"/>
              </a:rPr>
              <a:t>45.5 to 86%</a:t>
            </a:r>
            <a:endParaRPr lang="en-US" sz="6000" dirty="0"/>
          </a:p>
        </p:txBody>
      </p:sp>
      <p:sp>
        <p:nvSpPr>
          <p:cNvPr id="11" name="Text 7"/>
          <p:cNvSpPr txBox="1"/>
          <p:nvPr/>
        </p:nvSpPr>
        <p:spPr>
          <a:xfrm>
            <a:off x="914400" y="2788920"/>
            <a:ext cx="4587088" cy="1005840"/>
          </a:xfrm>
          <a:prstGeom prst="rect">
            <a:avLst/>
          </a:prstGeom>
          <a:noFill/>
          <a:ln/>
        </p:spPr>
        <p:txBody>
          <a:bodyPr wrap="square" lIns="0" tIns="0" rIns="0" bIns="0" rtlCol="0" anchor="t"/>
          <a:lstStyle/>
          <a:p>
            <a:pPr indent="0" marL="0">
              <a:buNone/>
            </a:pPr>
            <a:r>
              <a:rPr lang="en-US" sz="1800" dirty="0">
                <a:solidFill>
                  <a:srgbClr val="1B1F24"/>
                </a:solidFill>
                <a:latin typeface="Calibri" pitchFamily="34" charset="0"/>
                <a:ea typeface="Calibri" pitchFamily="34" charset="-122"/>
                <a:cs typeface="Calibri" pitchFamily="34" charset="-120"/>
              </a:rPr>
              <a:t>lower operating cost per km for an electric cargo tricycle than a motorcycle, petrol tuk-tuk or light car on delivery routes in Dar es Salaam</a:t>
            </a:r>
            <a:endParaRPr lang="en-US" sz="1800" dirty="0"/>
          </a:p>
        </p:txBody>
      </p:sp>
      <p:sp>
        <p:nvSpPr>
          <p:cNvPr id="12" name="Text 8"/>
          <p:cNvSpPr txBox="1"/>
          <p:nvPr/>
        </p:nvSpPr>
        <p:spPr>
          <a:xfrm>
            <a:off x="914400" y="3840480"/>
            <a:ext cx="4587088" cy="320040"/>
          </a:xfrm>
          <a:prstGeom prst="rect">
            <a:avLst/>
          </a:prstGeom>
          <a:noFill/>
          <a:ln/>
        </p:spPr>
        <p:txBody>
          <a:bodyPr wrap="square" lIns="0" tIns="0" rIns="0" bIns="0" rtlCol="0" anchor="ctr"/>
          <a:lstStyle/>
          <a:p>
            <a:pPr indent="0" marL="0">
              <a:buNone/>
            </a:pPr>
            <a:r>
              <a:rPr lang="en-US" sz="1300" i="1" dirty="0">
                <a:solidFill>
                  <a:srgbClr val="4A5566"/>
                </a:solidFill>
                <a:latin typeface="Calibri" pitchFamily="34" charset="0"/>
                <a:ea typeface="Calibri" pitchFamily="34" charset="-122"/>
                <a:cs typeface="Calibri" pitchFamily="34" charset="-120"/>
              </a:rPr>
              <a:t>Sebwa et al., 2025</a:t>
            </a:r>
            <a:endParaRPr lang="en-US" sz="1300" dirty="0"/>
          </a:p>
        </p:txBody>
      </p:sp>
      <p:sp>
        <p:nvSpPr>
          <p:cNvPr id="13" name="Shape 9"/>
          <p:cNvSpPr/>
          <p:nvPr/>
        </p:nvSpPr>
        <p:spPr>
          <a:xfrm>
            <a:off x="6324448" y="1325880"/>
            <a:ext cx="5318608" cy="3017520"/>
          </a:xfrm>
          <a:prstGeom prst="roundRect">
            <a:avLst>
              <a:gd name="adj" fmla="val 3636"/>
            </a:avLst>
          </a:prstGeom>
          <a:solidFill>
            <a:srgbClr val="E8F0FA"/>
          </a:solidFill>
          <a:ln w="12700">
            <a:solidFill>
              <a:srgbClr val="E8F0FA"/>
            </a:solidFill>
            <a:prstDash val="solid"/>
          </a:ln>
        </p:spPr>
      </p:sp>
      <p:sp>
        <p:nvSpPr>
          <p:cNvPr id="14" name="Text 10"/>
          <p:cNvSpPr txBox="1"/>
          <p:nvPr/>
        </p:nvSpPr>
        <p:spPr>
          <a:xfrm>
            <a:off x="6690208" y="1645920"/>
            <a:ext cx="4587088" cy="1097280"/>
          </a:xfrm>
          <a:prstGeom prst="rect">
            <a:avLst/>
          </a:prstGeom>
          <a:noFill/>
          <a:ln/>
        </p:spPr>
        <p:txBody>
          <a:bodyPr wrap="square" lIns="0" tIns="0" rIns="0" bIns="0" rtlCol="0" anchor="ctr"/>
          <a:lstStyle/>
          <a:p>
            <a:pPr indent="0" marL="0">
              <a:buNone/>
            </a:pPr>
            <a:r>
              <a:rPr lang="en-US" sz="6000" b="1" dirty="0">
                <a:solidFill>
                  <a:srgbClr val="14305C"/>
                </a:solidFill>
                <a:latin typeface="Calibri" pitchFamily="34" charset="0"/>
                <a:ea typeface="Calibri" pitchFamily="34" charset="-122"/>
                <a:cs typeface="Calibri" pitchFamily="34" charset="-120"/>
              </a:rPr>
              <a:t>2 s</a:t>
            </a:r>
            <a:endParaRPr lang="en-US" sz="6000" dirty="0"/>
          </a:p>
        </p:txBody>
      </p:sp>
      <p:sp>
        <p:nvSpPr>
          <p:cNvPr id="15" name="Text 11"/>
          <p:cNvSpPr txBox="1"/>
          <p:nvPr/>
        </p:nvSpPr>
        <p:spPr>
          <a:xfrm>
            <a:off x="6690208" y="2788920"/>
            <a:ext cx="4587088" cy="1005840"/>
          </a:xfrm>
          <a:prstGeom prst="rect">
            <a:avLst/>
          </a:prstGeom>
          <a:noFill/>
          <a:ln/>
        </p:spPr>
        <p:txBody>
          <a:bodyPr wrap="square" lIns="0" tIns="0" rIns="0" bIns="0" rtlCol="0" anchor="t"/>
          <a:lstStyle/>
          <a:p>
            <a:pPr indent="0" marL="0">
              <a:buNone/>
            </a:pPr>
            <a:r>
              <a:rPr lang="en-US" sz="1800" dirty="0">
                <a:solidFill>
                  <a:srgbClr val="1B1F24"/>
                </a:solidFill>
                <a:latin typeface="Calibri" pitchFamily="34" charset="0"/>
                <a:ea typeface="Calibri" pitchFamily="34" charset="-122"/>
                <a:cs typeface="Calibri" pitchFamily="34" charset="-120"/>
              </a:rPr>
              <a:t>longest single glance away from the road that NHTSA guidance allows, so driver information must be short and safety-only</a:t>
            </a:r>
            <a:endParaRPr lang="en-US" sz="1800" dirty="0"/>
          </a:p>
        </p:txBody>
      </p:sp>
      <p:sp>
        <p:nvSpPr>
          <p:cNvPr id="16" name="Text 12"/>
          <p:cNvSpPr txBox="1"/>
          <p:nvPr/>
        </p:nvSpPr>
        <p:spPr>
          <a:xfrm>
            <a:off x="6690208" y="3840480"/>
            <a:ext cx="4587088" cy="320040"/>
          </a:xfrm>
          <a:prstGeom prst="rect">
            <a:avLst/>
          </a:prstGeom>
          <a:noFill/>
          <a:ln/>
        </p:spPr>
        <p:txBody>
          <a:bodyPr wrap="square" lIns="0" tIns="0" rIns="0" bIns="0" rtlCol="0" anchor="ctr"/>
          <a:lstStyle/>
          <a:p>
            <a:pPr indent="0" marL="0">
              <a:buNone/>
            </a:pPr>
            <a:r>
              <a:rPr lang="en-US" sz="1300" i="1" dirty="0">
                <a:solidFill>
                  <a:srgbClr val="4A5566"/>
                </a:solidFill>
                <a:latin typeface="Calibri" pitchFamily="34" charset="0"/>
                <a:ea typeface="Calibri" pitchFamily="34" charset="-122"/>
                <a:cs typeface="Calibri" pitchFamily="34" charset="-120"/>
              </a:rPr>
              <a:t>NHTSA, 2013</a:t>
            </a:r>
            <a:endParaRPr lang="en-US" sz="1300" dirty="0"/>
          </a:p>
        </p:txBody>
      </p:sp>
      <p:sp>
        <p:nvSpPr>
          <p:cNvPr id="17" name="Text 13"/>
          <p:cNvSpPr txBox="1"/>
          <p:nvPr/>
        </p:nvSpPr>
        <p:spPr>
          <a:xfrm>
            <a:off x="548640" y="4754880"/>
            <a:ext cx="11094415" cy="914400"/>
          </a:xfrm>
          <a:prstGeom prst="rect">
            <a:avLst/>
          </a:prstGeom>
          <a:noFill/>
          <a:ln/>
        </p:spPr>
        <p:txBody>
          <a:bodyPr wrap="square" lIns="0" tIns="0" rIns="0" bIns="0" rtlCol="0" anchor="ctr"/>
          <a:lstStyle/>
          <a:p>
            <a:pPr indent="0" marL="0">
              <a:buNone/>
            </a:pPr>
            <a:r>
              <a:rPr lang="en-US" sz="2000" b="1" dirty="0">
                <a:solidFill>
                  <a:srgbClr val="14305C"/>
                </a:solidFill>
                <a:latin typeface="Calibri" pitchFamily="34" charset="0"/>
                <a:ea typeface="Calibri" pitchFamily="34" charset="-122"/>
                <a:cs typeface="Calibri" pitchFamily="34" charset="-120"/>
              </a:rPr>
              <a:t>The open problem: </a:t>
            </a:r>
            <a:pPr indent="0" marL="0">
              <a:buNone/>
            </a:pPr>
            <a:r>
              <a:rPr lang="en-US" sz="2000" dirty="0">
                <a:solidFill>
                  <a:srgbClr val="1B1F24"/>
                </a:solidFill>
                <a:latin typeface="Calibri" pitchFamily="34" charset="0"/>
                <a:ea typeface="Calibri" pitchFamily="34" charset="-122"/>
                <a:cs typeface="Calibri" pitchFamily="34" charset="-120"/>
              </a:rPr>
              <a:t>bringing on-board edge telemetry and sparse, safety-only driver alerts together on a low-cost electric trike, and measuring whether each part works.</a:t>
            </a:r>
            <a:endParaRPr lang="en-US" sz="2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84048"/>
            <a:ext cx="566928" cy="566928"/>
          </a:xfrm>
          <a:prstGeom prst="ellipse">
            <a:avLst/>
          </a:prstGeom>
          <a:solidFill>
            <a:srgbClr val="14305C"/>
          </a:solidFill>
          <a:ln w="12700">
            <a:solidFill>
              <a:srgbClr val="14305C"/>
            </a:solidFill>
            <a:prstDash val="solid"/>
          </a:ln>
        </p:spPr>
      </p:sp>
      <p:sp>
        <p:nvSpPr>
          <p:cNvPr id="3" name="Text 1"/>
          <p:cNvSpPr txBox="1"/>
          <p:nvPr/>
        </p:nvSpPr>
        <p:spPr>
          <a:xfrm>
            <a:off x="548640" y="384048"/>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4" name="Text 2"/>
          <p:cNvSpPr txBox="1"/>
          <p:nvPr/>
        </p:nvSpPr>
        <p:spPr>
          <a:xfrm>
            <a:off x="1325880" y="310896"/>
            <a:ext cx="10317175" cy="731520"/>
          </a:xfrm>
          <a:prstGeom prst="rect">
            <a:avLst/>
          </a:prstGeom>
          <a:noFill/>
          <a:ln/>
        </p:spPr>
        <p:txBody>
          <a:bodyPr wrap="square" lIns="0" tIns="0" rIns="0" bIns="0" rtlCol="0" anchor="ctr"/>
          <a:lstStyle/>
          <a:p>
            <a:pPr indent="0" marL="0">
              <a:buNone/>
            </a:pPr>
            <a:r>
              <a:rPr lang="en-US" sz="3200" b="1" dirty="0">
                <a:solidFill>
                  <a:srgbClr val="14305C"/>
                </a:solidFill>
                <a:latin typeface="Calibri" pitchFamily="34" charset="0"/>
                <a:ea typeface="Calibri" pitchFamily="34" charset="-122"/>
                <a:cs typeface="Calibri" pitchFamily="34" charset="-120"/>
              </a:rPr>
              <a:t>Aim and research questions</a:t>
            </a:r>
            <a:endParaRPr lang="en-US" sz="3200" dirty="0"/>
          </a:p>
        </p:txBody>
      </p:sp>
      <p:pic>
        <p:nvPicPr>
          <p:cNvPr id="5" name="Image 0" descr="C:\Users\0geda\OneDrive - University of Cape Town\Documents\PlatformIO\Projects\Tukzie-HPEC-HUD\Presentation\source\assets\uct_logo.png">    </p:cNvPr>
          <p:cNvPicPr>
            <a:picLocks noChangeAspect="1"/>
          </p:cNvPicPr>
          <p:nvPr/>
        </p:nvPicPr>
        <p:blipFill>
          <a:blip r:embed="rId1"/>
          <a:stretch>
            <a:fillRect/>
          </a:stretch>
        </p:blipFill>
        <p:spPr>
          <a:xfrm>
            <a:off x="11259007" y="6327648"/>
            <a:ext cx="384048" cy="390449"/>
          </a:xfrm>
          <a:prstGeom prst="rect">
            <a:avLst/>
          </a:prstGeom>
        </p:spPr>
      </p:pic>
      <p:sp>
        <p:nvSpPr>
          <p:cNvPr id="6" name="Text 3"/>
          <p:cNvSpPr txBox="1"/>
          <p:nvPr/>
        </p:nvSpPr>
        <p:spPr>
          <a:xfrm>
            <a:off x="548640" y="6382512"/>
            <a:ext cx="5486400" cy="292608"/>
          </a:xfrm>
          <a:prstGeom prst="rect">
            <a:avLst/>
          </a:prstGeom>
          <a:noFill/>
          <a:ln/>
        </p:spPr>
        <p:txBody>
          <a:bodyPr wrap="square" lIns="0" tIns="0" rIns="0" bIns="0" rtlCol="0" anchor="ctr"/>
          <a:lstStyle/>
          <a:p>
            <a:pPr indent="0" marL="0">
              <a:buNone/>
            </a:pPr>
            <a:r>
              <a:rPr lang="en-US" sz="1100" dirty="0">
                <a:solidFill>
                  <a:srgbClr val="4A5566"/>
                </a:solidFill>
                <a:latin typeface="Calibri" pitchFamily="34" charset="0"/>
                <a:ea typeface="Calibri" pitchFamily="34" charset="-122"/>
                <a:cs typeface="Calibri" pitchFamily="34" charset="-120"/>
              </a:rPr>
              <a:t>SW-7   |   Samson Okuthe   |   EEE4022S 2026</a:t>
            </a:r>
            <a:endParaRPr lang="en-US" sz="1100" dirty="0"/>
          </a:p>
        </p:txBody>
      </p:sp>
      <p:sp>
        <p:nvSpPr>
          <p:cNvPr id="7" name="Text 4"/>
          <p:cNvSpPr txBox="1"/>
          <p:nvPr/>
        </p:nvSpPr>
        <p:spPr>
          <a:xfrm>
            <a:off x="10180015" y="6382512"/>
            <a:ext cx="914400" cy="292608"/>
          </a:xfrm>
          <a:prstGeom prst="rect">
            <a:avLst/>
          </a:prstGeom>
          <a:noFill/>
          <a:ln/>
        </p:spPr>
        <p:txBody>
          <a:bodyPr wrap="square" lIns="0" tIns="0" rIns="0" bIns="0" rtlCol="0" anchor="ctr"/>
          <a:lstStyle/>
          <a:p>
            <a:pPr algn="r" indent="0" marL="0">
              <a:buNone/>
            </a:pPr>
            <a:r>
              <a:rPr lang="en-US" sz="1100" dirty="0">
                <a:solidFill>
                  <a:srgbClr val="4A5566"/>
                </a:solidFill>
                <a:latin typeface="Calibri" pitchFamily="34" charset="0"/>
                <a:ea typeface="Calibri" pitchFamily="34" charset="-122"/>
                <a:cs typeface="Calibri" pitchFamily="34" charset="-120"/>
              </a:rPr>
              <a:t>3 / 12</a:t>
            </a:r>
            <a:endParaRPr lang="en-US" sz="1100" dirty="0"/>
          </a:p>
        </p:txBody>
      </p:sp>
      <p:sp>
        <p:nvSpPr>
          <p:cNvPr id="9" name="Shape 5"/>
          <p:cNvSpPr/>
          <p:nvPr/>
        </p:nvSpPr>
        <p:spPr>
          <a:xfrm>
            <a:off x="548640" y="1325880"/>
            <a:ext cx="11094415" cy="987552"/>
          </a:xfrm>
          <a:prstGeom prst="roundRect">
            <a:avLst>
              <a:gd name="adj" fmla="val 11111"/>
            </a:avLst>
          </a:prstGeom>
          <a:solidFill>
            <a:srgbClr val="E8F0FA"/>
          </a:solidFill>
          <a:ln w="12700">
            <a:solidFill>
              <a:srgbClr val="E8F0FA"/>
            </a:solidFill>
            <a:prstDash val="solid"/>
          </a:ln>
        </p:spPr>
      </p:sp>
      <p:sp>
        <p:nvSpPr>
          <p:cNvPr id="10" name="Text 6"/>
          <p:cNvSpPr txBox="1"/>
          <p:nvPr/>
        </p:nvSpPr>
        <p:spPr>
          <a:xfrm>
            <a:off x="822960" y="1325880"/>
            <a:ext cx="914400" cy="987552"/>
          </a:xfrm>
          <a:prstGeom prst="rect">
            <a:avLst/>
          </a:prstGeom>
          <a:noFill/>
          <a:ln/>
        </p:spPr>
        <p:txBody>
          <a:bodyPr wrap="square" lIns="0" tIns="0" rIns="0" bIns="0" rtlCol="0" anchor="ctr"/>
          <a:lstStyle/>
          <a:p>
            <a:pPr indent="0" marL="0">
              <a:buNone/>
            </a:pPr>
            <a:r>
              <a:rPr lang="en-US" sz="2400" b="1" dirty="0">
                <a:solidFill>
                  <a:srgbClr val="14305C"/>
                </a:solidFill>
                <a:latin typeface="Calibri" pitchFamily="34" charset="0"/>
                <a:ea typeface="Calibri" pitchFamily="34" charset="-122"/>
                <a:cs typeface="Calibri" pitchFamily="34" charset="-120"/>
              </a:rPr>
              <a:t>RQ1</a:t>
            </a:r>
            <a:endParaRPr lang="en-US" sz="2400" dirty="0"/>
          </a:p>
        </p:txBody>
      </p:sp>
      <p:sp>
        <p:nvSpPr>
          <p:cNvPr id="11" name="Text 7"/>
          <p:cNvSpPr txBox="1"/>
          <p:nvPr/>
        </p:nvSpPr>
        <p:spPr>
          <a:xfrm>
            <a:off x="1783080" y="1325880"/>
            <a:ext cx="7116775" cy="987552"/>
          </a:xfrm>
          <a:prstGeom prst="rect">
            <a:avLst/>
          </a:prstGeom>
          <a:noFill/>
          <a:ln/>
        </p:spPr>
        <p:txBody>
          <a:bodyPr wrap="square" lIns="0" tIns="0" rIns="0" bIns="0" rtlCol="0" anchor="ctr"/>
          <a:lstStyle/>
          <a:p>
            <a:pPr indent="0" marL="0">
              <a:buNone/>
            </a:pPr>
            <a:r>
              <a:rPr lang="en-US" sz="1800" dirty="0">
                <a:solidFill>
                  <a:srgbClr val="1B1F24"/>
                </a:solidFill>
                <a:latin typeface="Calibri" pitchFamily="34" charset="0"/>
                <a:ea typeface="Calibri" pitchFamily="34" charset="-122"/>
                <a:cs typeface="Calibri" pitchFamily="34" charset="-120"/>
              </a:rPr>
              <a:t>Acquire two IMUs at 200 Hz (at least 160 Hz for ISO 2631-1) with the sensors agreeing within noise</a:t>
            </a:r>
            <a:endParaRPr lang="en-US" sz="1800" dirty="0"/>
          </a:p>
        </p:txBody>
      </p:sp>
      <p:sp>
        <p:nvSpPr>
          <p:cNvPr id="12" name="Shape 8"/>
          <p:cNvSpPr/>
          <p:nvPr/>
        </p:nvSpPr>
        <p:spPr>
          <a:xfrm>
            <a:off x="9128455" y="1591056"/>
            <a:ext cx="2240280" cy="457200"/>
          </a:xfrm>
          <a:prstGeom prst="roundRect">
            <a:avLst>
              <a:gd name="adj" fmla="val 50000"/>
            </a:avLst>
          </a:prstGeom>
          <a:solidFill>
            <a:srgbClr val="1565C0"/>
          </a:solidFill>
          <a:ln w="19050">
            <a:solidFill>
              <a:srgbClr val="1565C0"/>
            </a:solidFill>
            <a:prstDash val="solid"/>
          </a:ln>
        </p:spPr>
      </p:sp>
      <p:sp>
        <p:nvSpPr>
          <p:cNvPr id="13" name="Text 9"/>
          <p:cNvSpPr txBox="1"/>
          <p:nvPr/>
        </p:nvSpPr>
        <p:spPr>
          <a:xfrm>
            <a:off x="9128455" y="1591056"/>
            <a:ext cx="224028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Bench-verified</a:t>
            </a:r>
            <a:endParaRPr lang="en-US" sz="1500" dirty="0"/>
          </a:p>
        </p:txBody>
      </p:sp>
      <p:sp>
        <p:nvSpPr>
          <p:cNvPr id="14" name="Shape 10"/>
          <p:cNvSpPr/>
          <p:nvPr/>
        </p:nvSpPr>
        <p:spPr>
          <a:xfrm>
            <a:off x="548640" y="2478024"/>
            <a:ext cx="11094415" cy="987552"/>
          </a:xfrm>
          <a:prstGeom prst="roundRect">
            <a:avLst>
              <a:gd name="adj" fmla="val 11111"/>
            </a:avLst>
          </a:prstGeom>
          <a:solidFill>
            <a:srgbClr val="E8F0FA"/>
          </a:solidFill>
          <a:ln w="12700">
            <a:solidFill>
              <a:srgbClr val="E8F0FA"/>
            </a:solidFill>
            <a:prstDash val="solid"/>
          </a:ln>
        </p:spPr>
      </p:sp>
      <p:sp>
        <p:nvSpPr>
          <p:cNvPr id="15" name="Text 11"/>
          <p:cNvSpPr txBox="1"/>
          <p:nvPr/>
        </p:nvSpPr>
        <p:spPr>
          <a:xfrm>
            <a:off x="822960" y="2478024"/>
            <a:ext cx="914400" cy="987552"/>
          </a:xfrm>
          <a:prstGeom prst="rect">
            <a:avLst/>
          </a:prstGeom>
          <a:noFill/>
          <a:ln/>
        </p:spPr>
        <p:txBody>
          <a:bodyPr wrap="square" lIns="0" tIns="0" rIns="0" bIns="0" rtlCol="0" anchor="ctr"/>
          <a:lstStyle/>
          <a:p>
            <a:pPr indent="0" marL="0">
              <a:buNone/>
            </a:pPr>
            <a:r>
              <a:rPr lang="en-US" sz="2400" b="1" dirty="0">
                <a:solidFill>
                  <a:srgbClr val="14305C"/>
                </a:solidFill>
                <a:latin typeface="Calibri" pitchFamily="34" charset="0"/>
                <a:ea typeface="Calibri" pitchFamily="34" charset="-122"/>
                <a:cs typeface="Calibri" pitchFamily="34" charset="-120"/>
              </a:rPr>
              <a:t>RQ2</a:t>
            </a:r>
            <a:endParaRPr lang="en-US" sz="2400" dirty="0"/>
          </a:p>
        </p:txBody>
      </p:sp>
      <p:sp>
        <p:nvSpPr>
          <p:cNvPr id="16" name="Text 12"/>
          <p:cNvSpPr txBox="1"/>
          <p:nvPr/>
        </p:nvSpPr>
        <p:spPr>
          <a:xfrm>
            <a:off x="1783080" y="2478024"/>
            <a:ext cx="7116775" cy="987552"/>
          </a:xfrm>
          <a:prstGeom prst="rect">
            <a:avLst/>
          </a:prstGeom>
          <a:noFill/>
          <a:ln/>
        </p:spPr>
        <p:txBody>
          <a:bodyPr wrap="square" lIns="0" tIns="0" rIns="0" bIns="0" rtlCol="0" anchor="ctr"/>
          <a:lstStyle/>
          <a:p>
            <a:pPr indent="0" marL="0">
              <a:buNone/>
            </a:pPr>
            <a:r>
              <a:rPr lang="en-US" sz="1800" dirty="0">
                <a:solidFill>
                  <a:srgbClr val="1B1F24"/>
                </a:solidFill>
                <a:latin typeface="Calibri" pitchFamily="34" charset="0"/>
                <a:ea typeface="Calibri" pitchFamily="34" charset="-122"/>
                <a:cs typeface="Calibri" pitchFamily="34" charset="-120"/>
              </a:rPr>
              <a:t>Show safety-critical data to the driver without exceeding the 2 s glance guidance</a:t>
            </a:r>
            <a:endParaRPr lang="en-US" sz="1800" dirty="0"/>
          </a:p>
        </p:txBody>
      </p:sp>
      <p:sp>
        <p:nvSpPr>
          <p:cNvPr id="17" name="Shape 13"/>
          <p:cNvSpPr/>
          <p:nvPr/>
        </p:nvSpPr>
        <p:spPr>
          <a:xfrm>
            <a:off x="9128455" y="2743200"/>
            <a:ext cx="2240280" cy="457200"/>
          </a:xfrm>
          <a:prstGeom prst="roundRect">
            <a:avLst>
              <a:gd name="adj" fmla="val 50000"/>
            </a:avLst>
          </a:prstGeom>
          <a:solidFill>
            <a:srgbClr val="FFFFFF"/>
          </a:solidFill>
          <a:ln w="19050">
            <a:solidFill>
              <a:srgbClr val="D4700C"/>
            </a:solidFill>
            <a:prstDash val="dash"/>
          </a:ln>
        </p:spPr>
      </p:sp>
      <p:sp>
        <p:nvSpPr>
          <p:cNvPr id="18" name="Text 14"/>
          <p:cNvSpPr txBox="1"/>
          <p:nvPr/>
        </p:nvSpPr>
        <p:spPr>
          <a:xfrm>
            <a:off x="9128455" y="2743200"/>
            <a:ext cx="2240280" cy="457200"/>
          </a:xfrm>
          <a:prstGeom prst="rect">
            <a:avLst/>
          </a:prstGeom>
          <a:noFill/>
          <a:ln/>
        </p:spPr>
        <p:txBody>
          <a:bodyPr wrap="square" lIns="0" tIns="0" rIns="0" bIns="0" rtlCol="0" anchor="ctr"/>
          <a:lstStyle/>
          <a:p>
            <a:pPr algn="ctr" indent="0" marL="0">
              <a:buNone/>
            </a:pPr>
            <a:r>
              <a:rPr lang="en-US" sz="1500" b="1" dirty="0">
                <a:solidFill>
                  <a:srgbClr val="D4700C"/>
                </a:solidFill>
                <a:latin typeface="Calibri" pitchFamily="34" charset="0"/>
                <a:ea typeface="Calibri" pitchFamily="34" charset="-122"/>
                <a:cs typeface="Calibri" pitchFamily="34" charset="-120"/>
              </a:rPr>
              <a:t>Revised: dashboard</a:t>
            </a:r>
            <a:endParaRPr lang="en-US" sz="1500" dirty="0"/>
          </a:p>
        </p:txBody>
      </p:sp>
      <p:sp>
        <p:nvSpPr>
          <p:cNvPr id="19" name="Shape 15"/>
          <p:cNvSpPr/>
          <p:nvPr/>
        </p:nvSpPr>
        <p:spPr>
          <a:xfrm>
            <a:off x="548640" y="3630168"/>
            <a:ext cx="11094415" cy="987552"/>
          </a:xfrm>
          <a:prstGeom prst="roundRect">
            <a:avLst>
              <a:gd name="adj" fmla="val 11111"/>
            </a:avLst>
          </a:prstGeom>
          <a:solidFill>
            <a:srgbClr val="E8F0FA"/>
          </a:solidFill>
          <a:ln w="12700">
            <a:solidFill>
              <a:srgbClr val="E8F0FA"/>
            </a:solidFill>
            <a:prstDash val="solid"/>
          </a:ln>
        </p:spPr>
      </p:sp>
      <p:sp>
        <p:nvSpPr>
          <p:cNvPr id="20" name="Text 16"/>
          <p:cNvSpPr txBox="1"/>
          <p:nvPr/>
        </p:nvSpPr>
        <p:spPr>
          <a:xfrm>
            <a:off x="822960" y="3630168"/>
            <a:ext cx="914400" cy="987552"/>
          </a:xfrm>
          <a:prstGeom prst="rect">
            <a:avLst/>
          </a:prstGeom>
          <a:noFill/>
          <a:ln/>
        </p:spPr>
        <p:txBody>
          <a:bodyPr wrap="square" lIns="0" tIns="0" rIns="0" bIns="0" rtlCol="0" anchor="ctr"/>
          <a:lstStyle/>
          <a:p>
            <a:pPr indent="0" marL="0">
              <a:buNone/>
            </a:pPr>
            <a:r>
              <a:rPr lang="en-US" sz="2400" b="1" dirty="0">
                <a:solidFill>
                  <a:srgbClr val="14305C"/>
                </a:solidFill>
                <a:latin typeface="Calibri" pitchFamily="34" charset="0"/>
                <a:ea typeface="Calibri" pitchFamily="34" charset="-122"/>
                <a:cs typeface="Calibri" pitchFamily="34" charset="-120"/>
              </a:rPr>
              <a:t>RQ3</a:t>
            </a:r>
            <a:endParaRPr lang="en-US" sz="2400" dirty="0"/>
          </a:p>
        </p:txBody>
      </p:sp>
      <p:sp>
        <p:nvSpPr>
          <p:cNvPr id="21" name="Text 17"/>
          <p:cNvSpPr txBox="1"/>
          <p:nvPr/>
        </p:nvSpPr>
        <p:spPr>
          <a:xfrm>
            <a:off x="1783080" y="3630168"/>
            <a:ext cx="7116775" cy="987552"/>
          </a:xfrm>
          <a:prstGeom prst="rect">
            <a:avLst/>
          </a:prstGeom>
          <a:noFill/>
          <a:ln/>
        </p:spPr>
        <p:txBody>
          <a:bodyPr wrap="square" lIns="0" tIns="0" rIns="0" bIns="0" rtlCol="0" anchor="ctr"/>
          <a:lstStyle/>
          <a:p>
            <a:pPr indent="0" marL="0">
              <a:buNone/>
            </a:pPr>
            <a:r>
              <a:rPr lang="en-US" sz="1800" dirty="0">
                <a:solidFill>
                  <a:srgbClr val="1B1F24"/>
                </a:solidFill>
                <a:latin typeface="Calibri" pitchFamily="34" charset="0"/>
                <a:ea typeface="Calibri" pitchFamily="34" charset="-122"/>
                <a:cs typeface="Calibri" pitchFamily="34" charset="-120"/>
              </a:rPr>
              <a:t>Bounded latency, measured data loss and recovery from sensor through to the cellular link</a:t>
            </a:r>
            <a:endParaRPr lang="en-US" sz="1800" dirty="0"/>
          </a:p>
        </p:txBody>
      </p:sp>
      <p:sp>
        <p:nvSpPr>
          <p:cNvPr id="22" name="Shape 18"/>
          <p:cNvSpPr/>
          <p:nvPr/>
        </p:nvSpPr>
        <p:spPr>
          <a:xfrm>
            <a:off x="9128455" y="3895344"/>
            <a:ext cx="2240280" cy="457200"/>
          </a:xfrm>
          <a:prstGeom prst="roundRect">
            <a:avLst>
              <a:gd name="adj" fmla="val 50000"/>
            </a:avLst>
          </a:prstGeom>
          <a:solidFill>
            <a:srgbClr val="1565C0"/>
          </a:solidFill>
          <a:ln w="19050">
            <a:solidFill>
              <a:srgbClr val="1565C0"/>
            </a:solidFill>
            <a:prstDash val="solid"/>
          </a:ln>
        </p:spPr>
      </p:sp>
      <p:sp>
        <p:nvSpPr>
          <p:cNvPr id="23" name="Text 19"/>
          <p:cNvSpPr txBox="1"/>
          <p:nvPr/>
        </p:nvSpPr>
        <p:spPr>
          <a:xfrm>
            <a:off x="9128455" y="3895344"/>
            <a:ext cx="224028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Bench-verified</a:t>
            </a:r>
            <a:endParaRPr lang="en-US" sz="1500" dirty="0"/>
          </a:p>
        </p:txBody>
      </p:sp>
      <p:sp>
        <p:nvSpPr>
          <p:cNvPr id="24" name="Shape 20"/>
          <p:cNvSpPr/>
          <p:nvPr/>
        </p:nvSpPr>
        <p:spPr>
          <a:xfrm>
            <a:off x="548640" y="4782312"/>
            <a:ext cx="11094415" cy="987552"/>
          </a:xfrm>
          <a:prstGeom prst="roundRect">
            <a:avLst>
              <a:gd name="adj" fmla="val 11111"/>
            </a:avLst>
          </a:prstGeom>
          <a:solidFill>
            <a:srgbClr val="E8F0FA"/>
          </a:solidFill>
          <a:ln w="12700">
            <a:solidFill>
              <a:srgbClr val="E8F0FA"/>
            </a:solidFill>
            <a:prstDash val="solid"/>
          </a:ln>
        </p:spPr>
      </p:sp>
      <p:sp>
        <p:nvSpPr>
          <p:cNvPr id="25" name="Text 21"/>
          <p:cNvSpPr txBox="1"/>
          <p:nvPr/>
        </p:nvSpPr>
        <p:spPr>
          <a:xfrm>
            <a:off x="822960" y="4782312"/>
            <a:ext cx="914400" cy="987552"/>
          </a:xfrm>
          <a:prstGeom prst="rect">
            <a:avLst/>
          </a:prstGeom>
          <a:noFill/>
          <a:ln/>
        </p:spPr>
        <p:txBody>
          <a:bodyPr wrap="square" lIns="0" tIns="0" rIns="0" bIns="0" rtlCol="0" anchor="ctr"/>
          <a:lstStyle/>
          <a:p>
            <a:pPr indent="0" marL="0">
              <a:buNone/>
            </a:pPr>
            <a:r>
              <a:rPr lang="en-US" sz="2400" b="1" dirty="0">
                <a:solidFill>
                  <a:srgbClr val="14305C"/>
                </a:solidFill>
                <a:latin typeface="Calibri" pitchFamily="34" charset="0"/>
                <a:ea typeface="Calibri" pitchFamily="34" charset="-122"/>
                <a:cs typeface="Calibri" pitchFamily="34" charset="-120"/>
              </a:rPr>
              <a:t>RQ4</a:t>
            </a:r>
            <a:endParaRPr lang="en-US" sz="2400" dirty="0"/>
          </a:p>
        </p:txBody>
      </p:sp>
      <p:sp>
        <p:nvSpPr>
          <p:cNvPr id="26" name="Text 22"/>
          <p:cNvSpPr txBox="1"/>
          <p:nvPr/>
        </p:nvSpPr>
        <p:spPr>
          <a:xfrm>
            <a:off x="1783080" y="4782312"/>
            <a:ext cx="7116775" cy="987552"/>
          </a:xfrm>
          <a:prstGeom prst="rect">
            <a:avLst/>
          </a:prstGeom>
          <a:noFill/>
          <a:ln/>
        </p:spPr>
        <p:txBody>
          <a:bodyPr wrap="square" lIns="0" tIns="0" rIns="0" bIns="0" rtlCol="0" anchor="ctr"/>
          <a:lstStyle/>
          <a:p>
            <a:pPr indent="0" marL="0">
              <a:buNone/>
            </a:pPr>
            <a:r>
              <a:rPr lang="en-US" sz="1800" dirty="0">
                <a:solidFill>
                  <a:srgbClr val="1B1F24"/>
                </a:solidFill>
                <a:latin typeface="Calibri" pitchFamily="34" charset="0"/>
                <a:ea typeface="Calibri" pitchFamily="34" charset="-122"/>
                <a:cs typeface="Calibri" pitchFamily="34" charset="-120"/>
              </a:rPr>
              <a:t>Ride features that separate road-induced from powertrain vibration</a:t>
            </a:r>
            <a:endParaRPr lang="en-US" sz="1800" dirty="0"/>
          </a:p>
        </p:txBody>
      </p:sp>
      <p:sp>
        <p:nvSpPr>
          <p:cNvPr id="27" name="Shape 23"/>
          <p:cNvSpPr/>
          <p:nvPr/>
        </p:nvSpPr>
        <p:spPr>
          <a:xfrm>
            <a:off x="9128455" y="5047488"/>
            <a:ext cx="2240280" cy="457200"/>
          </a:xfrm>
          <a:prstGeom prst="roundRect">
            <a:avLst>
              <a:gd name="adj" fmla="val 50000"/>
            </a:avLst>
          </a:prstGeom>
          <a:solidFill>
            <a:srgbClr val="14305C"/>
          </a:solidFill>
          <a:ln w="19050">
            <a:solidFill>
              <a:srgbClr val="14305C"/>
            </a:solidFill>
            <a:prstDash val="solid"/>
          </a:ln>
        </p:spPr>
      </p:sp>
      <p:sp>
        <p:nvSpPr>
          <p:cNvPr id="28" name="Text 24"/>
          <p:cNvSpPr txBox="1"/>
          <p:nvPr/>
        </p:nvSpPr>
        <p:spPr>
          <a:xfrm>
            <a:off x="9128455" y="5047488"/>
            <a:ext cx="224028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Self-test only</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84048"/>
            <a:ext cx="566928" cy="566928"/>
          </a:xfrm>
          <a:prstGeom prst="ellipse">
            <a:avLst/>
          </a:prstGeom>
          <a:solidFill>
            <a:srgbClr val="14305C"/>
          </a:solidFill>
          <a:ln w="12700">
            <a:solidFill>
              <a:srgbClr val="14305C"/>
            </a:solidFill>
            <a:prstDash val="solid"/>
          </a:ln>
        </p:spPr>
      </p:sp>
      <p:sp>
        <p:nvSpPr>
          <p:cNvPr id="3" name="Text 1"/>
          <p:cNvSpPr txBox="1"/>
          <p:nvPr/>
        </p:nvSpPr>
        <p:spPr>
          <a:xfrm>
            <a:off x="548640" y="384048"/>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4" name="Text 2"/>
          <p:cNvSpPr txBox="1"/>
          <p:nvPr/>
        </p:nvSpPr>
        <p:spPr>
          <a:xfrm>
            <a:off x="1325880" y="310896"/>
            <a:ext cx="10317175" cy="731520"/>
          </a:xfrm>
          <a:prstGeom prst="rect">
            <a:avLst/>
          </a:prstGeom>
          <a:noFill/>
          <a:ln/>
        </p:spPr>
        <p:txBody>
          <a:bodyPr wrap="square" lIns="0" tIns="0" rIns="0" bIns="0" rtlCol="0" anchor="ctr"/>
          <a:lstStyle/>
          <a:p>
            <a:pPr indent="0" marL="0">
              <a:buNone/>
            </a:pPr>
            <a:r>
              <a:rPr lang="en-US" sz="3200" b="1" dirty="0">
                <a:solidFill>
                  <a:srgbClr val="14305C"/>
                </a:solidFill>
                <a:latin typeface="Calibri" pitchFamily="34" charset="0"/>
                <a:ea typeface="Calibri" pitchFamily="34" charset="-122"/>
                <a:cs typeface="Calibri" pitchFamily="34" charset="-120"/>
              </a:rPr>
              <a:t>The system on the bench</a:t>
            </a:r>
            <a:endParaRPr lang="en-US" sz="3200" dirty="0"/>
          </a:p>
        </p:txBody>
      </p:sp>
      <p:pic>
        <p:nvPicPr>
          <p:cNvPr id="5" name="Image 0" descr="C:\Users\0geda\OneDrive - University of Cape Town\Documents\PlatformIO\Projects\Tukzie-HPEC-HUD\Presentation\source\assets\uct_logo.png">    </p:cNvPr>
          <p:cNvPicPr>
            <a:picLocks noChangeAspect="1"/>
          </p:cNvPicPr>
          <p:nvPr/>
        </p:nvPicPr>
        <p:blipFill>
          <a:blip r:embed="rId1"/>
          <a:stretch>
            <a:fillRect/>
          </a:stretch>
        </p:blipFill>
        <p:spPr>
          <a:xfrm>
            <a:off x="11259007" y="6327648"/>
            <a:ext cx="384048" cy="390449"/>
          </a:xfrm>
          <a:prstGeom prst="rect">
            <a:avLst/>
          </a:prstGeom>
        </p:spPr>
      </p:pic>
      <p:sp>
        <p:nvSpPr>
          <p:cNvPr id="6" name="Text 3"/>
          <p:cNvSpPr txBox="1"/>
          <p:nvPr/>
        </p:nvSpPr>
        <p:spPr>
          <a:xfrm>
            <a:off x="548640" y="6382512"/>
            <a:ext cx="5486400" cy="292608"/>
          </a:xfrm>
          <a:prstGeom prst="rect">
            <a:avLst/>
          </a:prstGeom>
          <a:noFill/>
          <a:ln/>
        </p:spPr>
        <p:txBody>
          <a:bodyPr wrap="square" lIns="0" tIns="0" rIns="0" bIns="0" rtlCol="0" anchor="ctr"/>
          <a:lstStyle/>
          <a:p>
            <a:pPr indent="0" marL="0">
              <a:buNone/>
            </a:pPr>
            <a:r>
              <a:rPr lang="en-US" sz="1100" dirty="0">
                <a:solidFill>
                  <a:srgbClr val="4A5566"/>
                </a:solidFill>
                <a:latin typeface="Calibri" pitchFamily="34" charset="0"/>
                <a:ea typeface="Calibri" pitchFamily="34" charset="-122"/>
                <a:cs typeface="Calibri" pitchFamily="34" charset="-120"/>
              </a:rPr>
              <a:t>SW-7   |   Samson Okuthe   |   EEE4022S 2026</a:t>
            </a:r>
            <a:endParaRPr lang="en-US" sz="1100" dirty="0"/>
          </a:p>
        </p:txBody>
      </p:sp>
      <p:sp>
        <p:nvSpPr>
          <p:cNvPr id="7" name="Text 4"/>
          <p:cNvSpPr txBox="1"/>
          <p:nvPr/>
        </p:nvSpPr>
        <p:spPr>
          <a:xfrm>
            <a:off x="10180015" y="6382512"/>
            <a:ext cx="914400" cy="292608"/>
          </a:xfrm>
          <a:prstGeom prst="rect">
            <a:avLst/>
          </a:prstGeom>
          <a:noFill/>
          <a:ln/>
        </p:spPr>
        <p:txBody>
          <a:bodyPr wrap="square" lIns="0" tIns="0" rIns="0" bIns="0" rtlCol="0" anchor="ctr"/>
          <a:lstStyle/>
          <a:p>
            <a:pPr algn="r" indent="0" marL="0">
              <a:buNone/>
            </a:pPr>
            <a:r>
              <a:rPr lang="en-US" sz="1100" dirty="0">
                <a:solidFill>
                  <a:srgbClr val="4A5566"/>
                </a:solidFill>
                <a:latin typeface="Calibri" pitchFamily="34" charset="0"/>
                <a:ea typeface="Calibri" pitchFamily="34" charset="-122"/>
                <a:cs typeface="Calibri" pitchFamily="34" charset="-120"/>
              </a:rPr>
              <a:t>4 / 12</a:t>
            </a:r>
            <a:endParaRPr lang="en-US" sz="1100" dirty="0"/>
          </a:p>
        </p:txBody>
      </p:sp>
      <p:pic>
        <p:nvPicPr>
          <p:cNvPr id="9" name="Image 1" descr="C:\Users\0geda\OneDrive - University of Cape Town\Documents\PlatformIO\Projects\Tukzie-HPEC-HUD\Presentation\source\assets\bench_labelled.png">    </p:cNvPr>
          <p:cNvPicPr>
            <a:picLocks noChangeAspect="1"/>
          </p:cNvPicPr>
          <p:nvPr/>
        </p:nvPicPr>
        <p:blipFill>
          <a:blip r:embed="rId2"/>
          <a:stretch>
            <a:fillRect/>
          </a:stretch>
        </p:blipFill>
        <p:spPr>
          <a:xfrm>
            <a:off x="548640" y="1234440"/>
            <a:ext cx="6940865" cy="5074920"/>
          </a:xfrm>
          <a:prstGeom prst="rect">
            <a:avLst/>
          </a:prstGeom>
        </p:spPr>
      </p:pic>
      <p:sp>
        <p:nvSpPr>
          <p:cNvPr id="10" name="Shape 5"/>
          <p:cNvSpPr/>
          <p:nvPr/>
        </p:nvSpPr>
        <p:spPr>
          <a:xfrm>
            <a:off x="7900985" y="1234440"/>
            <a:ext cx="3742070" cy="868680"/>
          </a:xfrm>
          <a:prstGeom prst="roundRect">
            <a:avLst>
              <a:gd name="adj" fmla="val 12632"/>
            </a:avLst>
          </a:prstGeom>
          <a:solidFill>
            <a:srgbClr val="E8F0FA"/>
          </a:solidFill>
          <a:ln w="12700">
            <a:solidFill>
              <a:srgbClr val="E8F0FA"/>
            </a:solidFill>
            <a:prstDash val="solid"/>
          </a:ln>
        </p:spPr>
      </p:sp>
      <p:sp>
        <p:nvSpPr>
          <p:cNvPr id="11" name="Text 6"/>
          <p:cNvSpPr txBox="1"/>
          <p:nvPr/>
        </p:nvSpPr>
        <p:spPr>
          <a:xfrm>
            <a:off x="8129585" y="1307592"/>
            <a:ext cx="3284870" cy="310896"/>
          </a:xfrm>
          <a:prstGeom prst="rect">
            <a:avLst/>
          </a:prstGeom>
          <a:noFill/>
          <a:ln/>
        </p:spPr>
        <p:txBody>
          <a:bodyPr wrap="square" lIns="0" tIns="0" rIns="0" bIns="0" rtlCol="0" anchor="ctr"/>
          <a:lstStyle/>
          <a:p>
            <a:pPr indent="0" marL="0">
              <a:buNone/>
            </a:pPr>
            <a:r>
              <a:rPr lang="en-US" sz="1600" b="1" dirty="0">
                <a:solidFill>
                  <a:srgbClr val="14305C"/>
                </a:solidFill>
                <a:latin typeface="Calibri" pitchFamily="34" charset="0"/>
                <a:ea typeface="Calibri" pitchFamily="34" charset="-122"/>
                <a:cs typeface="Calibri" pitchFamily="34" charset="-120"/>
              </a:rPr>
              <a:t>Telemetry unit</a:t>
            </a:r>
            <a:endParaRPr lang="en-US" sz="1600" dirty="0"/>
          </a:p>
        </p:txBody>
      </p:sp>
      <p:sp>
        <p:nvSpPr>
          <p:cNvPr id="12" name="Text 7"/>
          <p:cNvSpPr txBox="1"/>
          <p:nvPr/>
        </p:nvSpPr>
        <p:spPr>
          <a:xfrm>
            <a:off x="8129585" y="1618488"/>
            <a:ext cx="3284870" cy="457200"/>
          </a:xfrm>
          <a:prstGeom prst="rect">
            <a:avLst/>
          </a:prstGeom>
          <a:noFill/>
          <a:ln/>
        </p:spPr>
        <p:txBody>
          <a:bodyPr wrap="square" lIns="0" tIns="0" rIns="0" bIns="0" rtlCol="0" anchor="t"/>
          <a:lstStyle/>
          <a:p>
            <a:pPr indent="0" marL="0">
              <a:buNone/>
            </a:pPr>
            <a:r>
              <a:rPr lang="en-US" sz="1300" dirty="0">
                <a:solidFill>
                  <a:srgbClr val="1B1F24"/>
                </a:solidFill>
                <a:latin typeface="Calibri" pitchFamily="34" charset="0"/>
                <a:ea typeface="Calibri" pitchFamily="34" charset="-122"/>
                <a:cs typeface="Calibri" pitchFamily="34" charset="-120"/>
              </a:rPr>
              <a:t>ESP32-S3 with LTE and GNSS: acquisition, ride features, local log, MQTT</a:t>
            </a:r>
            <a:endParaRPr lang="en-US" sz="1300" dirty="0"/>
          </a:p>
        </p:txBody>
      </p:sp>
      <p:sp>
        <p:nvSpPr>
          <p:cNvPr id="13" name="Shape 8"/>
          <p:cNvSpPr/>
          <p:nvPr/>
        </p:nvSpPr>
        <p:spPr>
          <a:xfrm>
            <a:off x="7900985" y="2286000"/>
            <a:ext cx="3742070" cy="868680"/>
          </a:xfrm>
          <a:prstGeom prst="roundRect">
            <a:avLst>
              <a:gd name="adj" fmla="val 12632"/>
            </a:avLst>
          </a:prstGeom>
          <a:solidFill>
            <a:srgbClr val="E8F0FA"/>
          </a:solidFill>
          <a:ln w="12700">
            <a:solidFill>
              <a:srgbClr val="E8F0FA"/>
            </a:solidFill>
            <a:prstDash val="solid"/>
          </a:ln>
        </p:spPr>
      </p:sp>
      <p:sp>
        <p:nvSpPr>
          <p:cNvPr id="14" name="Text 9"/>
          <p:cNvSpPr txBox="1"/>
          <p:nvPr/>
        </p:nvSpPr>
        <p:spPr>
          <a:xfrm>
            <a:off x="8129585" y="2359152"/>
            <a:ext cx="3284870" cy="310896"/>
          </a:xfrm>
          <a:prstGeom prst="rect">
            <a:avLst/>
          </a:prstGeom>
          <a:noFill/>
          <a:ln/>
        </p:spPr>
        <p:txBody>
          <a:bodyPr wrap="square" lIns="0" tIns="0" rIns="0" bIns="0" rtlCol="0" anchor="ctr"/>
          <a:lstStyle/>
          <a:p>
            <a:pPr indent="0" marL="0">
              <a:buNone/>
            </a:pPr>
            <a:r>
              <a:rPr lang="en-US" sz="1600" b="1" dirty="0">
                <a:solidFill>
                  <a:srgbClr val="14305C"/>
                </a:solidFill>
                <a:latin typeface="Calibri" pitchFamily="34" charset="0"/>
                <a:ea typeface="Calibri" pitchFamily="34" charset="-122"/>
                <a:cs typeface="Calibri" pitchFamily="34" charset="-120"/>
              </a:rPr>
              <a:t>Two IMUs</a:t>
            </a:r>
            <a:endParaRPr lang="en-US" sz="1600" dirty="0"/>
          </a:p>
        </p:txBody>
      </p:sp>
      <p:sp>
        <p:nvSpPr>
          <p:cNvPr id="15" name="Text 10"/>
          <p:cNvSpPr txBox="1"/>
          <p:nvPr/>
        </p:nvSpPr>
        <p:spPr>
          <a:xfrm>
            <a:off x="8129585" y="2670048"/>
            <a:ext cx="3284870" cy="457200"/>
          </a:xfrm>
          <a:prstGeom prst="rect">
            <a:avLst/>
          </a:prstGeom>
          <a:noFill/>
          <a:ln/>
        </p:spPr>
        <p:txBody>
          <a:bodyPr wrap="square" lIns="0" tIns="0" rIns="0" bIns="0" rtlCol="0" anchor="t"/>
          <a:lstStyle/>
          <a:p>
            <a:pPr indent="0" marL="0">
              <a:buNone/>
            </a:pPr>
            <a:r>
              <a:rPr lang="en-US" sz="1300" dirty="0">
                <a:solidFill>
                  <a:srgbClr val="1B1F24"/>
                </a:solidFill>
                <a:latin typeface="Calibri" pitchFamily="34" charset="0"/>
                <a:ea typeface="Calibri" pitchFamily="34" charset="-122"/>
                <a:cs typeface="Calibri" pitchFamily="34" charset="-120"/>
              </a:rPr>
              <a:t>MPU6050s at 200 Hz each, fused into one ride estimate</a:t>
            </a:r>
            <a:endParaRPr lang="en-US" sz="1300" dirty="0"/>
          </a:p>
        </p:txBody>
      </p:sp>
      <p:sp>
        <p:nvSpPr>
          <p:cNvPr id="16" name="Shape 11"/>
          <p:cNvSpPr/>
          <p:nvPr/>
        </p:nvSpPr>
        <p:spPr>
          <a:xfrm>
            <a:off x="7900985" y="3337560"/>
            <a:ext cx="3742070" cy="868680"/>
          </a:xfrm>
          <a:prstGeom prst="roundRect">
            <a:avLst>
              <a:gd name="adj" fmla="val 12632"/>
            </a:avLst>
          </a:prstGeom>
          <a:solidFill>
            <a:srgbClr val="E8F0FA"/>
          </a:solidFill>
          <a:ln w="12700">
            <a:solidFill>
              <a:srgbClr val="E8F0FA"/>
            </a:solidFill>
            <a:prstDash val="solid"/>
          </a:ln>
        </p:spPr>
      </p:sp>
      <p:sp>
        <p:nvSpPr>
          <p:cNvPr id="17" name="Text 12"/>
          <p:cNvSpPr txBox="1"/>
          <p:nvPr/>
        </p:nvSpPr>
        <p:spPr>
          <a:xfrm>
            <a:off x="8129585" y="3410712"/>
            <a:ext cx="3284870" cy="310896"/>
          </a:xfrm>
          <a:prstGeom prst="rect">
            <a:avLst/>
          </a:prstGeom>
          <a:noFill/>
          <a:ln/>
        </p:spPr>
        <p:txBody>
          <a:bodyPr wrap="square" lIns="0" tIns="0" rIns="0" bIns="0" rtlCol="0" anchor="ctr"/>
          <a:lstStyle/>
          <a:p>
            <a:pPr indent="0" marL="0">
              <a:buNone/>
            </a:pPr>
            <a:r>
              <a:rPr lang="en-US" sz="1600" b="1" dirty="0">
                <a:solidFill>
                  <a:srgbClr val="14305C"/>
                </a:solidFill>
                <a:latin typeface="Calibri" pitchFamily="34" charset="0"/>
                <a:ea typeface="Calibri" pitchFamily="34" charset="-122"/>
                <a:cs typeface="Calibri" pitchFamily="34" charset="-120"/>
              </a:rPr>
              <a:t>Battery and motor</a:t>
            </a:r>
            <a:endParaRPr lang="en-US" sz="1600" dirty="0"/>
          </a:p>
        </p:txBody>
      </p:sp>
      <p:sp>
        <p:nvSpPr>
          <p:cNvPr id="18" name="Text 13"/>
          <p:cNvSpPr txBox="1"/>
          <p:nvPr/>
        </p:nvSpPr>
        <p:spPr>
          <a:xfrm>
            <a:off x="8129585" y="3721608"/>
            <a:ext cx="3284870" cy="457200"/>
          </a:xfrm>
          <a:prstGeom prst="rect">
            <a:avLst/>
          </a:prstGeom>
          <a:noFill/>
          <a:ln/>
        </p:spPr>
        <p:txBody>
          <a:bodyPr wrap="square" lIns="0" tIns="0" rIns="0" bIns="0" rtlCol="0" anchor="t"/>
          <a:lstStyle/>
          <a:p>
            <a:pPr indent="0" marL="0">
              <a:buNone/>
            </a:pPr>
            <a:r>
              <a:rPr lang="en-US" sz="1300" dirty="0">
                <a:solidFill>
                  <a:srgbClr val="1B1F24"/>
                </a:solidFill>
                <a:latin typeface="Calibri" pitchFamily="34" charset="0"/>
                <a:ea typeface="Calibri" pitchFamily="34" charset="-122"/>
                <a:cs typeface="Calibri" pitchFamily="34" charset="-120"/>
              </a:rPr>
              <a:t>BMS over Bluetooth Low Energy; Hall pulse counter</a:t>
            </a:r>
            <a:endParaRPr lang="en-US" sz="1300" dirty="0"/>
          </a:p>
        </p:txBody>
      </p:sp>
      <p:sp>
        <p:nvSpPr>
          <p:cNvPr id="19" name="Shape 14"/>
          <p:cNvSpPr/>
          <p:nvPr/>
        </p:nvSpPr>
        <p:spPr>
          <a:xfrm>
            <a:off x="7900985" y="4389120"/>
            <a:ext cx="3742070" cy="868680"/>
          </a:xfrm>
          <a:prstGeom prst="roundRect">
            <a:avLst>
              <a:gd name="adj" fmla="val 12632"/>
            </a:avLst>
          </a:prstGeom>
          <a:solidFill>
            <a:srgbClr val="E8F0FA"/>
          </a:solidFill>
          <a:ln w="12700">
            <a:solidFill>
              <a:srgbClr val="E8F0FA"/>
            </a:solidFill>
            <a:prstDash val="solid"/>
          </a:ln>
        </p:spPr>
      </p:sp>
      <p:sp>
        <p:nvSpPr>
          <p:cNvPr id="20" name="Text 15"/>
          <p:cNvSpPr txBox="1"/>
          <p:nvPr/>
        </p:nvSpPr>
        <p:spPr>
          <a:xfrm>
            <a:off x="8129585" y="4462272"/>
            <a:ext cx="3284870" cy="310896"/>
          </a:xfrm>
          <a:prstGeom prst="rect">
            <a:avLst/>
          </a:prstGeom>
          <a:noFill/>
          <a:ln/>
        </p:spPr>
        <p:txBody>
          <a:bodyPr wrap="square" lIns="0" tIns="0" rIns="0" bIns="0" rtlCol="0" anchor="ctr"/>
          <a:lstStyle/>
          <a:p>
            <a:pPr indent="0" marL="0">
              <a:buNone/>
            </a:pPr>
            <a:r>
              <a:rPr lang="en-US" sz="1600" b="1" dirty="0">
                <a:solidFill>
                  <a:srgbClr val="14305C"/>
                </a:solidFill>
                <a:latin typeface="Calibri" pitchFamily="34" charset="0"/>
                <a:ea typeface="Calibri" pitchFamily="34" charset="-122"/>
                <a:cs typeface="Calibri" pitchFamily="34" charset="-120"/>
              </a:rPr>
              <a:t>Camera</a:t>
            </a:r>
            <a:endParaRPr lang="en-US" sz="1600" dirty="0"/>
          </a:p>
        </p:txBody>
      </p:sp>
      <p:sp>
        <p:nvSpPr>
          <p:cNvPr id="21" name="Text 16"/>
          <p:cNvSpPr txBox="1"/>
          <p:nvPr/>
        </p:nvSpPr>
        <p:spPr>
          <a:xfrm>
            <a:off x="8129585" y="4773168"/>
            <a:ext cx="3284870" cy="457200"/>
          </a:xfrm>
          <a:prstGeom prst="rect">
            <a:avLst/>
          </a:prstGeom>
          <a:noFill/>
          <a:ln/>
        </p:spPr>
        <p:txBody>
          <a:bodyPr wrap="square" lIns="0" tIns="0" rIns="0" bIns="0" rtlCol="0" anchor="t"/>
          <a:lstStyle/>
          <a:p>
            <a:pPr indent="0" marL="0">
              <a:buNone/>
            </a:pPr>
            <a:r>
              <a:rPr lang="en-US" sz="1300" dirty="0">
                <a:solidFill>
                  <a:srgbClr val="1B1F24"/>
                </a:solidFill>
                <a:latin typeface="Calibri" pitchFamily="34" charset="0"/>
                <a:ea typeface="Calibri" pitchFamily="34" charset="-122"/>
                <a:cs typeface="Calibri" pitchFamily="34" charset="-120"/>
              </a:rPr>
              <a:t>Pi 4 and OV5647: object detector, time-aligned by a sync wire</a:t>
            </a:r>
            <a:endParaRPr lang="en-US" sz="1300" dirty="0"/>
          </a:p>
        </p:txBody>
      </p:sp>
      <p:sp>
        <p:nvSpPr>
          <p:cNvPr id="22" name="Shape 17"/>
          <p:cNvSpPr/>
          <p:nvPr/>
        </p:nvSpPr>
        <p:spPr>
          <a:xfrm>
            <a:off x="7900985" y="5440680"/>
            <a:ext cx="3742070" cy="868680"/>
          </a:xfrm>
          <a:prstGeom prst="roundRect">
            <a:avLst>
              <a:gd name="adj" fmla="val 12632"/>
            </a:avLst>
          </a:prstGeom>
          <a:solidFill>
            <a:srgbClr val="E8F0FA"/>
          </a:solidFill>
          <a:ln w="12700">
            <a:solidFill>
              <a:srgbClr val="E8F0FA"/>
            </a:solidFill>
            <a:prstDash val="solid"/>
          </a:ln>
        </p:spPr>
      </p:sp>
      <p:sp>
        <p:nvSpPr>
          <p:cNvPr id="23" name="Text 18"/>
          <p:cNvSpPr txBox="1"/>
          <p:nvPr/>
        </p:nvSpPr>
        <p:spPr>
          <a:xfrm>
            <a:off x="8129585" y="5513832"/>
            <a:ext cx="3284870" cy="310896"/>
          </a:xfrm>
          <a:prstGeom prst="rect">
            <a:avLst/>
          </a:prstGeom>
          <a:noFill/>
          <a:ln/>
        </p:spPr>
        <p:txBody>
          <a:bodyPr wrap="square" lIns="0" tIns="0" rIns="0" bIns="0" rtlCol="0" anchor="ctr"/>
          <a:lstStyle/>
          <a:p>
            <a:pPr indent="0" marL="0">
              <a:buNone/>
            </a:pPr>
            <a:r>
              <a:rPr lang="en-US" sz="1600" b="1" dirty="0">
                <a:solidFill>
                  <a:srgbClr val="14305C"/>
                </a:solidFill>
                <a:latin typeface="Calibri" pitchFamily="34" charset="0"/>
                <a:ea typeface="Calibri" pitchFamily="34" charset="-122"/>
                <a:cs typeface="Calibri" pitchFamily="34" charset="-120"/>
              </a:rPr>
              <a:t>Distance sensors</a:t>
            </a:r>
            <a:endParaRPr lang="en-US" sz="1600" dirty="0"/>
          </a:p>
        </p:txBody>
      </p:sp>
      <p:sp>
        <p:nvSpPr>
          <p:cNvPr id="24" name="Text 19"/>
          <p:cNvSpPr txBox="1"/>
          <p:nvPr/>
        </p:nvSpPr>
        <p:spPr>
          <a:xfrm>
            <a:off x="8129585" y="5824728"/>
            <a:ext cx="3284870" cy="457200"/>
          </a:xfrm>
          <a:prstGeom prst="rect">
            <a:avLst/>
          </a:prstGeom>
          <a:noFill/>
          <a:ln/>
        </p:spPr>
        <p:txBody>
          <a:bodyPr wrap="square" lIns="0" tIns="0" rIns="0" bIns="0" rtlCol="0" anchor="t"/>
          <a:lstStyle/>
          <a:p>
            <a:pPr indent="0" marL="0">
              <a:buNone/>
            </a:pPr>
            <a:r>
              <a:rPr lang="en-US" sz="1300" dirty="0">
                <a:solidFill>
                  <a:srgbClr val="1B1F24"/>
                </a:solidFill>
                <a:latin typeface="Calibri" pitchFamily="34" charset="0"/>
                <a:ea typeface="Calibri" pitchFamily="34" charset="-122"/>
                <a:cs typeface="Calibri" pitchFamily="34" charset="-120"/>
              </a:rPr>
              <a:t>Three time-of-flight sensors on the Pi: left, ahead, right</a:t>
            </a:r>
            <a:endParaRPr lang="en-US" sz="13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84048"/>
            <a:ext cx="566928" cy="566928"/>
          </a:xfrm>
          <a:prstGeom prst="ellipse">
            <a:avLst/>
          </a:prstGeom>
          <a:solidFill>
            <a:srgbClr val="14305C"/>
          </a:solidFill>
          <a:ln w="12700">
            <a:solidFill>
              <a:srgbClr val="14305C"/>
            </a:solidFill>
            <a:prstDash val="solid"/>
          </a:ln>
        </p:spPr>
      </p:sp>
      <p:sp>
        <p:nvSpPr>
          <p:cNvPr id="3" name="Text 1"/>
          <p:cNvSpPr txBox="1"/>
          <p:nvPr/>
        </p:nvSpPr>
        <p:spPr>
          <a:xfrm>
            <a:off x="548640" y="384048"/>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4" name="Text 2"/>
          <p:cNvSpPr txBox="1"/>
          <p:nvPr/>
        </p:nvSpPr>
        <p:spPr>
          <a:xfrm>
            <a:off x="1325880" y="310896"/>
            <a:ext cx="10317175" cy="731520"/>
          </a:xfrm>
          <a:prstGeom prst="rect">
            <a:avLst/>
          </a:prstGeom>
          <a:noFill/>
          <a:ln/>
        </p:spPr>
        <p:txBody>
          <a:bodyPr wrap="square" lIns="0" tIns="0" rIns="0" bIns="0" rtlCol="0" anchor="ctr"/>
          <a:lstStyle/>
          <a:p>
            <a:pPr indent="0" marL="0">
              <a:buNone/>
            </a:pPr>
            <a:r>
              <a:rPr lang="en-US" sz="3200" b="1" dirty="0">
                <a:solidFill>
                  <a:srgbClr val="14305C"/>
                </a:solidFill>
                <a:latin typeface="Calibri" pitchFamily="34" charset="0"/>
                <a:ea typeface="Calibri" pitchFamily="34" charset="-122"/>
                <a:cs typeface="Calibri" pitchFamily="34" charset="-120"/>
              </a:rPr>
              <a:t>Firmware: deterministic acquisition first</a:t>
            </a:r>
            <a:endParaRPr lang="en-US" sz="3200" dirty="0"/>
          </a:p>
        </p:txBody>
      </p:sp>
      <p:pic>
        <p:nvPicPr>
          <p:cNvPr id="5" name="Image 0" descr="C:\Users\0geda\OneDrive - University of Cape Town\Documents\PlatformIO\Projects\Tukzie-HPEC-HUD\Presentation\source\assets\uct_logo.png">    </p:cNvPr>
          <p:cNvPicPr>
            <a:picLocks noChangeAspect="1"/>
          </p:cNvPicPr>
          <p:nvPr/>
        </p:nvPicPr>
        <p:blipFill>
          <a:blip r:embed="rId1"/>
          <a:stretch>
            <a:fillRect/>
          </a:stretch>
        </p:blipFill>
        <p:spPr>
          <a:xfrm>
            <a:off x="11259007" y="6327648"/>
            <a:ext cx="384048" cy="390449"/>
          </a:xfrm>
          <a:prstGeom prst="rect">
            <a:avLst/>
          </a:prstGeom>
        </p:spPr>
      </p:pic>
      <p:sp>
        <p:nvSpPr>
          <p:cNvPr id="6" name="Text 3"/>
          <p:cNvSpPr txBox="1"/>
          <p:nvPr/>
        </p:nvSpPr>
        <p:spPr>
          <a:xfrm>
            <a:off x="548640" y="6382512"/>
            <a:ext cx="5486400" cy="292608"/>
          </a:xfrm>
          <a:prstGeom prst="rect">
            <a:avLst/>
          </a:prstGeom>
          <a:noFill/>
          <a:ln/>
        </p:spPr>
        <p:txBody>
          <a:bodyPr wrap="square" lIns="0" tIns="0" rIns="0" bIns="0" rtlCol="0" anchor="ctr"/>
          <a:lstStyle/>
          <a:p>
            <a:pPr indent="0" marL="0">
              <a:buNone/>
            </a:pPr>
            <a:r>
              <a:rPr lang="en-US" sz="1100" dirty="0">
                <a:solidFill>
                  <a:srgbClr val="4A5566"/>
                </a:solidFill>
                <a:latin typeface="Calibri" pitchFamily="34" charset="0"/>
                <a:ea typeface="Calibri" pitchFamily="34" charset="-122"/>
                <a:cs typeface="Calibri" pitchFamily="34" charset="-120"/>
              </a:rPr>
              <a:t>SW-7   |   Samson Okuthe   |   EEE4022S 2026</a:t>
            </a:r>
            <a:endParaRPr lang="en-US" sz="1100" dirty="0"/>
          </a:p>
        </p:txBody>
      </p:sp>
      <p:sp>
        <p:nvSpPr>
          <p:cNvPr id="7" name="Text 4"/>
          <p:cNvSpPr txBox="1"/>
          <p:nvPr/>
        </p:nvSpPr>
        <p:spPr>
          <a:xfrm>
            <a:off x="10180015" y="6382512"/>
            <a:ext cx="914400" cy="292608"/>
          </a:xfrm>
          <a:prstGeom prst="rect">
            <a:avLst/>
          </a:prstGeom>
          <a:noFill/>
          <a:ln/>
        </p:spPr>
        <p:txBody>
          <a:bodyPr wrap="square" lIns="0" tIns="0" rIns="0" bIns="0" rtlCol="0" anchor="ctr"/>
          <a:lstStyle/>
          <a:p>
            <a:pPr algn="r" indent="0" marL="0">
              <a:buNone/>
            </a:pPr>
            <a:r>
              <a:rPr lang="en-US" sz="1100" dirty="0">
                <a:solidFill>
                  <a:srgbClr val="4A5566"/>
                </a:solidFill>
                <a:latin typeface="Calibri" pitchFamily="34" charset="0"/>
                <a:ea typeface="Calibri" pitchFamily="34" charset="-122"/>
                <a:cs typeface="Calibri" pitchFamily="34" charset="-120"/>
              </a:rPr>
              <a:t>5 / 12</a:t>
            </a:r>
            <a:endParaRPr lang="en-US" sz="1100" dirty="0"/>
          </a:p>
        </p:txBody>
      </p:sp>
      <p:sp>
        <p:nvSpPr>
          <p:cNvPr id="9" name="Shape 5"/>
          <p:cNvSpPr/>
          <p:nvPr/>
        </p:nvSpPr>
        <p:spPr>
          <a:xfrm>
            <a:off x="548640" y="1325880"/>
            <a:ext cx="7406640" cy="4343400"/>
          </a:xfrm>
          <a:prstGeom prst="roundRect">
            <a:avLst>
              <a:gd name="adj" fmla="val 2526"/>
            </a:avLst>
          </a:prstGeom>
          <a:solidFill>
            <a:srgbClr val="E8F0FA"/>
          </a:solidFill>
          <a:ln w="12700">
            <a:solidFill>
              <a:srgbClr val="E8F0FA"/>
            </a:solidFill>
            <a:prstDash val="solid"/>
          </a:ln>
        </p:spPr>
      </p:sp>
      <p:sp>
        <p:nvSpPr>
          <p:cNvPr id="10" name="Text 6"/>
          <p:cNvSpPr txBox="1"/>
          <p:nvPr/>
        </p:nvSpPr>
        <p:spPr>
          <a:xfrm>
            <a:off x="777240" y="1435608"/>
            <a:ext cx="3657600" cy="365760"/>
          </a:xfrm>
          <a:prstGeom prst="rect">
            <a:avLst/>
          </a:prstGeom>
          <a:noFill/>
          <a:ln/>
        </p:spPr>
        <p:txBody>
          <a:bodyPr wrap="square" lIns="0" tIns="0" rIns="0" bIns="0" rtlCol="0" anchor="ctr"/>
          <a:lstStyle/>
          <a:p>
            <a:pPr indent="0" marL="0">
              <a:buNone/>
            </a:pPr>
            <a:r>
              <a:rPr lang="en-US" sz="1600" b="1" dirty="0">
                <a:solidFill>
                  <a:srgbClr val="1565C0"/>
                </a:solidFill>
                <a:latin typeface="Calibri" pitchFamily="34" charset="0"/>
                <a:ea typeface="Calibri" pitchFamily="34" charset="-122"/>
                <a:cs typeface="Calibri" pitchFamily="34" charset="-120"/>
              </a:rPr>
              <a:t>Core 1: timing-critical</a:t>
            </a:r>
            <a:endParaRPr lang="en-US" sz="1600" dirty="0"/>
          </a:p>
        </p:txBody>
      </p:sp>
      <p:sp>
        <p:nvSpPr>
          <p:cNvPr id="11" name="Shape 7"/>
          <p:cNvSpPr/>
          <p:nvPr/>
        </p:nvSpPr>
        <p:spPr>
          <a:xfrm>
            <a:off x="822960" y="1965960"/>
            <a:ext cx="2011680" cy="914400"/>
          </a:xfrm>
          <a:prstGeom prst="roundRect">
            <a:avLst>
              <a:gd name="adj" fmla="val 10000"/>
            </a:avLst>
          </a:prstGeom>
          <a:solidFill>
            <a:srgbClr val="FFFFFF"/>
          </a:solidFill>
          <a:ln w="19050">
            <a:solidFill>
              <a:srgbClr val="1565C0"/>
            </a:solidFill>
            <a:prstDash val="solid"/>
          </a:ln>
        </p:spPr>
      </p:sp>
      <p:sp>
        <p:nvSpPr>
          <p:cNvPr id="12" name="Text 8"/>
          <p:cNvSpPr txBox="1"/>
          <p:nvPr/>
        </p:nvSpPr>
        <p:spPr>
          <a:xfrm>
            <a:off x="932688" y="2020824"/>
            <a:ext cx="1792224" cy="329184"/>
          </a:xfrm>
          <a:prstGeom prst="rect">
            <a:avLst/>
          </a:prstGeom>
          <a:noFill/>
          <a:ln/>
        </p:spPr>
        <p:txBody>
          <a:bodyPr wrap="square" lIns="0" tIns="0" rIns="0" bIns="0" rtlCol="0" anchor="ctr"/>
          <a:lstStyle/>
          <a:p>
            <a:pPr algn="ctr" indent="0" marL="0">
              <a:buNone/>
            </a:pPr>
            <a:r>
              <a:rPr lang="en-US" sz="1500" b="1" dirty="0">
                <a:solidFill>
                  <a:srgbClr val="14305C"/>
                </a:solidFill>
                <a:latin typeface="Calibri" pitchFamily="34" charset="0"/>
                <a:ea typeface="Calibri" pitchFamily="34" charset="-122"/>
                <a:cs typeface="Calibri" pitchFamily="34" charset="-120"/>
              </a:rPr>
              <a:t>Imu1Task</a:t>
            </a:r>
            <a:endParaRPr lang="en-US" sz="1500" dirty="0"/>
          </a:p>
        </p:txBody>
      </p:sp>
      <p:sp>
        <p:nvSpPr>
          <p:cNvPr id="13" name="Text 9"/>
          <p:cNvSpPr txBox="1"/>
          <p:nvPr/>
        </p:nvSpPr>
        <p:spPr>
          <a:xfrm>
            <a:off x="932688" y="2350008"/>
            <a:ext cx="1792224" cy="475488"/>
          </a:xfrm>
          <a:prstGeom prst="rect">
            <a:avLst/>
          </a:prstGeom>
          <a:noFill/>
          <a:ln/>
        </p:spPr>
        <p:txBody>
          <a:bodyPr wrap="square" lIns="0" tIns="0" rIns="0" bIns="0" rtlCol="0" anchor="t"/>
          <a:lstStyle/>
          <a:p>
            <a:pPr algn="ctr" indent="0" marL="0">
              <a:buNone/>
            </a:pPr>
            <a:r>
              <a:rPr lang="en-US" sz="1200" dirty="0">
                <a:solidFill>
                  <a:srgbClr val="4A5566"/>
                </a:solidFill>
                <a:latin typeface="Calibri" pitchFamily="34" charset="0"/>
                <a:ea typeface="Calibri" pitchFamily="34" charset="-122"/>
                <a:cs typeface="Calibri" pitchFamily="34" charset="-120"/>
              </a:rPr>
              <a:t>200 Hz, priority 3</a:t>
            </a:r>
            <a:endParaRPr lang="en-US" sz="1200" dirty="0"/>
          </a:p>
        </p:txBody>
      </p:sp>
      <p:sp>
        <p:nvSpPr>
          <p:cNvPr id="14" name="Shape 10"/>
          <p:cNvSpPr/>
          <p:nvPr/>
        </p:nvSpPr>
        <p:spPr>
          <a:xfrm>
            <a:off x="822960" y="3200400"/>
            <a:ext cx="2011680" cy="914400"/>
          </a:xfrm>
          <a:prstGeom prst="roundRect">
            <a:avLst>
              <a:gd name="adj" fmla="val 10000"/>
            </a:avLst>
          </a:prstGeom>
          <a:solidFill>
            <a:srgbClr val="FFFFFF"/>
          </a:solidFill>
          <a:ln w="19050">
            <a:solidFill>
              <a:srgbClr val="1565C0"/>
            </a:solidFill>
            <a:prstDash val="solid"/>
          </a:ln>
        </p:spPr>
      </p:sp>
      <p:sp>
        <p:nvSpPr>
          <p:cNvPr id="15" name="Text 11"/>
          <p:cNvSpPr txBox="1"/>
          <p:nvPr/>
        </p:nvSpPr>
        <p:spPr>
          <a:xfrm>
            <a:off x="932688" y="3255264"/>
            <a:ext cx="1792224" cy="329184"/>
          </a:xfrm>
          <a:prstGeom prst="rect">
            <a:avLst/>
          </a:prstGeom>
          <a:noFill/>
          <a:ln/>
        </p:spPr>
        <p:txBody>
          <a:bodyPr wrap="square" lIns="0" tIns="0" rIns="0" bIns="0" rtlCol="0" anchor="ctr"/>
          <a:lstStyle/>
          <a:p>
            <a:pPr algn="ctr" indent="0" marL="0">
              <a:buNone/>
            </a:pPr>
            <a:r>
              <a:rPr lang="en-US" sz="1500" b="1" dirty="0">
                <a:solidFill>
                  <a:srgbClr val="14305C"/>
                </a:solidFill>
                <a:latin typeface="Calibri" pitchFamily="34" charset="0"/>
                <a:ea typeface="Calibri" pitchFamily="34" charset="-122"/>
                <a:cs typeface="Calibri" pitchFamily="34" charset="-120"/>
              </a:rPr>
              <a:t>Imu2Task</a:t>
            </a:r>
            <a:endParaRPr lang="en-US" sz="1500" dirty="0"/>
          </a:p>
        </p:txBody>
      </p:sp>
      <p:sp>
        <p:nvSpPr>
          <p:cNvPr id="16" name="Text 12"/>
          <p:cNvSpPr txBox="1"/>
          <p:nvPr/>
        </p:nvSpPr>
        <p:spPr>
          <a:xfrm>
            <a:off x="932688" y="3584448"/>
            <a:ext cx="1792224" cy="475488"/>
          </a:xfrm>
          <a:prstGeom prst="rect">
            <a:avLst/>
          </a:prstGeom>
          <a:noFill/>
          <a:ln/>
        </p:spPr>
        <p:txBody>
          <a:bodyPr wrap="square" lIns="0" tIns="0" rIns="0" bIns="0" rtlCol="0" anchor="t"/>
          <a:lstStyle/>
          <a:p>
            <a:pPr algn="ctr" indent="0" marL="0">
              <a:buNone/>
            </a:pPr>
            <a:r>
              <a:rPr lang="en-US" sz="1200" dirty="0">
                <a:solidFill>
                  <a:srgbClr val="4A5566"/>
                </a:solidFill>
                <a:latin typeface="Calibri" pitchFamily="34" charset="0"/>
                <a:ea typeface="Calibri" pitchFamily="34" charset="-122"/>
                <a:cs typeface="Calibri" pitchFamily="34" charset="-120"/>
              </a:rPr>
              <a:t>200 Hz, priority 3</a:t>
            </a:r>
            <a:endParaRPr lang="en-US" sz="1200" dirty="0"/>
          </a:p>
        </p:txBody>
      </p:sp>
      <p:sp>
        <p:nvSpPr>
          <p:cNvPr id="17" name="Shape 13"/>
          <p:cNvSpPr/>
          <p:nvPr/>
        </p:nvSpPr>
        <p:spPr>
          <a:xfrm>
            <a:off x="3246120" y="1965960"/>
            <a:ext cx="2011680" cy="914400"/>
          </a:xfrm>
          <a:prstGeom prst="roundRect">
            <a:avLst>
              <a:gd name="adj" fmla="val 10000"/>
            </a:avLst>
          </a:prstGeom>
          <a:solidFill>
            <a:srgbClr val="FFFFFF"/>
          </a:solidFill>
          <a:ln w="19050">
            <a:solidFill>
              <a:srgbClr val="1565C0"/>
            </a:solidFill>
            <a:prstDash val="solid"/>
          </a:ln>
        </p:spPr>
      </p:sp>
      <p:sp>
        <p:nvSpPr>
          <p:cNvPr id="18" name="Text 14"/>
          <p:cNvSpPr txBox="1"/>
          <p:nvPr/>
        </p:nvSpPr>
        <p:spPr>
          <a:xfrm>
            <a:off x="3355848" y="2020824"/>
            <a:ext cx="1792224" cy="329184"/>
          </a:xfrm>
          <a:prstGeom prst="rect">
            <a:avLst/>
          </a:prstGeom>
          <a:noFill/>
          <a:ln/>
        </p:spPr>
        <p:txBody>
          <a:bodyPr wrap="square" lIns="0" tIns="0" rIns="0" bIns="0" rtlCol="0" anchor="ctr"/>
          <a:lstStyle/>
          <a:p>
            <a:pPr algn="ctr" indent="0" marL="0">
              <a:buNone/>
            </a:pPr>
            <a:r>
              <a:rPr lang="en-US" sz="1500" b="1" dirty="0">
                <a:solidFill>
                  <a:srgbClr val="14305C"/>
                </a:solidFill>
                <a:latin typeface="Calibri" pitchFamily="34" charset="0"/>
                <a:ea typeface="Calibri" pitchFamily="34" charset="-122"/>
                <a:cs typeface="Calibri" pitchFamily="34" charset="-120"/>
              </a:rPr>
              <a:t>Queues</a:t>
            </a:r>
            <a:endParaRPr lang="en-US" sz="1500" dirty="0"/>
          </a:p>
        </p:txBody>
      </p:sp>
      <p:sp>
        <p:nvSpPr>
          <p:cNvPr id="19" name="Text 15"/>
          <p:cNvSpPr txBox="1"/>
          <p:nvPr/>
        </p:nvSpPr>
        <p:spPr>
          <a:xfrm>
            <a:off x="3355848" y="2350008"/>
            <a:ext cx="1792224" cy="475488"/>
          </a:xfrm>
          <a:prstGeom prst="rect">
            <a:avLst/>
          </a:prstGeom>
          <a:noFill/>
          <a:ln/>
        </p:spPr>
        <p:txBody>
          <a:bodyPr wrap="square" lIns="0" tIns="0" rIns="0" bIns="0" rtlCol="0" anchor="t"/>
          <a:lstStyle/>
          <a:p>
            <a:pPr algn="ctr" indent="0" marL="0">
              <a:buNone/>
            </a:pPr>
            <a:r>
              <a:rPr lang="en-US" sz="1200" dirty="0">
                <a:solidFill>
                  <a:srgbClr val="4A5566"/>
                </a:solidFill>
                <a:latin typeface="Calibri" pitchFamily="34" charset="0"/>
                <a:ea typeface="Calibri" pitchFamily="34" charset="-122"/>
                <a:cs typeface="Calibri" pitchFamily="34" charset="-120"/>
              </a:rPr>
              <a:t>bounded; drop and count, never block</a:t>
            </a:r>
            <a:endParaRPr lang="en-US" sz="1200" dirty="0"/>
          </a:p>
        </p:txBody>
      </p:sp>
      <p:sp>
        <p:nvSpPr>
          <p:cNvPr id="20" name="Shape 16"/>
          <p:cNvSpPr/>
          <p:nvPr/>
        </p:nvSpPr>
        <p:spPr>
          <a:xfrm>
            <a:off x="3246120" y="3200400"/>
            <a:ext cx="2011680" cy="914400"/>
          </a:xfrm>
          <a:prstGeom prst="roundRect">
            <a:avLst>
              <a:gd name="adj" fmla="val 10000"/>
            </a:avLst>
          </a:prstGeom>
          <a:solidFill>
            <a:srgbClr val="FFFFFF"/>
          </a:solidFill>
          <a:ln w="19050">
            <a:solidFill>
              <a:srgbClr val="1565C0"/>
            </a:solidFill>
            <a:prstDash val="solid"/>
          </a:ln>
        </p:spPr>
      </p:sp>
      <p:sp>
        <p:nvSpPr>
          <p:cNvPr id="21" name="Text 17"/>
          <p:cNvSpPr txBox="1"/>
          <p:nvPr/>
        </p:nvSpPr>
        <p:spPr>
          <a:xfrm>
            <a:off x="3355848" y="3255264"/>
            <a:ext cx="1792224" cy="329184"/>
          </a:xfrm>
          <a:prstGeom prst="rect">
            <a:avLst/>
          </a:prstGeom>
          <a:noFill/>
          <a:ln/>
        </p:spPr>
        <p:txBody>
          <a:bodyPr wrap="square" lIns="0" tIns="0" rIns="0" bIns="0" rtlCol="0" anchor="ctr"/>
          <a:lstStyle/>
          <a:p>
            <a:pPr algn="ctr" indent="0" marL="0">
              <a:buNone/>
            </a:pPr>
            <a:r>
              <a:rPr lang="en-US" sz="1500" b="1" dirty="0">
                <a:solidFill>
                  <a:srgbClr val="14305C"/>
                </a:solidFill>
                <a:latin typeface="Calibri" pitchFamily="34" charset="0"/>
                <a:ea typeface="Calibri" pitchFamily="34" charset="-122"/>
                <a:cs typeface="Calibri" pitchFamily="34" charset="-120"/>
              </a:rPr>
              <a:t>StatsTask</a:t>
            </a:r>
            <a:endParaRPr lang="en-US" sz="1500" dirty="0"/>
          </a:p>
        </p:txBody>
      </p:sp>
      <p:sp>
        <p:nvSpPr>
          <p:cNvPr id="22" name="Text 18"/>
          <p:cNvSpPr txBox="1"/>
          <p:nvPr/>
        </p:nvSpPr>
        <p:spPr>
          <a:xfrm>
            <a:off x="3355848" y="3584448"/>
            <a:ext cx="1792224" cy="475488"/>
          </a:xfrm>
          <a:prstGeom prst="rect">
            <a:avLst/>
          </a:prstGeom>
          <a:noFill/>
          <a:ln/>
        </p:spPr>
        <p:txBody>
          <a:bodyPr wrap="square" lIns="0" tIns="0" rIns="0" bIns="0" rtlCol="0" anchor="t"/>
          <a:lstStyle/>
          <a:p>
            <a:pPr algn="ctr" indent="0" marL="0">
              <a:buNone/>
            </a:pPr>
            <a:r>
              <a:rPr lang="en-US" sz="1200" dirty="0">
                <a:solidFill>
                  <a:srgbClr val="4A5566"/>
                </a:solidFill>
                <a:latin typeface="Calibri" pitchFamily="34" charset="0"/>
                <a:ea typeface="Calibri" pitchFamily="34" charset="-122"/>
                <a:cs typeface="Calibri" pitchFamily="34" charset="-120"/>
              </a:rPr>
              <a:t>rate, jitter, drops every 2 s</a:t>
            </a:r>
            <a:endParaRPr lang="en-US" sz="1200" dirty="0"/>
          </a:p>
        </p:txBody>
      </p:sp>
      <p:sp>
        <p:nvSpPr>
          <p:cNvPr id="23" name="Shape 19"/>
          <p:cNvSpPr/>
          <p:nvPr/>
        </p:nvSpPr>
        <p:spPr>
          <a:xfrm>
            <a:off x="5669280" y="1965960"/>
            <a:ext cx="2011680" cy="914400"/>
          </a:xfrm>
          <a:prstGeom prst="roundRect">
            <a:avLst>
              <a:gd name="adj" fmla="val 10000"/>
            </a:avLst>
          </a:prstGeom>
          <a:solidFill>
            <a:srgbClr val="FFFFFF"/>
          </a:solidFill>
          <a:ln w="19050">
            <a:solidFill>
              <a:srgbClr val="1565C0"/>
            </a:solidFill>
            <a:prstDash val="solid"/>
          </a:ln>
        </p:spPr>
      </p:sp>
      <p:sp>
        <p:nvSpPr>
          <p:cNvPr id="24" name="Text 20"/>
          <p:cNvSpPr txBox="1"/>
          <p:nvPr/>
        </p:nvSpPr>
        <p:spPr>
          <a:xfrm>
            <a:off x="5779008" y="2020824"/>
            <a:ext cx="1792224" cy="329184"/>
          </a:xfrm>
          <a:prstGeom prst="rect">
            <a:avLst/>
          </a:prstGeom>
          <a:noFill/>
          <a:ln/>
        </p:spPr>
        <p:txBody>
          <a:bodyPr wrap="square" lIns="0" tIns="0" rIns="0" bIns="0" rtlCol="0" anchor="ctr"/>
          <a:lstStyle/>
          <a:p>
            <a:pPr algn="ctr" indent="0" marL="0">
              <a:buNone/>
            </a:pPr>
            <a:r>
              <a:rPr lang="en-US" sz="1500" b="1" dirty="0">
                <a:solidFill>
                  <a:srgbClr val="14305C"/>
                </a:solidFill>
                <a:latin typeface="Calibri" pitchFamily="34" charset="0"/>
                <a:ea typeface="Calibri" pitchFamily="34" charset="-122"/>
                <a:cs typeface="Calibri" pitchFamily="34" charset="-120"/>
              </a:rPr>
              <a:t>RideChar x2</a:t>
            </a:r>
            <a:endParaRPr lang="en-US" sz="1500" dirty="0"/>
          </a:p>
        </p:txBody>
      </p:sp>
      <p:sp>
        <p:nvSpPr>
          <p:cNvPr id="25" name="Text 21"/>
          <p:cNvSpPr txBox="1"/>
          <p:nvPr/>
        </p:nvSpPr>
        <p:spPr>
          <a:xfrm>
            <a:off x="5779008" y="2350008"/>
            <a:ext cx="1792224" cy="475488"/>
          </a:xfrm>
          <a:prstGeom prst="rect">
            <a:avLst/>
          </a:prstGeom>
          <a:noFill/>
          <a:ln/>
        </p:spPr>
        <p:txBody>
          <a:bodyPr wrap="square" lIns="0" tIns="0" rIns="0" bIns="0" rtlCol="0" anchor="t"/>
          <a:lstStyle/>
          <a:p>
            <a:pPr algn="ctr" indent="0" marL="0">
              <a:buNone/>
            </a:pPr>
            <a:r>
              <a:rPr lang="en-US" sz="1200" dirty="0">
                <a:solidFill>
                  <a:srgbClr val="4A5566"/>
                </a:solidFill>
                <a:latin typeface="Calibri" pitchFamily="34" charset="0"/>
                <a:ea typeface="Calibri" pitchFamily="34" charset="-122"/>
                <a:cs typeface="Calibri" pitchFamily="34" charset="-120"/>
              </a:rPr>
              <a:t>1 s windows: RMS, std, peak-to-peak, jerk</a:t>
            </a:r>
            <a:endParaRPr lang="en-US" sz="1200" dirty="0"/>
          </a:p>
        </p:txBody>
      </p:sp>
      <p:sp>
        <p:nvSpPr>
          <p:cNvPr id="26" name="Shape 22"/>
          <p:cNvSpPr/>
          <p:nvPr/>
        </p:nvSpPr>
        <p:spPr>
          <a:xfrm>
            <a:off x="5669280" y="3200400"/>
            <a:ext cx="2011680" cy="914400"/>
          </a:xfrm>
          <a:prstGeom prst="roundRect">
            <a:avLst>
              <a:gd name="adj" fmla="val 10000"/>
            </a:avLst>
          </a:prstGeom>
          <a:solidFill>
            <a:srgbClr val="FFFFFF"/>
          </a:solidFill>
          <a:ln w="19050">
            <a:solidFill>
              <a:srgbClr val="D4700C"/>
            </a:solidFill>
            <a:prstDash val="solid"/>
          </a:ln>
        </p:spPr>
      </p:sp>
      <p:sp>
        <p:nvSpPr>
          <p:cNvPr id="27" name="Text 23"/>
          <p:cNvSpPr txBox="1"/>
          <p:nvPr/>
        </p:nvSpPr>
        <p:spPr>
          <a:xfrm>
            <a:off x="5779008" y="3255264"/>
            <a:ext cx="1792224" cy="329184"/>
          </a:xfrm>
          <a:prstGeom prst="rect">
            <a:avLst/>
          </a:prstGeom>
          <a:noFill/>
          <a:ln/>
        </p:spPr>
        <p:txBody>
          <a:bodyPr wrap="square" lIns="0" tIns="0" rIns="0" bIns="0" rtlCol="0" anchor="ctr"/>
          <a:lstStyle/>
          <a:p>
            <a:pPr algn="ctr" indent="0" marL="0">
              <a:buNone/>
            </a:pPr>
            <a:r>
              <a:rPr lang="en-US" sz="1500" b="1" dirty="0">
                <a:solidFill>
                  <a:srgbClr val="14305C"/>
                </a:solidFill>
                <a:latin typeface="Calibri" pitchFamily="34" charset="0"/>
                <a:ea typeface="Calibri" pitchFamily="34" charset="-122"/>
                <a:cs typeface="Calibri" pitchFamily="34" charset="-120"/>
              </a:rPr>
              <a:t>Fusion</a:t>
            </a:r>
            <a:endParaRPr lang="en-US" sz="1500" dirty="0"/>
          </a:p>
        </p:txBody>
      </p:sp>
      <p:sp>
        <p:nvSpPr>
          <p:cNvPr id="28" name="Text 24"/>
          <p:cNvSpPr txBox="1"/>
          <p:nvPr/>
        </p:nvSpPr>
        <p:spPr>
          <a:xfrm>
            <a:off x="5779008" y="3584448"/>
            <a:ext cx="1792224" cy="475488"/>
          </a:xfrm>
          <a:prstGeom prst="rect">
            <a:avLst/>
          </a:prstGeom>
          <a:noFill/>
          <a:ln/>
        </p:spPr>
        <p:txBody>
          <a:bodyPr wrap="square" lIns="0" tIns="0" rIns="0" bIns="0" rtlCol="0" anchor="t"/>
          <a:lstStyle/>
          <a:p>
            <a:pPr algn="ctr" indent="0" marL="0">
              <a:buNone/>
            </a:pPr>
            <a:r>
              <a:rPr lang="en-US" sz="1200" dirty="0">
                <a:solidFill>
                  <a:srgbClr val="4A5566"/>
                </a:solidFill>
                <a:latin typeface="Calibri" pitchFamily="34" charset="0"/>
                <a:ea typeface="Calibri" pitchFamily="34" charset="-122"/>
                <a:cs typeface="Calibri" pitchFamily="34" charset="-120"/>
              </a:rPr>
              <a:t>pairs windows, reports disagreement</a:t>
            </a:r>
            <a:endParaRPr lang="en-US" sz="1200" dirty="0"/>
          </a:p>
        </p:txBody>
      </p:sp>
      <p:sp>
        <p:nvSpPr>
          <p:cNvPr id="29" name="Shape 25"/>
          <p:cNvSpPr/>
          <p:nvPr/>
        </p:nvSpPr>
        <p:spPr>
          <a:xfrm>
            <a:off x="2834640" y="2423160"/>
            <a:ext cx="411480" cy="0"/>
          </a:xfrm>
          <a:prstGeom prst="line">
            <a:avLst/>
          </a:prstGeom>
          <a:noFill/>
          <a:ln w="19050">
            <a:solidFill>
              <a:srgbClr val="14305C"/>
            </a:solidFill>
            <a:prstDash val="solid"/>
            <a:tailEnd type="triangle"/>
          </a:ln>
        </p:spPr>
      </p:sp>
      <p:sp>
        <p:nvSpPr>
          <p:cNvPr id="30" name="Shape 26"/>
          <p:cNvSpPr/>
          <p:nvPr/>
        </p:nvSpPr>
        <p:spPr>
          <a:xfrm flipV="1">
            <a:off x="2834640" y="2651760"/>
            <a:ext cx="411480" cy="1005840"/>
          </a:xfrm>
          <a:prstGeom prst="line">
            <a:avLst/>
          </a:prstGeom>
          <a:noFill/>
          <a:ln w="19050">
            <a:solidFill>
              <a:srgbClr val="14305C"/>
            </a:solidFill>
            <a:prstDash val="solid"/>
            <a:tailEnd type="triangle"/>
          </a:ln>
        </p:spPr>
      </p:sp>
      <p:sp>
        <p:nvSpPr>
          <p:cNvPr id="31" name="Shape 27"/>
          <p:cNvSpPr/>
          <p:nvPr/>
        </p:nvSpPr>
        <p:spPr>
          <a:xfrm>
            <a:off x="5257800" y="2423160"/>
            <a:ext cx="411480" cy="0"/>
          </a:xfrm>
          <a:prstGeom prst="line">
            <a:avLst/>
          </a:prstGeom>
          <a:noFill/>
          <a:ln w="19050">
            <a:solidFill>
              <a:srgbClr val="14305C"/>
            </a:solidFill>
            <a:prstDash val="solid"/>
            <a:tailEnd type="triangle"/>
          </a:ln>
        </p:spPr>
      </p:sp>
      <p:sp>
        <p:nvSpPr>
          <p:cNvPr id="32" name="Shape 28"/>
          <p:cNvSpPr/>
          <p:nvPr/>
        </p:nvSpPr>
        <p:spPr>
          <a:xfrm>
            <a:off x="4251960" y="2880360"/>
            <a:ext cx="0" cy="320040"/>
          </a:xfrm>
          <a:prstGeom prst="line">
            <a:avLst/>
          </a:prstGeom>
          <a:noFill/>
          <a:ln w="19050">
            <a:solidFill>
              <a:srgbClr val="14305C"/>
            </a:solidFill>
            <a:prstDash val="solid"/>
            <a:tailEnd type="triangle"/>
          </a:ln>
        </p:spPr>
      </p:sp>
      <p:sp>
        <p:nvSpPr>
          <p:cNvPr id="33" name="Shape 29"/>
          <p:cNvSpPr/>
          <p:nvPr/>
        </p:nvSpPr>
        <p:spPr>
          <a:xfrm>
            <a:off x="6675120" y="2880360"/>
            <a:ext cx="0" cy="320040"/>
          </a:xfrm>
          <a:prstGeom prst="line">
            <a:avLst/>
          </a:prstGeom>
          <a:noFill/>
          <a:ln w="19050">
            <a:solidFill>
              <a:srgbClr val="14305C"/>
            </a:solidFill>
            <a:prstDash val="solid"/>
            <a:tailEnd type="triangle"/>
          </a:ln>
        </p:spPr>
      </p:sp>
      <p:sp>
        <p:nvSpPr>
          <p:cNvPr id="34" name="Shape 30"/>
          <p:cNvSpPr/>
          <p:nvPr/>
        </p:nvSpPr>
        <p:spPr>
          <a:xfrm>
            <a:off x="822960" y="4434840"/>
            <a:ext cx="2011680" cy="914400"/>
          </a:xfrm>
          <a:prstGeom prst="roundRect">
            <a:avLst>
              <a:gd name="adj" fmla="val 10000"/>
            </a:avLst>
          </a:prstGeom>
          <a:solidFill>
            <a:srgbClr val="FFFFFF"/>
          </a:solidFill>
          <a:ln w="19050">
            <a:solidFill>
              <a:srgbClr val="1565C0"/>
            </a:solidFill>
            <a:prstDash val="solid"/>
          </a:ln>
        </p:spPr>
      </p:sp>
      <p:sp>
        <p:nvSpPr>
          <p:cNvPr id="35" name="Text 31"/>
          <p:cNvSpPr txBox="1"/>
          <p:nvPr/>
        </p:nvSpPr>
        <p:spPr>
          <a:xfrm>
            <a:off x="932688" y="4489704"/>
            <a:ext cx="1792224" cy="329184"/>
          </a:xfrm>
          <a:prstGeom prst="rect">
            <a:avLst/>
          </a:prstGeom>
          <a:noFill/>
          <a:ln/>
        </p:spPr>
        <p:txBody>
          <a:bodyPr wrap="square" lIns="0" tIns="0" rIns="0" bIns="0" rtlCol="0" anchor="ctr"/>
          <a:lstStyle/>
          <a:p>
            <a:pPr algn="ctr" indent="0" marL="0">
              <a:buNone/>
            </a:pPr>
            <a:r>
              <a:rPr lang="en-US" sz="1500" b="1" dirty="0">
                <a:solidFill>
                  <a:srgbClr val="14305C"/>
                </a:solidFill>
                <a:latin typeface="Calibri" pitchFamily="34" charset="0"/>
                <a:ea typeface="Calibri" pitchFamily="34" charset="-122"/>
                <a:cs typeface="Calibri" pitchFamily="34" charset="-120"/>
              </a:rPr>
              <a:t>SyncTask</a:t>
            </a:r>
            <a:endParaRPr lang="en-US" sz="1500" dirty="0"/>
          </a:p>
        </p:txBody>
      </p:sp>
      <p:sp>
        <p:nvSpPr>
          <p:cNvPr id="36" name="Text 32"/>
          <p:cNvSpPr txBox="1"/>
          <p:nvPr/>
        </p:nvSpPr>
        <p:spPr>
          <a:xfrm>
            <a:off x="932688" y="4818888"/>
            <a:ext cx="1792224" cy="475488"/>
          </a:xfrm>
          <a:prstGeom prst="rect">
            <a:avLst/>
          </a:prstGeom>
          <a:noFill/>
          <a:ln/>
        </p:spPr>
        <p:txBody>
          <a:bodyPr wrap="square" lIns="0" tIns="0" rIns="0" bIns="0" rtlCol="0" anchor="t"/>
          <a:lstStyle/>
          <a:p>
            <a:pPr algn="ctr" indent="0" marL="0">
              <a:buNone/>
            </a:pPr>
            <a:r>
              <a:rPr lang="en-US" sz="1200" dirty="0">
                <a:solidFill>
                  <a:srgbClr val="4A5566"/>
                </a:solidFill>
                <a:latin typeface="Calibri" pitchFamily="34" charset="0"/>
                <a:ea typeface="Calibri" pitchFamily="34" charset="-122"/>
                <a:cs typeface="Calibri" pitchFamily="34" charset="-120"/>
              </a:rPr>
              <a:t>pulse to the Pi every 500 ms</a:t>
            </a:r>
            <a:endParaRPr lang="en-US" sz="1200" dirty="0"/>
          </a:p>
        </p:txBody>
      </p:sp>
      <p:sp>
        <p:nvSpPr>
          <p:cNvPr id="37" name="Text 33"/>
          <p:cNvSpPr txBox="1"/>
          <p:nvPr/>
        </p:nvSpPr>
        <p:spPr>
          <a:xfrm>
            <a:off x="3246120" y="4480560"/>
            <a:ext cx="4434840" cy="822960"/>
          </a:xfrm>
          <a:prstGeom prst="rect">
            <a:avLst/>
          </a:prstGeom>
          <a:noFill/>
          <a:ln/>
        </p:spPr>
        <p:txBody>
          <a:bodyPr wrap="square" lIns="0" tIns="0" rIns="0" bIns="0" rtlCol="0" anchor="ctr"/>
          <a:lstStyle/>
          <a:p>
            <a:pPr indent="0" marL="0">
              <a:buNone/>
            </a:pPr>
            <a:r>
              <a:rPr lang="en-US" sz="1400" i="1" dirty="0">
                <a:solidFill>
                  <a:srgbClr val="4A5566"/>
                </a:solidFill>
                <a:latin typeface="Calibri" pitchFamily="34" charset="0"/>
                <a:ea typeface="Calibri" pitchFamily="34" charset="-122"/>
                <a:cs typeface="Calibri" pitchFamily="34" charset="-120"/>
              </a:rPr>
              <a:t>Each sample carries a sensor ID, a sequence number and a microsecond timestamp from esp_timer.</a:t>
            </a:r>
            <a:endParaRPr lang="en-US" sz="1400" dirty="0"/>
          </a:p>
        </p:txBody>
      </p:sp>
      <p:sp>
        <p:nvSpPr>
          <p:cNvPr id="38" name="Shape 34"/>
          <p:cNvSpPr/>
          <p:nvPr/>
        </p:nvSpPr>
        <p:spPr>
          <a:xfrm>
            <a:off x="8275320" y="1325880"/>
            <a:ext cx="3367735" cy="4343400"/>
          </a:xfrm>
          <a:prstGeom prst="roundRect">
            <a:avLst>
              <a:gd name="adj" fmla="val 3258"/>
            </a:avLst>
          </a:prstGeom>
          <a:solidFill>
            <a:srgbClr val="E8F0FA"/>
          </a:solidFill>
          <a:ln w="12700">
            <a:solidFill>
              <a:srgbClr val="E8F0FA"/>
            </a:solidFill>
            <a:prstDash val="solid"/>
          </a:ln>
        </p:spPr>
      </p:sp>
      <p:sp>
        <p:nvSpPr>
          <p:cNvPr id="39" name="Text 35"/>
          <p:cNvSpPr txBox="1"/>
          <p:nvPr/>
        </p:nvSpPr>
        <p:spPr>
          <a:xfrm>
            <a:off x="8503920" y="1435608"/>
            <a:ext cx="2910535" cy="365760"/>
          </a:xfrm>
          <a:prstGeom prst="rect">
            <a:avLst/>
          </a:prstGeom>
          <a:noFill/>
          <a:ln/>
        </p:spPr>
        <p:txBody>
          <a:bodyPr wrap="square" lIns="0" tIns="0" rIns="0" bIns="0" rtlCol="0" anchor="ctr"/>
          <a:lstStyle/>
          <a:p>
            <a:pPr indent="0" marL="0">
              <a:buNone/>
            </a:pPr>
            <a:r>
              <a:rPr lang="en-US" sz="1600" b="1" dirty="0">
                <a:solidFill>
                  <a:srgbClr val="1565C0"/>
                </a:solidFill>
                <a:latin typeface="Calibri" pitchFamily="34" charset="0"/>
                <a:ea typeface="Calibri" pitchFamily="34" charset="-122"/>
                <a:cs typeface="Calibri" pitchFamily="34" charset="-120"/>
              </a:rPr>
              <a:t>Core 0: blocking I/O</a:t>
            </a:r>
            <a:endParaRPr lang="en-US" sz="1600" dirty="0"/>
          </a:p>
        </p:txBody>
      </p:sp>
      <p:sp>
        <p:nvSpPr>
          <p:cNvPr id="40" name="Shape 36"/>
          <p:cNvSpPr/>
          <p:nvPr/>
        </p:nvSpPr>
        <p:spPr>
          <a:xfrm>
            <a:off x="8549640" y="1920240"/>
            <a:ext cx="2819095" cy="1188720"/>
          </a:xfrm>
          <a:prstGeom prst="roundRect">
            <a:avLst>
              <a:gd name="adj" fmla="val 7692"/>
            </a:avLst>
          </a:prstGeom>
          <a:solidFill>
            <a:srgbClr val="FFFFFF"/>
          </a:solidFill>
          <a:ln w="19050">
            <a:solidFill>
              <a:srgbClr val="1565C0"/>
            </a:solidFill>
            <a:prstDash val="solid"/>
          </a:ln>
        </p:spPr>
      </p:sp>
      <p:sp>
        <p:nvSpPr>
          <p:cNvPr id="41" name="Text 37"/>
          <p:cNvSpPr txBox="1"/>
          <p:nvPr/>
        </p:nvSpPr>
        <p:spPr>
          <a:xfrm>
            <a:off x="8659368" y="1975104"/>
            <a:ext cx="2599639" cy="329184"/>
          </a:xfrm>
          <a:prstGeom prst="rect">
            <a:avLst/>
          </a:prstGeom>
          <a:noFill/>
          <a:ln/>
        </p:spPr>
        <p:txBody>
          <a:bodyPr wrap="square" lIns="0" tIns="0" rIns="0" bIns="0" rtlCol="0" anchor="ctr"/>
          <a:lstStyle/>
          <a:p>
            <a:pPr algn="ctr" indent="0" marL="0">
              <a:buNone/>
            </a:pPr>
            <a:r>
              <a:rPr lang="en-US" sz="1500" b="1" dirty="0">
                <a:solidFill>
                  <a:srgbClr val="14305C"/>
                </a:solidFill>
                <a:latin typeface="Calibri" pitchFamily="34" charset="0"/>
                <a:ea typeface="Calibri" pitchFamily="34" charset="-122"/>
                <a:cs typeface="Calibri" pitchFamily="34" charset="-120"/>
              </a:rPr>
              <a:t>ModemTask</a:t>
            </a:r>
            <a:endParaRPr lang="en-US" sz="1500" dirty="0"/>
          </a:p>
        </p:txBody>
      </p:sp>
      <p:sp>
        <p:nvSpPr>
          <p:cNvPr id="42" name="Text 38"/>
          <p:cNvSpPr txBox="1"/>
          <p:nvPr/>
        </p:nvSpPr>
        <p:spPr>
          <a:xfrm>
            <a:off x="8659368" y="2304288"/>
            <a:ext cx="2599639" cy="749808"/>
          </a:xfrm>
          <a:prstGeom prst="rect">
            <a:avLst/>
          </a:prstGeom>
          <a:noFill/>
          <a:ln/>
        </p:spPr>
        <p:txBody>
          <a:bodyPr wrap="square" lIns="0" tIns="0" rIns="0" bIns="0" rtlCol="0" anchor="t"/>
          <a:lstStyle/>
          <a:p>
            <a:pPr algn="ctr" indent="0" marL="0">
              <a:buNone/>
            </a:pPr>
            <a:r>
              <a:rPr lang="en-US" sz="1200" dirty="0">
                <a:solidFill>
                  <a:srgbClr val="4A5566"/>
                </a:solidFill>
                <a:latin typeface="Calibri" pitchFamily="34" charset="0"/>
                <a:ea typeface="Calibri" pitchFamily="34" charset="-122"/>
                <a:cs typeface="Calibri" pitchFamily="34" charset="-120"/>
              </a:rPr>
              <a:t>AT commands, GNSS, MQTT, signal quality, flash log written once a minute</a:t>
            </a:r>
            <a:endParaRPr lang="en-US" sz="1200" dirty="0"/>
          </a:p>
        </p:txBody>
      </p:sp>
      <p:sp>
        <p:nvSpPr>
          <p:cNvPr id="43" name="Shape 39"/>
          <p:cNvSpPr/>
          <p:nvPr/>
        </p:nvSpPr>
        <p:spPr>
          <a:xfrm>
            <a:off x="8549640" y="3246120"/>
            <a:ext cx="2819095" cy="731520"/>
          </a:xfrm>
          <a:prstGeom prst="roundRect">
            <a:avLst>
              <a:gd name="adj" fmla="val 12500"/>
            </a:avLst>
          </a:prstGeom>
          <a:solidFill>
            <a:srgbClr val="FFFFFF"/>
          </a:solidFill>
          <a:ln w="19050">
            <a:solidFill>
              <a:srgbClr val="1565C0"/>
            </a:solidFill>
            <a:prstDash val="solid"/>
          </a:ln>
        </p:spPr>
      </p:sp>
      <p:sp>
        <p:nvSpPr>
          <p:cNvPr id="44" name="Text 40"/>
          <p:cNvSpPr txBox="1"/>
          <p:nvPr/>
        </p:nvSpPr>
        <p:spPr>
          <a:xfrm>
            <a:off x="8659368" y="3300984"/>
            <a:ext cx="2599639" cy="329184"/>
          </a:xfrm>
          <a:prstGeom prst="rect">
            <a:avLst/>
          </a:prstGeom>
          <a:noFill/>
          <a:ln/>
        </p:spPr>
        <p:txBody>
          <a:bodyPr wrap="square" lIns="0" tIns="0" rIns="0" bIns="0" rtlCol="0" anchor="ctr"/>
          <a:lstStyle/>
          <a:p>
            <a:pPr algn="ctr" indent="0" marL="0">
              <a:buNone/>
            </a:pPr>
            <a:r>
              <a:rPr lang="en-US" sz="1500" b="1" dirty="0">
                <a:solidFill>
                  <a:srgbClr val="14305C"/>
                </a:solidFill>
                <a:latin typeface="Calibri" pitchFamily="34" charset="0"/>
                <a:ea typeface="Calibri" pitchFamily="34" charset="-122"/>
                <a:cs typeface="Calibri" pitchFamily="34" charset="-120"/>
              </a:rPr>
              <a:t>BmsTask</a:t>
            </a:r>
            <a:endParaRPr lang="en-US" sz="1500" dirty="0"/>
          </a:p>
        </p:txBody>
      </p:sp>
      <p:sp>
        <p:nvSpPr>
          <p:cNvPr id="45" name="Text 41"/>
          <p:cNvSpPr txBox="1"/>
          <p:nvPr/>
        </p:nvSpPr>
        <p:spPr>
          <a:xfrm>
            <a:off x="8659368" y="3630168"/>
            <a:ext cx="2599639" cy="292608"/>
          </a:xfrm>
          <a:prstGeom prst="rect">
            <a:avLst/>
          </a:prstGeom>
          <a:noFill/>
          <a:ln/>
        </p:spPr>
        <p:txBody>
          <a:bodyPr wrap="square" lIns="0" tIns="0" rIns="0" bIns="0" rtlCol="0" anchor="t"/>
          <a:lstStyle/>
          <a:p>
            <a:pPr algn="ctr" indent="0" marL="0">
              <a:buNone/>
            </a:pPr>
            <a:r>
              <a:rPr lang="en-US" sz="1200" dirty="0">
                <a:solidFill>
                  <a:srgbClr val="4A5566"/>
                </a:solidFill>
                <a:latin typeface="Calibri" pitchFamily="34" charset="0"/>
                <a:ea typeface="Calibri" pitchFamily="34" charset="-122"/>
                <a:cs typeface="Calibri" pitchFamily="34" charset="-120"/>
              </a:rPr>
              <a:t>battery over BLE</a:t>
            </a:r>
            <a:endParaRPr lang="en-US" sz="1200" dirty="0"/>
          </a:p>
        </p:txBody>
      </p:sp>
      <p:sp>
        <p:nvSpPr>
          <p:cNvPr id="46" name="Shape 42"/>
          <p:cNvSpPr/>
          <p:nvPr/>
        </p:nvSpPr>
        <p:spPr>
          <a:xfrm>
            <a:off x="8549640" y="4114800"/>
            <a:ext cx="2819095" cy="731520"/>
          </a:xfrm>
          <a:prstGeom prst="roundRect">
            <a:avLst>
              <a:gd name="adj" fmla="val 12500"/>
            </a:avLst>
          </a:prstGeom>
          <a:solidFill>
            <a:srgbClr val="FFFFFF"/>
          </a:solidFill>
          <a:ln w="19050">
            <a:solidFill>
              <a:srgbClr val="1565C0"/>
            </a:solidFill>
            <a:prstDash val="solid"/>
          </a:ln>
        </p:spPr>
      </p:sp>
      <p:sp>
        <p:nvSpPr>
          <p:cNvPr id="47" name="Text 43"/>
          <p:cNvSpPr txBox="1"/>
          <p:nvPr/>
        </p:nvSpPr>
        <p:spPr>
          <a:xfrm>
            <a:off x="8659368" y="4169664"/>
            <a:ext cx="2599639" cy="329184"/>
          </a:xfrm>
          <a:prstGeom prst="rect">
            <a:avLst/>
          </a:prstGeom>
          <a:noFill/>
          <a:ln/>
        </p:spPr>
        <p:txBody>
          <a:bodyPr wrap="square" lIns="0" tIns="0" rIns="0" bIns="0" rtlCol="0" anchor="ctr"/>
          <a:lstStyle/>
          <a:p>
            <a:pPr algn="ctr" indent="0" marL="0">
              <a:buNone/>
            </a:pPr>
            <a:r>
              <a:rPr lang="en-US" sz="1500" b="1" dirty="0">
                <a:solidFill>
                  <a:srgbClr val="14305C"/>
                </a:solidFill>
                <a:latin typeface="Calibri" pitchFamily="34" charset="0"/>
                <a:ea typeface="Calibri" pitchFamily="34" charset="-122"/>
                <a:cs typeface="Calibri" pitchFamily="34" charset="-120"/>
              </a:rPr>
              <a:t>HallTask</a:t>
            </a:r>
            <a:endParaRPr lang="en-US" sz="1500" dirty="0"/>
          </a:p>
        </p:txBody>
      </p:sp>
      <p:sp>
        <p:nvSpPr>
          <p:cNvPr id="48" name="Text 44"/>
          <p:cNvSpPr txBox="1"/>
          <p:nvPr/>
        </p:nvSpPr>
        <p:spPr>
          <a:xfrm>
            <a:off x="8659368" y="4498848"/>
            <a:ext cx="2599639" cy="292608"/>
          </a:xfrm>
          <a:prstGeom prst="rect">
            <a:avLst/>
          </a:prstGeom>
          <a:noFill/>
          <a:ln/>
        </p:spPr>
        <p:txBody>
          <a:bodyPr wrap="square" lIns="0" tIns="0" rIns="0" bIns="0" rtlCol="0" anchor="t"/>
          <a:lstStyle/>
          <a:p>
            <a:pPr algn="ctr" indent="0" marL="0">
              <a:buNone/>
            </a:pPr>
            <a:r>
              <a:rPr lang="en-US" sz="1200" dirty="0">
                <a:solidFill>
                  <a:srgbClr val="4A5566"/>
                </a:solidFill>
                <a:latin typeface="Calibri" pitchFamily="34" charset="0"/>
                <a:ea typeface="Calibri" pitchFamily="34" charset="-122"/>
                <a:cs typeface="Calibri" pitchFamily="34" charset="-120"/>
              </a:rPr>
              <a:t>hardware pulse counter</a:t>
            </a:r>
            <a:endParaRPr lang="en-US" sz="1200" dirty="0"/>
          </a:p>
        </p:txBody>
      </p:sp>
      <p:sp>
        <p:nvSpPr>
          <p:cNvPr id="49" name="Text 45"/>
          <p:cNvSpPr txBox="1"/>
          <p:nvPr/>
        </p:nvSpPr>
        <p:spPr>
          <a:xfrm>
            <a:off x="8549640" y="4937760"/>
            <a:ext cx="2819095" cy="640080"/>
          </a:xfrm>
          <a:prstGeom prst="rect">
            <a:avLst/>
          </a:prstGeom>
          <a:noFill/>
          <a:ln/>
        </p:spPr>
        <p:txBody>
          <a:bodyPr wrap="square" lIns="0" tIns="0" rIns="0" bIns="0" rtlCol="0" anchor="t"/>
          <a:lstStyle/>
          <a:p>
            <a:pPr indent="0" marL="0">
              <a:buNone/>
            </a:pPr>
            <a:r>
              <a:rPr lang="en-US" sz="1200" i="1" dirty="0">
                <a:solidFill>
                  <a:srgbClr val="4A5566"/>
                </a:solidFill>
                <a:latin typeface="Calibri" pitchFamily="34" charset="0"/>
                <a:ea typeface="Calibri" pitchFamily="34" charset="-122"/>
                <a:cs typeface="Calibri" pitchFamily="34" charset="-120"/>
              </a:rPr>
              <a:t>The modem UART has no lock, so all modem traffic stays in one task.</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84048"/>
            <a:ext cx="566928" cy="566928"/>
          </a:xfrm>
          <a:prstGeom prst="ellipse">
            <a:avLst/>
          </a:prstGeom>
          <a:solidFill>
            <a:srgbClr val="14305C"/>
          </a:solidFill>
          <a:ln w="12700">
            <a:solidFill>
              <a:srgbClr val="14305C"/>
            </a:solidFill>
            <a:prstDash val="solid"/>
          </a:ln>
        </p:spPr>
      </p:sp>
      <p:sp>
        <p:nvSpPr>
          <p:cNvPr id="3" name="Text 1"/>
          <p:cNvSpPr txBox="1"/>
          <p:nvPr/>
        </p:nvSpPr>
        <p:spPr>
          <a:xfrm>
            <a:off x="548640" y="384048"/>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5</a:t>
            </a:r>
            <a:endParaRPr lang="en-US" sz="2000" dirty="0"/>
          </a:p>
        </p:txBody>
      </p:sp>
      <p:sp>
        <p:nvSpPr>
          <p:cNvPr id="4" name="Text 2"/>
          <p:cNvSpPr txBox="1"/>
          <p:nvPr/>
        </p:nvSpPr>
        <p:spPr>
          <a:xfrm>
            <a:off x="1325880" y="310896"/>
            <a:ext cx="10317175" cy="731520"/>
          </a:xfrm>
          <a:prstGeom prst="rect">
            <a:avLst/>
          </a:prstGeom>
          <a:noFill/>
          <a:ln/>
        </p:spPr>
        <p:txBody>
          <a:bodyPr wrap="square" lIns="0" tIns="0" rIns="0" bIns="0" rtlCol="0" anchor="ctr"/>
          <a:lstStyle/>
          <a:p>
            <a:pPr indent="0" marL="0">
              <a:buNone/>
            </a:pPr>
            <a:r>
              <a:rPr lang="en-US" sz="3200" b="1" dirty="0">
                <a:solidFill>
                  <a:srgbClr val="14305C"/>
                </a:solidFill>
                <a:latin typeface="Calibri" pitchFamily="34" charset="0"/>
                <a:ea typeface="Calibri" pitchFamily="34" charset="-122"/>
                <a:cs typeface="Calibri" pitchFamily="34" charset="-120"/>
              </a:rPr>
              <a:t>Approach: prove each stage before building on it</a:t>
            </a:r>
            <a:endParaRPr lang="en-US" sz="3200" dirty="0"/>
          </a:p>
        </p:txBody>
      </p:sp>
      <p:pic>
        <p:nvPicPr>
          <p:cNvPr id="5" name="Image 0" descr="C:\Users\0geda\OneDrive - University of Cape Town\Documents\PlatformIO\Projects\Tukzie-HPEC-HUD\Presentation\source\assets\uct_logo.png">    </p:cNvPr>
          <p:cNvPicPr>
            <a:picLocks noChangeAspect="1"/>
          </p:cNvPicPr>
          <p:nvPr/>
        </p:nvPicPr>
        <p:blipFill>
          <a:blip r:embed="rId1"/>
          <a:stretch>
            <a:fillRect/>
          </a:stretch>
        </p:blipFill>
        <p:spPr>
          <a:xfrm>
            <a:off x="11259007" y="6327648"/>
            <a:ext cx="384048" cy="390449"/>
          </a:xfrm>
          <a:prstGeom prst="rect">
            <a:avLst/>
          </a:prstGeom>
        </p:spPr>
      </p:pic>
      <p:sp>
        <p:nvSpPr>
          <p:cNvPr id="6" name="Text 3"/>
          <p:cNvSpPr txBox="1"/>
          <p:nvPr/>
        </p:nvSpPr>
        <p:spPr>
          <a:xfrm>
            <a:off x="548640" y="6382512"/>
            <a:ext cx="5486400" cy="292608"/>
          </a:xfrm>
          <a:prstGeom prst="rect">
            <a:avLst/>
          </a:prstGeom>
          <a:noFill/>
          <a:ln/>
        </p:spPr>
        <p:txBody>
          <a:bodyPr wrap="square" lIns="0" tIns="0" rIns="0" bIns="0" rtlCol="0" anchor="ctr"/>
          <a:lstStyle/>
          <a:p>
            <a:pPr indent="0" marL="0">
              <a:buNone/>
            </a:pPr>
            <a:r>
              <a:rPr lang="en-US" sz="1100" dirty="0">
                <a:solidFill>
                  <a:srgbClr val="4A5566"/>
                </a:solidFill>
                <a:latin typeface="Calibri" pitchFamily="34" charset="0"/>
                <a:ea typeface="Calibri" pitchFamily="34" charset="-122"/>
                <a:cs typeface="Calibri" pitchFamily="34" charset="-120"/>
              </a:rPr>
              <a:t>SW-7   |   Samson Okuthe   |   EEE4022S 2026</a:t>
            </a:r>
            <a:endParaRPr lang="en-US" sz="1100" dirty="0"/>
          </a:p>
        </p:txBody>
      </p:sp>
      <p:sp>
        <p:nvSpPr>
          <p:cNvPr id="7" name="Text 4"/>
          <p:cNvSpPr txBox="1"/>
          <p:nvPr/>
        </p:nvSpPr>
        <p:spPr>
          <a:xfrm>
            <a:off x="10180015" y="6382512"/>
            <a:ext cx="914400" cy="292608"/>
          </a:xfrm>
          <a:prstGeom prst="rect">
            <a:avLst/>
          </a:prstGeom>
          <a:noFill/>
          <a:ln/>
        </p:spPr>
        <p:txBody>
          <a:bodyPr wrap="square" lIns="0" tIns="0" rIns="0" bIns="0" rtlCol="0" anchor="ctr"/>
          <a:lstStyle/>
          <a:p>
            <a:pPr algn="r" indent="0" marL="0">
              <a:buNone/>
            </a:pPr>
            <a:r>
              <a:rPr lang="en-US" sz="1100" dirty="0">
                <a:solidFill>
                  <a:srgbClr val="4A5566"/>
                </a:solidFill>
                <a:latin typeface="Calibri" pitchFamily="34" charset="0"/>
                <a:ea typeface="Calibri" pitchFamily="34" charset="-122"/>
                <a:cs typeface="Calibri" pitchFamily="34" charset="-120"/>
              </a:rPr>
              <a:t>6 / 12</a:t>
            </a:r>
            <a:endParaRPr lang="en-US" sz="1100" dirty="0"/>
          </a:p>
        </p:txBody>
      </p:sp>
      <p:sp>
        <p:nvSpPr>
          <p:cNvPr id="9" name="Shape 5"/>
          <p:cNvSpPr/>
          <p:nvPr/>
        </p:nvSpPr>
        <p:spPr>
          <a:xfrm>
            <a:off x="548640" y="1828800"/>
            <a:ext cx="2014057" cy="2651760"/>
          </a:xfrm>
          <a:prstGeom prst="roundRect">
            <a:avLst>
              <a:gd name="adj" fmla="val 5448"/>
            </a:avLst>
          </a:prstGeom>
          <a:solidFill>
            <a:srgbClr val="E8F0FA"/>
          </a:solidFill>
          <a:ln w="25400">
            <a:solidFill>
              <a:srgbClr val="E8F0FA"/>
            </a:solidFill>
            <a:prstDash val="solid"/>
          </a:ln>
        </p:spPr>
      </p:sp>
      <p:sp>
        <p:nvSpPr>
          <p:cNvPr id="10" name="Shape 6"/>
          <p:cNvSpPr/>
          <p:nvPr/>
        </p:nvSpPr>
        <p:spPr>
          <a:xfrm>
            <a:off x="1226485" y="2103120"/>
            <a:ext cx="658368" cy="658368"/>
          </a:xfrm>
          <a:prstGeom prst="ellipse">
            <a:avLst/>
          </a:prstGeom>
          <a:solidFill>
            <a:srgbClr val="14305C"/>
          </a:solidFill>
          <a:ln w="12700">
            <a:solidFill>
              <a:srgbClr val="14305C"/>
            </a:solidFill>
            <a:prstDash val="solid"/>
          </a:ln>
        </p:spPr>
      </p:sp>
      <p:sp>
        <p:nvSpPr>
          <p:cNvPr id="11" name="Text 7"/>
          <p:cNvSpPr txBox="1"/>
          <p:nvPr/>
        </p:nvSpPr>
        <p:spPr>
          <a:xfrm>
            <a:off x="1226485" y="2103120"/>
            <a:ext cx="658368" cy="658368"/>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1</a:t>
            </a:r>
            <a:endParaRPr lang="en-US" sz="2200" dirty="0"/>
          </a:p>
        </p:txBody>
      </p:sp>
      <p:sp>
        <p:nvSpPr>
          <p:cNvPr id="12" name="Text 8"/>
          <p:cNvSpPr txBox="1"/>
          <p:nvPr/>
        </p:nvSpPr>
        <p:spPr>
          <a:xfrm>
            <a:off x="685800" y="2926080"/>
            <a:ext cx="1739737" cy="457200"/>
          </a:xfrm>
          <a:prstGeom prst="rect">
            <a:avLst/>
          </a:prstGeom>
          <a:noFill/>
          <a:ln/>
        </p:spPr>
        <p:txBody>
          <a:bodyPr wrap="square" lIns="0" tIns="0" rIns="0" bIns="0" rtlCol="0" anchor="ctr"/>
          <a:lstStyle/>
          <a:p>
            <a:pPr algn="ctr" indent="0" marL="0">
              <a:buNone/>
            </a:pPr>
            <a:r>
              <a:rPr lang="en-US" sz="2000" b="1" dirty="0">
                <a:solidFill>
                  <a:srgbClr val="14305C"/>
                </a:solidFill>
                <a:latin typeface="Calibri" pitchFamily="34" charset="0"/>
                <a:ea typeface="Calibri" pitchFamily="34" charset="-122"/>
                <a:cs typeface="Calibri" pitchFamily="34" charset="-120"/>
              </a:rPr>
              <a:t>Bring up</a:t>
            </a:r>
            <a:endParaRPr lang="en-US" sz="2000" dirty="0"/>
          </a:p>
        </p:txBody>
      </p:sp>
      <p:sp>
        <p:nvSpPr>
          <p:cNvPr id="13" name="Text 9"/>
          <p:cNvSpPr txBox="1"/>
          <p:nvPr/>
        </p:nvSpPr>
        <p:spPr>
          <a:xfrm>
            <a:off x="731520" y="3429000"/>
            <a:ext cx="1648297" cy="914400"/>
          </a:xfrm>
          <a:prstGeom prst="rect">
            <a:avLst/>
          </a:prstGeom>
          <a:noFill/>
          <a:ln/>
        </p:spPr>
        <p:txBody>
          <a:bodyPr wrap="square" lIns="0" tIns="0" rIns="0" bIns="0" rtlCol="0" anchor="t"/>
          <a:lstStyle/>
          <a:p>
            <a:pPr algn="ctr" indent="0" marL="0">
              <a:buNone/>
            </a:pPr>
            <a:r>
              <a:rPr lang="en-US" sz="1500" dirty="0">
                <a:solidFill>
                  <a:srgbClr val="1B1F24"/>
                </a:solidFill>
                <a:latin typeface="Calibri" pitchFamily="34" charset="0"/>
                <a:ea typeface="Calibri" pitchFamily="34" charset="-122"/>
                <a:cs typeface="Calibri" pitchFamily="34" charset="-120"/>
              </a:rPr>
              <a:t>each interface alone on the target board</a:t>
            </a:r>
            <a:endParaRPr lang="en-US" sz="1500" dirty="0"/>
          </a:p>
        </p:txBody>
      </p:sp>
      <p:sp>
        <p:nvSpPr>
          <p:cNvPr id="14" name="Shape 10"/>
          <p:cNvSpPr/>
          <p:nvPr/>
        </p:nvSpPr>
        <p:spPr>
          <a:xfrm>
            <a:off x="2590129" y="3154680"/>
            <a:ext cx="201168" cy="0"/>
          </a:xfrm>
          <a:prstGeom prst="line">
            <a:avLst/>
          </a:prstGeom>
          <a:noFill/>
          <a:ln w="25400">
            <a:solidFill>
              <a:srgbClr val="14305C"/>
            </a:solidFill>
            <a:prstDash val="solid"/>
            <a:tailEnd type="triangle"/>
          </a:ln>
        </p:spPr>
      </p:sp>
      <p:sp>
        <p:nvSpPr>
          <p:cNvPr id="15" name="Shape 11"/>
          <p:cNvSpPr/>
          <p:nvPr/>
        </p:nvSpPr>
        <p:spPr>
          <a:xfrm>
            <a:off x="2818729" y="1828800"/>
            <a:ext cx="2014057" cy="2651760"/>
          </a:xfrm>
          <a:prstGeom prst="roundRect">
            <a:avLst>
              <a:gd name="adj" fmla="val 5448"/>
            </a:avLst>
          </a:prstGeom>
          <a:solidFill>
            <a:srgbClr val="E8F0FA"/>
          </a:solidFill>
          <a:ln w="25400">
            <a:solidFill>
              <a:srgbClr val="E8F0FA"/>
            </a:solidFill>
            <a:prstDash val="solid"/>
          </a:ln>
        </p:spPr>
      </p:sp>
      <p:sp>
        <p:nvSpPr>
          <p:cNvPr id="16" name="Shape 12"/>
          <p:cNvSpPr/>
          <p:nvPr/>
        </p:nvSpPr>
        <p:spPr>
          <a:xfrm>
            <a:off x="3496574" y="2103120"/>
            <a:ext cx="658368" cy="658368"/>
          </a:xfrm>
          <a:prstGeom prst="ellipse">
            <a:avLst/>
          </a:prstGeom>
          <a:solidFill>
            <a:srgbClr val="14305C"/>
          </a:solidFill>
          <a:ln w="12700">
            <a:solidFill>
              <a:srgbClr val="14305C"/>
            </a:solidFill>
            <a:prstDash val="solid"/>
          </a:ln>
        </p:spPr>
      </p:sp>
      <p:sp>
        <p:nvSpPr>
          <p:cNvPr id="17" name="Text 13"/>
          <p:cNvSpPr txBox="1"/>
          <p:nvPr/>
        </p:nvSpPr>
        <p:spPr>
          <a:xfrm>
            <a:off x="3496574" y="2103120"/>
            <a:ext cx="658368" cy="658368"/>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2</a:t>
            </a:r>
            <a:endParaRPr lang="en-US" sz="2200" dirty="0"/>
          </a:p>
        </p:txBody>
      </p:sp>
      <p:sp>
        <p:nvSpPr>
          <p:cNvPr id="18" name="Text 14"/>
          <p:cNvSpPr txBox="1"/>
          <p:nvPr/>
        </p:nvSpPr>
        <p:spPr>
          <a:xfrm>
            <a:off x="2955889" y="2926080"/>
            <a:ext cx="1739737" cy="457200"/>
          </a:xfrm>
          <a:prstGeom prst="rect">
            <a:avLst/>
          </a:prstGeom>
          <a:noFill/>
          <a:ln/>
        </p:spPr>
        <p:txBody>
          <a:bodyPr wrap="square" lIns="0" tIns="0" rIns="0" bIns="0" rtlCol="0" anchor="ctr"/>
          <a:lstStyle/>
          <a:p>
            <a:pPr algn="ctr" indent="0" marL="0">
              <a:buNone/>
            </a:pPr>
            <a:r>
              <a:rPr lang="en-US" sz="2000" b="1" dirty="0">
                <a:solidFill>
                  <a:srgbClr val="14305C"/>
                </a:solidFill>
                <a:latin typeface="Calibri" pitchFamily="34" charset="0"/>
                <a:ea typeface="Calibri" pitchFamily="34" charset="-122"/>
                <a:cs typeface="Calibri" pitchFamily="34" charset="-120"/>
              </a:rPr>
              <a:t>Acquire</a:t>
            </a:r>
            <a:endParaRPr lang="en-US" sz="2000" dirty="0"/>
          </a:p>
        </p:txBody>
      </p:sp>
      <p:sp>
        <p:nvSpPr>
          <p:cNvPr id="19" name="Text 15"/>
          <p:cNvSpPr txBox="1"/>
          <p:nvPr/>
        </p:nvSpPr>
        <p:spPr>
          <a:xfrm>
            <a:off x="3001609" y="3429000"/>
            <a:ext cx="1648297" cy="914400"/>
          </a:xfrm>
          <a:prstGeom prst="rect">
            <a:avLst/>
          </a:prstGeom>
          <a:noFill/>
          <a:ln/>
        </p:spPr>
        <p:txBody>
          <a:bodyPr wrap="square" lIns="0" tIns="0" rIns="0" bIns="0" rtlCol="0" anchor="t"/>
          <a:lstStyle/>
          <a:p>
            <a:pPr algn="ctr" indent="0" marL="0">
              <a:buNone/>
            </a:pPr>
            <a:r>
              <a:rPr lang="en-US" sz="1500" dirty="0">
                <a:solidFill>
                  <a:srgbClr val="1B1F24"/>
                </a:solidFill>
                <a:latin typeface="Calibri" pitchFamily="34" charset="0"/>
                <a:ea typeface="Calibri" pitchFamily="34" charset="-122"/>
                <a:cs typeface="Calibri" pitchFamily="34" charset="-120"/>
              </a:rPr>
              <a:t>both IMUs at 200 Hz, calibrate to gravity</a:t>
            </a:r>
            <a:endParaRPr lang="en-US" sz="1500" dirty="0"/>
          </a:p>
        </p:txBody>
      </p:sp>
      <p:sp>
        <p:nvSpPr>
          <p:cNvPr id="20" name="Shape 16"/>
          <p:cNvSpPr/>
          <p:nvPr/>
        </p:nvSpPr>
        <p:spPr>
          <a:xfrm>
            <a:off x="4860219" y="3154680"/>
            <a:ext cx="201168" cy="0"/>
          </a:xfrm>
          <a:prstGeom prst="line">
            <a:avLst/>
          </a:prstGeom>
          <a:noFill/>
          <a:ln w="25400">
            <a:solidFill>
              <a:srgbClr val="14305C"/>
            </a:solidFill>
            <a:prstDash val="solid"/>
            <a:tailEnd type="triangle"/>
          </a:ln>
        </p:spPr>
      </p:sp>
      <p:sp>
        <p:nvSpPr>
          <p:cNvPr id="21" name="Shape 17"/>
          <p:cNvSpPr/>
          <p:nvPr/>
        </p:nvSpPr>
        <p:spPr>
          <a:xfrm>
            <a:off x="5088819" y="1828800"/>
            <a:ext cx="2014057" cy="2651760"/>
          </a:xfrm>
          <a:prstGeom prst="roundRect">
            <a:avLst>
              <a:gd name="adj" fmla="val 5448"/>
            </a:avLst>
          </a:prstGeom>
          <a:solidFill>
            <a:srgbClr val="E8F0FA"/>
          </a:solidFill>
          <a:ln w="25400">
            <a:solidFill>
              <a:srgbClr val="E8F0FA"/>
            </a:solidFill>
            <a:prstDash val="solid"/>
          </a:ln>
        </p:spPr>
      </p:sp>
      <p:sp>
        <p:nvSpPr>
          <p:cNvPr id="22" name="Shape 18"/>
          <p:cNvSpPr/>
          <p:nvPr/>
        </p:nvSpPr>
        <p:spPr>
          <a:xfrm>
            <a:off x="5766664" y="2103120"/>
            <a:ext cx="658368" cy="658368"/>
          </a:xfrm>
          <a:prstGeom prst="ellipse">
            <a:avLst/>
          </a:prstGeom>
          <a:solidFill>
            <a:srgbClr val="14305C"/>
          </a:solidFill>
          <a:ln w="12700">
            <a:solidFill>
              <a:srgbClr val="14305C"/>
            </a:solidFill>
            <a:prstDash val="solid"/>
          </a:ln>
        </p:spPr>
      </p:sp>
      <p:sp>
        <p:nvSpPr>
          <p:cNvPr id="23" name="Text 19"/>
          <p:cNvSpPr txBox="1"/>
          <p:nvPr/>
        </p:nvSpPr>
        <p:spPr>
          <a:xfrm>
            <a:off x="5766664" y="2103120"/>
            <a:ext cx="658368" cy="658368"/>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3</a:t>
            </a:r>
            <a:endParaRPr lang="en-US" sz="2200" dirty="0"/>
          </a:p>
        </p:txBody>
      </p:sp>
      <p:sp>
        <p:nvSpPr>
          <p:cNvPr id="24" name="Text 20"/>
          <p:cNvSpPr txBox="1"/>
          <p:nvPr/>
        </p:nvSpPr>
        <p:spPr>
          <a:xfrm>
            <a:off x="5225979" y="2926080"/>
            <a:ext cx="1739737" cy="457200"/>
          </a:xfrm>
          <a:prstGeom prst="rect">
            <a:avLst/>
          </a:prstGeom>
          <a:noFill/>
          <a:ln/>
        </p:spPr>
        <p:txBody>
          <a:bodyPr wrap="square" lIns="0" tIns="0" rIns="0" bIns="0" rtlCol="0" anchor="ctr"/>
          <a:lstStyle/>
          <a:p>
            <a:pPr algn="ctr" indent="0" marL="0">
              <a:buNone/>
            </a:pPr>
            <a:r>
              <a:rPr lang="en-US" sz="2000" b="1" dirty="0">
                <a:solidFill>
                  <a:srgbClr val="14305C"/>
                </a:solidFill>
                <a:latin typeface="Calibri" pitchFamily="34" charset="0"/>
                <a:ea typeface="Calibri" pitchFamily="34" charset="-122"/>
                <a:cs typeface="Calibri" pitchFamily="34" charset="-120"/>
              </a:rPr>
              <a:t>Compute</a:t>
            </a:r>
            <a:endParaRPr lang="en-US" sz="2000" dirty="0"/>
          </a:p>
        </p:txBody>
      </p:sp>
      <p:sp>
        <p:nvSpPr>
          <p:cNvPr id="25" name="Text 21"/>
          <p:cNvSpPr txBox="1"/>
          <p:nvPr/>
        </p:nvSpPr>
        <p:spPr>
          <a:xfrm>
            <a:off x="5271699" y="3429000"/>
            <a:ext cx="1648297" cy="914400"/>
          </a:xfrm>
          <a:prstGeom prst="rect">
            <a:avLst/>
          </a:prstGeom>
          <a:noFill/>
          <a:ln/>
        </p:spPr>
        <p:txBody>
          <a:bodyPr wrap="square" lIns="0" tIns="0" rIns="0" bIns="0" rtlCol="0" anchor="t"/>
          <a:lstStyle/>
          <a:p>
            <a:pPr algn="ctr" indent="0" marL="0">
              <a:buNone/>
            </a:pPr>
            <a:r>
              <a:rPr lang="en-US" sz="1500" dirty="0">
                <a:solidFill>
                  <a:srgbClr val="1B1F24"/>
                </a:solidFill>
                <a:latin typeface="Calibri" pitchFamily="34" charset="0"/>
                <a:ea typeface="Calibri" pitchFamily="34" charset="-122"/>
                <a:cs typeface="Calibri" pitchFamily="34" charset="-120"/>
              </a:rPr>
              <a:t>ride features and dual-IMU fusion, self-tested</a:t>
            </a:r>
            <a:endParaRPr lang="en-US" sz="1500" dirty="0"/>
          </a:p>
        </p:txBody>
      </p:sp>
      <p:sp>
        <p:nvSpPr>
          <p:cNvPr id="26" name="Shape 22"/>
          <p:cNvSpPr/>
          <p:nvPr/>
        </p:nvSpPr>
        <p:spPr>
          <a:xfrm>
            <a:off x="7130308" y="3154680"/>
            <a:ext cx="201168" cy="0"/>
          </a:xfrm>
          <a:prstGeom prst="line">
            <a:avLst/>
          </a:prstGeom>
          <a:noFill/>
          <a:ln w="25400">
            <a:solidFill>
              <a:srgbClr val="14305C"/>
            </a:solidFill>
            <a:prstDash val="solid"/>
            <a:tailEnd type="triangle"/>
          </a:ln>
        </p:spPr>
      </p:sp>
      <p:sp>
        <p:nvSpPr>
          <p:cNvPr id="27" name="Shape 23"/>
          <p:cNvSpPr/>
          <p:nvPr/>
        </p:nvSpPr>
        <p:spPr>
          <a:xfrm>
            <a:off x="7358908" y="1828800"/>
            <a:ext cx="2014057" cy="2651760"/>
          </a:xfrm>
          <a:prstGeom prst="roundRect">
            <a:avLst>
              <a:gd name="adj" fmla="val 5448"/>
            </a:avLst>
          </a:prstGeom>
          <a:solidFill>
            <a:srgbClr val="E8F0FA"/>
          </a:solidFill>
          <a:ln w="25400">
            <a:solidFill>
              <a:srgbClr val="E8F0FA"/>
            </a:solidFill>
            <a:prstDash val="solid"/>
          </a:ln>
        </p:spPr>
      </p:sp>
      <p:sp>
        <p:nvSpPr>
          <p:cNvPr id="28" name="Shape 24"/>
          <p:cNvSpPr/>
          <p:nvPr/>
        </p:nvSpPr>
        <p:spPr>
          <a:xfrm>
            <a:off x="8036753" y="2103120"/>
            <a:ext cx="658368" cy="658368"/>
          </a:xfrm>
          <a:prstGeom prst="ellipse">
            <a:avLst/>
          </a:prstGeom>
          <a:solidFill>
            <a:srgbClr val="14305C"/>
          </a:solidFill>
          <a:ln w="12700">
            <a:solidFill>
              <a:srgbClr val="14305C"/>
            </a:solidFill>
            <a:prstDash val="solid"/>
          </a:ln>
        </p:spPr>
      </p:sp>
      <p:sp>
        <p:nvSpPr>
          <p:cNvPr id="29" name="Text 25"/>
          <p:cNvSpPr txBox="1"/>
          <p:nvPr/>
        </p:nvSpPr>
        <p:spPr>
          <a:xfrm>
            <a:off x="8036753" y="2103120"/>
            <a:ext cx="658368" cy="658368"/>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4</a:t>
            </a:r>
            <a:endParaRPr lang="en-US" sz="2200" dirty="0"/>
          </a:p>
        </p:txBody>
      </p:sp>
      <p:sp>
        <p:nvSpPr>
          <p:cNvPr id="30" name="Text 26"/>
          <p:cNvSpPr txBox="1"/>
          <p:nvPr/>
        </p:nvSpPr>
        <p:spPr>
          <a:xfrm>
            <a:off x="7496068" y="2926080"/>
            <a:ext cx="1739737" cy="457200"/>
          </a:xfrm>
          <a:prstGeom prst="rect">
            <a:avLst/>
          </a:prstGeom>
          <a:noFill/>
          <a:ln/>
        </p:spPr>
        <p:txBody>
          <a:bodyPr wrap="square" lIns="0" tIns="0" rIns="0" bIns="0" rtlCol="0" anchor="ctr"/>
          <a:lstStyle/>
          <a:p>
            <a:pPr algn="ctr" indent="0" marL="0">
              <a:buNone/>
            </a:pPr>
            <a:r>
              <a:rPr lang="en-US" sz="2000" b="1" dirty="0">
                <a:solidFill>
                  <a:srgbClr val="14305C"/>
                </a:solidFill>
                <a:latin typeface="Calibri" pitchFamily="34" charset="0"/>
                <a:ea typeface="Calibri" pitchFamily="34" charset="-122"/>
                <a:cs typeface="Calibri" pitchFamily="34" charset="-120"/>
              </a:rPr>
              <a:t>Store and send</a:t>
            </a:r>
            <a:endParaRPr lang="en-US" sz="2000" dirty="0"/>
          </a:p>
        </p:txBody>
      </p:sp>
      <p:sp>
        <p:nvSpPr>
          <p:cNvPr id="31" name="Text 27"/>
          <p:cNvSpPr txBox="1"/>
          <p:nvPr/>
        </p:nvSpPr>
        <p:spPr>
          <a:xfrm>
            <a:off x="7541788" y="3429000"/>
            <a:ext cx="1648297" cy="914400"/>
          </a:xfrm>
          <a:prstGeom prst="rect">
            <a:avLst/>
          </a:prstGeom>
          <a:noFill/>
          <a:ln/>
        </p:spPr>
        <p:txBody>
          <a:bodyPr wrap="square" lIns="0" tIns="0" rIns="0" bIns="0" rtlCol="0" anchor="t"/>
          <a:lstStyle/>
          <a:p>
            <a:pPr algn="ctr" indent="0" marL="0">
              <a:buNone/>
            </a:pPr>
            <a:r>
              <a:rPr lang="en-US" sz="1500" dirty="0">
                <a:solidFill>
                  <a:srgbClr val="1B1F24"/>
                </a:solidFill>
                <a:latin typeface="Calibri" pitchFamily="34" charset="0"/>
                <a:ea typeface="Calibri" pitchFamily="34" charset="-122"/>
                <a:cs typeface="Calibri" pitchFamily="34" charset="-120"/>
              </a:rPr>
              <a:t>log to flash, publish over LTE</a:t>
            </a:r>
            <a:endParaRPr lang="en-US" sz="1500" dirty="0"/>
          </a:p>
        </p:txBody>
      </p:sp>
      <p:sp>
        <p:nvSpPr>
          <p:cNvPr id="32" name="Shape 28"/>
          <p:cNvSpPr/>
          <p:nvPr/>
        </p:nvSpPr>
        <p:spPr>
          <a:xfrm>
            <a:off x="9400398" y="3154680"/>
            <a:ext cx="201168" cy="0"/>
          </a:xfrm>
          <a:prstGeom prst="line">
            <a:avLst/>
          </a:prstGeom>
          <a:noFill/>
          <a:ln w="25400">
            <a:solidFill>
              <a:srgbClr val="14305C"/>
            </a:solidFill>
            <a:prstDash val="solid"/>
            <a:tailEnd type="triangle"/>
          </a:ln>
        </p:spPr>
      </p:sp>
      <p:sp>
        <p:nvSpPr>
          <p:cNvPr id="33" name="Shape 29"/>
          <p:cNvSpPr/>
          <p:nvPr/>
        </p:nvSpPr>
        <p:spPr>
          <a:xfrm>
            <a:off x="9628998" y="1828800"/>
            <a:ext cx="2014057" cy="2651760"/>
          </a:xfrm>
          <a:prstGeom prst="roundRect">
            <a:avLst>
              <a:gd name="adj" fmla="val 5448"/>
            </a:avLst>
          </a:prstGeom>
          <a:solidFill>
            <a:srgbClr val="FFFFFF"/>
          </a:solidFill>
          <a:ln w="25400">
            <a:solidFill>
              <a:srgbClr val="D4700C"/>
            </a:solidFill>
            <a:prstDash val="dash"/>
          </a:ln>
        </p:spPr>
      </p:sp>
      <p:sp>
        <p:nvSpPr>
          <p:cNvPr id="34" name="Shape 30"/>
          <p:cNvSpPr/>
          <p:nvPr/>
        </p:nvSpPr>
        <p:spPr>
          <a:xfrm>
            <a:off x="10306842" y="2103120"/>
            <a:ext cx="658368" cy="658368"/>
          </a:xfrm>
          <a:prstGeom prst="ellipse">
            <a:avLst/>
          </a:prstGeom>
          <a:solidFill>
            <a:srgbClr val="D4700C"/>
          </a:solidFill>
          <a:ln w="12700">
            <a:solidFill>
              <a:srgbClr val="D4700C"/>
            </a:solidFill>
            <a:prstDash val="solid"/>
          </a:ln>
        </p:spPr>
      </p:sp>
      <p:sp>
        <p:nvSpPr>
          <p:cNvPr id="35" name="Text 31"/>
          <p:cNvSpPr txBox="1"/>
          <p:nvPr/>
        </p:nvSpPr>
        <p:spPr>
          <a:xfrm>
            <a:off x="10306842" y="2103120"/>
            <a:ext cx="658368" cy="658368"/>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5</a:t>
            </a:r>
            <a:endParaRPr lang="en-US" sz="2200" dirty="0"/>
          </a:p>
        </p:txBody>
      </p:sp>
      <p:sp>
        <p:nvSpPr>
          <p:cNvPr id="36" name="Text 32"/>
          <p:cNvSpPr txBox="1"/>
          <p:nvPr/>
        </p:nvSpPr>
        <p:spPr>
          <a:xfrm>
            <a:off x="9766158" y="2926080"/>
            <a:ext cx="1739737" cy="457200"/>
          </a:xfrm>
          <a:prstGeom prst="rect">
            <a:avLst/>
          </a:prstGeom>
          <a:noFill/>
          <a:ln/>
        </p:spPr>
        <p:txBody>
          <a:bodyPr wrap="square" lIns="0" tIns="0" rIns="0" bIns="0" rtlCol="0" anchor="ctr"/>
          <a:lstStyle/>
          <a:p>
            <a:pPr algn="ctr" indent="0" marL="0">
              <a:buNone/>
            </a:pPr>
            <a:r>
              <a:rPr lang="en-US" sz="2000" b="1" dirty="0">
                <a:solidFill>
                  <a:srgbClr val="D4700C"/>
                </a:solidFill>
                <a:latin typeface="Calibri" pitchFamily="34" charset="0"/>
                <a:ea typeface="Calibri" pitchFamily="34" charset="-122"/>
                <a:cs typeface="Calibri" pitchFamily="34" charset="-120"/>
              </a:rPr>
              <a:t>Validate</a:t>
            </a:r>
            <a:endParaRPr lang="en-US" sz="2000" dirty="0"/>
          </a:p>
        </p:txBody>
      </p:sp>
      <p:sp>
        <p:nvSpPr>
          <p:cNvPr id="37" name="Text 33"/>
          <p:cNvSpPr txBox="1"/>
          <p:nvPr/>
        </p:nvSpPr>
        <p:spPr>
          <a:xfrm>
            <a:off x="9811878" y="3429000"/>
            <a:ext cx="1648297" cy="914400"/>
          </a:xfrm>
          <a:prstGeom prst="rect">
            <a:avLst/>
          </a:prstGeom>
          <a:noFill/>
          <a:ln/>
        </p:spPr>
        <p:txBody>
          <a:bodyPr wrap="square" lIns="0" tIns="0" rIns="0" bIns="0" rtlCol="0" anchor="t"/>
          <a:lstStyle/>
          <a:p>
            <a:pPr algn="ctr" indent="0" marL="0">
              <a:buNone/>
            </a:pPr>
            <a:r>
              <a:rPr lang="en-US" sz="1500" dirty="0">
                <a:solidFill>
                  <a:srgbClr val="1B1F24"/>
                </a:solidFill>
                <a:latin typeface="Calibri" pitchFamily="34" charset="0"/>
                <a:ea typeface="Calibri" pitchFamily="34" charset="-122"/>
                <a:cs typeface="Calibri" pitchFamily="34" charset="-120"/>
              </a:rPr>
              <a:t>on the moving vehicle</a:t>
            </a:r>
            <a:endParaRPr lang="en-US" sz="1500" dirty="0"/>
          </a:p>
        </p:txBody>
      </p:sp>
      <p:sp>
        <p:nvSpPr>
          <p:cNvPr id="38" name="Text 34"/>
          <p:cNvSpPr txBox="1"/>
          <p:nvPr/>
        </p:nvSpPr>
        <p:spPr>
          <a:xfrm>
            <a:off x="548640" y="4937760"/>
            <a:ext cx="11094415" cy="548640"/>
          </a:xfrm>
          <a:prstGeom prst="rect">
            <a:avLst/>
          </a:prstGeom>
          <a:noFill/>
          <a:ln/>
        </p:spPr>
        <p:txBody>
          <a:bodyPr wrap="square" lIns="0" tIns="0" rIns="0" bIns="0" rtlCol="0" anchor="ctr"/>
          <a:lstStyle/>
          <a:p>
            <a:pPr algn="ctr" indent="0" marL="0">
              <a:buNone/>
            </a:pPr>
            <a:r>
              <a:rPr lang="en-US" sz="1800" i="1" dirty="0">
                <a:solidFill>
                  <a:srgbClr val="4A5566"/>
                </a:solidFill>
                <a:latin typeface="Calibri" pitchFamily="34" charset="0"/>
                <a:ea typeface="Calibri" pitchFamily="34" charset="-122"/>
                <a:cs typeface="Calibri" pitchFamily="34" charset="-120"/>
              </a:rPr>
              <a:t>Stages 1 to 4 are complete on the bench. Stage 5 depends on vehicle access and is the main outstanding work.</a:t>
            </a:r>
            <a:endParaRPr lang="en-US" sz="1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84048"/>
            <a:ext cx="566928" cy="566928"/>
          </a:xfrm>
          <a:prstGeom prst="ellipse">
            <a:avLst/>
          </a:prstGeom>
          <a:solidFill>
            <a:srgbClr val="14305C"/>
          </a:solidFill>
          <a:ln w="12700">
            <a:solidFill>
              <a:srgbClr val="14305C"/>
            </a:solidFill>
            <a:prstDash val="solid"/>
          </a:ln>
        </p:spPr>
      </p:sp>
      <p:sp>
        <p:nvSpPr>
          <p:cNvPr id="3" name="Text 1"/>
          <p:cNvSpPr txBox="1"/>
          <p:nvPr/>
        </p:nvSpPr>
        <p:spPr>
          <a:xfrm>
            <a:off x="548640" y="384048"/>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6</a:t>
            </a:r>
            <a:endParaRPr lang="en-US" sz="2000" dirty="0"/>
          </a:p>
        </p:txBody>
      </p:sp>
      <p:sp>
        <p:nvSpPr>
          <p:cNvPr id="4" name="Text 2"/>
          <p:cNvSpPr txBox="1"/>
          <p:nvPr/>
        </p:nvSpPr>
        <p:spPr>
          <a:xfrm>
            <a:off x="1325880" y="310896"/>
            <a:ext cx="10317175" cy="731520"/>
          </a:xfrm>
          <a:prstGeom prst="rect">
            <a:avLst/>
          </a:prstGeom>
          <a:noFill/>
          <a:ln/>
        </p:spPr>
        <p:txBody>
          <a:bodyPr wrap="square" lIns="0" tIns="0" rIns="0" bIns="0" rtlCol="0" anchor="ctr"/>
          <a:lstStyle/>
          <a:p>
            <a:pPr indent="0" marL="0">
              <a:buNone/>
            </a:pPr>
            <a:r>
              <a:rPr lang="en-US" sz="3200" b="1" dirty="0">
                <a:solidFill>
                  <a:srgbClr val="14305C"/>
                </a:solidFill>
                <a:latin typeface="Calibri" pitchFamily="34" charset="0"/>
                <a:ea typeface="Calibri" pitchFamily="34" charset="-122"/>
                <a:cs typeface="Calibri" pitchFamily="34" charset="-120"/>
              </a:rPr>
              <a:t>Result: 200 Hz acquisition and dual-IMU fusion</a:t>
            </a:r>
            <a:endParaRPr lang="en-US" sz="3200" dirty="0"/>
          </a:p>
        </p:txBody>
      </p:sp>
      <p:pic>
        <p:nvPicPr>
          <p:cNvPr id="5" name="Image 0" descr="C:\Users\0geda\OneDrive - University of Cape Town\Documents\PlatformIO\Projects\Tukzie-HPEC-HUD\Presentation\source\assets\uct_logo.png">    </p:cNvPr>
          <p:cNvPicPr>
            <a:picLocks noChangeAspect="1"/>
          </p:cNvPicPr>
          <p:nvPr/>
        </p:nvPicPr>
        <p:blipFill>
          <a:blip r:embed="rId1"/>
          <a:stretch>
            <a:fillRect/>
          </a:stretch>
        </p:blipFill>
        <p:spPr>
          <a:xfrm>
            <a:off x="11259007" y="6327648"/>
            <a:ext cx="384048" cy="390449"/>
          </a:xfrm>
          <a:prstGeom prst="rect">
            <a:avLst/>
          </a:prstGeom>
        </p:spPr>
      </p:pic>
      <p:sp>
        <p:nvSpPr>
          <p:cNvPr id="6" name="Text 3"/>
          <p:cNvSpPr txBox="1"/>
          <p:nvPr/>
        </p:nvSpPr>
        <p:spPr>
          <a:xfrm>
            <a:off x="548640" y="6382512"/>
            <a:ext cx="5486400" cy="292608"/>
          </a:xfrm>
          <a:prstGeom prst="rect">
            <a:avLst/>
          </a:prstGeom>
          <a:noFill/>
          <a:ln/>
        </p:spPr>
        <p:txBody>
          <a:bodyPr wrap="square" lIns="0" tIns="0" rIns="0" bIns="0" rtlCol="0" anchor="ctr"/>
          <a:lstStyle/>
          <a:p>
            <a:pPr indent="0" marL="0">
              <a:buNone/>
            </a:pPr>
            <a:r>
              <a:rPr lang="en-US" sz="1100" dirty="0">
                <a:solidFill>
                  <a:srgbClr val="4A5566"/>
                </a:solidFill>
                <a:latin typeface="Calibri" pitchFamily="34" charset="0"/>
                <a:ea typeface="Calibri" pitchFamily="34" charset="-122"/>
                <a:cs typeface="Calibri" pitchFamily="34" charset="-120"/>
              </a:rPr>
              <a:t>SW-7   |   Samson Okuthe   |   EEE4022S 2026</a:t>
            </a:r>
            <a:endParaRPr lang="en-US" sz="1100" dirty="0"/>
          </a:p>
        </p:txBody>
      </p:sp>
      <p:sp>
        <p:nvSpPr>
          <p:cNvPr id="7" name="Text 4"/>
          <p:cNvSpPr txBox="1"/>
          <p:nvPr/>
        </p:nvSpPr>
        <p:spPr>
          <a:xfrm>
            <a:off x="10180015" y="6382512"/>
            <a:ext cx="914400" cy="292608"/>
          </a:xfrm>
          <a:prstGeom prst="rect">
            <a:avLst/>
          </a:prstGeom>
          <a:noFill/>
          <a:ln/>
        </p:spPr>
        <p:txBody>
          <a:bodyPr wrap="square" lIns="0" tIns="0" rIns="0" bIns="0" rtlCol="0" anchor="ctr"/>
          <a:lstStyle/>
          <a:p>
            <a:pPr algn="r" indent="0" marL="0">
              <a:buNone/>
            </a:pPr>
            <a:r>
              <a:rPr lang="en-US" sz="1100" dirty="0">
                <a:solidFill>
                  <a:srgbClr val="4A5566"/>
                </a:solidFill>
                <a:latin typeface="Calibri" pitchFamily="34" charset="0"/>
                <a:ea typeface="Calibri" pitchFamily="34" charset="-122"/>
                <a:cs typeface="Calibri" pitchFamily="34" charset="-120"/>
              </a:rPr>
              <a:t>7 / 12</a:t>
            </a:r>
            <a:endParaRPr lang="en-US" sz="1100" dirty="0"/>
          </a:p>
        </p:txBody>
      </p:sp>
      <p:sp>
        <p:nvSpPr>
          <p:cNvPr id="9" name="Shape 5"/>
          <p:cNvSpPr/>
          <p:nvPr/>
        </p:nvSpPr>
        <p:spPr>
          <a:xfrm>
            <a:off x="548640" y="1280160"/>
            <a:ext cx="2567864" cy="1463040"/>
          </a:xfrm>
          <a:prstGeom prst="roundRect">
            <a:avLst>
              <a:gd name="adj" fmla="val 7500"/>
            </a:avLst>
          </a:prstGeom>
          <a:solidFill>
            <a:srgbClr val="E8F0FA"/>
          </a:solidFill>
          <a:ln w="12700">
            <a:solidFill>
              <a:srgbClr val="E8F0FA"/>
            </a:solidFill>
            <a:prstDash val="solid"/>
          </a:ln>
        </p:spPr>
      </p:sp>
      <p:sp>
        <p:nvSpPr>
          <p:cNvPr id="10" name="Text 6"/>
          <p:cNvSpPr txBox="1"/>
          <p:nvPr/>
        </p:nvSpPr>
        <p:spPr>
          <a:xfrm>
            <a:off x="777240" y="1389888"/>
            <a:ext cx="2110664" cy="685800"/>
          </a:xfrm>
          <a:prstGeom prst="rect">
            <a:avLst/>
          </a:prstGeom>
          <a:noFill/>
          <a:ln/>
        </p:spPr>
        <p:txBody>
          <a:bodyPr wrap="square" lIns="0" tIns="0" rIns="0" bIns="0" rtlCol="0" anchor="ctr"/>
          <a:lstStyle/>
          <a:p>
            <a:pPr indent="0" marL="0">
              <a:buNone/>
            </a:pPr>
            <a:r>
              <a:rPr lang="en-US" sz="3400" b="1" dirty="0">
                <a:solidFill>
                  <a:srgbClr val="14305C"/>
                </a:solidFill>
                <a:latin typeface="Calibri" pitchFamily="34" charset="0"/>
                <a:ea typeface="Calibri" pitchFamily="34" charset="-122"/>
                <a:cs typeface="Calibri" pitchFamily="34" charset="-120"/>
              </a:rPr>
              <a:t>200 Hz</a:t>
            </a:r>
            <a:endParaRPr lang="en-US" sz="3400" dirty="0"/>
          </a:p>
        </p:txBody>
      </p:sp>
      <p:sp>
        <p:nvSpPr>
          <p:cNvPr id="11" name="Text 7"/>
          <p:cNvSpPr txBox="1"/>
          <p:nvPr/>
        </p:nvSpPr>
        <p:spPr>
          <a:xfrm>
            <a:off x="777240" y="2103120"/>
            <a:ext cx="2110664" cy="566928"/>
          </a:xfrm>
          <a:prstGeom prst="rect">
            <a:avLst/>
          </a:prstGeom>
          <a:noFill/>
          <a:ln/>
        </p:spPr>
        <p:txBody>
          <a:bodyPr wrap="square" lIns="0" tIns="0" rIns="0" bIns="0" rtlCol="0" anchor="t"/>
          <a:lstStyle/>
          <a:p>
            <a:pPr indent="0" marL="0">
              <a:buNone/>
            </a:pPr>
            <a:r>
              <a:rPr lang="en-US" sz="1400" dirty="0">
                <a:solidFill>
                  <a:srgbClr val="1B1F24"/>
                </a:solidFill>
                <a:latin typeface="Calibri" pitchFamily="34" charset="0"/>
                <a:ea typeface="Calibri" pitchFamily="34" charset="-122"/>
                <a:cs typeface="Calibri" pitchFamily="34" charset="-120"/>
              </a:rPr>
              <a:t>on both IMUs, zero dropped samples</a:t>
            </a:r>
            <a:endParaRPr lang="en-US" sz="1400" dirty="0"/>
          </a:p>
        </p:txBody>
      </p:sp>
      <p:sp>
        <p:nvSpPr>
          <p:cNvPr id="12" name="Shape 8"/>
          <p:cNvSpPr/>
          <p:nvPr/>
        </p:nvSpPr>
        <p:spPr>
          <a:xfrm>
            <a:off x="3390824" y="1280160"/>
            <a:ext cx="2567864" cy="1463040"/>
          </a:xfrm>
          <a:prstGeom prst="roundRect">
            <a:avLst>
              <a:gd name="adj" fmla="val 7500"/>
            </a:avLst>
          </a:prstGeom>
          <a:solidFill>
            <a:srgbClr val="E8F0FA"/>
          </a:solidFill>
          <a:ln w="12700">
            <a:solidFill>
              <a:srgbClr val="E8F0FA"/>
            </a:solidFill>
            <a:prstDash val="solid"/>
          </a:ln>
        </p:spPr>
      </p:sp>
      <p:sp>
        <p:nvSpPr>
          <p:cNvPr id="13" name="Text 9"/>
          <p:cNvSpPr txBox="1"/>
          <p:nvPr/>
        </p:nvSpPr>
        <p:spPr>
          <a:xfrm>
            <a:off x="3619424" y="1389888"/>
            <a:ext cx="2110664" cy="685800"/>
          </a:xfrm>
          <a:prstGeom prst="rect">
            <a:avLst/>
          </a:prstGeom>
          <a:noFill/>
          <a:ln/>
        </p:spPr>
        <p:txBody>
          <a:bodyPr wrap="square" lIns="0" tIns="0" rIns="0" bIns="0" rtlCol="0" anchor="ctr"/>
          <a:lstStyle/>
          <a:p>
            <a:pPr indent="0" marL="0">
              <a:buNone/>
            </a:pPr>
            <a:r>
              <a:rPr lang="en-US" sz="3400" b="1" dirty="0">
                <a:solidFill>
                  <a:srgbClr val="14305C"/>
                </a:solidFill>
                <a:latin typeface="Calibri" pitchFamily="34" charset="0"/>
                <a:ea typeface="Calibri" pitchFamily="34" charset="-122"/>
                <a:cs typeface="Calibri" pitchFamily="34" charset="-120"/>
              </a:rPr>
              <a:t>8%</a:t>
            </a:r>
            <a:endParaRPr lang="en-US" sz="3400" dirty="0"/>
          </a:p>
        </p:txBody>
      </p:sp>
      <p:sp>
        <p:nvSpPr>
          <p:cNvPr id="14" name="Text 10"/>
          <p:cNvSpPr txBox="1"/>
          <p:nvPr/>
        </p:nvSpPr>
        <p:spPr>
          <a:xfrm>
            <a:off x="3619424" y="2103120"/>
            <a:ext cx="2110664" cy="566928"/>
          </a:xfrm>
          <a:prstGeom prst="rect">
            <a:avLst/>
          </a:prstGeom>
          <a:noFill/>
          <a:ln/>
        </p:spPr>
        <p:txBody>
          <a:bodyPr wrap="square" lIns="0" tIns="0" rIns="0" bIns="0" rtlCol="0" anchor="t"/>
          <a:lstStyle/>
          <a:p>
            <a:pPr indent="0" marL="0">
              <a:buNone/>
            </a:pPr>
            <a:r>
              <a:rPr lang="en-US" sz="1400" dirty="0">
                <a:solidFill>
                  <a:srgbClr val="1B1F24"/>
                </a:solidFill>
                <a:latin typeface="Calibri" pitchFamily="34" charset="0"/>
                <a:ea typeface="Calibri" pitchFamily="34" charset="-122"/>
                <a:cs typeface="Calibri" pitchFamily="34" charset="-120"/>
              </a:rPr>
              <a:t>IMU gap at rest, calibrated down to noise</a:t>
            </a:r>
            <a:endParaRPr lang="en-US" sz="1400" dirty="0"/>
          </a:p>
        </p:txBody>
      </p:sp>
      <p:sp>
        <p:nvSpPr>
          <p:cNvPr id="15" name="Shape 11"/>
          <p:cNvSpPr/>
          <p:nvPr/>
        </p:nvSpPr>
        <p:spPr>
          <a:xfrm>
            <a:off x="6233008" y="1280160"/>
            <a:ext cx="2567864" cy="1463040"/>
          </a:xfrm>
          <a:prstGeom prst="roundRect">
            <a:avLst>
              <a:gd name="adj" fmla="val 7500"/>
            </a:avLst>
          </a:prstGeom>
          <a:solidFill>
            <a:srgbClr val="E8F0FA"/>
          </a:solidFill>
          <a:ln w="12700">
            <a:solidFill>
              <a:srgbClr val="E8F0FA"/>
            </a:solidFill>
            <a:prstDash val="solid"/>
          </a:ln>
        </p:spPr>
      </p:sp>
      <p:sp>
        <p:nvSpPr>
          <p:cNvPr id="16" name="Text 12"/>
          <p:cNvSpPr txBox="1"/>
          <p:nvPr/>
        </p:nvSpPr>
        <p:spPr>
          <a:xfrm>
            <a:off x="6461608" y="1389888"/>
            <a:ext cx="2110664" cy="685800"/>
          </a:xfrm>
          <a:prstGeom prst="rect">
            <a:avLst/>
          </a:prstGeom>
          <a:noFill/>
          <a:ln/>
        </p:spPr>
        <p:txBody>
          <a:bodyPr wrap="square" lIns="0" tIns="0" rIns="0" bIns="0" rtlCol="0" anchor="ctr"/>
          <a:lstStyle/>
          <a:p>
            <a:pPr indent="0" marL="0">
              <a:buNone/>
            </a:pPr>
            <a:r>
              <a:rPr lang="en-US" sz="3400" b="1" dirty="0">
                <a:solidFill>
                  <a:srgbClr val="14305C"/>
                </a:solidFill>
                <a:latin typeface="Calibri" pitchFamily="34" charset="0"/>
                <a:ea typeface="Calibri" pitchFamily="34" charset="-122"/>
                <a:cs typeface="Calibri" pitchFamily="34" charset="-120"/>
              </a:rPr>
              <a:t>149 / 149</a:t>
            </a:r>
            <a:endParaRPr lang="en-US" sz="3400" dirty="0"/>
          </a:p>
        </p:txBody>
      </p:sp>
      <p:sp>
        <p:nvSpPr>
          <p:cNvPr id="17" name="Text 13"/>
          <p:cNvSpPr txBox="1"/>
          <p:nvPr/>
        </p:nvSpPr>
        <p:spPr>
          <a:xfrm>
            <a:off x="6461608" y="2103120"/>
            <a:ext cx="2110664" cy="566928"/>
          </a:xfrm>
          <a:prstGeom prst="rect">
            <a:avLst/>
          </a:prstGeom>
          <a:noFill/>
          <a:ln/>
        </p:spPr>
        <p:txBody>
          <a:bodyPr wrap="square" lIns="0" tIns="0" rIns="0" bIns="0" rtlCol="0" anchor="t"/>
          <a:lstStyle/>
          <a:p>
            <a:pPr indent="0" marL="0">
              <a:buNone/>
            </a:pPr>
            <a:r>
              <a:rPr lang="en-US" sz="1400" dirty="0">
                <a:solidFill>
                  <a:srgbClr val="1B1F24"/>
                </a:solidFill>
                <a:latin typeface="Calibri" pitchFamily="34" charset="0"/>
                <a:ea typeface="Calibri" pitchFamily="34" charset="-122"/>
                <a:cs typeface="Calibri" pitchFamily="34" charset="-120"/>
              </a:rPr>
              <a:t>windows fused from both IMUs</a:t>
            </a:r>
            <a:endParaRPr lang="en-US" sz="1400" dirty="0"/>
          </a:p>
        </p:txBody>
      </p:sp>
      <p:sp>
        <p:nvSpPr>
          <p:cNvPr id="18" name="Shape 14"/>
          <p:cNvSpPr/>
          <p:nvPr/>
        </p:nvSpPr>
        <p:spPr>
          <a:xfrm>
            <a:off x="9075191" y="1280160"/>
            <a:ext cx="2567864" cy="1463040"/>
          </a:xfrm>
          <a:prstGeom prst="roundRect">
            <a:avLst>
              <a:gd name="adj" fmla="val 7500"/>
            </a:avLst>
          </a:prstGeom>
          <a:solidFill>
            <a:srgbClr val="E8F0FA"/>
          </a:solidFill>
          <a:ln w="12700">
            <a:solidFill>
              <a:srgbClr val="E8F0FA"/>
            </a:solidFill>
            <a:prstDash val="solid"/>
          </a:ln>
        </p:spPr>
      </p:sp>
      <p:sp>
        <p:nvSpPr>
          <p:cNvPr id="19" name="Text 15"/>
          <p:cNvSpPr txBox="1"/>
          <p:nvPr/>
        </p:nvSpPr>
        <p:spPr>
          <a:xfrm>
            <a:off x="9303791" y="1389888"/>
            <a:ext cx="2110664" cy="685800"/>
          </a:xfrm>
          <a:prstGeom prst="rect">
            <a:avLst/>
          </a:prstGeom>
          <a:noFill/>
          <a:ln/>
        </p:spPr>
        <p:txBody>
          <a:bodyPr wrap="square" lIns="0" tIns="0" rIns="0" bIns="0" rtlCol="0" anchor="ctr"/>
          <a:lstStyle/>
          <a:p>
            <a:pPr indent="0" marL="0">
              <a:buNone/>
            </a:pPr>
            <a:r>
              <a:rPr lang="en-US" sz="3400" b="1" dirty="0">
                <a:solidFill>
                  <a:srgbClr val="14305C"/>
                </a:solidFill>
                <a:latin typeface="Calibri" pitchFamily="34" charset="0"/>
                <a:ea typeface="Calibri" pitchFamily="34" charset="-122"/>
                <a:cs typeface="Calibri" pitchFamily="34" charset="-120"/>
              </a:rPr>
              <a:t>&lt; 1 ms</a:t>
            </a:r>
            <a:endParaRPr lang="en-US" sz="3400" dirty="0"/>
          </a:p>
        </p:txBody>
      </p:sp>
      <p:sp>
        <p:nvSpPr>
          <p:cNvPr id="20" name="Text 16"/>
          <p:cNvSpPr txBox="1"/>
          <p:nvPr/>
        </p:nvSpPr>
        <p:spPr>
          <a:xfrm>
            <a:off x="9303791" y="2103120"/>
            <a:ext cx="2110664" cy="566928"/>
          </a:xfrm>
          <a:prstGeom prst="rect">
            <a:avLst/>
          </a:prstGeom>
          <a:noFill/>
          <a:ln/>
        </p:spPr>
        <p:txBody>
          <a:bodyPr wrap="square" lIns="0" tIns="0" rIns="0" bIns="0" rtlCol="0" anchor="t"/>
          <a:lstStyle/>
          <a:p>
            <a:pPr indent="0" marL="0">
              <a:buNone/>
            </a:pPr>
            <a:r>
              <a:rPr lang="en-US" sz="1400" dirty="0">
                <a:solidFill>
                  <a:srgbClr val="1B1F24"/>
                </a:solidFill>
                <a:latin typeface="Calibri" pitchFamily="34" charset="0"/>
                <a:ea typeface="Calibri" pitchFamily="34" charset="-122"/>
                <a:cs typeface="Calibri" pitchFamily="34" charset="-120"/>
              </a:rPr>
              <a:t>skew between paired windows</a:t>
            </a:r>
            <a:endParaRPr lang="en-US" sz="1400" dirty="0"/>
          </a:p>
        </p:txBody>
      </p:sp>
      <p:pic>
        <p:nvPicPr>
          <p:cNvPr id="21" name="Image 1" descr="C:\Users\0geda\OneDrive - University of Cape Town\Documents\PlatformIO\Projects\Tukzie-HPEC-HUD\Presentation\source\assets\vibration_chart.png">    </p:cNvPr>
          <p:cNvPicPr>
            <a:picLocks noChangeAspect="1"/>
          </p:cNvPicPr>
          <p:nvPr/>
        </p:nvPicPr>
        <p:blipFill>
          <a:blip r:embed="rId2"/>
          <a:stretch>
            <a:fillRect/>
          </a:stretch>
        </p:blipFill>
        <p:spPr>
          <a:xfrm>
            <a:off x="548640" y="3017520"/>
            <a:ext cx="6949440" cy="2369855"/>
          </a:xfrm>
          <a:prstGeom prst="rect">
            <a:avLst/>
          </a:prstGeom>
        </p:spPr>
      </p:pic>
      <p:sp>
        <p:nvSpPr>
          <p:cNvPr id="22" name="Text 17"/>
          <p:cNvSpPr txBox="1"/>
          <p:nvPr/>
        </p:nvSpPr>
        <p:spPr>
          <a:xfrm>
            <a:off x="548640" y="5433095"/>
            <a:ext cx="6949440" cy="457200"/>
          </a:xfrm>
          <a:prstGeom prst="rect">
            <a:avLst/>
          </a:prstGeom>
          <a:noFill/>
          <a:ln/>
        </p:spPr>
        <p:txBody>
          <a:bodyPr wrap="square" lIns="0" tIns="0" rIns="0" bIns="0" rtlCol="0" anchor="ctr"/>
          <a:lstStyle/>
          <a:p>
            <a:pPr indent="0" marL="0">
              <a:buNone/>
            </a:pPr>
            <a:r>
              <a:rPr lang="en-US" sz="1300" i="1" dirty="0">
                <a:solidFill>
                  <a:srgbClr val="4A5566"/>
                </a:solidFill>
                <a:latin typeface="Calibri" pitchFamily="34" charset="0"/>
                <a:ea typeface="Calibri" pitchFamily="34" charset="-122"/>
                <a:cs typeface="Calibri" pitchFamily="34" charset="-120"/>
              </a:rPr>
              <a:t>Recorded 150 s session: still, then disturbed by hand from about 75 s. Fused (green) sits between IMU1 and IMU2.</a:t>
            </a:r>
            <a:endParaRPr lang="en-US" sz="1300" dirty="0"/>
          </a:p>
        </p:txBody>
      </p:sp>
      <p:sp>
        <p:nvSpPr>
          <p:cNvPr id="23" name="Shape 18"/>
          <p:cNvSpPr/>
          <p:nvPr/>
        </p:nvSpPr>
        <p:spPr>
          <a:xfrm>
            <a:off x="7818120" y="3017520"/>
            <a:ext cx="3824935" cy="3154680"/>
          </a:xfrm>
          <a:prstGeom prst="roundRect">
            <a:avLst>
              <a:gd name="adj" fmla="val 3478"/>
            </a:avLst>
          </a:prstGeom>
          <a:solidFill>
            <a:srgbClr val="E8F0FA"/>
          </a:solidFill>
          <a:ln w="12700">
            <a:solidFill>
              <a:srgbClr val="E8F0FA"/>
            </a:solidFill>
            <a:prstDash val="solid"/>
          </a:ln>
        </p:spPr>
      </p:sp>
      <p:sp>
        <p:nvSpPr>
          <p:cNvPr id="24" name="Text 19"/>
          <p:cNvSpPr txBox="1"/>
          <p:nvPr/>
        </p:nvSpPr>
        <p:spPr>
          <a:xfrm>
            <a:off x="8092440" y="3154680"/>
            <a:ext cx="3276295" cy="365760"/>
          </a:xfrm>
          <a:prstGeom prst="rect">
            <a:avLst/>
          </a:prstGeom>
          <a:noFill/>
          <a:ln/>
        </p:spPr>
        <p:txBody>
          <a:bodyPr wrap="square" lIns="0" tIns="0" rIns="0" bIns="0" rtlCol="0" anchor="ctr"/>
          <a:lstStyle/>
          <a:p>
            <a:pPr indent="0" marL="0">
              <a:buNone/>
            </a:pPr>
            <a:r>
              <a:rPr lang="en-US" sz="1800" b="1" dirty="0">
                <a:solidFill>
                  <a:srgbClr val="14305C"/>
                </a:solidFill>
                <a:latin typeface="Calibri" pitchFamily="34" charset="0"/>
                <a:ea typeface="Calibri" pitchFamily="34" charset="-122"/>
                <a:cs typeface="Calibri" pitchFamily="34" charset="-120"/>
              </a:rPr>
              <a:t>Fusion rules</a:t>
            </a:r>
            <a:endParaRPr lang="en-US" sz="1800" dirty="0"/>
          </a:p>
        </p:txBody>
      </p:sp>
      <p:sp>
        <p:nvSpPr>
          <p:cNvPr id="25" name="Text 20"/>
          <p:cNvSpPr txBox="1"/>
          <p:nvPr/>
        </p:nvSpPr>
        <p:spPr>
          <a:xfrm>
            <a:off x="8092440" y="3584448"/>
            <a:ext cx="3276295" cy="2468880"/>
          </a:xfrm>
          <a:prstGeom prst="rect">
            <a:avLst/>
          </a:prstGeom>
          <a:noFill/>
          <a:ln/>
        </p:spPr>
        <p:txBody>
          <a:bodyPr wrap="square" lIns="0" tIns="0" rIns="0" bIns="0" rtlCol="0" anchor="t"/>
          <a:lstStyle/>
          <a:p>
            <a:pPr marL="228600" indent="-228600">
              <a:spcAft>
                <a:spcPts val="800"/>
              </a:spcAft>
              <a:buSzPct val="100000"/>
              <a:buChar char="•"/>
            </a:pPr>
            <a:r>
              <a:rPr lang="en-US" sz="1500" dirty="0">
                <a:solidFill>
                  <a:srgbClr val="1B1F24"/>
                </a:solidFill>
                <a:latin typeface="Calibri" pitchFamily="34" charset="0"/>
                <a:ea typeface="Calibri" pitchFamily="34" charset="-122"/>
                <a:cs typeface="Calibri" pitchFamily="34" charset="-120"/>
              </a:rPr>
              <a:t>Equal-weight mean (inverse-variance weighting with equal noise)</a:t>
            </a:r>
            <a:endParaRPr lang="en-US" sz="1500" dirty="0"/>
          </a:p>
          <a:p>
            <a:pPr marL="228600" indent="-228600">
              <a:spcAft>
                <a:spcPts val="800"/>
              </a:spcAft>
              <a:buSzPct val="100000"/>
              <a:buChar char="•"/>
            </a:pPr>
            <a:r>
              <a:rPr lang="en-US" sz="1500" dirty="0">
                <a:solidFill>
                  <a:srgbClr val="1B1F24"/>
                </a:solidFill>
                <a:latin typeface="Calibri" pitchFamily="34" charset="0"/>
                <a:ea typeface="Calibri" pitchFamily="34" charset="-122"/>
                <a:cs typeface="Calibri" pitchFamily="34" charset="-120"/>
              </a:rPr>
              <a:t>Paired only if windows end within 500 ms</a:t>
            </a:r>
            <a:endParaRPr lang="en-US" sz="1500" dirty="0"/>
          </a:p>
          <a:p>
            <a:pPr marL="228600" indent="-228600">
              <a:spcAft>
                <a:spcPts val="800"/>
              </a:spcAft>
              <a:buSzPct val="100000"/>
              <a:buChar char="•"/>
            </a:pPr>
            <a:r>
              <a:rPr lang="en-US" sz="1500" dirty="0">
                <a:solidFill>
                  <a:srgbClr val="1B1F24"/>
                </a:solidFill>
                <a:latin typeface="Calibri" pitchFamily="34" charset="0"/>
                <a:ea typeface="Calibri" pitchFamily="34" charset="-122"/>
                <a:cs typeface="Calibri" pitchFamily="34" charset="-120"/>
              </a:rPr>
              <a:t>Disagreement figure reported, not hidden</a:t>
            </a:r>
            <a:endParaRPr lang="en-US" sz="1500" dirty="0"/>
          </a:p>
          <a:p>
            <a:pPr marL="228600" indent="-228600">
              <a:spcAft>
                <a:spcPts val="800"/>
              </a:spcAft>
              <a:buSzPct val="100000"/>
              <a:buChar char="•"/>
            </a:pPr>
            <a:r>
              <a:rPr lang="en-US" sz="1500" dirty="0">
                <a:solidFill>
                  <a:srgbClr val="1B1F24"/>
                </a:solidFill>
                <a:latin typeface="Calibri" pitchFamily="34" charset="0"/>
                <a:ea typeface="Calibri" pitchFamily="34" charset="-122"/>
                <a:cs typeface="Calibri" pitchFamily="34" charset="-120"/>
              </a:rPr>
              <a:t>One-sensor fallback after 3 s of silence</a:t>
            </a:r>
            <a:endParaRPr lang="en-US" sz="1500" dirty="0"/>
          </a:p>
          <a:p>
            <a:pPr marL="228600" indent="-228600">
              <a:spcAft>
                <a:spcPts val="800"/>
              </a:spcAft>
              <a:buSzPct val="100000"/>
              <a:buChar char="•"/>
            </a:pPr>
            <a:r>
              <a:rPr lang="en-US" sz="1500" dirty="0">
                <a:solidFill>
                  <a:srgbClr val="1B1F24"/>
                </a:solidFill>
                <a:latin typeface="Calibri" pitchFamily="34" charset="0"/>
                <a:ea typeface="Calibri" pitchFamily="34" charset="-122"/>
                <a:cs typeface="Calibri" pitchFamily="34" charset="-120"/>
              </a:rPr>
              <a:t>5 / 5 boot self-tests passed</a:t>
            </a:r>
            <a:endParaRPr lang="en-US" sz="15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84048"/>
            <a:ext cx="566928" cy="566928"/>
          </a:xfrm>
          <a:prstGeom prst="ellipse">
            <a:avLst/>
          </a:prstGeom>
          <a:solidFill>
            <a:srgbClr val="14305C"/>
          </a:solidFill>
          <a:ln w="12700">
            <a:solidFill>
              <a:srgbClr val="14305C"/>
            </a:solidFill>
            <a:prstDash val="solid"/>
          </a:ln>
        </p:spPr>
      </p:sp>
      <p:sp>
        <p:nvSpPr>
          <p:cNvPr id="3" name="Text 1"/>
          <p:cNvSpPr txBox="1"/>
          <p:nvPr/>
        </p:nvSpPr>
        <p:spPr>
          <a:xfrm>
            <a:off x="548640" y="384048"/>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7</a:t>
            </a:r>
            <a:endParaRPr lang="en-US" sz="2000" dirty="0"/>
          </a:p>
        </p:txBody>
      </p:sp>
      <p:sp>
        <p:nvSpPr>
          <p:cNvPr id="4" name="Text 2"/>
          <p:cNvSpPr txBox="1"/>
          <p:nvPr/>
        </p:nvSpPr>
        <p:spPr>
          <a:xfrm>
            <a:off x="1325880" y="310896"/>
            <a:ext cx="10317175" cy="731520"/>
          </a:xfrm>
          <a:prstGeom prst="rect">
            <a:avLst/>
          </a:prstGeom>
          <a:noFill/>
          <a:ln/>
        </p:spPr>
        <p:txBody>
          <a:bodyPr wrap="square" lIns="0" tIns="0" rIns="0" bIns="0" rtlCol="0" anchor="ctr"/>
          <a:lstStyle/>
          <a:p>
            <a:pPr indent="0" marL="0">
              <a:buNone/>
            </a:pPr>
            <a:r>
              <a:rPr lang="en-US" sz="3200" b="1" dirty="0">
                <a:solidFill>
                  <a:srgbClr val="14305C"/>
                </a:solidFill>
                <a:latin typeface="Calibri" pitchFamily="34" charset="0"/>
                <a:ea typeface="Calibri" pitchFamily="34" charset="-122"/>
                <a:cs typeface="Calibri" pitchFamily="34" charset="-120"/>
              </a:rPr>
              <a:t>What testing found, and how it was fixed</a:t>
            </a:r>
            <a:endParaRPr lang="en-US" sz="3200" dirty="0"/>
          </a:p>
        </p:txBody>
      </p:sp>
      <p:pic>
        <p:nvPicPr>
          <p:cNvPr id="5" name="Image 0" descr="C:\Users\0geda\OneDrive - University of Cape Town\Documents\PlatformIO\Projects\Tukzie-HPEC-HUD\Presentation\source\assets\uct_logo.png">    </p:cNvPr>
          <p:cNvPicPr>
            <a:picLocks noChangeAspect="1"/>
          </p:cNvPicPr>
          <p:nvPr/>
        </p:nvPicPr>
        <p:blipFill>
          <a:blip r:embed="rId1"/>
          <a:stretch>
            <a:fillRect/>
          </a:stretch>
        </p:blipFill>
        <p:spPr>
          <a:xfrm>
            <a:off x="11259007" y="6327648"/>
            <a:ext cx="384048" cy="390449"/>
          </a:xfrm>
          <a:prstGeom prst="rect">
            <a:avLst/>
          </a:prstGeom>
        </p:spPr>
      </p:pic>
      <p:sp>
        <p:nvSpPr>
          <p:cNvPr id="6" name="Text 3"/>
          <p:cNvSpPr txBox="1"/>
          <p:nvPr/>
        </p:nvSpPr>
        <p:spPr>
          <a:xfrm>
            <a:off x="548640" y="6382512"/>
            <a:ext cx="5486400" cy="292608"/>
          </a:xfrm>
          <a:prstGeom prst="rect">
            <a:avLst/>
          </a:prstGeom>
          <a:noFill/>
          <a:ln/>
        </p:spPr>
        <p:txBody>
          <a:bodyPr wrap="square" lIns="0" tIns="0" rIns="0" bIns="0" rtlCol="0" anchor="ctr"/>
          <a:lstStyle/>
          <a:p>
            <a:pPr indent="0" marL="0">
              <a:buNone/>
            </a:pPr>
            <a:r>
              <a:rPr lang="en-US" sz="1100" dirty="0">
                <a:solidFill>
                  <a:srgbClr val="4A5566"/>
                </a:solidFill>
                <a:latin typeface="Calibri" pitchFamily="34" charset="0"/>
                <a:ea typeface="Calibri" pitchFamily="34" charset="-122"/>
                <a:cs typeface="Calibri" pitchFamily="34" charset="-120"/>
              </a:rPr>
              <a:t>SW-7   |   Samson Okuthe   |   EEE4022S 2026</a:t>
            </a:r>
            <a:endParaRPr lang="en-US" sz="1100" dirty="0"/>
          </a:p>
        </p:txBody>
      </p:sp>
      <p:sp>
        <p:nvSpPr>
          <p:cNvPr id="7" name="Text 4"/>
          <p:cNvSpPr txBox="1"/>
          <p:nvPr/>
        </p:nvSpPr>
        <p:spPr>
          <a:xfrm>
            <a:off x="10180015" y="6382512"/>
            <a:ext cx="914400" cy="292608"/>
          </a:xfrm>
          <a:prstGeom prst="rect">
            <a:avLst/>
          </a:prstGeom>
          <a:noFill/>
          <a:ln/>
        </p:spPr>
        <p:txBody>
          <a:bodyPr wrap="square" lIns="0" tIns="0" rIns="0" bIns="0" rtlCol="0" anchor="ctr"/>
          <a:lstStyle/>
          <a:p>
            <a:pPr algn="r" indent="0" marL="0">
              <a:buNone/>
            </a:pPr>
            <a:r>
              <a:rPr lang="en-US" sz="1100" dirty="0">
                <a:solidFill>
                  <a:srgbClr val="4A5566"/>
                </a:solidFill>
                <a:latin typeface="Calibri" pitchFamily="34" charset="0"/>
                <a:ea typeface="Calibri" pitchFamily="34" charset="-122"/>
                <a:cs typeface="Calibri" pitchFamily="34" charset="-120"/>
              </a:rPr>
              <a:t>8 / 12</a:t>
            </a:r>
            <a:endParaRPr lang="en-US" sz="1100" dirty="0"/>
          </a:p>
        </p:txBody>
      </p:sp>
      <p:sp>
        <p:nvSpPr>
          <p:cNvPr id="9" name="Shape 5"/>
          <p:cNvSpPr/>
          <p:nvPr/>
        </p:nvSpPr>
        <p:spPr>
          <a:xfrm>
            <a:off x="548640" y="1234440"/>
            <a:ext cx="5410048" cy="1417320"/>
          </a:xfrm>
          <a:prstGeom prst="roundRect">
            <a:avLst>
              <a:gd name="adj" fmla="val 7742"/>
            </a:avLst>
          </a:prstGeom>
          <a:solidFill>
            <a:srgbClr val="E8F0FA"/>
          </a:solidFill>
          <a:ln w="12700">
            <a:solidFill>
              <a:srgbClr val="E8F0FA"/>
            </a:solidFill>
            <a:prstDash val="solid"/>
          </a:ln>
        </p:spPr>
      </p:sp>
      <p:sp>
        <p:nvSpPr>
          <p:cNvPr id="10" name="Text 6"/>
          <p:cNvSpPr txBox="1"/>
          <p:nvPr/>
        </p:nvSpPr>
        <p:spPr>
          <a:xfrm>
            <a:off x="822960" y="1325880"/>
            <a:ext cx="4861408" cy="365760"/>
          </a:xfrm>
          <a:prstGeom prst="rect">
            <a:avLst/>
          </a:prstGeom>
          <a:noFill/>
          <a:ln/>
        </p:spPr>
        <p:txBody>
          <a:bodyPr wrap="square" lIns="0" tIns="0" rIns="0" bIns="0" rtlCol="0" anchor="ctr"/>
          <a:lstStyle/>
          <a:p>
            <a:pPr indent="0" marL="0">
              <a:buNone/>
            </a:pPr>
            <a:r>
              <a:rPr lang="en-US" sz="1700" b="1" dirty="0">
                <a:solidFill>
                  <a:srgbClr val="14305C"/>
                </a:solidFill>
                <a:latin typeface="Calibri" pitchFamily="34" charset="0"/>
                <a:ea typeface="Calibri" pitchFamily="34" charset="-122"/>
                <a:cs typeface="Calibri" pitchFamily="34" charset="-120"/>
              </a:rPr>
              <a:t>GNSS reply layout</a:t>
            </a:r>
            <a:endParaRPr lang="en-US" sz="1700" dirty="0"/>
          </a:p>
        </p:txBody>
      </p:sp>
      <p:sp>
        <p:nvSpPr>
          <p:cNvPr id="11" name="Text 7"/>
          <p:cNvSpPr txBox="1"/>
          <p:nvPr/>
        </p:nvSpPr>
        <p:spPr>
          <a:xfrm>
            <a:off x="822960" y="1691640"/>
            <a:ext cx="4861408" cy="905256"/>
          </a:xfrm>
          <a:prstGeom prst="rect">
            <a:avLst/>
          </a:prstGeom>
          <a:noFill/>
          <a:ln/>
        </p:spPr>
        <p:txBody>
          <a:bodyPr wrap="square" lIns="0" tIns="0" rIns="0" bIns="0" rtlCol="0" anchor="t"/>
          <a:lstStyle/>
          <a:p>
            <a:pPr indent="0" marL="0">
              <a:buNone/>
            </a:pPr>
            <a:r>
              <a:rPr lang="en-US" sz="1300" dirty="0">
                <a:solidFill>
                  <a:srgbClr val="1B1F24"/>
                </a:solidFill>
                <a:latin typeface="Calibri" pitchFamily="34" charset="0"/>
                <a:ea typeface="Calibri" pitchFamily="34" charset="-122"/>
                <a:cs typeface="Calibri" pitchFamily="34" charset="-120"/>
              </a:rPr>
              <a:t>Assumed degrees and minutes in fixed places; the real reply is decimal degrees with a varying layout, so satellite counts were read as the position. Parser now anchors on the hemisphere letter: median 2.7 m from the reference.</a:t>
            </a:r>
            <a:endParaRPr lang="en-US" sz="1300" dirty="0"/>
          </a:p>
        </p:txBody>
      </p:sp>
      <p:sp>
        <p:nvSpPr>
          <p:cNvPr id="12" name="Shape 8"/>
          <p:cNvSpPr/>
          <p:nvPr/>
        </p:nvSpPr>
        <p:spPr>
          <a:xfrm>
            <a:off x="6233008" y="1234440"/>
            <a:ext cx="5410048" cy="1417320"/>
          </a:xfrm>
          <a:prstGeom prst="roundRect">
            <a:avLst>
              <a:gd name="adj" fmla="val 7742"/>
            </a:avLst>
          </a:prstGeom>
          <a:solidFill>
            <a:srgbClr val="E8F0FA"/>
          </a:solidFill>
          <a:ln w="12700">
            <a:solidFill>
              <a:srgbClr val="E8F0FA"/>
            </a:solidFill>
            <a:prstDash val="solid"/>
          </a:ln>
        </p:spPr>
      </p:sp>
      <p:sp>
        <p:nvSpPr>
          <p:cNvPr id="13" name="Text 9"/>
          <p:cNvSpPr txBox="1"/>
          <p:nvPr/>
        </p:nvSpPr>
        <p:spPr>
          <a:xfrm>
            <a:off x="6507328" y="1325880"/>
            <a:ext cx="4861408" cy="365760"/>
          </a:xfrm>
          <a:prstGeom prst="rect">
            <a:avLst/>
          </a:prstGeom>
          <a:noFill/>
          <a:ln/>
        </p:spPr>
        <p:txBody>
          <a:bodyPr wrap="square" lIns="0" tIns="0" rIns="0" bIns="0" rtlCol="0" anchor="ctr"/>
          <a:lstStyle/>
          <a:p>
            <a:pPr indent="0" marL="0">
              <a:buNone/>
            </a:pPr>
            <a:r>
              <a:rPr lang="en-US" sz="1700" b="1" dirty="0">
                <a:solidFill>
                  <a:srgbClr val="14305C"/>
                </a:solidFill>
                <a:latin typeface="Calibri" pitchFamily="34" charset="0"/>
                <a:ea typeface="Calibri" pitchFamily="34" charset="-122"/>
                <a:cs typeface="Calibri" pitchFamily="34" charset="-120"/>
              </a:rPr>
              <a:t>Modem switched itself off</a:t>
            </a:r>
            <a:endParaRPr lang="en-US" sz="1700" dirty="0"/>
          </a:p>
        </p:txBody>
      </p:sp>
      <p:sp>
        <p:nvSpPr>
          <p:cNvPr id="14" name="Text 10"/>
          <p:cNvSpPr txBox="1"/>
          <p:nvPr/>
        </p:nvSpPr>
        <p:spPr>
          <a:xfrm>
            <a:off x="6507328" y="1691640"/>
            <a:ext cx="4861408" cy="905256"/>
          </a:xfrm>
          <a:prstGeom prst="rect">
            <a:avLst/>
          </a:prstGeom>
          <a:noFill/>
          <a:ln/>
        </p:spPr>
        <p:txBody>
          <a:bodyPr wrap="square" lIns="0" tIns="0" rIns="0" bIns="0" rtlCol="0" anchor="t"/>
          <a:lstStyle/>
          <a:p>
            <a:pPr indent="0" marL="0">
              <a:buNone/>
            </a:pPr>
            <a:r>
              <a:rPr lang="en-US" sz="1300" dirty="0">
                <a:solidFill>
                  <a:srgbClr val="1B1F24"/>
                </a:solidFill>
                <a:latin typeface="Calibri" pitchFamily="34" charset="0"/>
                <a:ea typeface="Calibri" pitchFamily="34" charset="-122"/>
                <a:cs typeface="Calibri" pitchFamily="34" charset="-120"/>
              </a:rPr>
              <a:t>Its power key toggles, so pulsing it at every boot turned a running modem off after each reprogramming. Now pulsed only if the modem does not answer.</a:t>
            </a:r>
            <a:endParaRPr lang="en-US" sz="1300" dirty="0"/>
          </a:p>
        </p:txBody>
      </p:sp>
      <p:sp>
        <p:nvSpPr>
          <p:cNvPr id="15" name="Shape 11"/>
          <p:cNvSpPr/>
          <p:nvPr/>
        </p:nvSpPr>
        <p:spPr>
          <a:xfrm>
            <a:off x="548640" y="2788920"/>
            <a:ext cx="5410048" cy="1417320"/>
          </a:xfrm>
          <a:prstGeom prst="roundRect">
            <a:avLst>
              <a:gd name="adj" fmla="val 7742"/>
            </a:avLst>
          </a:prstGeom>
          <a:solidFill>
            <a:srgbClr val="E8F0FA"/>
          </a:solidFill>
          <a:ln w="12700">
            <a:solidFill>
              <a:srgbClr val="E8F0FA"/>
            </a:solidFill>
            <a:prstDash val="solid"/>
          </a:ln>
        </p:spPr>
      </p:sp>
      <p:sp>
        <p:nvSpPr>
          <p:cNvPr id="16" name="Text 12"/>
          <p:cNvSpPr txBox="1"/>
          <p:nvPr/>
        </p:nvSpPr>
        <p:spPr>
          <a:xfrm>
            <a:off x="822960" y="2880360"/>
            <a:ext cx="4861408" cy="365760"/>
          </a:xfrm>
          <a:prstGeom prst="rect">
            <a:avLst/>
          </a:prstGeom>
          <a:noFill/>
          <a:ln/>
        </p:spPr>
        <p:txBody>
          <a:bodyPr wrap="square" lIns="0" tIns="0" rIns="0" bIns="0" rtlCol="0" anchor="ctr"/>
          <a:lstStyle/>
          <a:p>
            <a:pPr indent="0" marL="0">
              <a:buNone/>
            </a:pPr>
            <a:r>
              <a:rPr lang="en-US" sz="1700" b="1" dirty="0">
                <a:solidFill>
                  <a:srgbClr val="14305C"/>
                </a:solidFill>
                <a:latin typeface="Calibri" pitchFamily="34" charset="0"/>
                <a:ea typeface="Calibri" pitchFamily="34" charset="-122"/>
                <a:cs typeface="Calibri" pitchFamily="34" charset="-120"/>
              </a:rPr>
              <a:t>Battery checksum</a:t>
            </a:r>
            <a:endParaRPr lang="en-US" sz="1700" dirty="0"/>
          </a:p>
        </p:txBody>
      </p:sp>
      <p:sp>
        <p:nvSpPr>
          <p:cNvPr id="17" name="Text 13"/>
          <p:cNvSpPr txBox="1"/>
          <p:nvPr/>
        </p:nvSpPr>
        <p:spPr>
          <a:xfrm>
            <a:off x="822960" y="3246120"/>
            <a:ext cx="4861408" cy="905256"/>
          </a:xfrm>
          <a:prstGeom prst="rect">
            <a:avLst/>
          </a:prstGeom>
          <a:noFill/>
          <a:ln/>
        </p:spPr>
        <p:txBody>
          <a:bodyPr wrap="square" lIns="0" tIns="0" rIns="0" bIns="0" rtlCol="0" anchor="t"/>
          <a:lstStyle/>
          <a:p>
            <a:pPr indent="0" marL="0">
              <a:buNone/>
            </a:pPr>
            <a:r>
              <a:rPr lang="en-US" sz="1300" dirty="0">
                <a:solidFill>
                  <a:srgbClr val="1B1F24"/>
                </a:solidFill>
                <a:latin typeface="Calibri" pitchFamily="34" charset="0"/>
                <a:ea typeface="Calibri" pitchFamily="34" charset="-122"/>
                <a:cs typeface="Calibri" pitchFamily="34" charset="-120"/>
              </a:rPr>
              <a:t>Summed the register byte as well, so every real frame failed by exactly 3. The protocol's own query frame showed the rule. After the fix: valid readings, 74.78 V and 60%.</a:t>
            </a:r>
            <a:endParaRPr lang="en-US" sz="1300" dirty="0"/>
          </a:p>
        </p:txBody>
      </p:sp>
      <p:sp>
        <p:nvSpPr>
          <p:cNvPr id="18" name="Shape 14"/>
          <p:cNvSpPr/>
          <p:nvPr/>
        </p:nvSpPr>
        <p:spPr>
          <a:xfrm>
            <a:off x="6233008" y="2788920"/>
            <a:ext cx="5410048" cy="1417320"/>
          </a:xfrm>
          <a:prstGeom prst="roundRect">
            <a:avLst>
              <a:gd name="adj" fmla="val 7742"/>
            </a:avLst>
          </a:prstGeom>
          <a:solidFill>
            <a:srgbClr val="E8F0FA"/>
          </a:solidFill>
          <a:ln w="12700">
            <a:solidFill>
              <a:srgbClr val="E8F0FA"/>
            </a:solidFill>
            <a:prstDash val="solid"/>
          </a:ln>
        </p:spPr>
      </p:sp>
      <p:sp>
        <p:nvSpPr>
          <p:cNvPr id="19" name="Text 15"/>
          <p:cNvSpPr txBox="1"/>
          <p:nvPr/>
        </p:nvSpPr>
        <p:spPr>
          <a:xfrm>
            <a:off x="6507328" y="2880360"/>
            <a:ext cx="4861408" cy="365760"/>
          </a:xfrm>
          <a:prstGeom prst="rect">
            <a:avLst/>
          </a:prstGeom>
          <a:noFill/>
          <a:ln/>
        </p:spPr>
        <p:txBody>
          <a:bodyPr wrap="square" lIns="0" tIns="0" rIns="0" bIns="0" rtlCol="0" anchor="ctr"/>
          <a:lstStyle/>
          <a:p>
            <a:pPr indent="0" marL="0">
              <a:buNone/>
            </a:pPr>
            <a:r>
              <a:rPr lang="en-US" sz="1700" b="1" dirty="0">
                <a:solidFill>
                  <a:srgbClr val="14305C"/>
                </a:solidFill>
                <a:latin typeface="Calibri" pitchFamily="34" charset="0"/>
                <a:ea typeface="Calibri" pitchFamily="34" charset="-122"/>
                <a:cs typeface="Calibri" pitchFamily="34" charset="-120"/>
              </a:rPr>
              <a:t>IMU stalls from flash writes</a:t>
            </a:r>
            <a:endParaRPr lang="en-US" sz="1700" dirty="0"/>
          </a:p>
        </p:txBody>
      </p:sp>
      <p:sp>
        <p:nvSpPr>
          <p:cNvPr id="20" name="Text 16"/>
          <p:cNvSpPr txBox="1"/>
          <p:nvPr/>
        </p:nvSpPr>
        <p:spPr>
          <a:xfrm>
            <a:off x="6507328" y="3246120"/>
            <a:ext cx="4861408" cy="905256"/>
          </a:xfrm>
          <a:prstGeom prst="rect">
            <a:avLst/>
          </a:prstGeom>
          <a:noFill/>
          <a:ln/>
        </p:spPr>
        <p:txBody>
          <a:bodyPr wrap="square" lIns="0" tIns="0" rIns="0" bIns="0" rtlCol="0" anchor="t"/>
          <a:lstStyle/>
          <a:p>
            <a:pPr indent="0" marL="0">
              <a:buNone/>
            </a:pPr>
            <a:r>
              <a:rPr lang="en-US" sz="1300" dirty="0">
                <a:solidFill>
                  <a:srgbClr val="1B1F24"/>
                </a:solidFill>
                <a:latin typeface="Calibri" pitchFamily="34" charset="0"/>
                <a:ea typeface="Calibri" pitchFamily="34" charset="-122"/>
                <a:cs typeface="Calibri" pitchFamily="34" charset="-120"/>
              </a:rPr>
              <a:t>33 to 40 ms gaps every 10 s on both IMUs. Logging off: worst gap 5.9 ms, so the flash is the cause. The log is now buffered and written once a minute.</a:t>
            </a:r>
            <a:endParaRPr lang="en-US" sz="1300" dirty="0"/>
          </a:p>
        </p:txBody>
      </p:sp>
      <p:sp>
        <p:nvSpPr>
          <p:cNvPr id="21" name="Shape 17"/>
          <p:cNvSpPr/>
          <p:nvPr/>
        </p:nvSpPr>
        <p:spPr>
          <a:xfrm>
            <a:off x="548640" y="4343400"/>
            <a:ext cx="5410048" cy="1417320"/>
          </a:xfrm>
          <a:prstGeom prst="roundRect">
            <a:avLst>
              <a:gd name="adj" fmla="val 7742"/>
            </a:avLst>
          </a:prstGeom>
          <a:solidFill>
            <a:srgbClr val="E8F0FA"/>
          </a:solidFill>
          <a:ln w="12700">
            <a:solidFill>
              <a:srgbClr val="E8F0FA"/>
            </a:solidFill>
            <a:prstDash val="solid"/>
          </a:ln>
        </p:spPr>
      </p:sp>
      <p:sp>
        <p:nvSpPr>
          <p:cNvPr id="22" name="Text 18"/>
          <p:cNvSpPr txBox="1"/>
          <p:nvPr/>
        </p:nvSpPr>
        <p:spPr>
          <a:xfrm>
            <a:off x="822960" y="4434840"/>
            <a:ext cx="4861408" cy="365760"/>
          </a:xfrm>
          <a:prstGeom prst="rect">
            <a:avLst/>
          </a:prstGeom>
          <a:noFill/>
          <a:ln/>
        </p:spPr>
        <p:txBody>
          <a:bodyPr wrap="square" lIns="0" tIns="0" rIns="0" bIns="0" rtlCol="0" anchor="ctr"/>
          <a:lstStyle/>
          <a:p>
            <a:pPr indent="0" marL="0">
              <a:buNone/>
            </a:pPr>
            <a:r>
              <a:rPr lang="en-US" sz="1700" b="1" dirty="0">
                <a:solidFill>
                  <a:srgbClr val="14305C"/>
                </a:solidFill>
                <a:latin typeface="Calibri" pitchFamily="34" charset="0"/>
                <a:ea typeface="Calibri" pitchFamily="34" charset="-122"/>
                <a:cs typeface="Calibri" pitchFamily="34" charset="-120"/>
              </a:rPr>
              <a:t>Stored log not valid JSON</a:t>
            </a:r>
            <a:endParaRPr lang="en-US" sz="1700" dirty="0"/>
          </a:p>
        </p:txBody>
      </p:sp>
      <p:sp>
        <p:nvSpPr>
          <p:cNvPr id="23" name="Text 19"/>
          <p:cNvSpPr txBox="1"/>
          <p:nvPr/>
        </p:nvSpPr>
        <p:spPr>
          <a:xfrm>
            <a:off x="822960" y="4800600"/>
            <a:ext cx="4861408" cy="905256"/>
          </a:xfrm>
          <a:prstGeom prst="rect">
            <a:avLst/>
          </a:prstGeom>
          <a:noFill/>
          <a:ln/>
        </p:spPr>
        <p:txBody>
          <a:bodyPr wrap="square" lIns="0" tIns="0" rIns="0" bIns="0" rtlCol="0" anchor="t"/>
          <a:lstStyle/>
          <a:p>
            <a:pPr indent="0" marL="0">
              <a:buNone/>
            </a:pPr>
            <a:r>
              <a:rPr lang="en-US" sz="1300" dirty="0">
                <a:solidFill>
                  <a:srgbClr val="1B1F24"/>
                </a:solidFill>
                <a:latin typeface="Calibri" pitchFamily="34" charset="0"/>
                <a:ea typeface="Calibri" pitchFamily="34" charset="-122"/>
                <a:cs typeface="Calibri" pitchFamily="34" charset="-120"/>
              </a:rPr>
              <a:t>Reading 6,020 records back found 5,545 holding nan, which JSON does not allow, and the same text went over MQTT. Now written as null; all records parse.</a:t>
            </a:r>
            <a:endParaRPr lang="en-US" sz="1300" dirty="0"/>
          </a:p>
        </p:txBody>
      </p:sp>
      <p:sp>
        <p:nvSpPr>
          <p:cNvPr id="24" name="Shape 20"/>
          <p:cNvSpPr/>
          <p:nvPr/>
        </p:nvSpPr>
        <p:spPr>
          <a:xfrm>
            <a:off x="6233008" y="4343400"/>
            <a:ext cx="5410048" cy="1417320"/>
          </a:xfrm>
          <a:prstGeom prst="roundRect">
            <a:avLst>
              <a:gd name="adj" fmla="val 7742"/>
            </a:avLst>
          </a:prstGeom>
          <a:solidFill>
            <a:srgbClr val="E8F0FA"/>
          </a:solidFill>
          <a:ln w="12700">
            <a:solidFill>
              <a:srgbClr val="E8F0FA"/>
            </a:solidFill>
            <a:prstDash val="solid"/>
          </a:ln>
        </p:spPr>
      </p:sp>
      <p:sp>
        <p:nvSpPr>
          <p:cNvPr id="25" name="Text 21"/>
          <p:cNvSpPr txBox="1"/>
          <p:nvPr/>
        </p:nvSpPr>
        <p:spPr>
          <a:xfrm>
            <a:off x="6507328" y="4434840"/>
            <a:ext cx="4861408" cy="365760"/>
          </a:xfrm>
          <a:prstGeom prst="rect">
            <a:avLst/>
          </a:prstGeom>
          <a:noFill/>
          <a:ln/>
        </p:spPr>
        <p:txBody>
          <a:bodyPr wrap="square" lIns="0" tIns="0" rIns="0" bIns="0" rtlCol="0" anchor="ctr"/>
          <a:lstStyle/>
          <a:p>
            <a:pPr indent="0" marL="0">
              <a:buNone/>
            </a:pPr>
            <a:r>
              <a:rPr lang="en-US" sz="1700" b="1" dirty="0">
                <a:solidFill>
                  <a:srgbClr val="14305C"/>
                </a:solidFill>
                <a:latin typeface="Calibri" pitchFamily="34" charset="0"/>
                <a:ea typeface="Calibri" pitchFamily="34" charset="-122"/>
                <a:cs typeface="Calibri" pitchFamily="34" charset="-120"/>
              </a:rPr>
              <a:t>Pink camera image</a:t>
            </a:r>
            <a:endParaRPr lang="en-US" sz="1700" dirty="0"/>
          </a:p>
        </p:txBody>
      </p:sp>
      <p:sp>
        <p:nvSpPr>
          <p:cNvPr id="26" name="Text 22"/>
          <p:cNvSpPr txBox="1"/>
          <p:nvPr/>
        </p:nvSpPr>
        <p:spPr>
          <a:xfrm>
            <a:off x="6507328" y="4800600"/>
            <a:ext cx="4861408" cy="905256"/>
          </a:xfrm>
          <a:prstGeom prst="rect">
            <a:avLst/>
          </a:prstGeom>
          <a:noFill/>
          <a:ln/>
        </p:spPr>
        <p:txBody>
          <a:bodyPr wrap="square" lIns="0" tIns="0" rIns="0" bIns="0" rtlCol="0" anchor="t"/>
          <a:lstStyle/>
          <a:p>
            <a:pPr indent="0" marL="0">
              <a:buNone/>
            </a:pPr>
            <a:r>
              <a:rPr lang="en-US" sz="1300" dirty="0">
                <a:solidFill>
                  <a:srgbClr val="1B1F24"/>
                </a:solidFill>
                <a:latin typeface="Calibri" pitchFamily="34" charset="0"/>
                <a:ea typeface="Calibri" pitchFamily="34" charset="-122"/>
                <a:cs typeface="Calibri" pitchFamily="34" charset="-120"/>
              </a:rPr>
              <a:t>The module has no infrared filter: the same scene was pink with the standard tuning and neutral with the NoIR one. With saturation 1.8 the colour cards read correctly.</a:t>
            </a:r>
            <a:endParaRPr lang="en-US" sz="1300" dirty="0"/>
          </a:p>
        </p:txBody>
      </p:sp>
      <p:sp>
        <p:nvSpPr>
          <p:cNvPr id="27" name="Text 23"/>
          <p:cNvSpPr txBox="1"/>
          <p:nvPr/>
        </p:nvSpPr>
        <p:spPr>
          <a:xfrm>
            <a:off x="548640" y="5943600"/>
            <a:ext cx="11094415" cy="320040"/>
          </a:xfrm>
          <a:prstGeom prst="rect">
            <a:avLst/>
          </a:prstGeom>
          <a:noFill/>
          <a:ln/>
        </p:spPr>
        <p:txBody>
          <a:bodyPr wrap="square" lIns="0" tIns="0" rIns="0" bIns="0" rtlCol="0" anchor="ctr"/>
          <a:lstStyle/>
          <a:p>
            <a:pPr algn="ctr" indent="0" marL="0">
              <a:buNone/>
            </a:pPr>
            <a:r>
              <a:rPr lang="en-US" sz="1500" i="1" dirty="0">
                <a:solidFill>
                  <a:srgbClr val="4A5566"/>
                </a:solidFill>
                <a:latin typeface="Calibri" pitchFamily="34" charset="0"/>
                <a:ea typeface="Calibri" pitchFamily="34" charset="-122"/>
                <a:cs typeface="Calibri" pitchFamily="34" charset="-120"/>
              </a:rPr>
              <a:t>Each fault was found by a test, fixed, and the same test run again.</a:t>
            </a:r>
            <a:endParaRPr lang="en-US" sz="15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84048"/>
            <a:ext cx="566928" cy="566928"/>
          </a:xfrm>
          <a:prstGeom prst="ellipse">
            <a:avLst/>
          </a:prstGeom>
          <a:solidFill>
            <a:srgbClr val="14305C"/>
          </a:solidFill>
          <a:ln w="12700">
            <a:solidFill>
              <a:srgbClr val="14305C"/>
            </a:solidFill>
            <a:prstDash val="solid"/>
          </a:ln>
        </p:spPr>
      </p:sp>
      <p:sp>
        <p:nvSpPr>
          <p:cNvPr id="3" name="Text 1"/>
          <p:cNvSpPr txBox="1"/>
          <p:nvPr/>
        </p:nvSpPr>
        <p:spPr>
          <a:xfrm>
            <a:off x="548640" y="384048"/>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8</a:t>
            </a:r>
            <a:endParaRPr lang="en-US" sz="2000" dirty="0"/>
          </a:p>
        </p:txBody>
      </p:sp>
      <p:sp>
        <p:nvSpPr>
          <p:cNvPr id="4" name="Text 2"/>
          <p:cNvSpPr txBox="1"/>
          <p:nvPr/>
        </p:nvSpPr>
        <p:spPr>
          <a:xfrm>
            <a:off x="1325880" y="310896"/>
            <a:ext cx="10317175" cy="731520"/>
          </a:xfrm>
          <a:prstGeom prst="rect">
            <a:avLst/>
          </a:prstGeom>
          <a:noFill/>
          <a:ln/>
        </p:spPr>
        <p:txBody>
          <a:bodyPr wrap="square" lIns="0" tIns="0" rIns="0" bIns="0" rtlCol="0" anchor="ctr"/>
          <a:lstStyle/>
          <a:p>
            <a:pPr indent="0" marL="0">
              <a:buNone/>
            </a:pPr>
            <a:r>
              <a:rPr lang="en-US" sz="3200" b="1" dirty="0">
                <a:solidFill>
                  <a:srgbClr val="14305C"/>
                </a:solidFill>
                <a:latin typeface="Calibri" pitchFamily="34" charset="0"/>
                <a:ea typeface="Calibri" pitchFamily="34" charset="-122"/>
                <a:cs typeface="Calibri" pitchFamily="34" charset="-120"/>
              </a:rPr>
              <a:t>Result: timing, position and the cellular link</a:t>
            </a:r>
            <a:endParaRPr lang="en-US" sz="3200" dirty="0"/>
          </a:p>
        </p:txBody>
      </p:sp>
      <p:pic>
        <p:nvPicPr>
          <p:cNvPr id="5" name="Image 0" descr="C:\Users\0geda\OneDrive - University of Cape Town\Documents\PlatformIO\Projects\Tukzie-HPEC-HUD\Presentation\source\assets\uct_logo.png">    </p:cNvPr>
          <p:cNvPicPr>
            <a:picLocks noChangeAspect="1"/>
          </p:cNvPicPr>
          <p:nvPr/>
        </p:nvPicPr>
        <p:blipFill>
          <a:blip r:embed="rId1"/>
          <a:stretch>
            <a:fillRect/>
          </a:stretch>
        </p:blipFill>
        <p:spPr>
          <a:xfrm>
            <a:off x="11259007" y="6327648"/>
            <a:ext cx="384048" cy="390449"/>
          </a:xfrm>
          <a:prstGeom prst="rect">
            <a:avLst/>
          </a:prstGeom>
        </p:spPr>
      </p:pic>
      <p:sp>
        <p:nvSpPr>
          <p:cNvPr id="6" name="Text 3"/>
          <p:cNvSpPr txBox="1"/>
          <p:nvPr/>
        </p:nvSpPr>
        <p:spPr>
          <a:xfrm>
            <a:off x="548640" y="6382512"/>
            <a:ext cx="5486400" cy="292608"/>
          </a:xfrm>
          <a:prstGeom prst="rect">
            <a:avLst/>
          </a:prstGeom>
          <a:noFill/>
          <a:ln/>
        </p:spPr>
        <p:txBody>
          <a:bodyPr wrap="square" lIns="0" tIns="0" rIns="0" bIns="0" rtlCol="0" anchor="ctr"/>
          <a:lstStyle/>
          <a:p>
            <a:pPr indent="0" marL="0">
              <a:buNone/>
            </a:pPr>
            <a:r>
              <a:rPr lang="en-US" sz="1100" dirty="0">
                <a:solidFill>
                  <a:srgbClr val="4A5566"/>
                </a:solidFill>
                <a:latin typeface="Calibri" pitchFamily="34" charset="0"/>
                <a:ea typeface="Calibri" pitchFamily="34" charset="-122"/>
                <a:cs typeface="Calibri" pitchFamily="34" charset="-120"/>
              </a:rPr>
              <a:t>SW-7   |   Samson Okuthe   |   EEE4022S 2026</a:t>
            </a:r>
            <a:endParaRPr lang="en-US" sz="1100" dirty="0"/>
          </a:p>
        </p:txBody>
      </p:sp>
      <p:sp>
        <p:nvSpPr>
          <p:cNvPr id="7" name="Text 4"/>
          <p:cNvSpPr txBox="1"/>
          <p:nvPr/>
        </p:nvSpPr>
        <p:spPr>
          <a:xfrm>
            <a:off x="10180015" y="6382512"/>
            <a:ext cx="914400" cy="292608"/>
          </a:xfrm>
          <a:prstGeom prst="rect">
            <a:avLst/>
          </a:prstGeom>
          <a:noFill/>
          <a:ln/>
        </p:spPr>
        <p:txBody>
          <a:bodyPr wrap="square" lIns="0" tIns="0" rIns="0" bIns="0" rtlCol="0" anchor="ctr"/>
          <a:lstStyle/>
          <a:p>
            <a:pPr algn="r" indent="0" marL="0">
              <a:buNone/>
            </a:pPr>
            <a:r>
              <a:rPr lang="en-US" sz="1100" dirty="0">
                <a:solidFill>
                  <a:srgbClr val="4A5566"/>
                </a:solidFill>
                <a:latin typeface="Calibri" pitchFamily="34" charset="0"/>
                <a:ea typeface="Calibri" pitchFamily="34" charset="-122"/>
                <a:cs typeface="Calibri" pitchFamily="34" charset="-120"/>
              </a:rPr>
              <a:t>9 / 12</a:t>
            </a:r>
            <a:endParaRPr lang="en-US" sz="1100" dirty="0"/>
          </a:p>
        </p:txBody>
      </p:sp>
      <p:sp>
        <p:nvSpPr>
          <p:cNvPr id="9" name="Shape 5"/>
          <p:cNvSpPr/>
          <p:nvPr/>
        </p:nvSpPr>
        <p:spPr>
          <a:xfrm>
            <a:off x="548640" y="1280160"/>
            <a:ext cx="3484778" cy="4892040"/>
          </a:xfrm>
          <a:prstGeom prst="roundRect">
            <a:avLst>
              <a:gd name="adj" fmla="val 3149"/>
            </a:avLst>
          </a:prstGeom>
          <a:solidFill>
            <a:srgbClr val="E8F0FA"/>
          </a:solidFill>
          <a:ln w="12700">
            <a:solidFill>
              <a:srgbClr val="E8F0FA"/>
            </a:solidFill>
            <a:prstDash val="solid"/>
          </a:ln>
        </p:spPr>
      </p:sp>
      <p:sp>
        <p:nvSpPr>
          <p:cNvPr id="10" name="Text 6"/>
          <p:cNvSpPr txBox="1"/>
          <p:nvPr/>
        </p:nvSpPr>
        <p:spPr>
          <a:xfrm>
            <a:off x="822960" y="1463040"/>
            <a:ext cx="2936138" cy="411480"/>
          </a:xfrm>
          <a:prstGeom prst="rect">
            <a:avLst/>
          </a:prstGeom>
          <a:noFill/>
          <a:ln/>
        </p:spPr>
        <p:txBody>
          <a:bodyPr wrap="square" lIns="0" tIns="0" rIns="0" bIns="0" rtlCol="0" anchor="ctr"/>
          <a:lstStyle/>
          <a:p>
            <a:pPr indent="0" marL="0">
              <a:buNone/>
            </a:pPr>
            <a:r>
              <a:rPr lang="en-US" sz="1900" b="1" dirty="0">
                <a:solidFill>
                  <a:srgbClr val="14305C"/>
                </a:solidFill>
                <a:latin typeface="Calibri" pitchFamily="34" charset="0"/>
                <a:ea typeface="Calibri" pitchFamily="34" charset="-122"/>
                <a:cs typeface="Calibri" pitchFamily="34" charset="-120"/>
              </a:rPr>
              <a:t>Camera to IMU timing</a:t>
            </a:r>
            <a:endParaRPr lang="en-US" sz="1900" dirty="0"/>
          </a:p>
        </p:txBody>
      </p:sp>
      <p:sp>
        <p:nvSpPr>
          <p:cNvPr id="11" name="Text 7"/>
          <p:cNvSpPr txBox="1"/>
          <p:nvPr/>
        </p:nvSpPr>
        <p:spPr>
          <a:xfrm>
            <a:off x="822960" y="1920240"/>
            <a:ext cx="2936138" cy="822960"/>
          </a:xfrm>
          <a:prstGeom prst="rect">
            <a:avLst/>
          </a:prstGeom>
          <a:noFill/>
          <a:ln/>
        </p:spPr>
        <p:txBody>
          <a:bodyPr wrap="square" lIns="0" tIns="0" rIns="0" bIns="0" rtlCol="0" anchor="ctr"/>
          <a:lstStyle/>
          <a:p>
            <a:pPr indent="0" marL="0">
              <a:buNone/>
            </a:pPr>
            <a:r>
              <a:rPr lang="en-US" sz="4000" b="1" dirty="0">
                <a:solidFill>
                  <a:srgbClr val="1565C0"/>
                </a:solidFill>
                <a:latin typeface="Calibri" pitchFamily="34" charset="0"/>
                <a:ea typeface="Calibri" pitchFamily="34" charset="-122"/>
                <a:cs typeface="Calibri" pitchFamily="34" charset="-120"/>
              </a:rPr>
              <a:t>500.06 ms</a:t>
            </a:r>
            <a:endParaRPr lang="en-US" sz="4000" dirty="0"/>
          </a:p>
        </p:txBody>
      </p:sp>
      <p:sp>
        <p:nvSpPr>
          <p:cNvPr id="12" name="Text 8"/>
          <p:cNvSpPr txBox="1"/>
          <p:nvPr/>
        </p:nvSpPr>
        <p:spPr>
          <a:xfrm>
            <a:off x="822960" y="2743200"/>
            <a:ext cx="2936138" cy="548640"/>
          </a:xfrm>
          <a:prstGeom prst="rect">
            <a:avLst/>
          </a:prstGeom>
          <a:noFill/>
          <a:ln/>
        </p:spPr>
        <p:txBody>
          <a:bodyPr wrap="square" lIns="0" tIns="0" rIns="0" bIns="0" rtlCol="0" anchor="t"/>
          <a:lstStyle/>
          <a:p>
            <a:pPr indent="0" marL="0">
              <a:buNone/>
            </a:pPr>
            <a:r>
              <a:rPr lang="en-US" sz="1400" dirty="0">
                <a:solidFill>
                  <a:srgbClr val="4A5566"/>
                </a:solidFill>
                <a:latin typeface="Calibri" pitchFamily="34" charset="0"/>
                <a:ea typeface="Calibri" pitchFamily="34" charset="-122"/>
                <a:cs typeface="Calibri" pitchFamily="34" charset="-120"/>
              </a:rPr>
              <a:t>median sync interval over 121 edges, kernel timestamps</a:t>
            </a:r>
            <a:endParaRPr lang="en-US" sz="1400" dirty="0"/>
          </a:p>
        </p:txBody>
      </p:sp>
      <p:sp>
        <p:nvSpPr>
          <p:cNvPr id="13" name="Text 9"/>
          <p:cNvSpPr txBox="1"/>
          <p:nvPr/>
        </p:nvSpPr>
        <p:spPr>
          <a:xfrm>
            <a:off x="822960" y="3429000"/>
            <a:ext cx="2936138" cy="2606040"/>
          </a:xfrm>
          <a:prstGeom prst="rect">
            <a:avLst/>
          </a:prstGeom>
          <a:noFill/>
          <a:ln/>
        </p:spPr>
        <p:txBody>
          <a:bodyPr wrap="square" lIns="0" tIns="0" rIns="0" bIns="0" rtlCol="0" anchor="t"/>
          <a:lstStyle/>
          <a:p>
            <a:pPr marL="228600" indent="-228600">
              <a:spcAft>
                <a:spcPts val="800"/>
              </a:spcAft>
              <a:buSzPct val="100000"/>
              <a:buChar char="•"/>
            </a:pPr>
            <a:r>
              <a:rPr lang="en-US" sz="1500" dirty="0">
                <a:solidFill>
                  <a:srgbClr val="1B1F24"/>
                </a:solidFill>
                <a:latin typeface="Calibri" pitchFamily="34" charset="0"/>
                <a:ea typeface="Calibri" pitchFamily="34" charset="-122"/>
                <a:cs typeface="Calibri" pitchFamily="34" charset="-120"/>
              </a:rPr>
              <a:t>Spread under 0.7 ms</a:t>
            </a:r>
            <a:endParaRPr lang="en-US" sz="1500" dirty="0"/>
          </a:p>
          <a:p>
            <a:pPr marL="228600" indent="-228600">
              <a:spcAft>
                <a:spcPts val="800"/>
              </a:spcAft>
              <a:buSzPct val="100000"/>
              <a:buChar char="•"/>
            </a:pPr>
            <a:r>
              <a:rPr lang="en-US" sz="1500" dirty="0">
                <a:solidFill>
                  <a:srgbClr val="1B1F24"/>
                </a:solidFill>
                <a:latin typeface="Calibri" pitchFamily="34" charset="0"/>
                <a:ea typeface="Calibri" pitchFamily="34" charset="-122"/>
                <a:cs typeface="Calibri" pitchFamily="34" charset="-120"/>
              </a:rPr>
              <a:t>Video frames placed on the IMU clock within 1 s</a:t>
            </a:r>
            <a:endParaRPr lang="en-US" sz="1500" dirty="0"/>
          </a:p>
          <a:p>
            <a:pPr marL="228600" indent="-228600">
              <a:spcAft>
                <a:spcPts val="800"/>
              </a:spcAft>
              <a:buSzPct val="100000"/>
              <a:buChar char="•"/>
            </a:pPr>
            <a:r>
              <a:rPr lang="en-US" sz="1500" dirty="0">
                <a:solidFill>
                  <a:srgbClr val="1B1F24"/>
                </a:solidFill>
                <a:latin typeface="Calibri" pitchFamily="34" charset="0"/>
                <a:ea typeface="Calibri" pitchFamily="34" charset="-122"/>
                <a:cs typeface="Calibri" pitchFamily="34" charset="-120"/>
              </a:rPr>
              <a:t>A loose jumper twice gave false edges: a latched connector is needed</a:t>
            </a:r>
            <a:endParaRPr lang="en-US" sz="1500" dirty="0"/>
          </a:p>
        </p:txBody>
      </p:sp>
      <p:sp>
        <p:nvSpPr>
          <p:cNvPr id="14" name="Shape 10"/>
          <p:cNvSpPr/>
          <p:nvPr/>
        </p:nvSpPr>
        <p:spPr>
          <a:xfrm>
            <a:off x="4353458" y="1280160"/>
            <a:ext cx="3484778" cy="4892040"/>
          </a:xfrm>
          <a:prstGeom prst="roundRect">
            <a:avLst>
              <a:gd name="adj" fmla="val 3149"/>
            </a:avLst>
          </a:prstGeom>
          <a:solidFill>
            <a:srgbClr val="E8F0FA"/>
          </a:solidFill>
          <a:ln w="12700">
            <a:solidFill>
              <a:srgbClr val="E8F0FA"/>
            </a:solidFill>
            <a:prstDash val="solid"/>
          </a:ln>
        </p:spPr>
      </p:sp>
      <p:sp>
        <p:nvSpPr>
          <p:cNvPr id="15" name="Text 11"/>
          <p:cNvSpPr txBox="1"/>
          <p:nvPr/>
        </p:nvSpPr>
        <p:spPr>
          <a:xfrm>
            <a:off x="4627778" y="1463040"/>
            <a:ext cx="2936138" cy="411480"/>
          </a:xfrm>
          <a:prstGeom prst="rect">
            <a:avLst/>
          </a:prstGeom>
          <a:noFill/>
          <a:ln/>
        </p:spPr>
        <p:txBody>
          <a:bodyPr wrap="square" lIns="0" tIns="0" rIns="0" bIns="0" rtlCol="0" anchor="ctr"/>
          <a:lstStyle/>
          <a:p>
            <a:pPr indent="0" marL="0">
              <a:buNone/>
            </a:pPr>
            <a:r>
              <a:rPr lang="en-US" sz="1900" b="1" dirty="0">
                <a:solidFill>
                  <a:srgbClr val="14305C"/>
                </a:solidFill>
                <a:latin typeface="Calibri" pitchFamily="34" charset="0"/>
                <a:ea typeface="Calibri" pitchFamily="34" charset="-122"/>
                <a:cs typeface="Calibri" pitchFamily="34" charset="-120"/>
              </a:rPr>
              <a:t>GNSS outdoors</a:t>
            </a:r>
            <a:endParaRPr lang="en-US" sz="1900" dirty="0"/>
          </a:p>
        </p:txBody>
      </p:sp>
      <p:sp>
        <p:nvSpPr>
          <p:cNvPr id="16" name="Text 12"/>
          <p:cNvSpPr txBox="1"/>
          <p:nvPr/>
        </p:nvSpPr>
        <p:spPr>
          <a:xfrm>
            <a:off x="4627778" y="1920240"/>
            <a:ext cx="2936138" cy="822960"/>
          </a:xfrm>
          <a:prstGeom prst="rect">
            <a:avLst/>
          </a:prstGeom>
          <a:noFill/>
          <a:ln/>
        </p:spPr>
        <p:txBody>
          <a:bodyPr wrap="square" lIns="0" tIns="0" rIns="0" bIns="0" rtlCol="0" anchor="ctr"/>
          <a:lstStyle/>
          <a:p>
            <a:pPr indent="0" marL="0">
              <a:buNone/>
            </a:pPr>
            <a:r>
              <a:rPr lang="en-US" sz="4000" b="1" dirty="0">
                <a:solidFill>
                  <a:srgbClr val="1565C0"/>
                </a:solidFill>
                <a:latin typeface="Calibri" pitchFamily="34" charset="0"/>
                <a:ea typeface="Calibri" pitchFamily="34" charset="-122"/>
                <a:cs typeface="Calibri" pitchFamily="34" charset="-120"/>
              </a:rPr>
              <a:t>2.7 m</a:t>
            </a:r>
            <a:endParaRPr lang="en-US" sz="4000" dirty="0"/>
          </a:p>
        </p:txBody>
      </p:sp>
      <p:sp>
        <p:nvSpPr>
          <p:cNvPr id="17" name="Text 13"/>
          <p:cNvSpPr txBox="1"/>
          <p:nvPr/>
        </p:nvSpPr>
        <p:spPr>
          <a:xfrm>
            <a:off x="4627778" y="2743200"/>
            <a:ext cx="2936138" cy="548640"/>
          </a:xfrm>
          <a:prstGeom prst="rect">
            <a:avLst/>
          </a:prstGeom>
          <a:noFill/>
          <a:ln/>
        </p:spPr>
        <p:txBody>
          <a:bodyPr wrap="square" lIns="0" tIns="0" rIns="0" bIns="0" rtlCol="0" anchor="t"/>
          <a:lstStyle/>
          <a:p>
            <a:pPr indent="0" marL="0">
              <a:buNone/>
            </a:pPr>
            <a:r>
              <a:rPr lang="en-US" sz="1400" dirty="0">
                <a:solidFill>
                  <a:srgbClr val="4A5566"/>
                </a:solidFill>
                <a:latin typeface="Calibri" pitchFamily="34" charset="0"/>
                <a:ea typeface="Calibri" pitchFamily="34" charset="-122"/>
                <a:cs typeface="Calibri" pitchFamily="34" charset="-120"/>
              </a:rPr>
              <a:t>median from a phone's position over 104 fixes</a:t>
            </a:r>
            <a:endParaRPr lang="en-US" sz="1400" dirty="0"/>
          </a:p>
        </p:txBody>
      </p:sp>
      <p:sp>
        <p:nvSpPr>
          <p:cNvPr id="18" name="Text 14"/>
          <p:cNvSpPr txBox="1"/>
          <p:nvPr/>
        </p:nvSpPr>
        <p:spPr>
          <a:xfrm>
            <a:off x="4627778" y="3429000"/>
            <a:ext cx="2936138" cy="2606040"/>
          </a:xfrm>
          <a:prstGeom prst="rect">
            <a:avLst/>
          </a:prstGeom>
          <a:noFill/>
          <a:ln/>
        </p:spPr>
        <p:txBody>
          <a:bodyPr wrap="square" lIns="0" tIns="0" rIns="0" bIns="0" rtlCol="0" anchor="t"/>
          <a:lstStyle/>
          <a:p>
            <a:pPr marL="228600" indent="-228600">
              <a:spcAft>
                <a:spcPts val="800"/>
              </a:spcAft>
              <a:buSzPct val="100000"/>
              <a:buChar char="•"/>
            </a:pPr>
            <a:r>
              <a:rPr lang="en-US" sz="1500" dirty="0">
                <a:solidFill>
                  <a:srgbClr val="1B1F24"/>
                </a:solidFill>
                <a:latin typeface="Calibri" pitchFamily="34" charset="0"/>
                <a:ea typeface="Calibri" pitchFamily="34" charset="-122"/>
                <a:cs typeface="Calibri" pitchFamily="34" charset="-120"/>
              </a:rPr>
              <a:t>95% within 11 m</a:t>
            </a:r>
            <a:endParaRPr lang="en-US" sz="1500" dirty="0"/>
          </a:p>
          <a:p>
            <a:pPr marL="228600" indent="-228600">
              <a:spcAft>
                <a:spcPts val="800"/>
              </a:spcAft>
              <a:buSzPct val="100000"/>
              <a:buChar char="•"/>
            </a:pPr>
            <a:r>
              <a:rPr lang="en-US" sz="1500" dirty="0">
                <a:solidFill>
                  <a:srgbClr val="1B1F24"/>
                </a:solidFill>
                <a:latin typeface="Calibri" pitchFamily="34" charset="0"/>
                <a:ea typeface="Calibri" pitchFamily="34" charset="-122"/>
                <a:cs typeface="Calibri" pitchFamily="34" charset="-120"/>
              </a:rPr>
              <a:t>3D fix 105 s after a cold start, 23 to 25 satellites</a:t>
            </a:r>
            <a:endParaRPr lang="en-US" sz="1500" dirty="0"/>
          </a:p>
          <a:p>
            <a:pPr marL="228600" indent="-228600">
              <a:spcAft>
                <a:spcPts val="800"/>
              </a:spcAft>
              <a:buSzPct val="100000"/>
              <a:buChar char="•"/>
            </a:pPr>
            <a:r>
              <a:rPr lang="en-US" sz="1500" dirty="0">
                <a:solidFill>
                  <a:srgbClr val="1B1F24"/>
                </a:solidFill>
                <a:latin typeface="Calibri" pitchFamily="34" charset="0"/>
                <a:ea typeface="Calibri" pitchFamily="34" charset="-122"/>
                <a:cs typeface="Calibri" pitchFamily="34" charset="-120"/>
              </a:rPr>
              <a:t>Speed units still to confirm on the vehicle</a:t>
            </a:r>
            <a:endParaRPr lang="en-US" sz="1500" dirty="0"/>
          </a:p>
        </p:txBody>
      </p:sp>
      <p:sp>
        <p:nvSpPr>
          <p:cNvPr id="19" name="Shape 15"/>
          <p:cNvSpPr/>
          <p:nvPr/>
        </p:nvSpPr>
        <p:spPr>
          <a:xfrm>
            <a:off x="8158277" y="1280160"/>
            <a:ext cx="3484778" cy="4892040"/>
          </a:xfrm>
          <a:prstGeom prst="roundRect">
            <a:avLst>
              <a:gd name="adj" fmla="val 3149"/>
            </a:avLst>
          </a:prstGeom>
          <a:solidFill>
            <a:srgbClr val="E8F0FA"/>
          </a:solidFill>
          <a:ln w="12700">
            <a:solidFill>
              <a:srgbClr val="E8F0FA"/>
            </a:solidFill>
            <a:prstDash val="solid"/>
          </a:ln>
        </p:spPr>
      </p:sp>
      <p:sp>
        <p:nvSpPr>
          <p:cNvPr id="20" name="Text 16"/>
          <p:cNvSpPr txBox="1"/>
          <p:nvPr/>
        </p:nvSpPr>
        <p:spPr>
          <a:xfrm>
            <a:off x="8432597" y="1463040"/>
            <a:ext cx="2936138" cy="411480"/>
          </a:xfrm>
          <a:prstGeom prst="rect">
            <a:avLst/>
          </a:prstGeom>
          <a:noFill/>
          <a:ln/>
        </p:spPr>
        <p:txBody>
          <a:bodyPr wrap="square" lIns="0" tIns="0" rIns="0" bIns="0" rtlCol="0" anchor="ctr"/>
          <a:lstStyle/>
          <a:p>
            <a:pPr indent="0" marL="0">
              <a:buNone/>
            </a:pPr>
            <a:r>
              <a:rPr lang="en-US" sz="1900" b="1" dirty="0">
                <a:solidFill>
                  <a:srgbClr val="14305C"/>
                </a:solidFill>
                <a:latin typeface="Calibri" pitchFamily="34" charset="0"/>
                <a:ea typeface="Calibri" pitchFamily="34" charset="-122"/>
                <a:cs typeface="Calibri" pitchFamily="34" charset="-120"/>
              </a:rPr>
              <a:t>Cellular link</a:t>
            </a:r>
            <a:endParaRPr lang="en-US" sz="1900" dirty="0"/>
          </a:p>
        </p:txBody>
      </p:sp>
      <p:sp>
        <p:nvSpPr>
          <p:cNvPr id="21" name="Text 17"/>
          <p:cNvSpPr txBox="1"/>
          <p:nvPr/>
        </p:nvSpPr>
        <p:spPr>
          <a:xfrm>
            <a:off x="8432597" y="1920240"/>
            <a:ext cx="2936138" cy="822960"/>
          </a:xfrm>
          <a:prstGeom prst="rect">
            <a:avLst/>
          </a:prstGeom>
          <a:noFill/>
          <a:ln/>
        </p:spPr>
        <p:txBody>
          <a:bodyPr wrap="square" lIns="0" tIns="0" rIns="0" bIns="0" rtlCol="0" anchor="ctr"/>
          <a:lstStyle/>
          <a:p>
            <a:pPr indent="0" marL="0">
              <a:buNone/>
            </a:pPr>
            <a:r>
              <a:rPr lang="en-US" sz="4000" b="1" dirty="0">
                <a:solidFill>
                  <a:srgbClr val="1565C0"/>
                </a:solidFill>
                <a:latin typeface="Calibri" pitchFamily="34" charset="0"/>
                <a:ea typeface="Calibri" pitchFamily="34" charset="-122"/>
                <a:cs typeface="Calibri" pitchFamily="34" charset="-120"/>
              </a:rPr>
              <a:t>47 / 47</a:t>
            </a:r>
            <a:endParaRPr lang="en-US" sz="4000" dirty="0"/>
          </a:p>
        </p:txBody>
      </p:sp>
      <p:sp>
        <p:nvSpPr>
          <p:cNvPr id="22" name="Text 18"/>
          <p:cNvSpPr txBox="1"/>
          <p:nvPr/>
        </p:nvSpPr>
        <p:spPr>
          <a:xfrm>
            <a:off x="8432597" y="2743200"/>
            <a:ext cx="2936138" cy="548640"/>
          </a:xfrm>
          <a:prstGeom prst="rect">
            <a:avLst/>
          </a:prstGeom>
          <a:noFill/>
          <a:ln/>
        </p:spPr>
        <p:txBody>
          <a:bodyPr wrap="square" lIns="0" tIns="0" rIns="0" bIns="0" rtlCol="0" anchor="t"/>
          <a:lstStyle/>
          <a:p>
            <a:pPr indent="0" marL="0">
              <a:buNone/>
            </a:pPr>
            <a:r>
              <a:rPr lang="en-US" sz="1400" dirty="0">
                <a:solidFill>
                  <a:srgbClr val="4A5566"/>
                </a:solidFill>
                <a:latin typeface="Calibri" pitchFamily="34" charset="0"/>
                <a:ea typeface="Calibri" pitchFamily="34" charset="-122"/>
                <a:cs typeface="Calibri" pitchFamily="34" charset="-120"/>
              </a:rPr>
              <a:t>MQTT publishes acknowledged</a:t>
            </a:r>
            <a:endParaRPr lang="en-US" sz="1400" dirty="0"/>
          </a:p>
        </p:txBody>
      </p:sp>
      <p:sp>
        <p:nvSpPr>
          <p:cNvPr id="23" name="Text 19"/>
          <p:cNvSpPr txBox="1"/>
          <p:nvPr/>
        </p:nvSpPr>
        <p:spPr>
          <a:xfrm>
            <a:off x="8432597" y="3429000"/>
            <a:ext cx="2936138" cy="2606040"/>
          </a:xfrm>
          <a:prstGeom prst="rect">
            <a:avLst/>
          </a:prstGeom>
          <a:noFill/>
          <a:ln/>
        </p:spPr>
        <p:txBody>
          <a:bodyPr wrap="square" lIns="0" tIns="0" rIns="0" bIns="0" rtlCol="0" anchor="t"/>
          <a:lstStyle/>
          <a:p>
            <a:pPr marL="228600" indent="-228600">
              <a:spcAft>
                <a:spcPts val="800"/>
              </a:spcAft>
              <a:buSzPct val="100000"/>
              <a:buChar char="•"/>
            </a:pPr>
            <a:r>
              <a:rPr lang="en-US" sz="1500" dirty="0">
                <a:solidFill>
                  <a:srgbClr val="1B1F24"/>
                </a:solidFill>
                <a:latin typeface="Calibri" pitchFamily="34" charset="0"/>
                <a:ea typeface="Calibri" pitchFamily="34" charset="-122"/>
                <a:cs typeface="Calibri" pitchFamily="34" charset="-120"/>
              </a:rPr>
              <a:t>Radio cut for 60 s: loss seen in 0.8 s, reconnected about 5 s after it returned</a:t>
            </a:r>
            <a:endParaRPr lang="en-US" sz="1500" dirty="0"/>
          </a:p>
          <a:p>
            <a:pPr marL="228600" indent="-228600">
              <a:spcAft>
                <a:spcPts val="800"/>
              </a:spcAft>
              <a:buSzPct val="100000"/>
              <a:buChar char="•"/>
            </a:pPr>
            <a:r>
              <a:rPr lang="en-US" sz="1500" dirty="0">
                <a:solidFill>
                  <a:srgbClr val="1B1F24"/>
                </a:solidFill>
                <a:latin typeface="Calibri" pitchFamily="34" charset="0"/>
                <a:ea typeface="Calibri" pitchFamily="34" charset="-122"/>
                <a:cs typeface="Calibri" pitchFamily="34" charset="-120"/>
              </a:rPr>
              <a:t>Every record also logged to flash: 6,020 read back</a:t>
            </a:r>
            <a:endParaRPr lang="en-US" sz="1500" dirty="0"/>
          </a:p>
          <a:p>
            <a:pPr marL="228600" indent="-228600">
              <a:spcAft>
                <a:spcPts val="800"/>
              </a:spcAft>
              <a:buSzPct val="100000"/>
              <a:buChar char="•"/>
            </a:pPr>
            <a:r>
              <a:rPr lang="en-US" sz="1500" dirty="0">
                <a:solidFill>
                  <a:srgbClr val="1B1F24"/>
                </a:solidFill>
                <a:latin typeface="Calibri" pitchFamily="34" charset="0"/>
                <a:ea typeface="Calibri" pitchFamily="34" charset="-122"/>
                <a:cs typeface="Calibri" pitchFamily="34" charset="-120"/>
              </a:rPr>
              <a:t>Signal strength sent with each record</a:t>
            </a:r>
            <a:endParaRPr lang="en-US" sz="15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84048"/>
            <a:ext cx="566928" cy="566928"/>
          </a:xfrm>
          <a:prstGeom prst="ellipse">
            <a:avLst/>
          </a:prstGeom>
          <a:solidFill>
            <a:srgbClr val="14305C"/>
          </a:solidFill>
          <a:ln w="12700">
            <a:solidFill>
              <a:srgbClr val="14305C"/>
            </a:solidFill>
            <a:prstDash val="solid"/>
          </a:ln>
        </p:spPr>
      </p:sp>
      <p:sp>
        <p:nvSpPr>
          <p:cNvPr id="3" name="Text 1"/>
          <p:cNvSpPr txBox="1"/>
          <p:nvPr/>
        </p:nvSpPr>
        <p:spPr>
          <a:xfrm>
            <a:off x="548640" y="384048"/>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9</a:t>
            </a:r>
            <a:endParaRPr lang="en-US" sz="2000" dirty="0"/>
          </a:p>
        </p:txBody>
      </p:sp>
      <p:sp>
        <p:nvSpPr>
          <p:cNvPr id="4" name="Text 2"/>
          <p:cNvSpPr txBox="1"/>
          <p:nvPr/>
        </p:nvSpPr>
        <p:spPr>
          <a:xfrm>
            <a:off x="1325880" y="310896"/>
            <a:ext cx="10317175" cy="731520"/>
          </a:xfrm>
          <a:prstGeom prst="rect">
            <a:avLst/>
          </a:prstGeom>
          <a:noFill/>
          <a:ln/>
        </p:spPr>
        <p:txBody>
          <a:bodyPr wrap="square" lIns="0" tIns="0" rIns="0" bIns="0" rtlCol="0" anchor="ctr"/>
          <a:lstStyle/>
          <a:p>
            <a:pPr indent="0" marL="0">
              <a:buNone/>
            </a:pPr>
            <a:r>
              <a:rPr lang="en-US" sz="3200" b="1" dirty="0">
                <a:solidFill>
                  <a:srgbClr val="14305C"/>
                </a:solidFill>
                <a:latin typeface="Calibri" pitchFamily="34" charset="0"/>
                <a:ea typeface="Calibri" pitchFamily="34" charset="-122"/>
                <a:cs typeface="Calibri" pitchFamily="34" charset="-120"/>
              </a:rPr>
              <a:t>Camera hazard detection and distance sensing</a:t>
            </a:r>
            <a:endParaRPr lang="en-US" sz="3200" dirty="0"/>
          </a:p>
        </p:txBody>
      </p:sp>
      <p:pic>
        <p:nvPicPr>
          <p:cNvPr id="5" name="Image 0" descr="C:\Users\0geda\OneDrive - University of Cape Town\Documents\PlatformIO\Projects\Tukzie-HPEC-HUD\Presentation\source\assets\uct_logo.png">    </p:cNvPr>
          <p:cNvPicPr>
            <a:picLocks noChangeAspect="1"/>
          </p:cNvPicPr>
          <p:nvPr/>
        </p:nvPicPr>
        <p:blipFill>
          <a:blip r:embed="rId1"/>
          <a:stretch>
            <a:fillRect/>
          </a:stretch>
        </p:blipFill>
        <p:spPr>
          <a:xfrm>
            <a:off x="11259007" y="6327648"/>
            <a:ext cx="384048" cy="390449"/>
          </a:xfrm>
          <a:prstGeom prst="rect">
            <a:avLst/>
          </a:prstGeom>
        </p:spPr>
      </p:pic>
      <p:sp>
        <p:nvSpPr>
          <p:cNvPr id="6" name="Text 3"/>
          <p:cNvSpPr txBox="1"/>
          <p:nvPr/>
        </p:nvSpPr>
        <p:spPr>
          <a:xfrm>
            <a:off x="548640" y="6382512"/>
            <a:ext cx="5486400" cy="292608"/>
          </a:xfrm>
          <a:prstGeom prst="rect">
            <a:avLst/>
          </a:prstGeom>
          <a:noFill/>
          <a:ln/>
        </p:spPr>
        <p:txBody>
          <a:bodyPr wrap="square" lIns="0" tIns="0" rIns="0" bIns="0" rtlCol="0" anchor="ctr"/>
          <a:lstStyle/>
          <a:p>
            <a:pPr indent="0" marL="0">
              <a:buNone/>
            </a:pPr>
            <a:r>
              <a:rPr lang="en-US" sz="1100" dirty="0">
                <a:solidFill>
                  <a:srgbClr val="4A5566"/>
                </a:solidFill>
                <a:latin typeface="Calibri" pitchFamily="34" charset="0"/>
                <a:ea typeface="Calibri" pitchFamily="34" charset="-122"/>
                <a:cs typeface="Calibri" pitchFamily="34" charset="-120"/>
              </a:rPr>
              <a:t>SW-7   |   Samson Okuthe   |   EEE4022S 2026</a:t>
            </a:r>
            <a:endParaRPr lang="en-US" sz="1100" dirty="0"/>
          </a:p>
        </p:txBody>
      </p:sp>
      <p:sp>
        <p:nvSpPr>
          <p:cNvPr id="7" name="Text 4"/>
          <p:cNvSpPr txBox="1"/>
          <p:nvPr/>
        </p:nvSpPr>
        <p:spPr>
          <a:xfrm>
            <a:off x="10180015" y="6382512"/>
            <a:ext cx="914400" cy="292608"/>
          </a:xfrm>
          <a:prstGeom prst="rect">
            <a:avLst/>
          </a:prstGeom>
          <a:noFill/>
          <a:ln/>
        </p:spPr>
        <p:txBody>
          <a:bodyPr wrap="square" lIns="0" tIns="0" rIns="0" bIns="0" rtlCol="0" anchor="ctr"/>
          <a:lstStyle/>
          <a:p>
            <a:pPr algn="r" indent="0" marL="0">
              <a:buNone/>
            </a:pPr>
            <a:r>
              <a:rPr lang="en-US" sz="1100" dirty="0">
                <a:solidFill>
                  <a:srgbClr val="4A5566"/>
                </a:solidFill>
                <a:latin typeface="Calibri" pitchFamily="34" charset="0"/>
                <a:ea typeface="Calibri" pitchFamily="34" charset="-122"/>
                <a:cs typeface="Calibri" pitchFamily="34" charset="-120"/>
              </a:rPr>
              <a:t>10 / 12</a:t>
            </a:r>
            <a:endParaRPr lang="en-US" sz="1100" dirty="0"/>
          </a:p>
        </p:txBody>
      </p:sp>
      <p:pic>
        <p:nvPicPr>
          <p:cNvPr id="9" name="Image 1" descr="C:\Users\0geda\OneDrive - University of Cape Town\Documents\PlatformIO\Projects\Tukzie-HPEC-HUD\Presentation\source\assets\casing_labelled.png">    </p:cNvPr>
          <p:cNvPicPr>
            <a:picLocks noChangeAspect="1"/>
          </p:cNvPicPr>
          <p:nvPr/>
        </p:nvPicPr>
        <p:blipFill>
          <a:blip r:embed="rId2"/>
          <a:stretch>
            <a:fillRect/>
          </a:stretch>
        </p:blipFill>
        <p:spPr>
          <a:xfrm>
            <a:off x="548640" y="1280160"/>
            <a:ext cx="6843612" cy="4892040"/>
          </a:xfrm>
          <a:prstGeom prst="rect">
            <a:avLst/>
          </a:prstGeom>
        </p:spPr>
      </p:pic>
      <p:sp>
        <p:nvSpPr>
          <p:cNvPr id="10" name="Shape 5"/>
          <p:cNvSpPr/>
          <p:nvPr/>
        </p:nvSpPr>
        <p:spPr>
          <a:xfrm>
            <a:off x="7758012" y="1280160"/>
            <a:ext cx="3885043" cy="1508760"/>
          </a:xfrm>
          <a:prstGeom prst="roundRect">
            <a:avLst>
              <a:gd name="adj" fmla="val 7273"/>
            </a:avLst>
          </a:prstGeom>
          <a:solidFill>
            <a:srgbClr val="E8F0FA"/>
          </a:solidFill>
          <a:ln w="12700">
            <a:solidFill>
              <a:srgbClr val="E8F0FA"/>
            </a:solidFill>
            <a:prstDash val="solid"/>
          </a:ln>
        </p:spPr>
      </p:sp>
      <p:sp>
        <p:nvSpPr>
          <p:cNvPr id="11" name="Text 6"/>
          <p:cNvSpPr txBox="1"/>
          <p:nvPr/>
        </p:nvSpPr>
        <p:spPr>
          <a:xfrm>
            <a:off x="7986612" y="1389888"/>
            <a:ext cx="3427843" cy="365760"/>
          </a:xfrm>
          <a:prstGeom prst="rect">
            <a:avLst/>
          </a:prstGeom>
          <a:noFill/>
          <a:ln/>
        </p:spPr>
        <p:txBody>
          <a:bodyPr wrap="square" lIns="0" tIns="0" rIns="0" bIns="0" rtlCol="0" anchor="ctr"/>
          <a:lstStyle/>
          <a:p>
            <a:pPr indent="0" marL="0">
              <a:buNone/>
            </a:pPr>
            <a:r>
              <a:rPr lang="en-US" sz="1700" b="1" dirty="0">
                <a:solidFill>
                  <a:srgbClr val="14305C"/>
                </a:solidFill>
                <a:latin typeface="Calibri" pitchFamily="34" charset="0"/>
                <a:ea typeface="Calibri" pitchFamily="34" charset="-122"/>
                <a:cs typeface="Calibri" pitchFamily="34" charset="-120"/>
              </a:rPr>
              <a:t>Object detector</a:t>
            </a:r>
            <a:endParaRPr lang="en-US" sz="1700" dirty="0"/>
          </a:p>
        </p:txBody>
      </p:sp>
      <p:sp>
        <p:nvSpPr>
          <p:cNvPr id="12" name="Text 7"/>
          <p:cNvSpPr txBox="1"/>
          <p:nvPr/>
        </p:nvSpPr>
        <p:spPr>
          <a:xfrm>
            <a:off x="7986612" y="1755648"/>
            <a:ext cx="3427843" cy="960120"/>
          </a:xfrm>
          <a:prstGeom prst="rect">
            <a:avLst/>
          </a:prstGeom>
          <a:noFill/>
          <a:ln/>
        </p:spPr>
        <p:txBody>
          <a:bodyPr wrap="square" lIns="0" tIns="0" rIns="0" bIns="0" rtlCol="0" anchor="t"/>
          <a:lstStyle/>
          <a:p>
            <a:pPr indent="0" marL="0">
              <a:buNone/>
            </a:pPr>
            <a:r>
              <a:rPr lang="en-US" sz="1300" dirty="0">
                <a:solidFill>
                  <a:srgbClr val="1B1F24"/>
                </a:solidFill>
                <a:latin typeface="Calibri" pitchFamily="34" charset="0"/>
                <a:ea typeface="Calibri" pitchFamily="34" charset="-122"/>
                <a:cs typeface="Calibri" pitchFamily="34" charset="-120"/>
              </a:rPr>
              <a:t>Pretrained 8-bit SSD-MobileNet on the Pi 4. 19.5 fps, median 102 ms from sensor to result; an alert about 0.2 s after an object appears.</a:t>
            </a:r>
            <a:endParaRPr lang="en-US" sz="1300" dirty="0"/>
          </a:p>
        </p:txBody>
      </p:sp>
      <p:sp>
        <p:nvSpPr>
          <p:cNvPr id="13" name="Shape 8"/>
          <p:cNvSpPr/>
          <p:nvPr/>
        </p:nvSpPr>
        <p:spPr>
          <a:xfrm>
            <a:off x="7758012" y="2971800"/>
            <a:ext cx="3885043" cy="1508760"/>
          </a:xfrm>
          <a:prstGeom prst="roundRect">
            <a:avLst>
              <a:gd name="adj" fmla="val 7273"/>
            </a:avLst>
          </a:prstGeom>
          <a:solidFill>
            <a:srgbClr val="E8F0FA"/>
          </a:solidFill>
          <a:ln w="12700">
            <a:solidFill>
              <a:srgbClr val="E8F0FA"/>
            </a:solidFill>
            <a:prstDash val="solid"/>
          </a:ln>
        </p:spPr>
      </p:sp>
      <p:sp>
        <p:nvSpPr>
          <p:cNvPr id="14" name="Text 9"/>
          <p:cNvSpPr txBox="1"/>
          <p:nvPr/>
        </p:nvSpPr>
        <p:spPr>
          <a:xfrm>
            <a:off x="7986612" y="3081528"/>
            <a:ext cx="3427843" cy="365760"/>
          </a:xfrm>
          <a:prstGeom prst="rect">
            <a:avLst/>
          </a:prstGeom>
          <a:noFill/>
          <a:ln/>
        </p:spPr>
        <p:txBody>
          <a:bodyPr wrap="square" lIns="0" tIns="0" rIns="0" bIns="0" rtlCol="0" anchor="ctr"/>
          <a:lstStyle/>
          <a:p>
            <a:pPr indent="0" marL="0">
              <a:buNone/>
            </a:pPr>
            <a:r>
              <a:rPr lang="en-US" sz="1700" b="1" dirty="0">
                <a:solidFill>
                  <a:srgbClr val="14305C"/>
                </a:solidFill>
                <a:latin typeface="Calibri" pitchFamily="34" charset="0"/>
                <a:ea typeface="Calibri" pitchFamily="34" charset="-122"/>
                <a:cs typeface="Calibri" pitchFamily="34" charset="-120"/>
              </a:rPr>
              <a:t>Alert logic</a:t>
            </a:r>
            <a:endParaRPr lang="en-US" sz="1700" dirty="0"/>
          </a:p>
        </p:txBody>
      </p:sp>
      <p:sp>
        <p:nvSpPr>
          <p:cNvPr id="15" name="Text 10"/>
          <p:cNvSpPr txBox="1"/>
          <p:nvPr/>
        </p:nvSpPr>
        <p:spPr>
          <a:xfrm>
            <a:off x="7986612" y="3447288"/>
            <a:ext cx="3427843" cy="960120"/>
          </a:xfrm>
          <a:prstGeom prst="rect">
            <a:avLst/>
          </a:prstGeom>
          <a:noFill/>
          <a:ln/>
        </p:spPr>
        <p:txBody>
          <a:bodyPr wrap="square" lIns="0" tIns="0" rIns="0" bIns="0" rtlCol="0" anchor="t"/>
          <a:lstStyle/>
          <a:p>
            <a:pPr indent="0" marL="0">
              <a:buNone/>
            </a:pPr>
            <a:r>
              <a:rPr lang="en-US" sz="1300" dirty="0">
                <a:solidFill>
                  <a:srgbClr val="1B1F24"/>
                </a:solidFill>
                <a:latin typeface="Calibri" pitchFamily="34" charset="0"/>
                <a:ea typeface="Calibri" pitchFamily="34" charset="-122"/>
                <a:cs typeface="Calibri" pitchFamily="34" charset="-120"/>
              </a:rPr>
              <a:t>Raised after 3 frames, cleared after 5 empty frames. Five fields logged per alert; frames are never stored.</a:t>
            </a:r>
            <a:endParaRPr lang="en-US" sz="1300" dirty="0"/>
          </a:p>
        </p:txBody>
      </p:sp>
      <p:sp>
        <p:nvSpPr>
          <p:cNvPr id="16" name="Shape 11"/>
          <p:cNvSpPr/>
          <p:nvPr/>
        </p:nvSpPr>
        <p:spPr>
          <a:xfrm>
            <a:off x="7758012" y="4663440"/>
            <a:ext cx="3885043" cy="1508760"/>
          </a:xfrm>
          <a:prstGeom prst="roundRect">
            <a:avLst>
              <a:gd name="adj" fmla="val 7273"/>
            </a:avLst>
          </a:prstGeom>
          <a:solidFill>
            <a:srgbClr val="E8F0FA"/>
          </a:solidFill>
          <a:ln w="12700">
            <a:solidFill>
              <a:srgbClr val="E8F0FA"/>
            </a:solidFill>
            <a:prstDash val="solid"/>
          </a:ln>
        </p:spPr>
      </p:sp>
      <p:sp>
        <p:nvSpPr>
          <p:cNvPr id="17" name="Text 12"/>
          <p:cNvSpPr txBox="1"/>
          <p:nvPr/>
        </p:nvSpPr>
        <p:spPr>
          <a:xfrm>
            <a:off x="7986612" y="4773168"/>
            <a:ext cx="3427843" cy="365760"/>
          </a:xfrm>
          <a:prstGeom prst="rect">
            <a:avLst/>
          </a:prstGeom>
          <a:noFill/>
          <a:ln/>
        </p:spPr>
        <p:txBody>
          <a:bodyPr wrap="square" lIns="0" tIns="0" rIns="0" bIns="0" rtlCol="0" anchor="ctr"/>
          <a:lstStyle/>
          <a:p>
            <a:pPr indent="0" marL="0">
              <a:buNone/>
            </a:pPr>
            <a:r>
              <a:rPr lang="en-US" sz="1700" b="1" dirty="0">
                <a:solidFill>
                  <a:srgbClr val="14305C"/>
                </a:solidFill>
                <a:latin typeface="Calibri" pitchFamily="34" charset="0"/>
                <a:ea typeface="Calibri" pitchFamily="34" charset="-122"/>
                <a:cs typeface="Calibri" pitchFamily="34" charset="-120"/>
              </a:rPr>
              <a:t>Distance sensors</a:t>
            </a:r>
            <a:endParaRPr lang="en-US" sz="1700" dirty="0"/>
          </a:p>
        </p:txBody>
      </p:sp>
      <p:sp>
        <p:nvSpPr>
          <p:cNvPr id="18" name="Text 13"/>
          <p:cNvSpPr txBox="1"/>
          <p:nvPr/>
        </p:nvSpPr>
        <p:spPr>
          <a:xfrm>
            <a:off x="7986612" y="5138928"/>
            <a:ext cx="3427843" cy="960120"/>
          </a:xfrm>
          <a:prstGeom prst="rect">
            <a:avLst/>
          </a:prstGeom>
          <a:noFill/>
          <a:ln/>
        </p:spPr>
        <p:txBody>
          <a:bodyPr wrap="square" lIns="0" tIns="0" rIns="0" bIns="0" rtlCol="0" anchor="t"/>
          <a:lstStyle/>
          <a:p>
            <a:pPr indent="0" marL="0">
              <a:buNone/>
            </a:pPr>
            <a:r>
              <a:rPr lang="en-US" sz="1300" dirty="0">
                <a:solidFill>
                  <a:srgbClr val="1B1F24"/>
                </a:solidFill>
                <a:latin typeface="Calibri" pitchFamily="34" charset="0"/>
                <a:ea typeface="Calibri" pitchFamily="34" charset="-122"/>
                <a:cs typeface="Calibri" pitchFamily="34" charset="-120"/>
              </a:rPr>
              <a:t>Three VL53L0X stand in for the VL53L5CX: left, ahead and right at 31 readings/s each; labels confirmed by covering each.</a:t>
            </a:r>
            <a:endParaRPr lang="en-US" sz="13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84048"/>
            <a:ext cx="566928" cy="566928"/>
          </a:xfrm>
          <a:prstGeom prst="ellipse">
            <a:avLst/>
          </a:prstGeom>
          <a:solidFill>
            <a:srgbClr val="14305C"/>
          </a:solidFill>
          <a:ln w="12700">
            <a:solidFill>
              <a:srgbClr val="14305C"/>
            </a:solidFill>
            <a:prstDash val="solid"/>
          </a:ln>
        </p:spPr>
      </p:sp>
      <p:sp>
        <p:nvSpPr>
          <p:cNvPr id="3" name="Text 1"/>
          <p:cNvSpPr txBox="1"/>
          <p:nvPr/>
        </p:nvSpPr>
        <p:spPr>
          <a:xfrm>
            <a:off x="548640" y="384048"/>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10</a:t>
            </a:r>
            <a:endParaRPr lang="en-US" sz="2000" dirty="0"/>
          </a:p>
        </p:txBody>
      </p:sp>
      <p:sp>
        <p:nvSpPr>
          <p:cNvPr id="4" name="Text 2"/>
          <p:cNvSpPr txBox="1"/>
          <p:nvPr/>
        </p:nvSpPr>
        <p:spPr>
          <a:xfrm>
            <a:off x="1325880" y="310896"/>
            <a:ext cx="10317175" cy="731520"/>
          </a:xfrm>
          <a:prstGeom prst="rect">
            <a:avLst/>
          </a:prstGeom>
          <a:noFill/>
          <a:ln/>
        </p:spPr>
        <p:txBody>
          <a:bodyPr wrap="square" lIns="0" tIns="0" rIns="0" bIns="0" rtlCol="0" anchor="ctr"/>
          <a:lstStyle/>
          <a:p>
            <a:pPr indent="0" marL="0">
              <a:buNone/>
            </a:pPr>
            <a:r>
              <a:rPr lang="en-US" sz="3200" b="1" dirty="0">
                <a:solidFill>
                  <a:srgbClr val="14305C"/>
                </a:solidFill>
                <a:latin typeface="Calibri" pitchFamily="34" charset="0"/>
                <a:ea typeface="Calibri" pitchFamily="34" charset="-122"/>
                <a:cs typeface="Calibri" pitchFamily="34" charset="-120"/>
              </a:rPr>
              <a:t>Hazard alerts on the existing dashboard</a:t>
            </a:r>
            <a:endParaRPr lang="en-US" sz="3200" dirty="0"/>
          </a:p>
        </p:txBody>
      </p:sp>
      <p:pic>
        <p:nvPicPr>
          <p:cNvPr id="5" name="Image 0" descr="C:\Users\0geda\OneDrive - University of Cape Town\Documents\PlatformIO\Projects\Tukzie-HPEC-HUD\Presentation\source\assets\uct_logo.png">    </p:cNvPr>
          <p:cNvPicPr>
            <a:picLocks noChangeAspect="1"/>
          </p:cNvPicPr>
          <p:nvPr/>
        </p:nvPicPr>
        <p:blipFill>
          <a:blip r:embed="rId1"/>
          <a:stretch>
            <a:fillRect/>
          </a:stretch>
        </p:blipFill>
        <p:spPr>
          <a:xfrm>
            <a:off x="11259007" y="6327648"/>
            <a:ext cx="384048" cy="390449"/>
          </a:xfrm>
          <a:prstGeom prst="rect">
            <a:avLst/>
          </a:prstGeom>
        </p:spPr>
      </p:pic>
      <p:sp>
        <p:nvSpPr>
          <p:cNvPr id="6" name="Text 3"/>
          <p:cNvSpPr txBox="1"/>
          <p:nvPr/>
        </p:nvSpPr>
        <p:spPr>
          <a:xfrm>
            <a:off x="548640" y="6382512"/>
            <a:ext cx="5486400" cy="292608"/>
          </a:xfrm>
          <a:prstGeom prst="rect">
            <a:avLst/>
          </a:prstGeom>
          <a:noFill/>
          <a:ln/>
        </p:spPr>
        <p:txBody>
          <a:bodyPr wrap="square" lIns="0" tIns="0" rIns="0" bIns="0" rtlCol="0" anchor="ctr"/>
          <a:lstStyle/>
          <a:p>
            <a:pPr indent="0" marL="0">
              <a:buNone/>
            </a:pPr>
            <a:r>
              <a:rPr lang="en-US" sz="1100" dirty="0">
                <a:solidFill>
                  <a:srgbClr val="4A5566"/>
                </a:solidFill>
                <a:latin typeface="Calibri" pitchFamily="34" charset="0"/>
                <a:ea typeface="Calibri" pitchFamily="34" charset="-122"/>
                <a:cs typeface="Calibri" pitchFamily="34" charset="-120"/>
              </a:rPr>
              <a:t>SW-7   |   Samson Okuthe   |   EEE4022S 2026</a:t>
            </a:r>
            <a:endParaRPr lang="en-US" sz="1100" dirty="0"/>
          </a:p>
        </p:txBody>
      </p:sp>
      <p:sp>
        <p:nvSpPr>
          <p:cNvPr id="7" name="Text 4"/>
          <p:cNvSpPr txBox="1"/>
          <p:nvPr/>
        </p:nvSpPr>
        <p:spPr>
          <a:xfrm>
            <a:off x="10180015" y="6382512"/>
            <a:ext cx="914400" cy="292608"/>
          </a:xfrm>
          <a:prstGeom prst="rect">
            <a:avLst/>
          </a:prstGeom>
          <a:noFill/>
          <a:ln/>
        </p:spPr>
        <p:txBody>
          <a:bodyPr wrap="square" lIns="0" tIns="0" rIns="0" bIns="0" rtlCol="0" anchor="ctr"/>
          <a:lstStyle/>
          <a:p>
            <a:pPr algn="r" indent="0" marL="0">
              <a:buNone/>
            </a:pPr>
            <a:r>
              <a:rPr lang="en-US" sz="1100" dirty="0">
                <a:solidFill>
                  <a:srgbClr val="4A5566"/>
                </a:solidFill>
                <a:latin typeface="Calibri" pitchFamily="34" charset="0"/>
                <a:ea typeface="Calibri" pitchFamily="34" charset="-122"/>
                <a:cs typeface="Calibri" pitchFamily="34" charset="-120"/>
              </a:rPr>
              <a:t>11 / 12</a:t>
            </a:r>
            <a:endParaRPr lang="en-US" sz="1100" dirty="0"/>
          </a:p>
        </p:txBody>
      </p:sp>
      <p:pic>
        <p:nvPicPr>
          <p:cNvPr id="9" name="Image 1" descr="C:\Users\0geda\OneDrive - University of Cape Town\Documents\PlatformIO\Projects\Tukzie-HPEC-HUD\Presentation\source\assets\dashboard_person.png">    </p:cNvPr>
          <p:cNvPicPr>
            <a:picLocks noChangeAspect="1"/>
          </p:cNvPicPr>
          <p:nvPr/>
        </p:nvPicPr>
        <p:blipFill>
          <a:blip r:embed="rId2"/>
          <a:stretch>
            <a:fillRect/>
          </a:stretch>
        </p:blipFill>
        <p:spPr>
          <a:xfrm>
            <a:off x="548640" y="1280160"/>
            <a:ext cx="5852160" cy="2926080"/>
          </a:xfrm>
          <a:prstGeom prst="rect">
            <a:avLst/>
          </a:prstGeom>
        </p:spPr>
      </p:pic>
      <p:sp>
        <p:nvSpPr>
          <p:cNvPr id="10" name="Text 5"/>
          <p:cNvSpPr txBox="1"/>
          <p:nvPr/>
        </p:nvSpPr>
        <p:spPr>
          <a:xfrm>
            <a:off x="548640" y="4279392"/>
            <a:ext cx="6766560" cy="320040"/>
          </a:xfrm>
          <a:prstGeom prst="rect">
            <a:avLst/>
          </a:prstGeom>
          <a:noFill/>
          <a:ln/>
        </p:spPr>
        <p:txBody>
          <a:bodyPr wrap="square" lIns="0" tIns="0" rIns="0" bIns="0" rtlCol="0" anchor="ctr"/>
          <a:lstStyle/>
          <a:p>
            <a:pPr indent="0" marL="0">
              <a:buNone/>
            </a:pPr>
            <a:r>
              <a:rPr lang="en-US" sz="1300" i="1" dirty="0">
                <a:solidFill>
                  <a:srgbClr val="4A5566"/>
                </a:solidFill>
                <a:latin typeface="Calibri" pitchFamily="34" charset="0"/>
                <a:ea typeface="Calibri" pitchFamily="34" charset="-122"/>
                <a:cs typeface="Calibri" pitchFamily="34" charset="-120"/>
              </a:rPr>
              <a:t>The camera page against the live detector: a person in view is listed as Person, Immediate.</a:t>
            </a:r>
            <a:endParaRPr lang="en-US" sz="1300" dirty="0"/>
          </a:p>
        </p:txBody>
      </p:sp>
      <p:sp>
        <p:nvSpPr>
          <p:cNvPr id="11" name="Shape 6"/>
          <p:cNvSpPr/>
          <p:nvPr/>
        </p:nvSpPr>
        <p:spPr>
          <a:xfrm>
            <a:off x="548640" y="4709160"/>
            <a:ext cx="6766560" cy="1463040"/>
          </a:xfrm>
          <a:prstGeom prst="roundRect">
            <a:avLst>
              <a:gd name="adj" fmla="val 7500"/>
            </a:avLst>
          </a:prstGeom>
          <a:solidFill>
            <a:srgbClr val="E8F0FA"/>
          </a:solidFill>
          <a:ln w="12700">
            <a:solidFill>
              <a:srgbClr val="E8F0FA"/>
            </a:solidFill>
            <a:prstDash val="solid"/>
          </a:ln>
        </p:spPr>
      </p:sp>
      <p:sp>
        <p:nvSpPr>
          <p:cNvPr id="12" name="Text 7"/>
          <p:cNvSpPr txBox="1"/>
          <p:nvPr/>
        </p:nvSpPr>
        <p:spPr>
          <a:xfrm>
            <a:off x="822960" y="4818888"/>
            <a:ext cx="6217920" cy="347472"/>
          </a:xfrm>
          <a:prstGeom prst="rect">
            <a:avLst/>
          </a:prstGeom>
          <a:noFill/>
          <a:ln/>
        </p:spPr>
        <p:txBody>
          <a:bodyPr wrap="square" lIns="0" tIns="0" rIns="0" bIns="0" rtlCol="0" anchor="ctr"/>
          <a:lstStyle/>
          <a:p>
            <a:pPr indent="0" marL="0">
              <a:buNone/>
            </a:pPr>
            <a:r>
              <a:rPr lang="en-US" sz="1600" b="1" dirty="0">
                <a:solidFill>
                  <a:srgbClr val="14305C"/>
                </a:solidFill>
                <a:latin typeface="Calibri" pitchFamily="34" charset="0"/>
                <a:ea typeface="Calibri" pitchFamily="34" charset="-122"/>
                <a:cs typeface="Calibri" pitchFamily="34" charset="-120"/>
              </a:rPr>
              <a:t>Why not a windshield HUD</a:t>
            </a:r>
            <a:endParaRPr lang="en-US" sz="1600" dirty="0"/>
          </a:p>
        </p:txBody>
      </p:sp>
      <p:sp>
        <p:nvSpPr>
          <p:cNvPr id="13" name="Text 8"/>
          <p:cNvSpPr txBox="1"/>
          <p:nvPr/>
        </p:nvSpPr>
        <p:spPr>
          <a:xfrm>
            <a:off x="822960" y="5212080"/>
            <a:ext cx="6217920" cy="914400"/>
          </a:xfrm>
          <a:prstGeom prst="rect">
            <a:avLst/>
          </a:prstGeom>
          <a:noFill/>
          <a:ln/>
        </p:spPr>
        <p:txBody>
          <a:bodyPr wrap="square" lIns="0" tIns="0" rIns="0" bIns="0" rtlCol="0" anchor="t"/>
          <a:lstStyle/>
          <a:p>
            <a:pPr marL="228600" indent="-228600">
              <a:spcAft>
                <a:spcPts val="800"/>
              </a:spcAft>
              <a:buSzPct val="100000"/>
              <a:buChar char="•"/>
            </a:pPr>
            <a:r>
              <a:rPr lang="en-US" sz="1400" dirty="0">
                <a:solidFill>
                  <a:srgbClr val="1B1F24"/>
                </a:solidFill>
                <a:latin typeface="Calibri" pitchFamily="34" charset="0"/>
                <a:ea typeface="Calibri" pitchFamily="34" charset="-122"/>
                <a:cs typeface="Calibri" pitchFamily="34" charset="-120"/>
              </a:rPr>
              <a:t>The dashboard already shows what a HUD would</a:t>
            </a:r>
            <a:endParaRPr lang="en-US" sz="1400" dirty="0"/>
          </a:p>
          <a:p>
            <a:pPr marL="228600" indent="-228600">
              <a:spcAft>
                <a:spcPts val="800"/>
              </a:spcAft>
              <a:buSzPct val="100000"/>
              <a:buChar char="•"/>
            </a:pPr>
            <a:r>
              <a:rPr lang="en-US" sz="1400" dirty="0">
                <a:solidFill>
                  <a:srgbClr val="1B1F24"/>
                </a:solidFill>
                <a:latin typeface="Calibri" pitchFamily="34" charset="0"/>
                <a:ea typeface="Calibri" pitchFamily="34" charset="-122"/>
                <a:cs typeface="Calibri" pitchFamily="34" charset="-120"/>
              </a:rPr>
              <a:t>Two displays compete for the driver's attention</a:t>
            </a:r>
            <a:endParaRPr lang="en-US" sz="1400" dirty="0"/>
          </a:p>
          <a:p>
            <a:pPr marL="228600" indent="-228600">
              <a:spcAft>
                <a:spcPts val="800"/>
              </a:spcAft>
              <a:buSzPct val="100000"/>
              <a:buChar char="•"/>
            </a:pPr>
            <a:r>
              <a:rPr lang="en-US" sz="1400" dirty="0">
                <a:solidFill>
                  <a:srgbClr val="1B1F24"/>
                </a:solidFill>
                <a:latin typeface="Calibri" pitchFamily="34" charset="0"/>
                <a:ea typeface="Calibri" pitchFamily="34" charset="-122"/>
                <a:cs typeface="Calibri" pitchFamily="34" charset="-120"/>
              </a:rPr>
              <a:t>A move towards autonomy makes the camera more useful</a:t>
            </a:r>
            <a:endParaRPr lang="en-US" sz="1400" dirty="0"/>
          </a:p>
        </p:txBody>
      </p:sp>
      <p:sp>
        <p:nvSpPr>
          <p:cNvPr id="14" name="Shape 9"/>
          <p:cNvSpPr/>
          <p:nvPr/>
        </p:nvSpPr>
        <p:spPr>
          <a:xfrm>
            <a:off x="7635240" y="1280160"/>
            <a:ext cx="4007815" cy="4892040"/>
          </a:xfrm>
          <a:prstGeom prst="roundRect">
            <a:avLst>
              <a:gd name="adj" fmla="val 2738"/>
            </a:avLst>
          </a:prstGeom>
          <a:solidFill>
            <a:srgbClr val="E8F0FA"/>
          </a:solidFill>
          <a:ln w="12700">
            <a:solidFill>
              <a:srgbClr val="E8F0FA"/>
            </a:solidFill>
            <a:prstDash val="solid"/>
          </a:ln>
        </p:spPr>
      </p:sp>
      <p:sp>
        <p:nvSpPr>
          <p:cNvPr id="15" name="Text 10"/>
          <p:cNvSpPr txBox="1"/>
          <p:nvPr/>
        </p:nvSpPr>
        <p:spPr>
          <a:xfrm>
            <a:off x="7909560" y="1417320"/>
            <a:ext cx="3459175" cy="411480"/>
          </a:xfrm>
          <a:prstGeom prst="rect">
            <a:avLst/>
          </a:prstGeom>
          <a:noFill/>
          <a:ln/>
        </p:spPr>
        <p:txBody>
          <a:bodyPr wrap="square" lIns="0" tIns="0" rIns="0" bIns="0" rtlCol="0" anchor="ctr"/>
          <a:lstStyle/>
          <a:p>
            <a:pPr indent="0" marL="0">
              <a:buNone/>
            </a:pPr>
            <a:r>
              <a:rPr lang="en-US" sz="1800" b="1" dirty="0">
                <a:solidFill>
                  <a:srgbClr val="14305C"/>
                </a:solidFill>
                <a:latin typeface="Calibri" pitchFamily="34" charset="0"/>
                <a:ea typeface="Calibri" pitchFamily="34" charset="-122"/>
                <a:cs typeface="Calibri" pitchFamily="34" charset="-120"/>
              </a:rPr>
              <a:t>Tested against the live camera</a:t>
            </a:r>
            <a:endParaRPr lang="en-US" sz="1800" dirty="0"/>
          </a:p>
        </p:txBody>
      </p:sp>
      <p:sp>
        <p:nvSpPr>
          <p:cNvPr id="16" name="Text 11"/>
          <p:cNvSpPr txBox="1"/>
          <p:nvPr/>
        </p:nvSpPr>
        <p:spPr>
          <a:xfrm>
            <a:off x="7909560" y="1920240"/>
            <a:ext cx="3459175" cy="2651760"/>
          </a:xfrm>
          <a:prstGeom prst="rect">
            <a:avLst/>
          </a:prstGeom>
          <a:noFill/>
          <a:ln/>
        </p:spPr>
        <p:txBody>
          <a:bodyPr wrap="square" lIns="0" tIns="0" rIns="0" bIns="0" rtlCol="0" anchor="t"/>
          <a:lstStyle/>
          <a:p>
            <a:pPr marL="228600" indent="-228600">
              <a:spcAft>
                <a:spcPts val="800"/>
              </a:spcAft>
              <a:buSzPct val="100000"/>
              <a:buChar char="•"/>
            </a:pPr>
            <a:r>
              <a:rPr lang="en-US" sz="1500" dirty="0">
                <a:solidFill>
                  <a:srgbClr val="1B1F24"/>
                </a:solidFill>
                <a:latin typeface="Calibri" pitchFamily="34" charset="0"/>
                <a:ea typeface="Calibri" pitchFamily="34" charset="-122"/>
                <a:cs typeface="Calibri" pitchFamily="34" charset="-120"/>
              </a:rPr>
              <a:t>Live view 0.6 s after opening; 14.2 frames/s decoded</a:t>
            </a:r>
            <a:endParaRPr lang="en-US" sz="1500" dirty="0"/>
          </a:p>
          <a:p>
            <a:pPr marL="228600" indent="-228600">
              <a:spcAft>
                <a:spcPts val="800"/>
              </a:spcAft>
              <a:buSzPct val="100000"/>
              <a:buChar char="•"/>
            </a:pPr>
            <a:r>
              <a:rPr lang="en-US" sz="1500" dirty="0">
                <a:solidFill>
                  <a:srgbClr val="1B1F24"/>
                </a:solidFill>
                <a:latin typeface="Calibri" pitchFamily="34" charset="0"/>
                <a:ea typeface="Calibri" pitchFamily="34" charset="-122"/>
                <a:cs typeface="Calibri" pitchFamily="34" charset="-120"/>
              </a:rPr>
              <a:t>Person alert listed 0.5 s after opening, matching the box on the video</a:t>
            </a:r>
            <a:endParaRPr lang="en-US" sz="1500" dirty="0"/>
          </a:p>
          <a:p>
            <a:pPr marL="228600" indent="-228600">
              <a:spcAft>
                <a:spcPts val="800"/>
              </a:spcAft>
              <a:buSzPct val="100000"/>
              <a:buChar char="•"/>
            </a:pPr>
            <a:r>
              <a:rPr lang="en-US" sz="1500" dirty="0">
                <a:solidFill>
                  <a:srgbClr val="1B1F24"/>
                </a:solidFill>
                <a:latin typeface="Calibri" pitchFamily="34" charset="0"/>
                <a:ea typeface="Calibri" pitchFamily="34" charset="-122"/>
                <a:cs typeface="Calibri" pitchFamily="34" charset="-120"/>
              </a:rPr>
              <a:t>Offline state within 1 s of the camera stopping</a:t>
            </a:r>
            <a:endParaRPr lang="en-US" sz="1500" dirty="0"/>
          </a:p>
          <a:p>
            <a:pPr marL="228600" indent="-228600">
              <a:spcAft>
                <a:spcPts val="800"/>
              </a:spcAft>
              <a:buSzPct val="100000"/>
              <a:buChar char="•"/>
            </a:pPr>
            <a:r>
              <a:rPr lang="en-US" sz="1500" dirty="0">
                <a:solidFill>
                  <a:srgbClr val="1B1F24"/>
                </a:solidFill>
                <a:latin typeface="Calibri" pitchFamily="34" charset="0"/>
                <a:ea typeface="Calibri" pitchFamily="34" charset="-122"/>
                <a:cs typeface="Calibri" pitchFamily="34" charset="-120"/>
              </a:rPr>
              <a:t>Only Qt networking and widgets: no web-engine component</a:t>
            </a:r>
            <a:endParaRPr lang="en-US" sz="1500" dirty="0"/>
          </a:p>
        </p:txBody>
      </p:sp>
      <p:sp>
        <p:nvSpPr>
          <p:cNvPr id="17" name="Text 12"/>
          <p:cNvSpPr txBox="1"/>
          <p:nvPr/>
        </p:nvSpPr>
        <p:spPr>
          <a:xfrm>
            <a:off x="7909560" y="5074920"/>
            <a:ext cx="3459175" cy="914400"/>
          </a:xfrm>
          <a:prstGeom prst="rect">
            <a:avLst/>
          </a:prstGeom>
          <a:noFill/>
          <a:ln/>
        </p:spPr>
        <p:txBody>
          <a:bodyPr wrap="square" lIns="0" tIns="0" rIns="0" bIns="0" rtlCol="0" anchor="t"/>
          <a:lstStyle/>
          <a:p>
            <a:pPr indent="0" marL="0">
              <a:buNone/>
            </a:pPr>
            <a:r>
              <a:rPr lang="en-US" sz="1500" b="1" dirty="0">
                <a:solidFill>
                  <a:srgbClr val="D4700C"/>
                </a:solidFill>
                <a:latin typeface="Calibri" pitchFamily="34" charset="0"/>
                <a:ea typeface="Calibri" pitchFamily="34" charset="-122"/>
                <a:cs typeface="Calibri" pitchFamily="34" charset="-120"/>
              </a:rPr>
              <a:t>Still open: </a:t>
            </a:r>
            <a:pPr indent="0" marL="0">
              <a:buNone/>
            </a:pPr>
            <a:r>
              <a:rPr lang="en-US" sz="1500" dirty="0">
                <a:solidFill>
                  <a:srgbClr val="1B1F24"/>
                </a:solidFill>
                <a:latin typeface="Calibri" pitchFamily="34" charset="0"/>
                <a:ea typeface="Calibri" pitchFamily="34" charset="-122"/>
                <a:cs typeface="Calibri" pitchFamily="34" charset="-120"/>
              </a:rPr>
              <a:t>run on the dashboard's Pi 5, and the glance-time check.</a:t>
            </a:r>
            <a:endParaRPr lang="en-US" sz="15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84048"/>
            <a:ext cx="566928" cy="566928"/>
          </a:xfrm>
          <a:prstGeom prst="ellipse">
            <a:avLst/>
          </a:prstGeom>
          <a:solidFill>
            <a:srgbClr val="14305C"/>
          </a:solidFill>
          <a:ln w="12700">
            <a:solidFill>
              <a:srgbClr val="14305C"/>
            </a:solidFill>
            <a:prstDash val="solid"/>
          </a:ln>
        </p:spPr>
      </p:sp>
      <p:sp>
        <p:nvSpPr>
          <p:cNvPr id="3" name="Text 1"/>
          <p:cNvSpPr txBox="1"/>
          <p:nvPr/>
        </p:nvSpPr>
        <p:spPr>
          <a:xfrm>
            <a:off x="548640" y="384048"/>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11</a:t>
            </a:r>
            <a:endParaRPr lang="en-US" sz="2000" dirty="0"/>
          </a:p>
        </p:txBody>
      </p:sp>
      <p:sp>
        <p:nvSpPr>
          <p:cNvPr id="4" name="Text 2"/>
          <p:cNvSpPr txBox="1"/>
          <p:nvPr/>
        </p:nvSpPr>
        <p:spPr>
          <a:xfrm>
            <a:off x="1325880" y="310896"/>
            <a:ext cx="10317175" cy="731520"/>
          </a:xfrm>
          <a:prstGeom prst="rect">
            <a:avLst/>
          </a:prstGeom>
          <a:noFill/>
          <a:ln/>
        </p:spPr>
        <p:txBody>
          <a:bodyPr wrap="square" lIns="0" tIns="0" rIns="0" bIns="0" rtlCol="0" anchor="ctr"/>
          <a:lstStyle/>
          <a:p>
            <a:pPr indent="0" marL="0">
              <a:buNone/>
            </a:pPr>
            <a:r>
              <a:rPr lang="en-US" sz="3200" b="1" dirty="0">
                <a:solidFill>
                  <a:srgbClr val="14305C"/>
                </a:solidFill>
                <a:latin typeface="Calibri" pitchFamily="34" charset="0"/>
                <a:ea typeface="Calibri" pitchFamily="34" charset="-122"/>
                <a:cs typeface="Calibri" pitchFamily="34" charset="-120"/>
              </a:rPr>
              <a:t>Conclusions and next steps</a:t>
            </a:r>
            <a:endParaRPr lang="en-US" sz="3200" dirty="0"/>
          </a:p>
        </p:txBody>
      </p:sp>
      <p:pic>
        <p:nvPicPr>
          <p:cNvPr id="5" name="Image 0" descr="C:\Users\0geda\OneDrive - University of Cape Town\Documents\PlatformIO\Projects\Tukzie-HPEC-HUD\Presentation\source\assets\uct_logo.png">    </p:cNvPr>
          <p:cNvPicPr>
            <a:picLocks noChangeAspect="1"/>
          </p:cNvPicPr>
          <p:nvPr/>
        </p:nvPicPr>
        <p:blipFill>
          <a:blip r:embed="rId1"/>
          <a:stretch>
            <a:fillRect/>
          </a:stretch>
        </p:blipFill>
        <p:spPr>
          <a:xfrm>
            <a:off x="11259007" y="6327648"/>
            <a:ext cx="384048" cy="390449"/>
          </a:xfrm>
          <a:prstGeom prst="rect">
            <a:avLst/>
          </a:prstGeom>
        </p:spPr>
      </p:pic>
      <p:sp>
        <p:nvSpPr>
          <p:cNvPr id="6" name="Text 3"/>
          <p:cNvSpPr txBox="1"/>
          <p:nvPr/>
        </p:nvSpPr>
        <p:spPr>
          <a:xfrm>
            <a:off x="548640" y="6382512"/>
            <a:ext cx="5486400" cy="292608"/>
          </a:xfrm>
          <a:prstGeom prst="rect">
            <a:avLst/>
          </a:prstGeom>
          <a:noFill/>
          <a:ln/>
        </p:spPr>
        <p:txBody>
          <a:bodyPr wrap="square" lIns="0" tIns="0" rIns="0" bIns="0" rtlCol="0" anchor="ctr"/>
          <a:lstStyle/>
          <a:p>
            <a:pPr indent="0" marL="0">
              <a:buNone/>
            </a:pPr>
            <a:r>
              <a:rPr lang="en-US" sz="1100" dirty="0">
                <a:solidFill>
                  <a:srgbClr val="4A5566"/>
                </a:solidFill>
                <a:latin typeface="Calibri" pitchFamily="34" charset="0"/>
                <a:ea typeface="Calibri" pitchFamily="34" charset="-122"/>
                <a:cs typeface="Calibri" pitchFamily="34" charset="-120"/>
              </a:rPr>
              <a:t>SW-7   |   Samson Okuthe   |   EEE4022S 2026</a:t>
            </a:r>
            <a:endParaRPr lang="en-US" sz="1100" dirty="0"/>
          </a:p>
        </p:txBody>
      </p:sp>
      <p:sp>
        <p:nvSpPr>
          <p:cNvPr id="7" name="Text 4"/>
          <p:cNvSpPr txBox="1"/>
          <p:nvPr/>
        </p:nvSpPr>
        <p:spPr>
          <a:xfrm>
            <a:off x="10180015" y="6382512"/>
            <a:ext cx="914400" cy="292608"/>
          </a:xfrm>
          <a:prstGeom prst="rect">
            <a:avLst/>
          </a:prstGeom>
          <a:noFill/>
          <a:ln/>
        </p:spPr>
        <p:txBody>
          <a:bodyPr wrap="square" lIns="0" tIns="0" rIns="0" bIns="0" rtlCol="0" anchor="ctr"/>
          <a:lstStyle/>
          <a:p>
            <a:pPr algn="r" indent="0" marL="0">
              <a:buNone/>
            </a:pPr>
            <a:r>
              <a:rPr lang="en-US" sz="1100" dirty="0">
                <a:solidFill>
                  <a:srgbClr val="4A5566"/>
                </a:solidFill>
                <a:latin typeface="Calibri" pitchFamily="34" charset="0"/>
                <a:ea typeface="Calibri" pitchFamily="34" charset="-122"/>
                <a:cs typeface="Calibri" pitchFamily="34" charset="-120"/>
              </a:rPr>
              <a:t>12 / 12</a:t>
            </a:r>
            <a:endParaRPr lang="en-US" sz="1100" dirty="0"/>
          </a:p>
        </p:txBody>
      </p:sp>
      <p:sp>
        <p:nvSpPr>
          <p:cNvPr id="9" name="Shape 5"/>
          <p:cNvSpPr/>
          <p:nvPr/>
        </p:nvSpPr>
        <p:spPr>
          <a:xfrm>
            <a:off x="548640" y="1280160"/>
            <a:ext cx="5364328" cy="4069080"/>
          </a:xfrm>
          <a:prstGeom prst="roundRect">
            <a:avLst>
              <a:gd name="adj" fmla="val 2697"/>
            </a:avLst>
          </a:prstGeom>
          <a:solidFill>
            <a:srgbClr val="E8F0FA"/>
          </a:solidFill>
          <a:ln w="12700">
            <a:solidFill>
              <a:srgbClr val="E8F0FA"/>
            </a:solidFill>
            <a:prstDash val="solid"/>
          </a:ln>
        </p:spPr>
      </p:sp>
      <p:sp>
        <p:nvSpPr>
          <p:cNvPr id="10" name="Text 6"/>
          <p:cNvSpPr txBox="1"/>
          <p:nvPr/>
        </p:nvSpPr>
        <p:spPr>
          <a:xfrm>
            <a:off x="868680" y="1463040"/>
            <a:ext cx="4724248" cy="411480"/>
          </a:xfrm>
          <a:prstGeom prst="rect">
            <a:avLst/>
          </a:prstGeom>
          <a:noFill/>
          <a:ln/>
        </p:spPr>
        <p:txBody>
          <a:bodyPr wrap="square" lIns="0" tIns="0" rIns="0" bIns="0" rtlCol="0" anchor="ctr"/>
          <a:lstStyle/>
          <a:p>
            <a:pPr indent="0" marL="0">
              <a:buNone/>
            </a:pPr>
            <a:r>
              <a:rPr lang="en-US" sz="2000" b="1" dirty="0">
                <a:solidFill>
                  <a:srgbClr val="14305C"/>
                </a:solidFill>
                <a:latin typeface="Calibri" pitchFamily="34" charset="0"/>
                <a:ea typeface="Calibri" pitchFamily="34" charset="-122"/>
                <a:cs typeface="Calibri" pitchFamily="34" charset="-120"/>
              </a:rPr>
              <a:t>Done on the bench</a:t>
            </a:r>
            <a:endParaRPr lang="en-US" sz="2000" dirty="0"/>
          </a:p>
        </p:txBody>
      </p:sp>
      <p:sp>
        <p:nvSpPr>
          <p:cNvPr id="11" name="Text 7"/>
          <p:cNvSpPr txBox="1"/>
          <p:nvPr/>
        </p:nvSpPr>
        <p:spPr>
          <a:xfrm>
            <a:off x="868680" y="2057400"/>
            <a:ext cx="4724248" cy="3154680"/>
          </a:xfrm>
          <a:prstGeom prst="rect">
            <a:avLst/>
          </a:prstGeom>
          <a:noFill/>
          <a:ln/>
        </p:spPr>
        <p:txBody>
          <a:bodyPr wrap="square" lIns="0" tIns="0" rIns="0" bIns="0" rtlCol="0" anchor="t"/>
          <a:lstStyle/>
          <a:p>
            <a:pPr marL="228600" indent="-228600">
              <a:spcAft>
                <a:spcPts val="800"/>
              </a:spcAft>
              <a:buSzPct val="100000"/>
              <a:buChar char="•"/>
            </a:pPr>
            <a:r>
              <a:rPr lang="en-US" sz="1600" dirty="0">
                <a:solidFill>
                  <a:srgbClr val="1B1F24"/>
                </a:solidFill>
                <a:latin typeface="Calibri" pitchFamily="34" charset="0"/>
                <a:ea typeface="Calibri" pitchFamily="34" charset="-122"/>
                <a:cs typeface="Calibri" pitchFamily="34" charset="-120"/>
              </a:rPr>
              <a:t>Two IMUs at 200 Hz, no loss, calibrated and fused</a:t>
            </a:r>
            <a:endParaRPr lang="en-US" sz="1600" dirty="0"/>
          </a:p>
          <a:p>
            <a:pPr marL="228600" indent="-228600">
              <a:spcAft>
                <a:spcPts val="800"/>
              </a:spcAft>
              <a:buSzPct val="100000"/>
              <a:buChar char="•"/>
            </a:pPr>
            <a:r>
              <a:rPr lang="en-US" sz="1600" dirty="0">
                <a:solidFill>
                  <a:srgbClr val="1B1F24"/>
                </a:solidFill>
                <a:latin typeface="Calibri" pitchFamily="34" charset="0"/>
                <a:ea typeface="Calibri" pitchFamily="34" charset="-122"/>
                <a:cs typeface="Calibri" pitchFamily="34" charset="-120"/>
              </a:rPr>
              <a:t>GNSS within 2.7 m median; battery read over BLE</a:t>
            </a:r>
            <a:endParaRPr lang="en-US" sz="1600" dirty="0"/>
          </a:p>
          <a:p>
            <a:pPr marL="228600" indent="-228600">
              <a:spcAft>
                <a:spcPts val="800"/>
              </a:spcAft>
              <a:buSzPct val="100000"/>
              <a:buChar char="•"/>
            </a:pPr>
            <a:r>
              <a:rPr lang="en-US" sz="1600" dirty="0">
                <a:solidFill>
                  <a:srgbClr val="1B1F24"/>
                </a:solidFill>
                <a:latin typeface="Calibri" pitchFamily="34" charset="0"/>
                <a:ea typeface="Calibri" pitchFamily="34" charset="-122"/>
                <a:cs typeface="Calibri" pitchFamily="34" charset="-120"/>
              </a:rPr>
              <a:t>Cellular publish with automatic recovery; full local log</a:t>
            </a:r>
            <a:endParaRPr lang="en-US" sz="1600" dirty="0"/>
          </a:p>
          <a:p>
            <a:pPr marL="228600" indent="-228600">
              <a:spcAft>
                <a:spcPts val="800"/>
              </a:spcAft>
              <a:buSzPct val="100000"/>
              <a:buChar char="•"/>
            </a:pPr>
            <a:r>
              <a:rPr lang="en-US" sz="1600" dirty="0">
                <a:solidFill>
                  <a:srgbClr val="1B1F24"/>
                </a:solidFill>
                <a:latin typeface="Calibri" pitchFamily="34" charset="0"/>
                <a:ea typeface="Calibri" pitchFamily="34" charset="-122"/>
                <a:cs typeface="Calibri" pitchFamily="34" charset="-120"/>
              </a:rPr>
              <a:t>Camera alerts in about 0.1 s, on the existing dashboard</a:t>
            </a:r>
            <a:endParaRPr lang="en-US" sz="1600" dirty="0"/>
          </a:p>
          <a:p>
            <a:pPr marL="228600" indent="-228600">
              <a:spcAft>
                <a:spcPts val="800"/>
              </a:spcAft>
              <a:buSzPct val="100000"/>
              <a:buChar char="•"/>
            </a:pPr>
            <a:r>
              <a:rPr lang="en-US" sz="1600" dirty="0">
                <a:solidFill>
                  <a:srgbClr val="1B1F24"/>
                </a:solidFill>
                <a:latin typeface="Calibri" pitchFamily="34" charset="0"/>
                <a:ea typeface="Calibri" pitchFamily="34" charset="-122"/>
                <a:cs typeface="Calibri" pitchFamily="34" charset="-120"/>
              </a:rPr>
              <a:t>Each fault found by a test, fixed and re-tested</a:t>
            </a:r>
            <a:endParaRPr lang="en-US" sz="1600" dirty="0"/>
          </a:p>
        </p:txBody>
      </p:sp>
      <p:sp>
        <p:nvSpPr>
          <p:cNvPr id="12" name="Shape 8"/>
          <p:cNvSpPr/>
          <p:nvPr/>
        </p:nvSpPr>
        <p:spPr>
          <a:xfrm>
            <a:off x="6278728" y="1280160"/>
            <a:ext cx="5364328" cy="4069080"/>
          </a:xfrm>
          <a:prstGeom prst="roundRect">
            <a:avLst>
              <a:gd name="adj" fmla="val 2697"/>
            </a:avLst>
          </a:prstGeom>
          <a:solidFill>
            <a:srgbClr val="FFFFFF"/>
          </a:solidFill>
          <a:ln w="25400">
            <a:solidFill>
              <a:srgbClr val="D4700C"/>
            </a:solidFill>
            <a:prstDash val="dash"/>
          </a:ln>
        </p:spPr>
      </p:sp>
      <p:sp>
        <p:nvSpPr>
          <p:cNvPr id="13" name="Text 9"/>
          <p:cNvSpPr txBox="1"/>
          <p:nvPr/>
        </p:nvSpPr>
        <p:spPr>
          <a:xfrm>
            <a:off x="6598768" y="1463040"/>
            <a:ext cx="4724248" cy="411480"/>
          </a:xfrm>
          <a:prstGeom prst="rect">
            <a:avLst/>
          </a:prstGeom>
          <a:noFill/>
          <a:ln/>
        </p:spPr>
        <p:txBody>
          <a:bodyPr wrap="square" lIns="0" tIns="0" rIns="0" bIns="0" rtlCol="0" anchor="ctr"/>
          <a:lstStyle/>
          <a:p>
            <a:pPr indent="0" marL="0">
              <a:buNone/>
            </a:pPr>
            <a:r>
              <a:rPr lang="en-US" sz="2000" b="1" dirty="0">
                <a:solidFill>
                  <a:srgbClr val="D4700C"/>
                </a:solidFill>
                <a:latin typeface="Calibri" pitchFamily="34" charset="0"/>
                <a:ea typeface="Calibri" pitchFamily="34" charset="-122"/>
                <a:cs typeface="Calibri" pitchFamily="34" charset="-120"/>
              </a:rPr>
              <a:t>Next</a:t>
            </a:r>
            <a:endParaRPr lang="en-US" sz="2000" dirty="0"/>
          </a:p>
        </p:txBody>
      </p:sp>
      <p:sp>
        <p:nvSpPr>
          <p:cNvPr id="14" name="Text 10"/>
          <p:cNvSpPr txBox="1"/>
          <p:nvPr/>
        </p:nvSpPr>
        <p:spPr>
          <a:xfrm>
            <a:off x="6598768" y="2057400"/>
            <a:ext cx="4724248" cy="3154680"/>
          </a:xfrm>
          <a:prstGeom prst="rect">
            <a:avLst/>
          </a:prstGeom>
          <a:noFill/>
          <a:ln/>
        </p:spPr>
        <p:txBody>
          <a:bodyPr wrap="square" lIns="0" tIns="0" rIns="0" bIns="0" rtlCol="0" anchor="t"/>
          <a:lstStyle/>
          <a:p>
            <a:pPr marL="228600" indent="-228600">
              <a:spcAft>
                <a:spcPts val="800"/>
              </a:spcAft>
              <a:buSzPct val="100000"/>
              <a:buChar char="•"/>
            </a:pPr>
            <a:r>
              <a:rPr lang="en-US" sz="1600" dirty="0">
                <a:solidFill>
                  <a:srgbClr val="1B1F24"/>
                </a:solidFill>
                <a:latin typeface="Calibri" pitchFamily="34" charset="0"/>
                <a:ea typeface="Calibri" pitchFamily="34" charset="-122"/>
                <a:cs typeface="Calibri" pitchFamily="34" charset="-120"/>
              </a:rPr>
              <a:t>Mount on the trike and recalibrate in place</a:t>
            </a:r>
            <a:endParaRPr lang="en-US" sz="1600" dirty="0"/>
          </a:p>
          <a:p>
            <a:pPr marL="228600" indent="-228600">
              <a:spcAft>
                <a:spcPts val="800"/>
              </a:spcAft>
              <a:buSzPct val="100000"/>
              <a:buChar char="•"/>
            </a:pPr>
            <a:r>
              <a:rPr lang="en-US" sz="1600" dirty="0">
                <a:solidFill>
                  <a:srgbClr val="1B1F24"/>
                </a:solidFill>
                <a:latin typeface="Calibri" pitchFamily="34" charset="0"/>
                <a:ea typeface="Calibri" pitchFamily="34" charset="-122"/>
                <a:cs typeface="Calibri" pitchFamily="34" charset="-120"/>
              </a:rPr>
              <a:t>Field test: ride features (RQ4), latency and loss on the move (RQ3)</a:t>
            </a:r>
            <a:endParaRPr lang="en-US" sz="1600" dirty="0"/>
          </a:p>
          <a:p>
            <a:pPr marL="228600" indent="-228600">
              <a:spcAft>
                <a:spcPts val="800"/>
              </a:spcAft>
              <a:buSzPct val="100000"/>
              <a:buChar char="•"/>
            </a:pPr>
            <a:r>
              <a:rPr lang="en-US" sz="1600" dirty="0">
                <a:solidFill>
                  <a:srgbClr val="1B1F24"/>
                </a:solidFill>
                <a:latin typeface="Calibri" pitchFamily="34" charset="0"/>
                <a:ea typeface="Calibri" pitchFamily="34" charset="-122"/>
                <a:cs typeface="Calibri" pitchFamily="34" charset="-120"/>
              </a:rPr>
              <a:t>Calibrate the camera's distance bands</a:t>
            </a:r>
            <a:endParaRPr lang="en-US" sz="1600" dirty="0"/>
          </a:p>
          <a:p>
            <a:pPr marL="228600" indent="-228600">
              <a:spcAft>
                <a:spcPts val="800"/>
              </a:spcAft>
              <a:buSzPct val="100000"/>
              <a:buChar char="•"/>
            </a:pPr>
            <a:r>
              <a:rPr lang="en-US" sz="1600" dirty="0">
                <a:solidFill>
                  <a:srgbClr val="1B1F24"/>
                </a:solidFill>
                <a:latin typeface="Calibri" pitchFamily="34" charset="0"/>
                <a:ea typeface="Calibri" pitchFamily="34" charset="-122"/>
                <a:cs typeface="Calibri" pitchFamily="34" charset="-120"/>
              </a:rPr>
              <a:t>Check the battery against its app; wire the Hall tap</a:t>
            </a:r>
            <a:endParaRPr lang="en-US" sz="1600" dirty="0"/>
          </a:p>
          <a:p>
            <a:pPr marL="228600" indent="-228600">
              <a:spcAft>
                <a:spcPts val="800"/>
              </a:spcAft>
              <a:buSzPct val="100000"/>
              <a:buChar char="•"/>
            </a:pPr>
            <a:r>
              <a:rPr lang="en-US" sz="1600" dirty="0">
                <a:solidFill>
                  <a:srgbClr val="1B1F24"/>
                </a:solidFill>
                <a:latin typeface="Calibri" pitchFamily="34" charset="0"/>
                <a:ea typeface="Calibri" pitchFamily="34" charset="-122"/>
                <a:cs typeface="Calibri" pitchFamily="34" charset="-120"/>
              </a:rPr>
              <a:t>Fit the VL53L5CX and SEN55 when they arrive</a:t>
            </a:r>
            <a:endParaRPr lang="en-US" sz="1600" dirty="0"/>
          </a:p>
        </p:txBody>
      </p:sp>
      <p:sp>
        <p:nvSpPr>
          <p:cNvPr id="15" name="Text 11"/>
          <p:cNvSpPr txBox="1"/>
          <p:nvPr/>
        </p:nvSpPr>
        <p:spPr>
          <a:xfrm>
            <a:off x="548640" y="5532120"/>
            <a:ext cx="11094415" cy="548640"/>
          </a:xfrm>
          <a:prstGeom prst="rect">
            <a:avLst/>
          </a:prstGeom>
          <a:noFill/>
          <a:ln/>
        </p:spPr>
        <p:txBody>
          <a:bodyPr wrap="square" lIns="0" tIns="0" rIns="0" bIns="0" rtlCol="0" anchor="ctr"/>
          <a:lstStyle/>
          <a:p>
            <a:pPr algn="ctr" indent="0" marL="0">
              <a:buNone/>
            </a:pPr>
            <a:r>
              <a:rPr lang="en-US" sz="2600" b="1" dirty="0">
                <a:solidFill>
                  <a:srgbClr val="14305C"/>
                </a:solidFill>
                <a:latin typeface="Calibri" pitchFamily="34" charset="0"/>
                <a:ea typeface="Calibri" pitchFamily="34" charset="-122"/>
                <a:cs typeface="Calibri" pitchFamily="34" charset="-120"/>
              </a:rPr>
              <a:t>Thank you. Questions?</a:t>
            </a:r>
            <a:endParaRPr lang="en-US" sz="2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SW7: An Embedded Telemetry Unit and Windshield HUD for the TUKZIE Rev 0 Electric Cargo Trike</dc:title>
  <dc:subject>PptxGenJS Presentation</dc:subject>
  <dc:creator>Samson Okuthe</dc:creator>
  <cp:lastModifiedBy>Samson Okuthe</cp:lastModifiedBy>
  <cp:revision>1</cp:revision>
  <dcterms:created xsi:type="dcterms:W3CDTF">2026-10-01T09:42:03Z</dcterms:created>
  <dcterms:modified xsi:type="dcterms:W3CDTF">2026-10-01T09:42:03Z</dcterms:modified>
</cp:coreProperties>
</file>