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the TUKZIE programme, which is building a 72 volt electric cargo trike for last-mile freight. My part is the on-board electronics: a telemetry unit that measures how the trike rides, and a way of showing the driver only what matters for safety. In the next ten minutes I'll cover why this is needed, how I built and tested it, what the results show,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can make economic sense for freight in African cities: on the routes a 2025 study examined in Dar es Salaam, an electric cargo tricycle cut operating cost per kilometre by 45.5 percent against a motorcycle and up to 86 percent against a light car. Second, anything that pulls the driver's eyes off the road is a risk. NHTSA guidance says a single glance away should not exceed two seconds, so the driver should see only short, safety-relevant alerts. The open problem is bringing edge telemetry and that kind of sparse driver information together on a low-cost trike, and measuring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trike's ride at the edge and gives the driver only safety-relevant information. I split that into four research questions, and I've marked honestly where each one stands. RQ1, two IMUs at 200 hertz agreeing within noise, is verified on the bench. RQ3, bounded latency, measured data loss and recovery, is also verified on the bench: no dropped samples, a measured camera latency, and automatic recovery after the signal is cut. It still needs the moving vehicle. RQ4, separating road from powertrain vibration, passes its self-tests but needs road data. RQ2 changed during the project, with my supervisor's agreement. The trike already has a dashboard that shows what a HUD would show, and a second display adds distraction, so the camera's alerts now go on that dashboard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The telemetry unit is an ESP32-S3 on a Makerfabs board with a built-in A7670X LTE modem, which also gives GNSS. Two MPU6050 IMUs are sampled at 200 hertz each, the battery management system is read over Bluetooth Low Energy, and a hardware counter is ready for the motor's Hall sensor. On the camera side, a Raspberry Pi 4 runs the object detector, and three time-of-flight distance sensors facing left, ahead and right. The two boards share one wire: the ESP32 sends a pulse every half second that the Pi logs, so camera and IMU data can be lined up in time. I use the Pi 4 rather than the team's Pi 5, so the dashboard running on the Pi 5 is not disturbed.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and is split across the two cores. Core 1 holds everything timing-critical: one task per IMU at the highest priority, each holding a 5 millisecond period with vTaskDelayUntil so the rate cannot drift. The acquisition tasks never print or block. They time-stamp each sample with a microsecond clock and push it into a bounded queue; if a queue is full the sample is dropped and counted, so a slow consumer can never stall acquisition. Core 0 handles the slow, blocking work: the modem, GNSS, MQTT and the flash log in one task, because the modem's serial line has no lock, plus the battery link and the Hall counter, which counts pulses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on its own on the real board, with a pass criterion written down before the test, before anything was built on top of it. Then both IMUs at 200 hertz, calibrated against gravity. Then the ride features and the fusion, each with a self-test at boot. Then the local log and the LTE publish. The last stage, validation on the moving vehicle, is still to come, and it's drawn dashed for that reason. This order paid off: most of the faults I'll show shortly would have been very hard to trace if I'd integrated everything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and the drop counters prove that rather than assuming it. Two identical accelerometers disagreed by about 8 percent at rest; a per-sensor calibration against gravity brought that down to noise. The two are then fused. With equal noise on both, inverse-variance weighting reduces to the mean. Windows are paired only if they end within half a window of each other, a disagreement figure is reported rather than hidden, and if one sensor goes silent for three seconds the output falls back to the other. In this recorded 150 second session all 149 windows were fused from both sensors with under a millisecond of skew. One honest finding: the calibration only holds in the orientation it was taken in, so it will be redone once the sensors are mounted on the trike.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on real hardware against a stated pass criterion found six faults that assumptions had hidden. The GNSS reply had a different layout from the one assumed, so the first outdoor fix put the trike in the sea; the parser now anchors on the hemisphere letter. The modem was switching itself off after every reprogramming, because its power key toggles. The battery checksum included one byte too many, so every real frame failed by exactly three. Flash writes stalled both IMUs; I proved it by switching the log off, and the log is now buffered and written six times less often. Reading the log back showed most records were invalid JSON. And the pink camera image came from a module with no infrared filter, which I showed by comparing tuning files on the same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bench results. Timing: the Pi now takes each sync edge's time from the kernel, and over 121 edges the median interval was 500.06 milliseconds with a spread under 0.7 milliseconds, so the camera and IMU clocks can be related precisely. A loose jumper twice produced false edges, so the vehicle needs a latched connector. Position: on a rooftop, 104 fixes were a median of 2.7 metres from a phone's position, and 95 percent within 11 metres. Cellular: 47 of 47 publishes were acknowledged. When I cut the radio for 60 seconds, the firmware detected the loss in under a second and reconnected about 5 seconds after the signal came back. Every record is also logged to flash, and all 6,020 stored records were read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camera's role grew, on supervisor direction, from a visual record to hazard awareness. I designed and 3D printed the three-part casing on the left, with a 30 degree corner mount. The live detector is a pretrained 8-bit SSD-MobileNet sized for the Pi 4. COCO has no potholes, so I also trained my own pothole model: trained on a public set, it found none of the potholes in South African dashcam footage; trained on tiles cut from the road band of that footage, it reached 0.71 mAP at 50 on the validation tiles. The held-out test score and a run on the Pi are next. Using all four cores, the live detector it runs at 19.5 frames per second, with a median of 102 milliseconds from the sensor to a result. With the three-frame debounce an alert comes about 0.2 seconds after an object appears, about 1.7 metres at 30 kilometres per hour. An alert clears only after five empty frames, which stopped one person producing 16 alerts in 47 seconds. Only five fields are logged and no frame is stored. For close range, three time-of-flight sensors stand in until the 8 by 8 zone sensor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now lands. Instead of a separate windshield display, I wrote a camera page for the dashboard the TUKZIE team already runs. Three reasons: that dashboard already carries what a HUD would show, two displays compete for the driver's attention, and the programme's move towards autonomy makes the camera's alerts more useful than a second screen. It now runs as the default dashboard on the team's Pi 5, in a separate copy so their own build is untouched. The Pi 4 sends the ESP32, distance-sensor and camera data over Wi-Fi twice a second, and the dashboard shows only real values, with dashes where data is missing. This Sensors page shows the three distance sensors and the fused hazards: here the camera recognises an object and the distance sensor gives its range. If anything is in the immediate band, a red banner appears over whichever page the driver is on. What's still open is the glance-time check on the vehicle, and a design review against the NHTSA two-second rule and the ISO legibility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board: two IMUs at 200 hertz with no loss, calibrated and fused; GNSS within about 3 metres; the battery read over Bluetooth; a cellular link that recovers by itself; a full local log; camera alerts in about a tenth of a second; and the camera and distance sensors fused and shown live on the existing dashboard. Each fault was found by a test with a stated pass criterion, then fixed and tested again. What's left is the vehicle: mount and recalibrate the unit in place, then the field test that answers the ride and latency questions on the move, calibrate and validate the fusion, and fit the zoned distance and air-quality sensors when they arrive.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alerts on the existing dashboard without exceeding the 2 s glance guidance</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Page 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OneDrive - University of Cape Town\Documents\PlatformIO\Projects\Tukzie-HPEC-HUD\Presentation\source\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868680"/>
          </a:xfrm>
          <a:prstGeom prst="roundRect">
            <a:avLst>
              <a:gd name="adj" fmla="val 12632"/>
            </a:avLst>
          </a:prstGeom>
          <a:solidFill>
            <a:srgbClr val="E8F0FA"/>
          </a:solidFill>
          <a:ln w="12700">
            <a:solidFill>
              <a:srgbClr val="E8F0FA"/>
            </a:solidFill>
            <a:prstDash val="solid"/>
          </a:ln>
        </p:spPr>
      </p:sp>
      <p:sp>
        <p:nvSpPr>
          <p:cNvPr id="11" name="Text 6"/>
          <p:cNvSpPr txBox="1"/>
          <p:nvPr/>
        </p:nvSpPr>
        <p:spPr>
          <a:xfrm>
            <a:off x="8129585" y="130759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Telemetry unit</a:t>
            </a:r>
            <a:endParaRPr lang="en-US" sz="1600" dirty="0"/>
          </a:p>
        </p:txBody>
      </p:sp>
      <p:sp>
        <p:nvSpPr>
          <p:cNvPr id="12" name="Text 7"/>
          <p:cNvSpPr txBox="1"/>
          <p:nvPr/>
        </p:nvSpPr>
        <p:spPr>
          <a:xfrm>
            <a:off x="8129585" y="161848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ESP32-S3 with LTE and GNSS: acquisition, ride features, local log, MQTT</a:t>
            </a:r>
            <a:endParaRPr lang="en-US" sz="1300" dirty="0"/>
          </a:p>
        </p:txBody>
      </p:sp>
      <p:sp>
        <p:nvSpPr>
          <p:cNvPr id="13" name="Shape 8"/>
          <p:cNvSpPr/>
          <p:nvPr/>
        </p:nvSpPr>
        <p:spPr>
          <a:xfrm>
            <a:off x="7900985" y="2286000"/>
            <a:ext cx="3742070" cy="868680"/>
          </a:xfrm>
          <a:prstGeom prst="roundRect">
            <a:avLst>
              <a:gd name="adj" fmla="val 12632"/>
            </a:avLst>
          </a:prstGeom>
          <a:solidFill>
            <a:srgbClr val="E8F0FA"/>
          </a:solidFill>
          <a:ln w="12700">
            <a:solidFill>
              <a:srgbClr val="E8F0FA"/>
            </a:solidFill>
            <a:prstDash val="solid"/>
          </a:ln>
        </p:spPr>
      </p:sp>
      <p:sp>
        <p:nvSpPr>
          <p:cNvPr id="14" name="Text 9"/>
          <p:cNvSpPr txBox="1"/>
          <p:nvPr/>
        </p:nvSpPr>
        <p:spPr>
          <a:xfrm>
            <a:off x="8129585" y="235915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IMUs</a:t>
            </a:r>
            <a:endParaRPr lang="en-US" sz="1600" dirty="0"/>
          </a:p>
        </p:txBody>
      </p:sp>
      <p:sp>
        <p:nvSpPr>
          <p:cNvPr id="15" name="Text 10"/>
          <p:cNvSpPr txBox="1"/>
          <p:nvPr/>
        </p:nvSpPr>
        <p:spPr>
          <a:xfrm>
            <a:off x="8129585" y="267004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MPU6050s at 200 Hz each, fused into one ride estimate</a:t>
            </a:r>
            <a:endParaRPr lang="en-US" sz="1300" dirty="0"/>
          </a:p>
        </p:txBody>
      </p:sp>
      <p:sp>
        <p:nvSpPr>
          <p:cNvPr id="16" name="Shape 11"/>
          <p:cNvSpPr/>
          <p:nvPr/>
        </p:nvSpPr>
        <p:spPr>
          <a:xfrm>
            <a:off x="7900985" y="3337560"/>
            <a:ext cx="3742070" cy="868680"/>
          </a:xfrm>
          <a:prstGeom prst="roundRect">
            <a:avLst>
              <a:gd name="adj" fmla="val 12632"/>
            </a:avLst>
          </a:prstGeom>
          <a:solidFill>
            <a:srgbClr val="E8F0FA"/>
          </a:solidFill>
          <a:ln w="12700">
            <a:solidFill>
              <a:srgbClr val="E8F0FA"/>
            </a:solidFill>
            <a:prstDash val="solid"/>
          </a:ln>
        </p:spPr>
      </p:sp>
      <p:sp>
        <p:nvSpPr>
          <p:cNvPr id="17" name="Text 12"/>
          <p:cNvSpPr txBox="1"/>
          <p:nvPr/>
        </p:nvSpPr>
        <p:spPr>
          <a:xfrm>
            <a:off x="8129585" y="341071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Battery and motor</a:t>
            </a:r>
            <a:endParaRPr lang="en-US" sz="1600" dirty="0"/>
          </a:p>
        </p:txBody>
      </p:sp>
      <p:sp>
        <p:nvSpPr>
          <p:cNvPr id="18" name="Text 13"/>
          <p:cNvSpPr txBox="1"/>
          <p:nvPr/>
        </p:nvSpPr>
        <p:spPr>
          <a:xfrm>
            <a:off x="8129585" y="372160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BMS over Bluetooth Low Energy; Hall pulse counter</a:t>
            </a:r>
            <a:endParaRPr lang="en-US" sz="1300" dirty="0"/>
          </a:p>
        </p:txBody>
      </p:sp>
      <p:sp>
        <p:nvSpPr>
          <p:cNvPr id="19" name="Shape 14"/>
          <p:cNvSpPr/>
          <p:nvPr/>
        </p:nvSpPr>
        <p:spPr>
          <a:xfrm>
            <a:off x="7900985" y="4389120"/>
            <a:ext cx="3742070" cy="868680"/>
          </a:xfrm>
          <a:prstGeom prst="roundRect">
            <a:avLst>
              <a:gd name="adj" fmla="val 12632"/>
            </a:avLst>
          </a:prstGeom>
          <a:solidFill>
            <a:srgbClr val="E8F0FA"/>
          </a:solidFill>
          <a:ln w="12700">
            <a:solidFill>
              <a:srgbClr val="E8F0FA"/>
            </a:solidFill>
            <a:prstDash val="solid"/>
          </a:ln>
        </p:spPr>
      </p:sp>
      <p:sp>
        <p:nvSpPr>
          <p:cNvPr id="20" name="Text 15"/>
          <p:cNvSpPr txBox="1"/>
          <p:nvPr/>
        </p:nvSpPr>
        <p:spPr>
          <a:xfrm>
            <a:off x="8129585" y="446227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Camera</a:t>
            </a:r>
            <a:endParaRPr lang="en-US" sz="1600" dirty="0"/>
          </a:p>
        </p:txBody>
      </p:sp>
      <p:sp>
        <p:nvSpPr>
          <p:cNvPr id="21" name="Text 16"/>
          <p:cNvSpPr txBox="1"/>
          <p:nvPr/>
        </p:nvSpPr>
        <p:spPr>
          <a:xfrm>
            <a:off x="8129585" y="477316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Pi 4 and OV5647: object detector, time-aligned by a sync wire</a:t>
            </a:r>
            <a:endParaRPr lang="en-US" sz="1300" dirty="0"/>
          </a:p>
        </p:txBody>
      </p:sp>
      <p:sp>
        <p:nvSpPr>
          <p:cNvPr id="22" name="Shape 17"/>
          <p:cNvSpPr/>
          <p:nvPr/>
        </p:nvSpPr>
        <p:spPr>
          <a:xfrm>
            <a:off x="7900985" y="5440680"/>
            <a:ext cx="3742070" cy="868680"/>
          </a:xfrm>
          <a:prstGeom prst="roundRect">
            <a:avLst>
              <a:gd name="adj" fmla="val 12632"/>
            </a:avLst>
          </a:prstGeom>
          <a:solidFill>
            <a:srgbClr val="E8F0FA"/>
          </a:solidFill>
          <a:ln w="12700">
            <a:solidFill>
              <a:srgbClr val="E8F0FA"/>
            </a:solidFill>
            <a:prstDash val="solid"/>
          </a:ln>
        </p:spPr>
      </p:sp>
      <p:sp>
        <p:nvSpPr>
          <p:cNvPr id="23" name="Text 18"/>
          <p:cNvSpPr txBox="1"/>
          <p:nvPr/>
        </p:nvSpPr>
        <p:spPr>
          <a:xfrm>
            <a:off x="8129585" y="551383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Distance sensors</a:t>
            </a:r>
            <a:endParaRPr lang="en-US" sz="1600" dirty="0"/>
          </a:p>
        </p:txBody>
      </p:sp>
      <p:sp>
        <p:nvSpPr>
          <p:cNvPr id="24" name="Text 19"/>
          <p:cNvSpPr txBox="1"/>
          <p:nvPr/>
        </p:nvSpPr>
        <p:spPr>
          <a:xfrm>
            <a:off x="8129585" y="582472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time-of-flight sensors on the Pi: left, ahead,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MQTT, signal quality, flash log written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depends on vehicle access and is the main outstanding 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Equal-weight mean (inverse-variance weighting with equal noise)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Paired only if windows end within 500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Disagreement figure reported, not hidden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One-sensor fallback after 3 s of silence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5 / 5 boot self-tests passed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34440"/>
            <a:ext cx="5410048" cy="1417320"/>
          </a:xfrm>
          <a:prstGeom prst="roundRect">
            <a:avLst>
              <a:gd name="adj" fmla="val 7742"/>
            </a:avLst>
          </a:prstGeom>
          <a:solidFill>
            <a:srgbClr val="E8F0FA"/>
          </a:solidFill>
          <a:ln w="12700">
            <a:solidFill>
              <a:srgbClr val="E8F0FA"/>
            </a:solidFill>
            <a:prstDash val="solid"/>
          </a:ln>
        </p:spPr>
      </p:sp>
      <p:sp>
        <p:nvSpPr>
          <p:cNvPr id="10" name="Text 6"/>
          <p:cNvSpPr txBox="1"/>
          <p:nvPr/>
        </p:nvSpPr>
        <p:spPr>
          <a:xfrm>
            <a:off x="822960"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GNSS reply layout</a:t>
            </a:r>
            <a:endParaRPr lang="en-US" sz="1700" dirty="0"/>
          </a:p>
        </p:txBody>
      </p:sp>
      <p:sp>
        <p:nvSpPr>
          <p:cNvPr id="11" name="Text 7"/>
          <p:cNvSpPr txBox="1"/>
          <p:nvPr/>
        </p:nvSpPr>
        <p:spPr>
          <a:xfrm>
            <a:off x="822960"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Assumed degrees and minutes in fixed places; the real reply is decimal degrees with a varying layout, so satellite counts were read as the position. Parser now anchors on the hemisphere letter: median 2.7 m from the reference.</a:t>
            </a:r>
            <a:endParaRPr lang="en-US" sz="1300" dirty="0"/>
          </a:p>
        </p:txBody>
      </p:sp>
      <p:sp>
        <p:nvSpPr>
          <p:cNvPr id="12" name="Shape 8"/>
          <p:cNvSpPr/>
          <p:nvPr/>
        </p:nvSpPr>
        <p:spPr>
          <a:xfrm>
            <a:off x="6233008" y="1234440"/>
            <a:ext cx="5410048" cy="1417320"/>
          </a:xfrm>
          <a:prstGeom prst="roundRect">
            <a:avLst>
              <a:gd name="adj" fmla="val 7742"/>
            </a:avLst>
          </a:prstGeom>
          <a:solidFill>
            <a:srgbClr val="E8F0FA"/>
          </a:solidFill>
          <a:ln w="12700">
            <a:solidFill>
              <a:srgbClr val="E8F0FA"/>
            </a:solidFill>
            <a:prstDash val="solid"/>
          </a:ln>
        </p:spPr>
      </p:sp>
      <p:sp>
        <p:nvSpPr>
          <p:cNvPr id="13" name="Text 9"/>
          <p:cNvSpPr txBox="1"/>
          <p:nvPr/>
        </p:nvSpPr>
        <p:spPr>
          <a:xfrm>
            <a:off x="6507328"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Modem switched itself off</a:t>
            </a:r>
            <a:endParaRPr lang="en-US" sz="1700" dirty="0"/>
          </a:p>
        </p:txBody>
      </p:sp>
      <p:sp>
        <p:nvSpPr>
          <p:cNvPr id="14" name="Text 10"/>
          <p:cNvSpPr txBox="1"/>
          <p:nvPr/>
        </p:nvSpPr>
        <p:spPr>
          <a:xfrm>
            <a:off x="6507328"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Its power key toggles, so pulsing it at every boot turned a running modem off after each reprogramming. Now pulsed only if the modem does not answer.</a:t>
            </a:r>
            <a:endParaRPr lang="en-US" sz="1300" dirty="0"/>
          </a:p>
        </p:txBody>
      </p:sp>
      <p:sp>
        <p:nvSpPr>
          <p:cNvPr id="15" name="Shape 11"/>
          <p:cNvSpPr/>
          <p:nvPr/>
        </p:nvSpPr>
        <p:spPr>
          <a:xfrm>
            <a:off x="548640" y="2788920"/>
            <a:ext cx="5410048" cy="1417320"/>
          </a:xfrm>
          <a:prstGeom prst="roundRect">
            <a:avLst>
              <a:gd name="adj" fmla="val 7742"/>
            </a:avLst>
          </a:prstGeom>
          <a:solidFill>
            <a:srgbClr val="E8F0FA"/>
          </a:solidFill>
          <a:ln w="12700">
            <a:solidFill>
              <a:srgbClr val="E8F0FA"/>
            </a:solidFill>
            <a:prstDash val="solid"/>
          </a:ln>
        </p:spPr>
      </p:sp>
      <p:sp>
        <p:nvSpPr>
          <p:cNvPr id="16" name="Text 12"/>
          <p:cNvSpPr txBox="1"/>
          <p:nvPr/>
        </p:nvSpPr>
        <p:spPr>
          <a:xfrm>
            <a:off x="822960"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checksum</a:t>
            </a:r>
            <a:endParaRPr lang="en-US" sz="1700" dirty="0"/>
          </a:p>
        </p:txBody>
      </p:sp>
      <p:sp>
        <p:nvSpPr>
          <p:cNvPr id="17" name="Text 13"/>
          <p:cNvSpPr txBox="1"/>
          <p:nvPr/>
        </p:nvSpPr>
        <p:spPr>
          <a:xfrm>
            <a:off x="822960"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Summed the register byte as well, so every real frame failed by exactly 3. The protocol's own query frame showed the rule. After the fix: valid readings, 74.78 V and 60%.</a:t>
            </a:r>
            <a:endParaRPr lang="en-US" sz="1300" dirty="0"/>
          </a:p>
        </p:txBody>
      </p:sp>
      <p:sp>
        <p:nvSpPr>
          <p:cNvPr id="18" name="Shape 14"/>
          <p:cNvSpPr/>
          <p:nvPr/>
        </p:nvSpPr>
        <p:spPr>
          <a:xfrm>
            <a:off x="6233008" y="2788920"/>
            <a:ext cx="5410048" cy="1417320"/>
          </a:xfrm>
          <a:prstGeom prst="roundRect">
            <a:avLst>
              <a:gd name="adj" fmla="val 7742"/>
            </a:avLst>
          </a:prstGeom>
          <a:solidFill>
            <a:srgbClr val="E8F0FA"/>
          </a:solidFill>
          <a:ln w="12700">
            <a:solidFill>
              <a:srgbClr val="E8F0FA"/>
            </a:solidFill>
            <a:prstDash val="solid"/>
          </a:ln>
        </p:spPr>
      </p:sp>
      <p:sp>
        <p:nvSpPr>
          <p:cNvPr id="19" name="Text 15"/>
          <p:cNvSpPr txBox="1"/>
          <p:nvPr/>
        </p:nvSpPr>
        <p:spPr>
          <a:xfrm>
            <a:off x="6507328"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IMU stalls from flash writes</a:t>
            </a:r>
            <a:endParaRPr lang="en-US" sz="1700" dirty="0"/>
          </a:p>
        </p:txBody>
      </p:sp>
      <p:sp>
        <p:nvSpPr>
          <p:cNvPr id="20" name="Text 16"/>
          <p:cNvSpPr txBox="1"/>
          <p:nvPr/>
        </p:nvSpPr>
        <p:spPr>
          <a:xfrm>
            <a:off x="6507328"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33 to 40 ms gaps every 10 s on both IMUs. Logging off: worst gap 5.9 ms, so the flash is the cause. The log is now buffered and written once a minute.</a:t>
            </a:r>
            <a:endParaRPr lang="en-US" sz="1300" dirty="0"/>
          </a:p>
        </p:txBody>
      </p:sp>
      <p:sp>
        <p:nvSpPr>
          <p:cNvPr id="21" name="Shape 17"/>
          <p:cNvSpPr/>
          <p:nvPr/>
        </p:nvSpPr>
        <p:spPr>
          <a:xfrm>
            <a:off x="548640" y="4343400"/>
            <a:ext cx="5410048" cy="1417320"/>
          </a:xfrm>
          <a:prstGeom prst="roundRect">
            <a:avLst>
              <a:gd name="adj" fmla="val 7742"/>
            </a:avLst>
          </a:prstGeom>
          <a:solidFill>
            <a:srgbClr val="E8F0FA"/>
          </a:solidFill>
          <a:ln w="12700">
            <a:solidFill>
              <a:srgbClr val="E8F0FA"/>
            </a:solidFill>
            <a:prstDash val="solid"/>
          </a:ln>
        </p:spPr>
      </p:sp>
      <p:sp>
        <p:nvSpPr>
          <p:cNvPr id="22" name="Text 18"/>
          <p:cNvSpPr txBox="1"/>
          <p:nvPr/>
        </p:nvSpPr>
        <p:spPr>
          <a:xfrm>
            <a:off x="822960"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Stored log not valid JSON</a:t>
            </a:r>
            <a:endParaRPr lang="en-US" sz="1700" dirty="0"/>
          </a:p>
        </p:txBody>
      </p:sp>
      <p:sp>
        <p:nvSpPr>
          <p:cNvPr id="23" name="Text 19"/>
          <p:cNvSpPr txBox="1"/>
          <p:nvPr/>
        </p:nvSpPr>
        <p:spPr>
          <a:xfrm>
            <a:off x="822960"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Reading 6,020 records back found 5,545 holding nan, which JSON does not allow, and the same text went over MQTT. Now written as null; all records parse.</a:t>
            </a:r>
            <a:endParaRPr lang="en-US" sz="1300" dirty="0"/>
          </a:p>
        </p:txBody>
      </p:sp>
      <p:sp>
        <p:nvSpPr>
          <p:cNvPr id="24" name="Shape 20"/>
          <p:cNvSpPr/>
          <p:nvPr/>
        </p:nvSpPr>
        <p:spPr>
          <a:xfrm>
            <a:off x="6233008" y="4343400"/>
            <a:ext cx="5410048" cy="1417320"/>
          </a:xfrm>
          <a:prstGeom prst="roundRect">
            <a:avLst>
              <a:gd name="adj" fmla="val 7742"/>
            </a:avLst>
          </a:prstGeom>
          <a:solidFill>
            <a:srgbClr val="E8F0FA"/>
          </a:solidFill>
          <a:ln w="12700">
            <a:solidFill>
              <a:srgbClr val="E8F0FA"/>
            </a:solidFill>
            <a:prstDash val="solid"/>
          </a:ln>
        </p:spPr>
      </p:sp>
      <p:sp>
        <p:nvSpPr>
          <p:cNvPr id="25" name="Text 21"/>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Pink camera image</a:t>
            </a:r>
            <a:endParaRPr lang="en-US" sz="1700" dirty="0"/>
          </a:p>
        </p:txBody>
      </p:sp>
      <p:sp>
        <p:nvSpPr>
          <p:cNvPr id="26" name="Text 22"/>
          <p:cNvSpPr txBox="1"/>
          <p:nvPr/>
        </p:nvSpPr>
        <p:spPr>
          <a:xfrm>
            <a:off x="6507328"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The module has no infrared filter: the same scene was pink with the standard tuning and neutral with the NoIR one. With saturation 1.8 the colour cards read correctly.</a:t>
            </a:r>
            <a:endParaRPr lang="en-US" sz="1300" dirty="0"/>
          </a:p>
        </p:txBody>
      </p:sp>
      <p:sp>
        <p:nvSpPr>
          <p:cNvPr id="27" name="Text 23"/>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500" i="1" dirty="0">
                <a:solidFill>
                  <a:srgbClr val="4A5566"/>
                </a:solidFill>
                <a:latin typeface="Calibri" pitchFamily="34" charset="0"/>
                <a:ea typeface="Calibri" pitchFamily="34" charset="-122"/>
                <a:cs typeface="Calibri" pitchFamily="34" charset="-120"/>
              </a:rPr>
              <a:t>Each fault was found by a test, fixed, and the same test run again.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the cellular link</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Spread under 0.7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Video frames placed on the IMU clock within 1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5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95% within 11 m</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3D fix 105 s after a cold start, 23 to 25 satellites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Speed units still to confirm on the vehicle</a:t>
            </a:r>
            <a:endParaRPr lang="en-US" sz="15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Cellular link</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47 / 47</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MQTT publishes acknowledged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Radio cut for 60 s: loss seen in 0.8 s, reconnected about 5 s after it returned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Every record also logged to flash: 6,020 read back</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Signal strength sent with each record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hazard detection and distance sensing</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OneDrive - University of Cape Town\Documents\PlatformIO\Projects\Tukzie-HPEC-HUD\Presentation\source\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detection</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Live: pretrained SSD-MobileNet, 19.5 fps, 102 ms median. Own pothole model on South African roads: mAP@50 0.000 before, 0.714 after training on road-band tiles (validation).</a:t>
            </a:r>
            <a:endParaRPr lang="en-US" sz="13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Alert logic</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Five fields logged per alert; frames are never stored.</a:t>
            </a:r>
            <a:endParaRPr lang="en-US" sz="13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Distance sensors</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VL53L0X stand in for the VL53L5CX: left, ahead and right at 31 readings/s each; labels confirmed by covering each.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alerts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pic>
        <p:nvPicPr>
          <p:cNvPr id="9" name="Image 1" descr="C:\Users\0geda\OneDrive - University of Cape Town\Documents\PlatformIO\Projects\Tukzie-HPEC-HUD\Presentation\source\assets\sensors_page.png">    </p:cNvPr>
          <p:cNvPicPr>
            <a:picLocks noChangeAspect="1"/>
          </p:cNvPicPr>
          <p:nvPr/>
        </p:nvPicPr>
        <p:blipFill>
          <a:blip r:embed="rId2"/>
          <a:stretch>
            <a:fillRect/>
          </a:stretch>
        </p:blipFill>
        <p:spPr>
          <a:xfrm>
            <a:off x="548640" y="1280160"/>
            <a:ext cx="4754880" cy="2971800"/>
          </a:xfrm>
          <a:prstGeom prst="rect">
            <a:avLst/>
          </a:prstGeom>
        </p:spPr>
      </p:pic>
      <p:sp>
        <p:nvSpPr>
          <p:cNvPr id="10" name="Text 5"/>
          <p:cNvSpPr txBox="1"/>
          <p:nvPr/>
        </p:nvSpPr>
        <p:spPr>
          <a:xfrm>
            <a:off x="548640" y="4325112"/>
            <a:ext cx="6766560"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Sensors page on the Pi 5, live data: distance gauges and hazards, nearest first.</a:t>
            </a:r>
            <a:endParaRPr lang="en-US" sz="1300" dirty="0"/>
          </a:p>
        </p:txBody>
      </p:sp>
      <p:sp>
        <p:nvSpPr>
          <p:cNvPr id="11" name="Shape 6"/>
          <p:cNvSpPr/>
          <p:nvPr/>
        </p:nvSpPr>
        <p:spPr>
          <a:xfrm>
            <a:off x="548640" y="4754880"/>
            <a:ext cx="6766560" cy="1417320"/>
          </a:xfrm>
          <a:prstGeom prst="roundRect">
            <a:avLst>
              <a:gd name="adj" fmla="val 7742"/>
            </a:avLst>
          </a:prstGeom>
          <a:solidFill>
            <a:srgbClr val="E8F0FA"/>
          </a:solidFill>
          <a:ln w="12700">
            <a:solidFill>
              <a:srgbClr val="E8F0FA"/>
            </a:solidFill>
            <a:prstDash val="solid"/>
          </a:ln>
        </p:spPr>
      </p:sp>
      <p:sp>
        <p:nvSpPr>
          <p:cNvPr id="12" name="Text 7"/>
          <p:cNvSpPr txBox="1"/>
          <p:nvPr/>
        </p:nvSpPr>
        <p:spPr>
          <a:xfrm>
            <a:off x="822960" y="486460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not a windshield HUD</a:t>
            </a:r>
            <a:endParaRPr lang="en-US" sz="1600" dirty="0"/>
          </a:p>
        </p:txBody>
      </p:sp>
      <p:sp>
        <p:nvSpPr>
          <p:cNvPr id="13" name="Text 8"/>
          <p:cNvSpPr txBox="1"/>
          <p:nvPr/>
        </p:nvSpPr>
        <p:spPr>
          <a:xfrm>
            <a:off x="822960" y="5257800"/>
            <a:ext cx="6217920" cy="8686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The dashboard already shows what a HUD would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Two displays compete for the driver's attention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move towards autonomy makes the camera more useful</a:t>
            </a:r>
            <a:endParaRPr lang="en-US" sz="1400" dirty="0"/>
          </a:p>
        </p:txBody>
      </p:sp>
      <p:sp>
        <p:nvSpPr>
          <p:cNvPr id="14" name="Shape 9"/>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5" name="Text 10"/>
          <p:cNvSpPr txBox="1"/>
          <p:nvPr/>
        </p:nvSpPr>
        <p:spPr>
          <a:xfrm>
            <a:off x="7909560" y="1417320"/>
            <a:ext cx="3459175" cy="41148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Running on the dashboard's Pi 5</a:t>
            </a:r>
            <a:endParaRPr lang="en-US" sz="1800" dirty="0"/>
          </a:p>
        </p:txBody>
      </p:sp>
      <p:sp>
        <p:nvSpPr>
          <p:cNvPr id="16" name="Text 11"/>
          <p:cNvSpPr txBox="1"/>
          <p:nvPr/>
        </p:nvSpPr>
        <p:spPr>
          <a:xfrm>
            <a:off x="7909560" y="1920240"/>
            <a:ext cx="3459175" cy="30175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Default dashboard at boot; team's copy untouched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Live sensor data every 0.5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Camera + distance fusion shown live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Red banner over any page for immediate hazards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Street map with routing; campus tiles cached</a:t>
            </a:r>
            <a:endParaRPr lang="en-US" sz="1500" dirty="0"/>
          </a:p>
        </p:txBody>
      </p:sp>
      <p:sp>
        <p:nvSpPr>
          <p:cNvPr id="17" name="Text 12"/>
          <p:cNvSpPr txBox="1"/>
          <p:nvPr/>
        </p:nvSpPr>
        <p:spPr>
          <a:xfrm>
            <a:off x="7909560" y="5074920"/>
            <a:ext cx="3459175" cy="914400"/>
          </a:xfrm>
          <a:prstGeom prst="rect">
            <a:avLst/>
          </a:prstGeom>
          <a:noFill/>
          <a:ln/>
        </p:spPr>
        <p:txBody>
          <a:bodyPr wrap="square" lIns="0" tIns="0" rIns="0" bIns="0" rtlCol="0" anchor="t"/>
          <a:lstStyle/>
          <a:p>
            <a:pPr indent="0" marL="0">
              <a:buNone/>
            </a:pPr>
            <a:r>
              <a:rPr lang="en-US" sz="1500" b="1" dirty="0">
                <a:solidFill>
                  <a:srgbClr val="D4700C"/>
                </a:solidFill>
                <a:latin typeface="Calibri" pitchFamily="34" charset="0"/>
                <a:ea typeface="Calibri" pitchFamily="34" charset="-122"/>
                <a:cs typeface="Calibri" pitchFamily="34" charset="-120"/>
              </a:rPr>
              <a:t>Still open: </a:t>
            </a:r>
            <a:pPr indent="0" marL="0">
              <a:buNone/>
            </a:pPr>
            <a:r>
              <a:rPr lang="en-US" sz="1500" dirty="0">
                <a:solidFill>
                  <a:srgbClr val="1B1F24"/>
                </a:solidFill>
                <a:latin typeface="Calibri" pitchFamily="34" charset="0"/>
                <a:ea typeface="Calibri" pitchFamily="34" charset="-122"/>
                <a:cs typeface="Calibri" pitchFamily="34" charset="-120"/>
              </a:rPr>
              <a:t>glance time on the vehicle, and a design review against NHTSA and ISO 15008.</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no loss, calibrated and fused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GNSS within 2.7 m median; battery read over BLE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Cellular publish with automatic recovery; full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 distance fusion live on the Pi 5 dashboard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Each fault found by a test, fixed and re-tested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Mount on the trike and recalibrate in place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Field test: ride features (RQ4), latency and loss on the move (RQ3)</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Calibrate and validate the fusion (test C9)</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Check the battery against its app; wire the Hall tap</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 the VL53L5CX and SEN55 when they arrive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2026-10-06T15:00:58Z</dcterms:created>
  <dcterms:modified xsi:type="dcterms:W3CDTF">2026-10-06T15:00:58Z</dcterms:modified>
</cp:coreProperties>
</file>