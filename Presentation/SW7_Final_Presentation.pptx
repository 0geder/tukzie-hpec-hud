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05C"/>
                </a:solidFill>
                <a:latin typeface="Calibri"/>
              </a:defRPr>
            </a:pPr>
            <a:r>
              <a:rPr sz="1400" b="0" i="0" u="none" strike="noStrike">
                <a:solidFill>
                  <a:srgbClr val="14305C"/>
                </a:solidFill>
                <a:latin typeface="Calibri"/>
              </a:rPr>
              <a:t>CV of a_w, smooth loop (%)</a:t>
            </a:r>
          </a:p>
        </c:rich>
      </c:tx>
      <c:layout/>
      <c:overlay val="0"/>
    </c:title>
    <c:autoTitleDeleted val="0"/>
    <c:plotArea>
      <c:layout/>
      <c:barChart>
        <c:barDir val="col"/>
        <c:grouping val="clustered"/>
        <c:varyColors val="0"/>
        <c:ser>
          <c:idx val="0"/>
          <c:order val="0"/>
          <c:tx>
            <c:strRef>
              <c:f>Sheet1!$B$1</c:f>
              <c:strCache>
                <c:ptCount val="1"/>
                <c:pt idx="0">
                  <c:v>CV of a_w (%)</c:v>
                </c:pt>
              </c:strCache>
            </c:strRef>
          </c:tx>
          <c:spPr>
            <a:solidFill>
              <a:srgbClr val="1565C0"/>
            </a:solidFill>
            <a:effectLst/>
          </c:spPr>
          <c:invertIfNegative val="0"/>
          <c:dLbls>
            <c:numFmt formatCode="0.0" sourceLinked="0"/>
            <c:txPr>
              <a:bodyPr/>
              <a:lstStyle/>
              <a:p>
                <a:pPr>
                  <a:defRPr b="0" i="0" strike="noStrike" sz="1300" u="none">
                    <a:solidFill>
                      <a:srgbClr val="1B1F24"/>
                    </a:solidFill>
                    <a:latin typeface="Calibri"/>
                  </a:defRPr>
                </a:pPr>
              </a:p>
            </c:txPr>
            <c:dLblPos val="outEnd"/>
            <c:showLegendKey val="0"/>
            <c:showVal val="1"/>
            <c:showCatName val="0"/>
            <c:showSerName val="0"/>
            <c:showPercent val="0"/>
            <c:showBubbleSize val="0"/>
            <c:showLeaderLines val="0"/>
          </c:dLbls>
          <c:cat>
            <c:multiLvlStrRef>
              <c:f>Sheet1!$A$2:$A$3</c:f>
              <c:multiLvlStrCache>
                <c:ptCount val="2"/>
                <c:lvl>
                  <c:pt idx="0">
                    <c:v>Rear</c:v>
                  </c:pt>
                  <c:pt idx="1">
                    <c:v>Front</c:v>
                  </c:pt>
                </c:lvl>
              </c:multiLvlStrCache>
            </c:multiLvlStrRef>
          </c:cat>
          <c:val>
            <c:numRef>
              <c:f>Sheet1!$B$2:$B$3</c:f>
              <c:numCache>
                <c:formatCode>General</c:formatCode>
                <c:ptCount val="2"/>
                <c:pt idx="0">
                  <c:v>5</c:v>
                </c:pt>
                <c:pt idx="1">
                  <c:v>5.3</c:v>
                </c:pt>
              </c:numCache>
            </c:numRef>
          </c:val>
        </c:ser>
        <c:dLbls>
          <c:numFmt formatCode="0.0" sourceLinked="0"/>
          <c:txPr>
            <a:bodyPr/>
            <a:lstStyle/>
            <a:p>
              <a:pPr>
                <a:defRPr b="0" i="0" strike="noStrike" sz="1300" u="none">
                  <a:solidFill>
                    <a:srgbClr val="1B1F24"/>
                  </a:solidFill>
                  <a:latin typeface="Calibri"/>
                </a:defRPr>
              </a:pPr>
            </a:p>
          </c:txPr>
          <c:dLblPos val="outEnd"/>
          <c:showLegendKey val="0"/>
          <c:showVal val="1"/>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Criterion 10 %</c:v>
                </c:pt>
              </c:strCache>
            </c:strRef>
          </c:tx>
          <c:spPr>
            <a:solidFill>
              <a:srgbClr val="B85C00"/>
            </a:solidFill>
            <a:ln w="25400" cap="flat">
              <a:solidFill>
                <a:srgbClr val="B85C00"/>
              </a:solidFill>
              <a:prstDash val="dash"/>
              <a:round/>
            </a:ln>
            <a:effectLst/>
          </c:spPr>
          <c:invertIfNegative val="0"/>
          <c:dLbls>
            <c:numFmt formatCode="#,##0" sourceLinked="0"/>
            <c:txPr>
              <a:bodyPr/>
              <a:lstStyle/>
              <a:p>
                <a:pPr>
                  <a:defRPr b="0" i="0" strike="noStrike" sz="1300" u="none">
                    <a:solidFill>
                      <a:srgbClr val="1B1F24"/>
                    </a:solidFill>
                    <a:latin typeface="Calibri"/>
                  </a:defRPr>
                </a:pPr>
              </a:p>
            </c:txPr>
            <c:showLegendKey val="0"/>
            <c:showVal val="0"/>
            <c:showCatName val="0"/>
            <c:showSerName val="0"/>
            <c:showPercent val="0"/>
            <c:showBubbleSize val="0"/>
            <c:showLeaderLines val="0"/>
          </c:dLbls>
          <c:marker>
            <c:symbol val="none"/>
            <c:size val="6"/>
            <c:spPr>
              <a:solidFill>
                <a:srgbClr val="B85C00"/>
              </a:solidFill>
              <a:ln w="9525" cap="flat">
                <a:solidFill>
                  <a:srgbClr val="B85C00"/>
                </a:solidFill>
                <a:prstDash val="solid"/>
                <a:round/>
              </a:ln>
              <a:effectLst/>
            </c:spPr>
          </c:marker>
          <c:cat>
            <c:multiLvlStrRef>
              <c:f>Sheet1!$A$2:$A$3</c:f>
              <c:multiLvlStrCache>
                <c:ptCount val="2"/>
                <c:lvl>
                  <c:pt idx="0">
                    <c:v>Rear</c:v>
                  </c:pt>
                  <c:pt idx="1">
                    <c:v>Front</c:v>
                  </c:pt>
                </c:lvl>
              </c:multiLvlStrCache>
            </c:multiLvlStrRef>
          </c:cat>
          <c:val>
            <c:numRef>
              <c:f>Sheet1!$C$2:$C$3</c:f>
              <c:numCache>
                <c:formatCode>General</c:formatCode>
                <c:ptCount val="2"/>
                <c:pt idx="0">
                  <c:v>10</c:v>
                </c:pt>
                <c:pt idx="1">
                  <c:v>10</c:v>
                </c:pt>
              </c:numCache>
            </c:numRef>
          </c:val>
          <c:smooth val="0"/>
        </c:ser>
        <c:dLbls>
          <c:numFmt formatCode="#,##0" sourceLinked="0"/>
          <c:txPr>
            <a:bodyPr/>
            <a:lstStyle/>
            <a:p>
              <a:pPr>
                <a:defRPr b="0" i="0" strike="noStrike" sz="1300" u="none">
                  <a:solidFill>
                    <a:srgbClr val="1B1F24"/>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24"/>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C9D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6"/>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B1F2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05C"/>
                </a:solidFill>
                <a:latin typeface="Calibri"/>
              </a:defRPr>
            </a:pPr>
            <a:r>
              <a:rPr sz="1400" b="0" i="0" u="none" strike="noStrike">
                <a:solidFill>
                  <a:srgbClr val="14305C"/>
                </a:solidFill>
                <a:latin typeface="Calibri"/>
              </a:rPr>
              <a:t>a_w at 10 km/h (m/s²)</a:t>
            </a:r>
          </a:p>
        </c:rich>
      </c:tx>
      <c:layout/>
      <c:overlay val="0"/>
    </c:title>
    <c:autoTitleDeleted val="0"/>
    <c:plotArea>
      <c:layout/>
      <c:barChart>
        <c:barDir val="col"/>
        <c:grouping val="clustered"/>
        <c:varyColors val="0"/>
        <c:ser>
          <c:idx val="0"/>
          <c:order val="0"/>
          <c:tx>
            <c:strRef>
              <c:f>Sheet1!$B$1</c:f>
              <c:strCache>
                <c:ptCount val="1"/>
                <c:pt idx="0">
                  <c:v>Smooth loop</c:v>
                </c:pt>
              </c:strCache>
            </c:strRef>
          </c:tx>
          <c:spPr>
            <a:solidFill>
              <a:srgbClr val="1565C0"/>
            </a:solidFill>
            <a:effectLst/>
          </c:spPr>
          <c:invertIfNegative val="0"/>
          <c:dLbls>
            <c:numFmt formatCode="0.00" sourceLinked="0"/>
            <c:txPr>
              <a:bodyPr/>
              <a:lstStyle/>
              <a:p>
                <a:pPr>
                  <a:defRPr b="0" i="0" strike="noStrike" sz="1300" u="none">
                    <a:solidFill>
                      <a:srgbClr val="1B1F24"/>
                    </a:solidFill>
                    <a:latin typeface="Calibri"/>
                  </a:defRPr>
                </a:pPr>
              </a:p>
            </c:txPr>
            <c:showLegendKey val="0"/>
            <c:showVal val="1"/>
            <c:showCatName val="0"/>
            <c:showSerName val="0"/>
            <c:showPercent val="0"/>
            <c:showBubbleSize val="0"/>
            <c:showLeaderLines val="0"/>
          </c:dLbls>
          <c:cat>
            <c:multiLvlStrRef>
              <c:f>Sheet1!$A$2:$A$3</c:f>
              <c:multiLvlStrCache>
                <c:ptCount val="2"/>
                <c:lvl>
                  <c:pt idx="0">
                    <c:v>Rear</c:v>
                  </c:pt>
                  <c:pt idx="1">
                    <c:v>Front</c:v>
                  </c:pt>
                </c:lvl>
              </c:multiLvlStrCache>
            </c:multiLvlStrRef>
          </c:cat>
          <c:val>
            <c:numRef>
              <c:f>Sheet1!$B$2:$B$3</c:f>
              <c:numCache>
                <c:formatCode>General</c:formatCode>
                <c:ptCount val="2"/>
                <c:pt idx="0">
                  <c:v>1.78</c:v>
                </c:pt>
                <c:pt idx="1">
                  <c:v>1.16</c:v>
                </c:pt>
              </c:numCache>
            </c:numRef>
          </c:val>
        </c:ser>
        <c:ser>
          <c:idx val="1"/>
          <c:order val="1"/>
          <c:tx>
            <c:strRef>
              <c:f>Sheet1!$C$1</c:f>
              <c:strCache>
                <c:ptCount val="1"/>
                <c:pt idx="0">
                  <c:v>Rough strip</c:v>
                </c:pt>
              </c:strCache>
            </c:strRef>
          </c:tx>
          <c:spPr>
            <a:solidFill>
              <a:srgbClr val="14305C"/>
            </a:solidFill>
            <a:effectLst/>
          </c:spPr>
          <c:invertIfNegative val="0"/>
          <c:dLbls>
            <c:numFmt formatCode="0.00" sourceLinked="0"/>
            <c:txPr>
              <a:bodyPr/>
              <a:lstStyle/>
              <a:p>
                <a:pPr>
                  <a:defRPr b="0" i="0" strike="noStrike" sz="1300" u="none">
                    <a:solidFill>
                      <a:srgbClr val="1B1F24"/>
                    </a:solidFill>
                    <a:latin typeface="Calibri"/>
                  </a:defRPr>
                </a:pPr>
              </a:p>
            </c:txPr>
            <c:showLegendKey val="0"/>
            <c:showVal val="1"/>
            <c:showCatName val="0"/>
            <c:showSerName val="0"/>
            <c:showPercent val="0"/>
            <c:showBubbleSize val="0"/>
            <c:showLeaderLines val="0"/>
          </c:dLbls>
          <c:cat>
            <c:multiLvlStrRef>
              <c:f>Sheet1!$A$2:$A$3</c:f>
              <c:multiLvlStrCache>
                <c:ptCount val="2"/>
                <c:lvl>
                  <c:pt idx="0">
                    <c:v>Rear</c:v>
                  </c:pt>
                  <c:pt idx="1">
                    <c:v>Front</c:v>
                  </c:pt>
                </c:lvl>
              </c:multiLvlStrCache>
            </c:multiLvlStrRef>
          </c:cat>
          <c:val>
            <c:numRef>
              <c:f>Sheet1!$C$2:$C$3</c:f>
              <c:numCache>
                <c:formatCode>General</c:formatCode>
                <c:ptCount val="2"/>
                <c:pt idx="0">
                  <c:v>3.61</c:v>
                </c:pt>
                <c:pt idx="1">
                  <c:v>2.26</c:v>
                </c:pt>
              </c:numCache>
            </c:numRef>
          </c:val>
        </c:ser>
        <c:dLbls>
          <c:numFmt formatCode="0.00" sourceLinked="0"/>
          <c:txPr>
            <a:bodyPr/>
            <a:lstStyle/>
            <a:p>
              <a:pPr>
                <a:defRPr b="0" i="0" strike="noStrike" sz="1300" u="none">
                  <a:solidFill>
                    <a:srgbClr val="1B1F2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24"/>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C9D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6"/>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1B1F2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Samson Okuthe. My project gives the TUKZIE electric cargo trike embedded telemetry: it measures how the trike rides, warns the driver of hazards on the dashboard it already has, and keeps its data when coverage drops. I was supervised by Associate Professor Simon Winberg, with Sampath Jayalath as co-supervisor.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 cargo trikes make sense for freight in African cities: in Dar es Salaam an electric cargo tricycle cost 45.5 percent less per kilometre to run than a motorcycle, and 86 percent less than a light car. But anything that takes the driver's eyes off the road is a risk; NHTSA guidance wants glances away from the road to mostly last two seconds or less. So the problem is to put edge telemetry and short, safety-only alerts on a low-cost trike, and to measure whether each part works.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on the slide. Four research questions follow from it: how accurately and repeatably the ride can be measured; how alerts should appear with the least distraction; what latency, loss and recovery the data chain achieves; and which features separate road from powertrain vibration. The approach was a V-model: thirteen requirements with criteria fixed before each test, every part tested on the bench, then on the vehicle on 19 and 27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as driven on 27 October. It has two sides joined by one Ethernet cable, which also shares the clock. At the front, a Raspberry Pi 5 behind the display runs the dashboard, the front camera and detector, three time-of-flight sensors and the front IMU node; a phone streams its GNSS for speed. At the rear, a Raspberry Pi 4 beside the battery runs the rear camera and reads two boards: the rear IMU node, and the telemetry unit, which reads the battery, GNSS and LTE and logs to flash. So there are three ESP32-S3 boards. Run from a portable power station, the whole system drew 27 watts at its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Ride measurement needs a fixed sample rate. Under FreeRTOS the IMU task runs at top priority on a 5 millisecond period and never blocks: if its queue is full, the sample is dropped and counted. Counting exposed the one timing fault. Every flash write paused reading for 33 to 44 milliseconds, the spikes in this plot. Buffering made the pauses rarer, not shorter. The fix was to take logging off the IMU nodes: on the vehicle they held 200 hertz with no interval over 5.2 milliseconds. On the road the front node lost nothing in 1.8 million samples; the rear lost 0.08 percent in transport, none at the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each stage was tested before the next, each fault could be traced to one change. The one that mattered most is power. The Pi 4 kept throttling and restarting. Logging its power flags every two seconds showed under-voltage starting fourteen seconds after the telemetry unit's modem came up on its USB port. Moved off, it went from three restarts in twenty minutes to none in four hours. The others: a task stall hidden behind a healthy-looking rate, a dead sensor connection that led to the third board, a flash-mode boot loop, a battery checksum off by three, and invalid JSON found only by reading the log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record is written to flash whatever the coverage, then sent over LTE and replayed when the link returns. On the bench I switched the radio off for ten minutes. The unit reconnected 5.2 seconds after it came back, cleared its 60-record backlog in about 38 seconds, and the database held 112 of 112 records, none missing or doubled. On the road the wired link to the Pi carried 4,196 of 4,201 records, 99.9 percent, against 62 percent over USB on the first session. Over LTE 153 records arrived, 116 of them replays, with a median delay of 0.44 seconds; but only nine records carry that figure, and from 11:51 the link did not reconnect.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camera runs a pretrained 8-bit SSD-MobileNet detector. On the road the front, on the Pi 5, took a median of 68 milliseconds from readout to result at 23.3 frames per second; the rear, on the Pi 4, 103 milliseconds at 12.1. An alert is raised after three frames and cleared after five, and no frame is ever stored. Distance bands do not say whether something is closing, so the system also estimates time to contact from how fast a box grows; it is within 2 percent in 40 synthetic tests but has not met a real approach. No forward video was kept, so how many road alerts were correct is still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lands on the dashboard the team already runs, here on the vehicle. It shows only live data, never a simulated value, and an immediate hazard appears as a banner over every page. Glance time needs a participant and an ethics amendment, so it was not tested; but legibility needs neither, so I measured it at the driver's eye distance of 0.62 metres. The speed digits subtend 94 arc minutes, far above the 20 that ISO 15008 recommends. The alert banner subtends 10, below even its minimum of 12. So the hierarchy is inverted: the warnings must be enlarged before any glance study. Spoken commands work offline, 15 to 18 of 18 on the bench, but no driver was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road result. On a smooth loop at 10 kilometres an hour, five passes gave a weighted acceleration, a w, that varied by 5.0 percent at the rear and 5.3 at the front, inside the 10 percent criterion. On a rougher strip it read about twice as high at the same speed, so the measurement responds to the road. But aligned by position in 8 metre cells, the passes did not agree place by place: an ICC of 0.16, at most 0.32 in the sensitivity checks, against 0.75. With one-second phone positions I cannot separate this from the line each lap took. The speed index also rose with speed, so it is not speed-invariant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RQ4 asks what is road and what is powertrain. With the drive wheel raised on stands, the motor shook the body between about 40 and 70 hertz, with the same lines at the front as at the rear, so the front sensor does not escape it. On the road, those lines held only 0.9 to 3.1 percent of the energy in powered passes, while 65 to 84 percent lay between 4 and 8 hertz, the body's response to the road. A coasting pass gave the same reading as a powered one, 1.80 against 1.78. So at these low speeds the road dominates; at higher power the motor's share would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honestly, each question is answered in part. RQ1: the instrument is verified on the bench, and on the road it repeats over whole passes but not yet place by place. RQ2: the alerts are built and live-only, but the warning text is too small and glance time was not measured. RQ3: on the bench every record survived a ten-minute outage; on the road the wired link carried 99.9 percent, but LTE latency rests on nine records. RQ4: at these speeds the road dominates. Of thirteen requirements, five are met on the bench, seven partly and one, glance time, was not tested. On the vehicle R1 was met at the front, R2 was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an integrated low-cost architecture, a measured account of its timing and loss, and road evidence that the ride measurement repeats over whole passes. Four steps would make it dependable. First, a regulated supply for the telemetry unit, never a Pi's USB port. Second, fix the LTE reconnection and measure latency on the road. Third, marked sections with side video and three passes per speed, for a place-by-place ICC. Fourth, validate the fusion and time to contact against a flat target, a real approaching car and labelled video. Videos of the road test are at tuksense.site.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tuksense.site"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5C"/>
        </a:solidFill>
      </p:bgPr>
    </p:bg>
    <p:spTree>
      <p:nvGrpSpPr>
        <p:cNvPr id="1" name=""/>
        <p:cNvGrpSpPr/>
        <p:nvPr/>
      </p:nvGrpSpPr>
      <p:grpSpPr>
        <a:xfrm>
          <a:off x="0" y="0"/>
          <a:ext cx="0" cy="0"/>
          <a:chOff x="0" y="0"/>
          <a:chExt cx="0" cy="0"/>
        </a:xfrm>
      </p:grpSpPr>
      <p:pic>
        <p:nvPicPr>
          <p:cNvPr id="2" name="Image 0" descr="C:\Users\0geda\OneDrive - University of Cape Town\Documents\PlatformIO\Projects\Tukzie-HPEC-HUD\Presentation\source\assets\uct_banne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548640" y="320040"/>
            <a:ext cx="11094415" cy="3383280"/>
          </a:xfrm>
          <a:prstGeom prst="roundRect">
            <a:avLst>
              <a:gd name="adj" fmla="val 4054"/>
            </a:avLst>
          </a:prstGeom>
          <a:solidFill>
            <a:srgbClr val="14305C">
              <a:alpha val="82000"/>
            </a:srgbClr>
          </a:solidFill>
          <a:ln w="12700">
            <a:solidFill>
              <a:srgbClr val="14305C">
                <a:alpha val="82000"/>
              </a:srgbClr>
            </a:solidFill>
            <a:prstDash val="solid"/>
          </a:ln>
        </p:spPr>
      </p:sp>
      <p:sp>
        <p:nvSpPr>
          <p:cNvPr id="4" name="Shape 1"/>
          <p:cNvSpPr/>
          <p:nvPr/>
        </p:nvSpPr>
        <p:spPr>
          <a:xfrm>
            <a:off x="868680" y="640080"/>
            <a:ext cx="1005840" cy="1005840"/>
          </a:xfrm>
          <a:prstGeom prst="roundRect">
            <a:avLst>
              <a:gd name="adj" fmla="val 10909"/>
            </a:avLst>
          </a:prstGeom>
          <a:solidFill>
            <a:srgbClr val="FFFFFF"/>
          </a:solidFill>
          <a:ln w="12700">
            <a:solidFill>
              <a:srgbClr val="FFFFFF"/>
            </a:solidFill>
            <a:prstDash val="solid"/>
          </a:ln>
        </p:spPr>
      </p:sp>
      <p:pic>
        <p:nvPicPr>
          <p:cNvPr id="5" name="Image 1" descr="C:\Users\0geda\OneDrive - University of Cape Town\Documents\PlatformIO\Projects\Tukzie-HPEC-HUD\Presentation\source\assets\uct_logo.png">    </p:cNvPr>
          <p:cNvPicPr>
            <a:picLocks noChangeAspect="1"/>
          </p:cNvPicPr>
          <p:nvPr/>
        </p:nvPicPr>
        <p:blipFill>
          <a:blip r:embed="rId2"/>
          <a:stretch>
            <a:fillRect/>
          </a:stretch>
        </p:blipFill>
        <p:spPr>
          <a:xfrm>
            <a:off x="960120" y="722376"/>
            <a:ext cx="822960" cy="836775"/>
          </a:xfrm>
          <a:prstGeom prst="rect">
            <a:avLst/>
          </a:prstGeom>
        </p:spPr>
      </p:pic>
      <p:sp>
        <p:nvSpPr>
          <p:cNvPr id="6" name="Text 2"/>
          <p:cNvSpPr txBox="1"/>
          <p:nvPr/>
        </p:nvSpPr>
        <p:spPr>
          <a:xfrm>
            <a:off x="1965960" y="502920"/>
            <a:ext cx="8259775" cy="160020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Embedded Telemetry with Road-Surface</a:t>
            </a:r>
            <a:endParaRPr lang="en-US" sz="2700" dirty="0"/>
          </a:p>
          <a:p>
            <a:pPr algn="ctr" indent="0" marL="0">
              <a:buNone/>
            </a:pPr>
            <a:r>
              <a:rPr lang="en-US" sz="2700" b="1" dirty="0">
                <a:solidFill>
                  <a:srgbClr val="FFFFFF"/>
                </a:solidFill>
                <a:latin typeface="Calibri" pitchFamily="34" charset="0"/>
                <a:ea typeface="Calibri" pitchFamily="34" charset="-122"/>
                <a:cs typeface="Calibri" pitchFamily="34" charset="-120"/>
              </a:rPr>
              <a:t>Characterisation and Camera-Based Hazard Detection</a:t>
            </a:r>
            <a:endParaRPr lang="en-US" sz="2700" dirty="0"/>
          </a:p>
          <a:p>
            <a:pPr algn="ctr" indent="0" marL="0">
              <a:buNone/>
            </a:pPr>
            <a:r>
              <a:rPr lang="en-US" sz="2700" b="1" dirty="0">
                <a:solidFill>
                  <a:srgbClr val="FFFFFF"/>
                </a:solidFill>
                <a:latin typeface="Calibri" pitchFamily="34" charset="0"/>
                <a:ea typeface="Calibri" pitchFamily="34" charset="-122"/>
                <a:cs typeface="Calibri" pitchFamily="34" charset="-120"/>
              </a:rPr>
              <a:t>for the TUKZIE Electric Trike</a:t>
            </a:r>
            <a:endParaRPr lang="en-US" sz="2700" dirty="0"/>
          </a:p>
        </p:txBody>
      </p:sp>
      <p:sp>
        <p:nvSpPr>
          <p:cNvPr id="7" name="Text 3"/>
          <p:cNvSpPr txBox="1"/>
          <p:nvPr/>
        </p:nvSpPr>
        <p:spPr>
          <a:xfrm>
            <a:off x="1965960" y="2194560"/>
            <a:ext cx="8259775"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Samson Okuthe</a:t>
            </a:r>
            <a:endParaRPr lang="en-US" sz="2200" dirty="0"/>
          </a:p>
        </p:txBody>
      </p:sp>
      <p:sp>
        <p:nvSpPr>
          <p:cNvPr id="8" name="Text 4"/>
          <p:cNvSpPr txBox="1"/>
          <p:nvPr/>
        </p:nvSpPr>
        <p:spPr>
          <a:xfrm>
            <a:off x="1965960" y="2651760"/>
            <a:ext cx="8259775" cy="347472"/>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Supervisor: A/Prof Simon Winberg   |   Co-supervisor: Sampath Jayalath</a:t>
            </a:r>
            <a:endParaRPr lang="en-US" sz="1600" dirty="0"/>
          </a:p>
        </p:txBody>
      </p:sp>
      <p:sp>
        <p:nvSpPr>
          <p:cNvPr id="9" name="Text 5"/>
          <p:cNvSpPr txBox="1"/>
          <p:nvPr/>
        </p:nvSpPr>
        <p:spPr>
          <a:xfrm>
            <a:off x="914400" y="3063240"/>
            <a:ext cx="10362895" cy="347472"/>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Department of Electrical Engineering, University of Cape Town   |   EEE4022S Final Year Project,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Why this matters</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2</a:t>
            </a:r>
            <a:endParaRPr lang="en-US" sz="1100" dirty="0"/>
          </a:p>
        </p:txBody>
      </p:sp>
      <p:pic>
        <p:nvPicPr>
          <p:cNvPr id="9" name="Image 1" descr="C:\Users\0geda\OneDrive - University of Cape Town\Documents\PlatformIO\Projects\Tukzie-HPEC-HUD\Presentation\source\assets\road_test_1027.jpg">    </p:cNvPr>
          <p:cNvPicPr>
            <a:picLocks noChangeAspect="1"/>
          </p:cNvPicPr>
          <p:nvPr/>
        </p:nvPicPr>
        <p:blipFill>
          <a:blip r:embed="rId2"/>
          <a:stretch>
            <a:fillRect/>
          </a:stretch>
        </p:blipFill>
        <p:spPr>
          <a:xfrm>
            <a:off x="548640" y="1280160"/>
            <a:ext cx="5150137" cy="4434840"/>
          </a:xfrm>
          <a:prstGeom prst="rect">
            <a:avLst/>
          </a:prstGeom>
        </p:spPr>
      </p:pic>
      <p:sp>
        <p:nvSpPr>
          <p:cNvPr id="10" name="Text 5"/>
          <p:cNvSpPr txBox="1"/>
          <p:nvPr/>
        </p:nvSpPr>
        <p:spPr>
          <a:xfrm>
            <a:off x="548640" y="5788152"/>
            <a:ext cx="5150137" cy="27432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The TUKZIE Rev 0 on the road test, 27 October 2026</a:t>
            </a:r>
            <a:endParaRPr lang="en-US" sz="1200" dirty="0"/>
          </a:p>
        </p:txBody>
      </p:sp>
      <p:sp>
        <p:nvSpPr>
          <p:cNvPr id="11" name="Shape 6"/>
          <p:cNvSpPr/>
          <p:nvPr/>
        </p:nvSpPr>
        <p:spPr>
          <a:xfrm>
            <a:off x="6110257" y="1280160"/>
            <a:ext cx="5532798" cy="1600200"/>
          </a:xfrm>
          <a:prstGeom prst="roundRect">
            <a:avLst>
              <a:gd name="adj" fmla="val 6857"/>
            </a:avLst>
          </a:prstGeom>
          <a:solidFill>
            <a:srgbClr val="E8F0FA"/>
          </a:solidFill>
          <a:ln w="12700">
            <a:solidFill>
              <a:srgbClr val="E8F0FA"/>
            </a:solidFill>
            <a:prstDash val="solid"/>
          </a:ln>
        </p:spPr>
      </p:sp>
      <p:sp>
        <p:nvSpPr>
          <p:cNvPr id="12" name="Text 7"/>
          <p:cNvSpPr txBox="1"/>
          <p:nvPr/>
        </p:nvSpPr>
        <p:spPr>
          <a:xfrm>
            <a:off x="6311425" y="1389888"/>
            <a:ext cx="5130462" cy="566928"/>
          </a:xfrm>
          <a:prstGeom prst="rect">
            <a:avLst/>
          </a:prstGeom>
          <a:noFill/>
          <a:ln/>
        </p:spPr>
        <p:txBody>
          <a:bodyPr wrap="square" lIns="0" tIns="0" rIns="0" bIns="0" rtlCol="0" anchor="ctr"/>
          <a:lstStyle/>
          <a:p>
            <a:pPr indent="0" marL="0">
              <a:buNone/>
            </a:pPr>
            <a:r>
              <a:rPr lang="en-US" sz="3600" b="1" dirty="0">
                <a:solidFill>
                  <a:srgbClr val="14305C"/>
                </a:solidFill>
                <a:latin typeface="Calibri" pitchFamily="34" charset="0"/>
                <a:ea typeface="Calibri" pitchFamily="34" charset="-122"/>
                <a:cs typeface="Calibri" pitchFamily="34" charset="-120"/>
              </a:rPr>
              <a:t>45.5 to 86 %</a:t>
            </a:r>
            <a:endParaRPr lang="en-US" sz="3600" dirty="0"/>
          </a:p>
        </p:txBody>
      </p:sp>
      <p:sp>
        <p:nvSpPr>
          <p:cNvPr id="13" name="Text 8"/>
          <p:cNvSpPr txBox="1"/>
          <p:nvPr/>
        </p:nvSpPr>
        <p:spPr>
          <a:xfrm>
            <a:off x="6311425" y="1993392"/>
            <a:ext cx="5130462" cy="813816"/>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lower running cost per km for an electric cargo tricycle than a motorcycle or a light car, Dar es Salaam (Sebwa et al., 2025)</a:t>
            </a:r>
            <a:endParaRPr lang="en-US" sz="1500" dirty="0"/>
          </a:p>
        </p:txBody>
      </p:sp>
      <p:sp>
        <p:nvSpPr>
          <p:cNvPr id="14" name="Shape 9"/>
          <p:cNvSpPr/>
          <p:nvPr/>
        </p:nvSpPr>
        <p:spPr>
          <a:xfrm>
            <a:off x="6110257" y="3154680"/>
            <a:ext cx="5532798" cy="1600200"/>
          </a:xfrm>
          <a:prstGeom prst="roundRect">
            <a:avLst>
              <a:gd name="adj" fmla="val 6857"/>
            </a:avLst>
          </a:prstGeom>
          <a:solidFill>
            <a:srgbClr val="E8F0FA"/>
          </a:solidFill>
          <a:ln w="12700">
            <a:solidFill>
              <a:srgbClr val="E8F0FA"/>
            </a:solidFill>
            <a:prstDash val="solid"/>
          </a:ln>
        </p:spPr>
      </p:sp>
      <p:sp>
        <p:nvSpPr>
          <p:cNvPr id="15" name="Text 10"/>
          <p:cNvSpPr txBox="1"/>
          <p:nvPr/>
        </p:nvSpPr>
        <p:spPr>
          <a:xfrm>
            <a:off x="6311425" y="3264408"/>
            <a:ext cx="5130462" cy="566928"/>
          </a:xfrm>
          <a:prstGeom prst="rect">
            <a:avLst/>
          </a:prstGeom>
          <a:noFill/>
          <a:ln/>
        </p:spPr>
        <p:txBody>
          <a:bodyPr wrap="square" lIns="0" tIns="0" rIns="0" bIns="0" rtlCol="0" anchor="ctr"/>
          <a:lstStyle/>
          <a:p>
            <a:pPr indent="0" marL="0">
              <a:buNone/>
            </a:pPr>
            <a:r>
              <a:rPr lang="en-US" sz="3600" b="1" dirty="0">
                <a:solidFill>
                  <a:srgbClr val="14305C"/>
                </a:solidFill>
                <a:latin typeface="Calibri" pitchFamily="34" charset="0"/>
                <a:ea typeface="Calibri" pitchFamily="34" charset="-122"/>
                <a:cs typeface="Calibri" pitchFamily="34" charset="-120"/>
              </a:rPr>
              <a:t>2 s</a:t>
            </a:r>
            <a:endParaRPr lang="en-US" sz="3600" dirty="0"/>
          </a:p>
        </p:txBody>
      </p:sp>
      <p:sp>
        <p:nvSpPr>
          <p:cNvPr id="16" name="Text 11"/>
          <p:cNvSpPr txBox="1"/>
          <p:nvPr/>
        </p:nvSpPr>
        <p:spPr>
          <a:xfrm>
            <a:off x="6311425" y="3867912"/>
            <a:ext cx="5130462" cy="813816"/>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glances away from the road should mostly last 2 s or less (NHTSA, 2013), so alerts must be short and safety-only</a:t>
            </a:r>
            <a:endParaRPr lang="en-US" sz="1500" dirty="0"/>
          </a:p>
        </p:txBody>
      </p:sp>
      <p:sp>
        <p:nvSpPr>
          <p:cNvPr id="17" name="Shape 12"/>
          <p:cNvSpPr/>
          <p:nvPr/>
        </p:nvSpPr>
        <p:spPr>
          <a:xfrm>
            <a:off x="6110257" y="5029200"/>
            <a:ext cx="5532798" cy="1143000"/>
          </a:xfrm>
          <a:prstGeom prst="roundRect">
            <a:avLst>
              <a:gd name="adj" fmla="val 9600"/>
            </a:avLst>
          </a:prstGeom>
          <a:solidFill>
            <a:srgbClr val="FFFFFF"/>
          </a:solidFill>
          <a:ln w="19050">
            <a:solidFill>
              <a:srgbClr val="1565C0"/>
            </a:solidFill>
            <a:prstDash val="solid"/>
          </a:ln>
        </p:spPr>
      </p:sp>
      <p:sp>
        <p:nvSpPr>
          <p:cNvPr id="18" name="Text 13"/>
          <p:cNvSpPr txBox="1"/>
          <p:nvPr/>
        </p:nvSpPr>
        <p:spPr>
          <a:xfrm>
            <a:off x="6338857" y="5029200"/>
            <a:ext cx="5075598" cy="1143000"/>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The problem: </a:t>
            </a:r>
            <a:pPr indent="0" marL="0">
              <a:buNone/>
            </a:pPr>
            <a:r>
              <a:rPr lang="en-US" sz="1600" dirty="0">
                <a:solidFill>
                  <a:srgbClr val="1B1F24"/>
                </a:solidFill>
                <a:latin typeface="Calibri" pitchFamily="34" charset="0"/>
                <a:ea typeface="Calibri" pitchFamily="34" charset="-122"/>
                <a:cs typeface="Calibri" pitchFamily="34" charset="-120"/>
              </a:rPr>
              <a:t>edge telemetry and sparse, safety-only alerts together on a low-cost electric trike, with each part measured.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Aim, research questions and approach</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3</a:t>
            </a:r>
            <a:endParaRPr lang="en-US" sz="1100" dirty="0"/>
          </a:p>
        </p:txBody>
      </p:sp>
      <p:sp>
        <p:nvSpPr>
          <p:cNvPr id="9" name="Shape 5"/>
          <p:cNvSpPr/>
          <p:nvPr/>
        </p:nvSpPr>
        <p:spPr>
          <a:xfrm>
            <a:off x="548640" y="1280160"/>
            <a:ext cx="11094415" cy="822960"/>
          </a:xfrm>
          <a:prstGeom prst="roundRect">
            <a:avLst>
              <a:gd name="adj" fmla="val 13333"/>
            </a:avLst>
          </a:prstGeom>
          <a:solidFill>
            <a:srgbClr val="E8F0FA"/>
          </a:solidFill>
          <a:ln w="12700">
            <a:solidFill>
              <a:srgbClr val="E8F0FA"/>
            </a:solidFill>
            <a:prstDash val="solid"/>
          </a:ln>
        </p:spPr>
      </p:sp>
      <p:sp>
        <p:nvSpPr>
          <p:cNvPr id="10" name="Text 6"/>
          <p:cNvSpPr txBox="1"/>
          <p:nvPr/>
        </p:nvSpPr>
        <p:spPr>
          <a:xfrm>
            <a:off x="822960" y="1280160"/>
            <a:ext cx="10545775" cy="822960"/>
          </a:xfrm>
          <a:prstGeom prst="rect">
            <a:avLst/>
          </a:prstGeom>
          <a:noFill/>
          <a:ln/>
        </p:spPr>
        <p:txBody>
          <a:bodyPr wrap="square" lIns="0" tIns="0" rIns="0" bIns="0" rtlCol="0" anchor="ctr"/>
          <a:lstStyle/>
          <a:p>
            <a:pPr indent="0" marL="0">
              <a:buNone/>
            </a:pPr>
            <a:r>
              <a:rPr lang="en-US" sz="1700" b="1" dirty="0">
                <a:solidFill>
                  <a:srgbClr val="14305C"/>
                </a:solidFill>
                <a:latin typeface="Calibri" pitchFamily="34" charset="0"/>
                <a:ea typeface="Calibri" pitchFamily="34" charset="-122"/>
                <a:cs typeface="Calibri" pitchFamily="34" charset="-120"/>
              </a:rPr>
              <a:t>Aim: </a:t>
            </a:r>
            <a:pPr indent="0" marL="0">
              <a:buNone/>
            </a:pPr>
            <a:r>
              <a:rPr lang="en-US" sz="1700" dirty="0">
                <a:solidFill>
                  <a:srgbClr val="1B1F24"/>
                </a:solidFill>
                <a:latin typeface="Calibri" pitchFamily="34" charset="0"/>
                <a:ea typeface="Calibri" pitchFamily="34" charset="-122"/>
                <a:cs typeface="Calibri" pitchFamily="34" charset="-120"/>
              </a:rPr>
              <a:t>measure the trike's response to the road and its powertrain, warn of hazards on the existing dashboard, and keep the data through gaps in coverage.</a:t>
            </a:r>
            <a:endParaRPr lang="en-US" sz="1700" dirty="0"/>
          </a:p>
        </p:txBody>
      </p:sp>
      <p:sp>
        <p:nvSpPr>
          <p:cNvPr id="11" name="Shape 7"/>
          <p:cNvSpPr/>
          <p:nvPr/>
        </p:nvSpPr>
        <p:spPr>
          <a:xfrm>
            <a:off x="548640" y="2377440"/>
            <a:ext cx="7315200" cy="841248"/>
          </a:xfrm>
          <a:prstGeom prst="roundRect">
            <a:avLst>
              <a:gd name="adj" fmla="val 13043"/>
            </a:avLst>
          </a:prstGeom>
          <a:solidFill>
            <a:srgbClr val="E8F0FA"/>
          </a:solidFill>
          <a:ln w="12700">
            <a:solidFill>
              <a:srgbClr val="E8F0FA"/>
            </a:solidFill>
            <a:prstDash val="solid"/>
          </a:ln>
        </p:spPr>
      </p:sp>
      <p:sp>
        <p:nvSpPr>
          <p:cNvPr id="12" name="Text 8"/>
          <p:cNvSpPr txBox="1"/>
          <p:nvPr/>
        </p:nvSpPr>
        <p:spPr>
          <a:xfrm>
            <a:off x="777240" y="2377440"/>
            <a:ext cx="822960" cy="841248"/>
          </a:xfrm>
          <a:prstGeom prst="rect">
            <a:avLst/>
          </a:prstGeom>
          <a:noFill/>
          <a:ln/>
        </p:spPr>
        <p:txBody>
          <a:bodyPr wrap="square" lIns="0" tIns="0" rIns="0" bIns="0" rtlCol="0" anchor="ctr"/>
          <a:lstStyle/>
          <a:p>
            <a:pPr indent="0" marL="0">
              <a:buNone/>
            </a:pPr>
            <a:r>
              <a:rPr lang="en-US" sz="2200" b="1" dirty="0">
                <a:solidFill>
                  <a:srgbClr val="14305C"/>
                </a:solidFill>
                <a:latin typeface="Calibri" pitchFamily="34" charset="0"/>
                <a:ea typeface="Calibri" pitchFamily="34" charset="-122"/>
                <a:cs typeface="Calibri" pitchFamily="34" charset="-120"/>
              </a:rPr>
              <a:t>RQ1</a:t>
            </a:r>
            <a:endParaRPr lang="en-US" sz="2200" dirty="0"/>
          </a:p>
        </p:txBody>
      </p:sp>
      <p:sp>
        <p:nvSpPr>
          <p:cNvPr id="13" name="Text 9"/>
          <p:cNvSpPr txBox="1"/>
          <p:nvPr/>
        </p:nvSpPr>
        <p:spPr>
          <a:xfrm>
            <a:off x="1645920" y="2377440"/>
            <a:ext cx="5989320" cy="841248"/>
          </a:xfrm>
          <a:prstGeom prst="rect">
            <a:avLst/>
          </a:prstGeom>
          <a:noFill/>
          <a:ln/>
        </p:spPr>
        <p:txBody>
          <a:bodyPr wrap="square" lIns="0" tIns="0" rIns="0" bIns="0" rtlCol="0" anchor="ctr"/>
          <a:lstStyle/>
          <a:p>
            <a:pPr indent="0" marL="0">
              <a:buNone/>
            </a:pPr>
            <a:r>
              <a:rPr lang="en-US" sz="1700" dirty="0">
                <a:solidFill>
                  <a:srgbClr val="1B1F24"/>
                </a:solidFill>
                <a:latin typeface="Calibri" pitchFamily="34" charset="0"/>
                <a:ea typeface="Calibri" pitchFamily="34" charset="-122"/>
                <a:cs typeface="Calibri" pitchFamily="34" charset="-120"/>
              </a:rPr>
              <a:t>How accurately and repeatably can a low-cost edge unit characterise the trike's ride?</a:t>
            </a:r>
            <a:endParaRPr lang="en-US" sz="1700" dirty="0"/>
          </a:p>
        </p:txBody>
      </p:sp>
      <p:sp>
        <p:nvSpPr>
          <p:cNvPr id="14" name="Shape 10"/>
          <p:cNvSpPr/>
          <p:nvPr/>
        </p:nvSpPr>
        <p:spPr>
          <a:xfrm>
            <a:off x="548640" y="3364992"/>
            <a:ext cx="7315200" cy="841248"/>
          </a:xfrm>
          <a:prstGeom prst="roundRect">
            <a:avLst>
              <a:gd name="adj" fmla="val 13043"/>
            </a:avLst>
          </a:prstGeom>
          <a:solidFill>
            <a:srgbClr val="E8F0FA"/>
          </a:solidFill>
          <a:ln w="12700">
            <a:solidFill>
              <a:srgbClr val="E8F0FA"/>
            </a:solidFill>
            <a:prstDash val="solid"/>
          </a:ln>
        </p:spPr>
      </p:sp>
      <p:sp>
        <p:nvSpPr>
          <p:cNvPr id="15" name="Text 11"/>
          <p:cNvSpPr txBox="1"/>
          <p:nvPr/>
        </p:nvSpPr>
        <p:spPr>
          <a:xfrm>
            <a:off x="777240" y="3364992"/>
            <a:ext cx="822960" cy="841248"/>
          </a:xfrm>
          <a:prstGeom prst="rect">
            <a:avLst/>
          </a:prstGeom>
          <a:noFill/>
          <a:ln/>
        </p:spPr>
        <p:txBody>
          <a:bodyPr wrap="square" lIns="0" tIns="0" rIns="0" bIns="0" rtlCol="0" anchor="ctr"/>
          <a:lstStyle/>
          <a:p>
            <a:pPr indent="0" marL="0">
              <a:buNone/>
            </a:pPr>
            <a:r>
              <a:rPr lang="en-US" sz="2200" b="1" dirty="0">
                <a:solidFill>
                  <a:srgbClr val="14305C"/>
                </a:solidFill>
                <a:latin typeface="Calibri" pitchFamily="34" charset="0"/>
                <a:ea typeface="Calibri" pitchFamily="34" charset="-122"/>
                <a:cs typeface="Calibri" pitchFamily="34" charset="-120"/>
              </a:rPr>
              <a:t>RQ2</a:t>
            </a:r>
            <a:endParaRPr lang="en-US" sz="2200" dirty="0"/>
          </a:p>
        </p:txBody>
      </p:sp>
      <p:sp>
        <p:nvSpPr>
          <p:cNvPr id="16" name="Text 12"/>
          <p:cNvSpPr txBox="1"/>
          <p:nvPr/>
        </p:nvSpPr>
        <p:spPr>
          <a:xfrm>
            <a:off x="1645920" y="3364992"/>
            <a:ext cx="5989320" cy="841248"/>
          </a:xfrm>
          <a:prstGeom prst="rect">
            <a:avLst/>
          </a:prstGeom>
          <a:noFill/>
          <a:ln/>
        </p:spPr>
        <p:txBody>
          <a:bodyPr wrap="square" lIns="0" tIns="0" rIns="0" bIns="0" rtlCol="0" anchor="ctr"/>
          <a:lstStyle/>
          <a:p>
            <a:pPr indent="0" marL="0">
              <a:buNone/>
            </a:pPr>
            <a:r>
              <a:rPr lang="en-US" sz="1700" dirty="0">
                <a:solidFill>
                  <a:srgbClr val="1B1F24"/>
                </a:solidFill>
                <a:latin typeface="Calibri" pitchFamily="34" charset="0"/>
                <a:ea typeface="Calibri" pitchFamily="34" charset="-122"/>
                <a:cs typeface="Calibri" pitchFamily="34" charset="-120"/>
              </a:rPr>
              <a:t>How should safety alerts appear on the existing dashboard with the least distraction?</a:t>
            </a:r>
            <a:endParaRPr lang="en-US" sz="1700" dirty="0"/>
          </a:p>
        </p:txBody>
      </p:sp>
      <p:sp>
        <p:nvSpPr>
          <p:cNvPr id="17" name="Shape 13"/>
          <p:cNvSpPr/>
          <p:nvPr/>
        </p:nvSpPr>
        <p:spPr>
          <a:xfrm>
            <a:off x="548640" y="4352544"/>
            <a:ext cx="7315200" cy="841248"/>
          </a:xfrm>
          <a:prstGeom prst="roundRect">
            <a:avLst>
              <a:gd name="adj" fmla="val 13043"/>
            </a:avLst>
          </a:prstGeom>
          <a:solidFill>
            <a:srgbClr val="E8F0FA"/>
          </a:solidFill>
          <a:ln w="12700">
            <a:solidFill>
              <a:srgbClr val="E8F0FA"/>
            </a:solidFill>
            <a:prstDash val="solid"/>
          </a:ln>
        </p:spPr>
      </p:sp>
      <p:sp>
        <p:nvSpPr>
          <p:cNvPr id="18" name="Text 14"/>
          <p:cNvSpPr txBox="1"/>
          <p:nvPr/>
        </p:nvSpPr>
        <p:spPr>
          <a:xfrm>
            <a:off x="777240" y="4352544"/>
            <a:ext cx="822960" cy="841248"/>
          </a:xfrm>
          <a:prstGeom prst="rect">
            <a:avLst/>
          </a:prstGeom>
          <a:noFill/>
          <a:ln/>
        </p:spPr>
        <p:txBody>
          <a:bodyPr wrap="square" lIns="0" tIns="0" rIns="0" bIns="0" rtlCol="0" anchor="ctr"/>
          <a:lstStyle/>
          <a:p>
            <a:pPr indent="0" marL="0">
              <a:buNone/>
            </a:pPr>
            <a:r>
              <a:rPr lang="en-US" sz="2200" b="1" dirty="0">
                <a:solidFill>
                  <a:srgbClr val="14305C"/>
                </a:solidFill>
                <a:latin typeface="Calibri" pitchFamily="34" charset="0"/>
                <a:ea typeface="Calibri" pitchFamily="34" charset="-122"/>
                <a:cs typeface="Calibri" pitchFamily="34" charset="-120"/>
              </a:rPr>
              <a:t>RQ3</a:t>
            </a:r>
            <a:endParaRPr lang="en-US" sz="2200" dirty="0"/>
          </a:p>
        </p:txBody>
      </p:sp>
      <p:sp>
        <p:nvSpPr>
          <p:cNvPr id="19" name="Text 15"/>
          <p:cNvSpPr txBox="1"/>
          <p:nvPr/>
        </p:nvSpPr>
        <p:spPr>
          <a:xfrm>
            <a:off x="1645920" y="4352544"/>
            <a:ext cx="5989320" cy="841248"/>
          </a:xfrm>
          <a:prstGeom prst="rect">
            <a:avLst/>
          </a:prstGeom>
          <a:noFill/>
          <a:ln/>
        </p:spPr>
        <p:txBody>
          <a:bodyPr wrap="square" lIns="0" tIns="0" rIns="0" bIns="0" rtlCol="0" anchor="ctr"/>
          <a:lstStyle/>
          <a:p>
            <a:pPr indent="0" marL="0">
              <a:buNone/>
            </a:pPr>
            <a:r>
              <a:rPr lang="en-US" sz="1700" dirty="0">
                <a:solidFill>
                  <a:srgbClr val="1B1F24"/>
                </a:solidFill>
                <a:latin typeface="Calibri" pitchFamily="34" charset="0"/>
                <a:ea typeface="Calibri" pitchFamily="34" charset="-122"/>
                <a:cs typeface="Calibri" pitchFamily="34" charset="-120"/>
              </a:rPr>
              <a:t>What latency, data loss and recovery from sensor to the LTE database?</a:t>
            </a:r>
            <a:endParaRPr lang="en-US" sz="1700" dirty="0"/>
          </a:p>
        </p:txBody>
      </p:sp>
      <p:sp>
        <p:nvSpPr>
          <p:cNvPr id="20" name="Shape 16"/>
          <p:cNvSpPr/>
          <p:nvPr/>
        </p:nvSpPr>
        <p:spPr>
          <a:xfrm>
            <a:off x="548640" y="5340096"/>
            <a:ext cx="7315200" cy="841248"/>
          </a:xfrm>
          <a:prstGeom prst="roundRect">
            <a:avLst>
              <a:gd name="adj" fmla="val 13043"/>
            </a:avLst>
          </a:prstGeom>
          <a:solidFill>
            <a:srgbClr val="E8F0FA"/>
          </a:solidFill>
          <a:ln w="12700">
            <a:solidFill>
              <a:srgbClr val="E8F0FA"/>
            </a:solidFill>
            <a:prstDash val="solid"/>
          </a:ln>
        </p:spPr>
      </p:sp>
      <p:sp>
        <p:nvSpPr>
          <p:cNvPr id="21" name="Text 17"/>
          <p:cNvSpPr txBox="1"/>
          <p:nvPr/>
        </p:nvSpPr>
        <p:spPr>
          <a:xfrm>
            <a:off x="777240" y="5340096"/>
            <a:ext cx="822960" cy="841248"/>
          </a:xfrm>
          <a:prstGeom prst="rect">
            <a:avLst/>
          </a:prstGeom>
          <a:noFill/>
          <a:ln/>
        </p:spPr>
        <p:txBody>
          <a:bodyPr wrap="square" lIns="0" tIns="0" rIns="0" bIns="0" rtlCol="0" anchor="ctr"/>
          <a:lstStyle/>
          <a:p>
            <a:pPr indent="0" marL="0">
              <a:buNone/>
            </a:pPr>
            <a:r>
              <a:rPr lang="en-US" sz="2200" b="1" dirty="0">
                <a:solidFill>
                  <a:srgbClr val="14305C"/>
                </a:solidFill>
                <a:latin typeface="Calibri" pitchFamily="34" charset="0"/>
                <a:ea typeface="Calibri" pitchFamily="34" charset="-122"/>
                <a:cs typeface="Calibri" pitchFamily="34" charset="-120"/>
              </a:rPr>
              <a:t>RQ4</a:t>
            </a:r>
            <a:endParaRPr lang="en-US" sz="2200" dirty="0"/>
          </a:p>
        </p:txBody>
      </p:sp>
      <p:sp>
        <p:nvSpPr>
          <p:cNvPr id="22" name="Text 18"/>
          <p:cNvSpPr txBox="1"/>
          <p:nvPr/>
        </p:nvSpPr>
        <p:spPr>
          <a:xfrm>
            <a:off x="1645920" y="5340096"/>
            <a:ext cx="5989320" cy="841248"/>
          </a:xfrm>
          <a:prstGeom prst="rect">
            <a:avLst/>
          </a:prstGeom>
          <a:noFill/>
          <a:ln/>
        </p:spPr>
        <p:txBody>
          <a:bodyPr wrap="square" lIns="0" tIns="0" rIns="0" bIns="0" rtlCol="0" anchor="ctr"/>
          <a:lstStyle/>
          <a:p>
            <a:pPr indent="0" marL="0">
              <a:buNone/>
            </a:pPr>
            <a:r>
              <a:rPr lang="en-US" sz="1700" dirty="0">
                <a:solidFill>
                  <a:srgbClr val="1B1F24"/>
                </a:solidFill>
                <a:latin typeface="Calibri" pitchFamily="34" charset="0"/>
                <a:ea typeface="Calibri" pitchFamily="34" charset="-122"/>
                <a:cs typeface="Calibri" pitchFamily="34" charset="-120"/>
              </a:rPr>
              <a:t>Which features separate road vibration from powertrain vibration?</a:t>
            </a:r>
            <a:endParaRPr lang="en-US" sz="1700" dirty="0"/>
          </a:p>
        </p:txBody>
      </p:sp>
      <p:sp>
        <p:nvSpPr>
          <p:cNvPr id="23" name="Text 19"/>
          <p:cNvSpPr txBox="1"/>
          <p:nvPr/>
        </p:nvSpPr>
        <p:spPr>
          <a:xfrm>
            <a:off x="8229600" y="2377440"/>
            <a:ext cx="3413455" cy="365760"/>
          </a:xfrm>
          <a:prstGeom prst="rect">
            <a:avLst/>
          </a:prstGeom>
          <a:noFill/>
          <a:ln/>
        </p:spPr>
        <p:txBody>
          <a:bodyPr wrap="square" lIns="0" tIns="0" rIns="0" bIns="0" rtlCol="0" anchor="ctr"/>
          <a:lstStyle/>
          <a:p>
            <a:pPr indent="0" marL="0">
              <a:buNone/>
            </a:pPr>
            <a:r>
              <a:rPr lang="en-US" sz="1800" b="1" dirty="0">
                <a:solidFill>
                  <a:srgbClr val="14305C"/>
                </a:solidFill>
                <a:latin typeface="Calibri" pitchFamily="34" charset="0"/>
                <a:ea typeface="Calibri" pitchFamily="34" charset="-122"/>
                <a:cs typeface="Calibri" pitchFamily="34" charset="-120"/>
              </a:rPr>
              <a:t>Approach</a:t>
            </a:r>
            <a:endParaRPr lang="en-US" sz="1800" dirty="0"/>
          </a:p>
        </p:txBody>
      </p:sp>
      <p:sp>
        <p:nvSpPr>
          <p:cNvPr id="24" name="Shape 20"/>
          <p:cNvSpPr/>
          <p:nvPr/>
        </p:nvSpPr>
        <p:spPr>
          <a:xfrm>
            <a:off x="8229600" y="2834640"/>
            <a:ext cx="3413455" cy="868680"/>
          </a:xfrm>
          <a:prstGeom prst="roundRect">
            <a:avLst>
              <a:gd name="adj" fmla="val 10526"/>
            </a:avLst>
          </a:prstGeom>
          <a:solidFill>
            <a:srgbClr val="FFFFFF"/>
          </a:solidFill>
          <a:ln w="19050">
            <a:solidFill>
              <a:srgbClr val="14305C"/>
            </a:solidFill>
            <a:prstDash val="solid"/>
          </a:ln>
        </p:spPr>
      </p:sp>
      <p:sp>
        <p:nvSpPr>
          <p:cNvPr id="25" name="Text 21"/>
          <p:cNvSpPr txBox="1"/>
          <p:nvPr/>
        </p:nvSpPr>
        <p:spPr>
          <a:xfrm>
            <a:off x="8412480" y="2907792"/>
            <a:ext cx="3047695" cy="365760"/>
          </a:xfrm>
          <a:prstGeom prst="rect">
            <a:avLst/>
          </a:prstGeom>
          <a:noFill/>
          <a:ln/>
        </p:spPr>
        <p:txBody>
          <a:bodyPr wrap="square" lIns="0" tIns="0" rIns="0" bIns="0" rtlCol="0" anchor="ctr"/>
          <a:lstStyle/>
          <a:p>
            <a:pPr algn="ctr" indent="0" marL="0">
              <a:buNone/>
            </a:pPr>
            <a:r>
              <a:rPr lang="en-US" sz="1700" b="1" dirty="0">
                <a:solidFill>
                  <a:srgbClr val="14305C"/>
                </a:solidFill>
                <a:latin typeface="Calibri" pitchFamily="34" charset="0"/>
                <a:ea typeface="Calibri" pitchFamily="34" charset="-122"/>
                <a:cs typeface="Calibri" pitchFamily="34" charset="-120"/>
              </a:rPr>
              <a:t>13 requirements</a:t>
            </a:r>
            <a:endParaRPr lang="en-US" sz="1700" dirty="0"/>
          </a:p>
        </p:txBody>
      </p:sp>
      <p:sp>
        <p:nvSpPr>
          <p:cNvPr id="26" name="Text 22"/>
          <p:cNvSpPr txBox="1"/>
          <p:nvPr/>
        </p:nvSpPr>
        <p:spPr>
          <a:xfrm>
            <a:off x="8412480" y="3264408"/>
            <a:ext cx="3047695" cy="365760"/>
          </a:xfrm>
          <a:prstGeom prst="rect">
            <a:avLst/>
          </a:prstGeom>
          <a:noFill/>
          <a:ln/>
        </p:spPr>
        <p:txBody>
          <a:bodyPr wrap="square" lIns="0" tIns="0" rIns="0" bIns="0" rtlCol="0" anchor="ctr"/>
          <a:lstStyle/>
          <a:p>
            <a:pPr algn="ctr" indent="0" marL="0">
              <a:buNone/>
            </a:pPr>
            <a:r>
              <a:rPr lang="en-US" sz="1400" dirty="0">
                <a:solidFill>
                  <a:srgbClr val="1B1F24"/>
                </a:solidFill>
                <a:latin typeface="Calibri" pitchFamily="34" charset="0"/>
                <a:ea typeface="Calibri" pitchFamily="34" charset="-122"/>
                <a:cs typeface="Calibri" pitchFamily="34" charset="-120"/>
              </a:rPr>
              <a:t>criterion fixed before each test</a:t>
            </a:r>
            <a:endParaRPr lang="en-US" sz="1400" dirty="0"/>
          </a:p>
        </p:txBody>
      </p:sp>
      <p:sp>
        <p:nvSpPr>
          <p:cNvPr id="27" name="Shape 23"/>
          <p:cNvSpPr/>
          <p:nvPr/>
        </p:nvSpPr>
        <p:spPr>
          <a:xfrm>
            <a:off x="9936328" y="3703320"/>
            <a:ext cx="0" cy="301752"/>
          </a:xfrm>
          <a:prstGeom prst="line">
            <a:avLst/>
          </a:prstGeom>
          <a:noFill/>
          <a:ln w="25400">
            <a:solidFill>
              <a:srgbClr val="14305C"/>
            </a:solidFill>
            <a:prstDash val="solid"/>
            <a:tailEnd type="triangle"/>
          </a:ln>
        </p:spPr>
      </p:sp>
      <p:sp>
        <p:nvSpPr>
          <p:cNvPr id="28" name="Shape 24"/>
          <p:cNvSpPr/>
          <p:nvPr/>
        </p:nvSpPr>
        <p:spPr>
          <a:xfrm>
            <a:off x="8229600" y="4005072"/>
            <a:ext cx="3413455" cy="868680"/>
          </a:xfrm>
          <a:prstGeom prst="roundRect">
            <a:avLst>
              <a:gd name="adj" fmla="val 10526"/>
            </a:avLst>
          </a:prstGeom>
          <a:solidFill>
            <a:srgbClr val="FFFFFF"/>
          </a:solidFill>
          <a:ln w="19050">
            <a:solidFill>
              <a:srgbClr val="14305C"/>
            </a:solidFill>
            <a:prstDash val="solid"/>
          </a:ln>
        </p:spPr>
      </p:sp>
      <p:sp>
        <p:nvSpPr>
          <p:cNvPr id="29" name="Text 25"/>
          <p:cNvSpPr txBox="1"/>
          <p:nvPr/>
        </p:nvSpPr>
        <p:spPr>
          <a:xfrm>
            <a:off x="8412480" y="4078224"/>
            <a:ext cx="3047695" cy="365760"/>
          </a:xfrm>
          <a:prstGeom prst="rect">
            <a:avLst/>
          </a:prstGeom>
          <a:noFill/>
          <a:ln/>
        </p:spPr>
        <p:txBody>
          <a:bodyPr wrap="square" lIns="0" tIns="0" rIns="0" bIns="0" rtlCol="0" anchor="ctr"/>
          <a:lstStyle/>
          <a:p>
            <a:pPr algn="ctr" indent="0" marL="0">
              <a:buNone/>
            </a:pPr>
            <a:r>
              <a:rPr lang="en-US" sz="1700" b="1" dirty="0">
                <a:solidFill>
                  <a:srgbClr val="14305C"/>
                </a:solidFill>
                <a:latin typeface="Calibri" pitchFamily="34" charset="0"/>
                <a:ea typeface="Calibri" pitchFamily="34" charset="-122"/>
                <a:cs typeface="Calibri" pitchFamily="34" charset="-120"/>
              </a:rPr>
              <a:t>Bench</a:t>
            </a:r>
            <a:endParaRPr lang="en-US" sz="1700" dirty="0"/>
          </a:p>
        </p:txBody>
      </p:sp>
      <p:sp>
        <p:nvSpPr>
          <p:cNvPr id="30" name="Text 26"/>
          <p:cNvSpPr txBox="1"/>
          <p:nvPr/>
        </p:nvSpPr>
        <p:spPr>
          <a:xfrm>
            <a:off x="8412480" y="4434840"/>
            <a:ext cx="3047695" cy="365760"/>
          </a:xfrm>
          <a:prstGeom prst="rect">
            <a:avLst/>
          </a:prstGeom>
          <a:noFill/>
          <a:ln/>
        </p:spPr>
        <p:txBody>
          <a:bodyPr wrap="square" lIns="0" tIns="0" rIns="0" bIns="0" rtlCol="0" anchor="ctr"/>
          <a:lstStyle/>
          <a:p>
            <a:pPr algn="ctr" indent="0" marL="0">
              <a:buNone/>
            </a:pPr>
            <a:r>
              <a:rPr lang="en-US" sz="1400" dirty="0">
                <a:solidFill>
                  <a:srgbClr val="1B1F24"/>
                </a:solidFill>
                <a:latin typeface="Calibri" pitchFamily="34" charset="0"/>
                <a:ea typeface="Calibri" pitchFamily="34" charset="-122"/>
                <a:cs typeface="Calibri" pitchFamily="34" charset="-120"/>
              </a:rPr>
              <a:t>each part tested before the next</a:t>
            </a:r>
            <a:endParaRPr lang="en-US" sz="1400" dirty="0"/>
          </a:p>
        </p:txBody>
      </p:sp>
      <p:sp>
        <p:nvSpPr>
          <p:cNvPr id="31" name="Shape 27"/>
          <p:cNvSpPr/>
          <p:nvPr/>
        </p:nvSpPr>
        <p:spPr>
          <a:xfrm>
            <a:off x="9936328" y="4873752"/>
            <a:ext cx="0" cy="301752"/>
          </a:xfrm>
          <a:prstGeom prst="line">
            <a:avLst/>
          </a:prstGeom>
          <a:noFill/>
          <a:ln w="25400">
            <a:solidFill>
              <a:srgbClr val="14305C"/>
            </a:solidFill>
            <a:prstDash val="solid"/>
            <a:tailEnd type="triangle"/>
          </a:ln>
        </p:spPr>
      </p:sp>
      <p:sp>
        <p:nvSpPr>
          <p:cNvPr id="32" name="Shape 28"/>
          <p:cNvSpPr/>
          <p:nvPr/>
        </p:nvSpPr>
        <p:spPr>
          <a:xfrm>
            <a:off x="8229600" y="5175504"/>
            <a:ext cx="3413455" cy="868680"/>
          </a:xfrm>
          <a:prstGeom prst="roundRect">
            <a:avLst>
              <a:gd name="adj" fmla="val 10526"/>
            </a:avLst>
          </a:prstGeom>
          <a:solidFill>
            <a:srgbClr val="14305C"/>
          </a:solidFill>
          <a:ln w="19050">
            <a:solidFill>
              <a:srgbClr val="14305C"/>
            </a:solidFill>
            <a:prstDash val="solid"/>
          </a:ln>
        </p:spPr>
      </p:sp>
      <p:sp>
        <p:nvSpPr>
          <p:cNvPr id="33" name="Text 29"/>
          <p:cNvSpPr txBox="1"/>
          <p:nvPr/>
        </p:nvSpPr>
        <p:spPr>
          <a:xfrm>
            <a:off x="8412480" y="5248656"/>
            <a:ext cx="3047695"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Vehicle</a:t>
            </a:r>
            <a:endParaRPr lang="en-US" sz="1700" dirty="0"/>
          </a:p>
        </p:txBody>
      </p:sp>
      <p:sp>
        <p:nvSpPr>
          <p:cNvPr id="34" name="Text 30"/>
          <p:cNvSpPr txBox="1"/>
          <p:nvPr/>
        </p:nvSpPr>
        <p:spPr>
          <a:xfrm>
            <a:off x="8412480" y="5605272"/>
            <a:ext cx="3047695" cy="3657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road sessions, 19 and 27 Oct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The system as driven on 27 October</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4</a:t>
            </a:r>
            <a:endParaRPr lang="en-US" sz="1100" dirty="0"/>
          </a:p>
        </p:txBody>
      </p:sp>
      <p:pic>
        <p:nvPicPr>
          <p:cNvPr id="9" name="Image 1" descr="C:\Users\0geda\OneDrive - University of Cape Town\Documents\PlatformIO\Projects\Tukzie-HPEC-HUD\Report\figures\road1\front_camera_1022.jpg">    </p:cNvPr>
          <p:cNvPicPr>
            <a:picLocks noChangeAspect="1"/>
          </p:cNvPicPr>
          <p:nvPr/>
        </p:nvPicPr>
        <p:blipFill>
          <a:blip r:embed="rId2"/>
          <a:stretch>
            <a:fillRect/>
          </a:stretch>
        </p:blipFill>
        <p:spPr>
          <a:xfrm>
            <a:off x="548640" y="1280160"/>
            <a:ext cx="2468880" cy="3291840"/>
          </a:xfrm>
          <a:prstGeom prst="rect">
            <a:avLst/>
          </a:prstGeom>
        </p:spPr>
      </p:pic>
      <p:sp>
        <p:nvSpPr>
          <p:cNvPr id="10" name="Text 5"/>
          <p:cNvSpPr txBox="1"/>
          <p:nvPr/>
        </p:nvSpPr>
        <p:spPr>
          <a:xfrm>
            <a:off x="548640" y="4645152"/>
            <a:ext cx="2468880" cy="50292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Front camera in its printed case on the frame (22 Oct)</a:t>
            </a:r>
            <a:endParaRPr lang="en-US" sz="1200" dirty="0"/>
          </a:p>
        </p:txBody>
      </p:sp>
      <p:pic>
        <p:nvPicPr>
          <p:cNvPr id="11" name="Image 2" descr="C:\Users\0geda\OneDrive - University of Cape Town\Documents\PlatformIO\Projects\Tukzie-HPEC-HUD\Report\figures\road1\rear_system_1022.jpg">    </p:cNvPr>
          <p:cNvPicPr>
            <a:picLocks noChangeAspect="1"/>
          </p:cNvPicPr>
          <p:nvPr/>
        </p:nvPicPr>
        <p:blipFill>
          <a:blip r:embed="rId3"/>
          <a:stretch>
            <a:fillRect/>
          </a:stretch>
        </p:blipFill>
        <p:spPr>
          <a:xfrm>
            <a:off x="9174175" y="1280160"/>
            <a:ext cx="2468880" cy="3291840"/>
          </a:xfrm>
          <a:prstGeom prst="rect">
            <a:avLst/>
          </a:prstGeom>
        </p:spPr>
      </p:pic>
      <p:sp>
        <p:nvSpPr>
          <p:cNvPr id="12" name="Text 6"/>
          <p:cNvSpPr txBox="1"/>
          <p:nvPr/>
        </p:nvSpPr>
        <p:spPr>
          <a:xfrm>
            <a:off x="9174175" y="4645152"/>
            <a:ext cx="2468880" cy="50292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Rear enclosure on the deck: Pi 4, antennas, camera (22 Oct)</a:t>
            </a:r>
            <a:endParaRPr lang="en-US" sz="1200" dirty="0"/>
          </a:p>
        </p:txBody>
      </p:sp>
      <p:sp>
        <p:nvSpPr>
          <p:cNvPr id="13" name="Shape 7"/>
          <p:cNvSpPr/>
          <p:nvPr/>
        </p:nvSpPr>
        <p:spPr>
          <a:xfrm>
            <a:off x="3337560" y="1280160"/>
            <a:ext cx="5516575" cy="1783080"/>
          </a:xfrm>
          <a:prstGeom prst="roundRect">
            <a:avLst>
              <a:gd name="adj" fmla="val 6154"/>
            </a:avLst>
          </a:prstGeom>
          <a:solidFill>
            <a:srgbClr val="E8F0FA"/>
          </a:solidFill>
          <a:ln w="12700">
            <a:solidFill>
              <a:srgbClr val="E8F0FA"/>
            </a:solidFill>
            <a:prstDash val="solid"/>
          </a:ln>
        </p:spPr>
      </p:sp>
      <p:sp>
        <p:nvSpPr>
          <p:cNvPr id="14" name="Text 8"/>
          <p:cNvSpPr txBox="1"/>
          <p:nvPr/>
        </p:nvSpPr>
        <p:spPr>
          <a:xfrm>
            <a:off x="3566160" y="1389888"/>
            <a:ext cx="5059375" cy="347472"/>
          </a:xfrm>
          <a:prstGeom prst="rect">
            <a:avLst/>
          </a:prstGeom>
          <a:noFill/>
          <a:ln/>
        </p:spPr>
        <p:txBody>
          <a:bodyPr wrap="square" lIns="0" tIns="0" rIns="0" bIns="0" rtlCol="0" anchor="ctr"/>
          <a:lstStyle/>
          <a:p>
            <a:pPr indent="0" marL="0">
              <a:buNone/>
            </a:pPr>
            <a:r>
              <a:rPr lang="en-US" sz="1700" b="1" dirty="0">
                <a:solidFill>
                  <a:srgbClr val="14305C"/>
                </a:solidFill>
                <a:latin typeface="Calibri" pitchFamily="34" charset="0"/>
                <a:ea typeface="Calibri" pitchFamily="34" charset="-122"/>
                <a:cs typeface="Calibri" pitchFamily="34" charset="-120"/>
              </a:rPr>
              <a:t>Front: Raspberry Pi 5, behind the display</a:t>
            </a:r>
            <a:endParaRPr lang="en-US" sz="1700" dirty="0"/>
          </a:p>
        </p:txBody>
      </p:sp>
      <p:sp>
        <p:nvSpPr>
          <p:cNvPr id="15" name="Text 9"/>
          <p:cNvSpPr txBox="1"/>
          <p:nvPr/>
        </p:nvSpPr>
        <p:spPr>
          <a:xfrm>
            <a:off x="3566160" y="1783080"/>
            <a:ext cx="5059375" cy="1216152"/>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Dashboard on the 10.1 in touchscreen</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Front camera, detector, 3 time-of-flight sensors</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Front IMU node (ESP32-S3, 200 Hz)</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Phone GNSS over its hotspot, for speed</a:t>
            </a:r>
            <a:endParaRPr lang="en-US" sz="1500" dirty="0"/>
          </a:p>
        </p:txBody>
      </p:sp>
      <p:sp>
        <p:nvSpPr>
          <p:cNvPr id="16" name="Shape 10"/>
          <p:cNvSpPr/>
          <p:nvPr/>
        </p:nvSpPr>
        <p:spPr>
          <a:xfrm>
            <a:off x="4251960" y="3099816"/>
            <a:ext cx="0" cy="493776"/>
          </a:xfrm>
          <a:prstGeom prst="line">
            <a:avLst/>
          </a:prstGeom>
          <a:noFill/>
          <a:ln w="38100">
            <a:solidFill>
              <a:srgbClr val="14305C"/>
            </a:solidFill>
            <a:prstDash val="solid"/>
            <a:headEnd type="triangle"/>
            <a:tailEnd type="triangle"/>
          </a:ln>
        </p:spPr>
      </p:sp>
      <p:sp>
        <p:nvSpPr>
          <p:cNvPr id="17" name="Text 11"/>
          <p:cNvSpPr txBox="1"/>
          <p:nvPr/>
        </p:nvSpPr>
        <p:spPr>
          <a:xfrm>
            <a:off x="4526280" y="3063240"/>
            <a:ext cx="4327855" cy="566928"/>
          </a:xfrm>
          <a:prstGeom prst="rect">
            <a:avLst/>
          </a:prstGeom>
          <a:noFill/>
          <a:ln/>
        </p:spPr>
        <p:txBody>
          <a:bodyPr wrap="square" lIns="0" tIns="0" rIns="0" bIns="0" rtlCol="0" anchor="ctr"/>
          <a:lstStyle/>
          <a:p>
            <a:pPr indent="0" marL="0">
              <a:buNone/>
            </a:pPr>
            <a:r>
              <a:rPr lang="en-US" sz="1500" b="1" dirty="0">
                <a:solidFill>
                  <a:srgbClr val="14305C"/>
                </a:solidFill>
                <a:latin typeface="Calibri" pitchFamily="34" charset="0"/>
                <a:ea typeface="Calibri" pitchFamily="34" charset="-122"/>
                <a:cs typeface="Calibri" pitchFamily="34" charset="-120"/>
              </a:rPr>
              <a:t>Ethernet, 1000 Mb/s, one shared clock</a:t>
            </a:r>
            <a:endParaRPr lang="en-US" sz="1500" dirty="0"/>
          </a:p>
        </p:txBody>
      </p:sp>
      <p:sp>
        <p:nvSpPr>
          <p:cNvPr id="18" name="Shape 12"/>
          <p:cNvSpPr/>
          <p:nvPr/>
        </p:nvSpPr>
        <p:spPr>
          <a:xfrm>
            <a:off x="3337560" y="3630168"/>
            <a:ext cx="5516575" cy="1874520"/>
          </a:xfrm>
          <a:prstGeom prst="roundRect">
            <a:avLst>
              <a:gd name="adj" fmla="val 5854"/>
            </a:avLst>
          </a:prstGeom>
          <a:solidFill>
            <a:srgbClr val="E8F0FA"/>
          </a:solidFill>
          <a:ln w="12700">
            <a:solidFill>
              <a:srgbClr val="E8F0FA"/>
            </a:solidFill>
            <a:prstDash val="solid"/>
          </a:ln>
        </p:spPr>
      </p:sp>
      <p:sp>
        <p:nvSpPr>
          <p:cNvPr id="19" name="Text 13"/>
          <p:cNvSpPr txBox="1"/>
          <p:nvPr/>
        </p:nvSpPr>
        <p:spPr>
          <a:xfrm>
            <a:off x="3566160" y="3739896"/>
            <a:ext cx="5059375" cy="347472"/>
          </a:xfrm>
          <a:prstGeom prst="rect">
            <a:avLst/>
          </a:prstGeom>
          <a:noFill/>
          <a:ln/>
        </p:spPr>
        <p:txBody>
          <a:bodyPr wrap="square" lIns="0" tIns="0" rIns="0" bIns="0" rtlCol="0" anchor="ctr"/>
          <a:lstStyle/>
          <a:p>
            <a:pPr indent="0" marL="0">
              <a:buNone/>
            </a:pPr>
            <a:r>
              <a:rPr lang="en-US" sz="1700" b="1" dirty="0">
                <a:solidFill>
                  <a:srgbClr val="14305C"/>
                </a:solidFill>
                <a:latin typeface="Calibri" pitchFamily="34" charset="0"/>
                <a:ea typeface="Calibri" pitchFamily="34" charset="-122"/>
                <a:cs typeface="Calibri" pitchFamily="34" charset="-120"/>
              </a:rPr>
              <a:t>Rear: Raspberry Pi 4, beside the battery</a:t>
            </a:r>
            <a:endParaRPr lang="en-US" sz="1700" dirty="0"/>
          </a:p>
        </p:txBody>
      </p:sp>
      <p:sp>
        <p:nvSpPr>
          <p:cNvPr id="20" name="Text 14"/>
          <p:cNvSpPr txBox="1"/>
          <p:nvPr/>
        </p:nvSpPr>
        <p:spPr>
          <a:xfrm>
            <a:off x="3566160" y="4133088"/>
            <a:ext cx="5059375" cy="1307592"/>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Rear camera, detector, 3 time-of-flight sensors</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Rear IMU node (ESP32-S3, 200 Hz)</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Telemetry unit (ESP32-S3): battery, GNSS, LTE, log</a:t>
            </a:r>
            <a:endParaRPr lang="en-US" sz="1500" dirty="0"/>
          </a:p>
        </p:txBody>
      </p:sp>
      <p:sp>
        <p:nvSpPr>
          <p:cNvPr id="21" name="Shape 15"/>
          <p:cNvSpPr/>
          <p:nvPr/>
        </p:nvSpPr>
        <p:spPr>
          <a:xfrm>
            <a:off x="548640" y="5623560"/>
            <a:ext cx="11094415" cy="548640"/>
          </a:xfrm>
          <a:prstGeom prst="roundRect">
            <a:avLst>
              <a:gd name="adj" fmla="val 16667"/>
            </a:avLst>
          </a:prstGeom>
          <a:solidFill>
            <a:srgbClr val="FFFFFF"/>
          </a:solidFill>
          <a:ln w="19050">
            <a:solidFill>
              <a:srgbClr val="1565C0"/>
            </a:solidFill>
            <a:prstDash val="solid"/>
          </a:ln>
        </p:spPr>
      </p:sp>
      <p:sp>
        <p:nvSpPr>
          <p:cNvPr id="22" name="Text 16"/>
          <p:cNvSpPr txBox="1"/>
          <p:nvPr/>
        </p:nvSpPr>
        <p:spPr>
          <a:xfrm>
            <a:off x="822960" y="5623560"/>
            <a:ext cx="10545775" cy="548640"/>
          </a:xfrm>
          <a:prstGeom prst="rect">
            <a:avLst/>
          </a:prstGeom>
          <a:noFill/>
          <a:ln/>
        </p:spPr>
        <p:txBody>
          <a:bodyPr wrap="square" lIns="0" tIns="0" rIns="0" bIns="0" rtlCol="0" anchor="ctr"/>
          <a:lstStyle/>
          <a:p>
            <a:pPr indent="0" marL="0">
              <a:buNone/>
            </a:pPr>
            <a:r>
              <a:rPr lang="en-US" sz="1500" b="1" dirty="0">
                <a:solidFill>
                  <a:srgbClr val="14305C"/>
                </a:solidFill>
                <a:latin typeface="Calibri" pitchFamily="34" charset="0"/>
                <a:ea typeface="Calibri" pitchFamily="34" charset="-122"/>
                <a:cs typeface="Calibri" pitchFamily="34" charset="-120"/>
              </a:rPr>
              <a:t>Three ESP32-S3 boards</a:t>
            </a:r>
            <a:pPr indent="0" marL="0">
              <a:buNone/>
            </a:pPr>
            <a:r>
              <a:rPr lang="en-US" sz="1500" dirty="0">
                <a:solidFill>
                  <a:srgbClr val="1B1F24"/>
                </a:solidFill>
                <a:latin typeface="Calibri" pitchFamily="34" charset="0"/>
                <a:ea typeface="Calibri" pitchFamily="34" charset="-122"/>
                <a:cs typeface="Calibri" pitchFamily="34" charset="-120"/>
              </a:rPr>
              <a:t> hold the fixed-rate sensing; the Pis run the cameras.   </a:t>
            </a:r>
            <a:pPr indent="0" marL="0">
              <a:buNone/>
            </a:pPr>
            <a:r>
              <a:rPr lang="en-US" sz="1500" b="1" dirty="0">
                <a:solidFill>
                  <a:srgbClr val="14305C"/>
                </a:solidFill>
                <a:latin typeface="Calibri" pitchFamily="34" charset="0"/>
                <a:ea typeface="Calibri" pitchFamily="34" charset="-122"/>
                <a:cs typeface="Calibri" pitchFamily="34" charset="-120"/>
              </a:rPr>
              <a:t>27 W</a:t>
            </a:r>
            <a:pPr indent="0" marL="0">
              <a:buNone/>
            </a:pPr>
            <a:r>
              <a:rPr lang="en-US" sz="1500" dirty="0">
                <a:solidFill>
                  <a:srgbClr val="1B1F24"/>
                </a:solidFill>
                <a:latin typeface="Calibri" pitchFamily="34" charset="0"/>
                <a:ea typeface="Calibri" pitchFamily="34" charset="-122"/>
                <a:cs typeface="Calibri" pitchFamily="34" charset="-120"/>
              </a:rPr>
              <a:t> whole system, measured at the EcoFlow output.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Deterministic acquisition: a 33 to 44 ms gap found and removed</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5</a:t>
            </a:r>
            <a:endParaRPr lang="en-US" sz="1100" dirty="0"/>
          </a:p>
        </p:txBody>
      </p:sp>
      <p:pic>
        <p:nvPicPr>
          <p:cNvPr id="9" name="Image 1" descr="C:\Users\0geda\OneDrive - University of Cape Town\Documents\PlatformIO\Projects\Tukzie-HPEC-HUD\Report\figures\results\imu_write_gaps.png">    </p:cNvPr>
          <p:cNvPicPr>
            <a:picLocks noChangeAspect="1"/>
          </p:cNvPicPr>
          <p:nvPr/>
        </p:nvPicPr>
        <p:blipFill>
          <a:blip r:embed="rId2"/>
          <a:stretch>
            <a:fillRect/>
          </a:stretch>
        </p:blipFill>
        <p:spPr>
          <a:xfrm>
            <a:off x="548640" y="1280160"/>
            <a:ext cx="5989320" cy="3693576"/>
          </a:xfrm>
          <a:prstGeom prst="rect">
            <a:avLst/>
          </a:prstGeom>
        </p:spPr>
      </p:pic>
      <p:sp>
        <p:nvSpPr>
          <p:cNvPr id="10" name="Text 5"/>
          <p:cNvSpPr txBox="1"/>
          <p:nvPr/>
        </p:nvSpPr>
        <p:spPr>
          <a:xfrm>
            <a:off x="548640" y="5046888"/>
            <a:ext cx="5989320" cy="54864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Bench: longest interval between IMU samples in each 2 s window. (a) writing to flash every 10 s; (b) buffered writes. Nominal interval 5 ms.</a:t>
            </a:r>
            <a:endParaRPr lang="en-US" sz="1200" dirty="0"/>
          </a:p>
        </p:txBody>
      </p:sp>
      <p:sp>
        <p:nvSpPr>
          <p:cNvPr id="11" name="Shape 6"/>
          <p:cNvSpPr/>
          <p:nvPr/>
        </p:nvSpPr>
        <p:spPr>
          <a:xfrm>
            <a:off x="6903720" y="1280160"/>
            <a:ext cx="4739335" cy="1371600"/>
          </a:xfrm>
          <a:prstGeom prst="roundRect">
            <a:avLst>
              <a:gd name="adj" fmla="val 8000"/>
            </a:avLst>
          </a:prstGeom>
          <a:solidFill>
            <a:srgbClr val="E8F0FA"/>
          </a:solidFill>
          <a:ln w="12700">
            <a:solidFill>
              <a:srgbClr val="E8F0FA"/>
            </a:solidFill>
            <a:prstDash val="solid"/>
          </a:ln>
        </p:spPr>
      </p:sp>
      <p:sp>
        <p:nvSpPr>
          <p:cNvPr id="12" name="Text 7"/>
          <p:cNvSpPr txBox="1"/>
          <p:nvPr/>
        </p:nvSpPr>
        <p:spPr>
          <a:xfrm>
            <a:off x="7104888" y="1389888"/>
            <a:ext cx="4336999"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Design: timing where it is predictable</a:t>
            </a:r>
            <a:endParaRPr lang="en-US" sz="1600" dirty="0"/>
          </a:p>
        </p:txBody>
      </p:sp>
      <p:sp>
        <p:nvSpPr>
          <p:cNvPr id="13" name="Text 8"/>
          <p:cNvSpPr txBox="1"/>
          <p:nvPr/>
        </p:nvSpPr>
        <p:spPr>
          <a:xfrm>
            <a:off x="7104888" y="1755648"/>
            <a:ext cx="4336999" cy="82296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FreeRTOS on an ESP32-S3: IMU task at top priority, 5 ms period. Bounded queue: drop and count, never block.</a:t>
            </a:r>
            <a:endParaRPr lang="en-US" sz="1400" dirty="0"/>
          </a:p>
        </p:txBody>
      </p:sp>
      <p:sp>
        <p:nvSpPr>
          <p:cNvPr id="14" name="Shape 9"/>
          <p:cNvSpPr/>
          <p:nvPr/>
        </p:nvSpPr>
        <p:spPr>
          <a:xfrm>
            <a:off x="6903720" y="2880360"/>
            <a:ext cx="4739335" cy="1371600"/>
          </a:xfrm>
          <a:prstGeom prst="roundRect">
            <a:avLst>
              <a:gd name="adj" fmla="val 8000"/>
            </a:avLst>
          </a:prstGeom>
          <a:solidFill>
            <a:srgbClr val="E8F0FA"/>
          </a:solidFill>
          <a:ln w="12700">
            <a:solidFill>
              <a:srgbClr val="E8F0FA"/>
            </a:solidFill>
            <a:prstDash val="solid"/>
          </a:ln>
        </p:spPr>
      </p:sp>
      <p:sp>
        <p:nvSpPr>
          <p:cNvPr id="15" name="Text 10"/>
          <p:cNvSpPr txBox="1"/>
          <p:nvPr/>
        </p:nvSpPr>
        <p:spPr>
          <a:xfrm>
            <a:off x="7104888" y="2990088"/>
            <a:ext cx="4336999"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Fix: no flash log on the IMU nodes</a:t>
            </a:r>
            <a:endParaRPr lang="en-US" sz="1600" dirty="0"/>
          </a:p>
        </p:txBody>
      </p:sp>
      <p:sp>
        <p:nvSpPr>
          <p:cNvPr id="16" name="Text 11"/>
          <p:cNvSpPr txBox="1"/>
          <p:nvPr/>
        </p:nvSpPr>
        <p:spPr>
          <a:xfrm>
            <a:off x="7104888" y="3355848"/>
            <a:ext cx="4336999" cy="82296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On the vehicle both held 200.00 Hz with no interval over 5.2 ms (about 35,000 samples at rest).</a:t>
            </a:r>
            <a:endParaRPr lang="en-US" sz="1400" dirty="0"/>
          </a:p>
        </p:txBody>
      </p:sp>
      <p:sp>
        <p:nvSpPr>
          <p:cNvPr id="17" name="Shape 12"/>
          <p:cNvSpPr/>
          <p:nvPr/>
        </p:nvSpPr>
        <p:spPr>
          <a:xfrm>
            <a:off x="6903720" y="4480560"/>
            <a:ext cx="2232508" cy="1691640"/>
          </a:xfrm>
          <a:prstGeom prst="roundRect">
            <a:avLst>
              <a:gd name="adj" fmla="val 6486"/>
            </a:avLst>
          </a:prstGeom>
          <a:solidFill>
            <a:srgbClr val="E8F0FA"/>
          </a:solidFill>
          <a:ln w="12700">
            <a:solidFill>
              <a:srgbClr val="E8F0FA"/>
            </a:solidFill>
            <a:prstDash val="solid"/>
          </a:ln>
        </p:spPr>
      </p:sp>
      <p:sp>
        <p:nvSpPr>
          <p:cNvPr id="18" name="Text 13"/>
          <p:cNvSpPr txBox="1"/>
          <p:nvPr/>
        </p:nvSpPr>
        <p:spPr>
          <a:xfrm>
            <a:off x="7104888" y="4590288"/>
            <a:ext cx="1830172" cy="566928"/>
          </a:xfrm>
          <a:prstGeom prst="rect">
            <a:avLst/>
          </a:prstGeom>
          <a:noFill/>
          <a:ln/>
        </p:spPr>
        <p:txBody>
          <a:bodyPr wrap="square" lIns="0" tIns="0" rIns="0" bIns="0" rtlCol="0" anchor="ctr"/>
          <a:lstStyle/>
          <a:p>
            <a:pPr indent="0" marL="0">
              <a:buNone/>
            </a:pPr>
            <a:r>
              <a:rPr lang="en-US" sz="2800" b="1" dirty="0">
                <a:solidFill>
                  <a:srgbClr val="14305C"/>
                </a:solidFill>
                <a:latin typeface="Calibri" pitchFamily="34" charset="0"/>
                <a:ea typeface="Calibri" pitchFamily="34" charset="-122"/>
                <a:cs typeface="Calibri" pitchFamily="34" charset="-120"/>
              </a:rPr>
              <a:t>0 gaps</a:t>
            </a:r>
            <a:endParaRPr lang="en-US" sz="2800" dirty="0"/>
          </a:p>
        </p:txBody>
      </p:sp>
      <p:sp>
        <p:nvSpPr>
          <p:cNvPr id="19" name="Text 14"/>
          <p:cNvSpPr txBox="1"/>
          <p:nvPr/>
        </p:nvSpPr>
        <p:spPr>
          <a:xfrm>
            <a:off x="7104888" y="5193792"/>
            <a:ext cx="1830172" cy="905256"/>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front node on the road: 1,791,190 samples</a:t>
            </a:r>
            <a:endParaRPr lang="en-US" sz="1400" dirty="0"/>
          </a:p>
        </p:txBody>
      </p:sp>
      <p:sp>
        <p:nvSpPr>
          <p:cNvPr id="20" name="Shape 15"/>
          <p:cNvSpPr/>
          <p:nvPr/>
        </p:nvSpPr>
        <p:spPr>
          <a:xfrm>
            <a:off x="9410548" y="4480560"/>
            <a:ext cx="2232508" cy="1691640"/>
          </a:xfrm>
          <a:prstGeom prst="roundRect">
            <a:avLst>
              <a:gd name="adj" fmla="val 6486"/>
            </a:avLst>
          </a:prstGeom>
          <a:solidFill>
            <a:srgbClr val="E8F0FA"/>
          </a:solidFill>
          <a:ln w="12700">
            <a:solidFill>
              <a:srgbClr val="E8F0FA"/>
            </a:solidFill>
            <a:prstDash val="solid"/>
          </a:ln>
        </p:spPr>
      </p:sp>
      <p:sp>
        <p:nvSpPr>
          <p:cNvPr id="21" name="Text 16"/>
          <p:cNvSpPr txBox="1"/>
          <p:nvPr/>
        </p:nvSpPr>
        <p:spPr>
          <a:xfrm>
            <a:off x="9611716" y="4590288"/>
            <a:ext cx="1830172" cy="566928"/>
          </a:xfrm>
          <a:prstGeom prst="rect">
            <a:avLst/>
          </a:prstGeom>
          <a:noFill/>
          <a:ln/>
        </p:spPr>
        <p:txBody>
          <a:bodyPr wrap="square" lIns="0" tIns="0" rIns="0" bIns="0" rtlCol="0" anchor="ctr"/>
          <a:lstStyle/>
          <a:p>
            <a:pPr indent="0" marL="0">
              <a:buNone/>
            </a:pPr>
            <a:r>
              <a:rPr lang="en-US" sz="2800" b="1" dirty="0">
                <a:solidFill>
                  <a:srgbClr val="14305C"/>
                </a:solidFill>
                <a:latin typeface="Calibri" pitchFamily="34" charset="0"/>
                <a:ea typeface="Calibri" pitchFamily="34" charset="-122"/>
                <a:cs typeface="Calibri" pitchFamily="34" charset="-120"/>
              </a:rPr>
              <a:t>0.08 %</a:t>
            </a:r>
            <a:endParaRPr lang="en-US" sz="2800" dirty="0"/>
          </a:p>
        </p:txBody>
      </p:sp>
      <p:sp>
        <p:nvSpPr>
          <p:cNvPr id="22" name="Text 17"/>
          <p:cNvSpPr txBox="1"/>
          <p:nvPr/>
        </p:nvSpPr>
        <p:spPr>
          <a:xfrm>
            <a:off x="9611716" y="5193792"/>
            <a:ext cx="1830172" cy="905256"/>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rear lost in transport on the road; the node dropped none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Fault investigations: symptom, test, cause, fix</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6</a:t>
            </a:r>
            <a:endParaRPr lang="en-US" sz="1100" dirty="0"/>
          </a:p>
        </p:txBody>
      </p:sp>
      <p:sp>
        <p:nvSpPr>
          <p:cNvPr id="9" name="Shape 5"/>
          <p:cNvSpPr/>
          <p:nvPr/>
        </p:nvSpPr>
        <p:spPr>
          <a:xfrm>
            <a:off x="548640" y="1280160"/>
            <a:ext cx="3515258" cy="2286000"/>
          </a:xfrm>
          <a:prstGeom prst="roundRect">
            <a:avLst>
              <a:gd name="adj" fmla="val 4800"/>
            </a:avLst>
          </a:prstGeom>
          <a:solidFill>
            <a:srgbClr val="FFFFFF"/>
          </a:solidFill>
          <a:ln w="25400">
            <a:solidFill>
              <a:srgbClr val="B85C00"/>
            </a:solidFill>
            <a:prstDash val="dash"/>
          </a:ln>
        </p:spPr>
      </p:sp>
      <p:sp>
        <p:nvSpPr>
          <p:cNvPr id="10" name="Text 6"/>
          <p:cNvSpPr txBox="1"/>
          <p:nvPr/>
        </p:nvSpPr>
        <p:spPr>
          <a:xfrm>
            <a:off x="749808" y="1389888"/>
            <a:ext cx="3112922" cy="329184"/>
          </a:xfrm>
          <a:prstGeom prst="rect">
            <a:avLst/>
          </a:prstGeom>
          <a:noFill/>
          <a:ln/>
        </p:spPr>
        <p:txBody>
          <a:bodyPr wrap="square" lIns="0" tIns="0" rIns="0" bIns="0" rtlCol="0" anchor="ctr"/>
          <a:lstStyle/>
          <a:p>
            <a:pPr indent="0" marL="0">
              <a:buNone/>
            </a:pPr>
            <a:r>
              <a:rPr lang="en-US" sz="1600" b="1" dirty="0">
                <a:solidFill>
                  <a:srgbClr val="B85C00"/>
                </a:solidFill>
                <a:latin typeface="Calibri" pitchFamily="34" charset="0"/>
                <a:ea typeface="Calibri" pitchFamily="34" charset="-122"/>
                <a:cs typeface="Calibri" pitchFamily="34" charset="-120"/>
              </a:rPr>
              <a:t>Pi 4 under-voltage, restarts</a:t>
            </a:r>
            <a:endParaRPr lang="en-US" sz="1600" dirty="0"/>
          </a:p>
        </p:txBody>
      </p:sp>
      <p:sp>
        <p:nvSpPr>
          <p:cNvPr id="11" name="Text 7"/>
          <p:cNvSpPr txBox="1"/>
          <p:nvPr/>
        </p:nvSpPr>
        <p:spPr>
          <a:xfrm>
            <a:off x="749808" y="1755648"/>
            <a:ext cx="3112922" cy="173736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Power flags every 2 s: under-voltage began 14 s after the modem on its USB port came up. Moved off: 3 restarts in 20 min, then none in 4 h. It needs a regulated supply.</a:t>
            </a:r>
            <a:endParaRPr lang="en-US" sz="1600" dirty="0"/>
          </a:p>
        </p:txBody>
      </p:sp>
      <p:sp>
        <p:nvSpPr>
          <p:cNvPr id="12" name="Shape 8"/>
          <p:cNvSpPr/>
          <p:nvPr/>
        </p:nvSpPr>
        <p:spPr>
          <a:xfrm>
            <a:off x="4338218" y="1280160"/>
            <a:ext cx="3515258" cy="2286000"/>
          </a:xfrm>
          <a:prstGeom prst="roundRect">
            <a:avLst>
              <a:gd name="adj" fmla="val 4800"/>
            </a:avLst>
          </a:prstGeom>
          <a:solidFill>
            <a:srgbClr val="E8F0FA"/>
          </a:solidFill>
          <a:ln w="12700">
            <a:solidFill>
              <a:srgbClr val="E8F0FA"/>
            </a:solidFill>
            <a:prstDash val="solid"/>
          </a:ln>
        </p:spPr>
      </p:sp>
      <p:sp>
        <p:nvSpPr>
          <p:cNvPr id="13" name="Text 9"/>
          <p:cNvSpPr txBox="1"/>
          <p:nvPr/>
        </p:nvSpPr>
        <p:spPr>
          <a:xfrm>
            <a:off x="4539386" y="1389888"/>
            <a:ext cx="3112922"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IMU stall (21 to 22 Oct)</a:t>
            </a:r>
            <a:endParaRPr lang="en-US" sz="1600" dirty="0"/>
          </a:p>
        </p:txBody>
      </p:sp>
      <p:sp>
        <p:nvSpPr>
          <p:cNvPr id="14" name="Text 10"/>
          <p:cNvSpPr txBox="1"/>
          <p:nvPr/>
        </p:nvSpPr>
        <p:spPr>
          <a:xfrm>
            <a:off x="4539386" y="1755648"/>
            <a:ext cx="3112922" cy="173736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Drop counts rose while the rate still read 200 Hz. Cause: statistics and ride tasks starved on the IMU core. Moved in v0.7.6; a 62-minute soak had no drops.</a:t>
            </a:r>
            <a:endParaRPr lang="en-US" sz="1600" dirty="0"/>
          </a:p>
        </p:txBody>
      </p:sp>
      <p:sp>
        <p:nvSpPr>
          <p:cNvPr id="15" name="Shape 11"/>
          <p:cNvSpPr/>
          <p:nvPr/>
        </p:nvSpPr>
        <p:spPr>
          <a:xfrm>
            <a:off x="8127797" y="1280160"/>
            <a:ext cx="3515258" cy="2286000"/>
          </a:xfrm>
          <a:prstGeom prst="roundRect">
            <a:avLst>
              <a:gd name="adj" fmla="val 4800"/>
            </a:avLst>
          </a:prstGeom>
          <a:solidFill>
            <a:srgbClr val="E8F0FA"/>
          </a:solidFill>
          <a:ln w="12700">
            <a:solidFill>
              <a:srgbClr val="E8F0FA"/>
            </a:solidFill>
            <a:prstDash val="solid"/>
          </a:ln>
        </p:spPr>
      </p:sp>
      <p:sp>
        <p:nvSpPr>
          <p:cNvPr id="16" name="Text 12"/>
          <p:cNvSpPr txBox="1"/>
          <p:nvPr/>
        </p:nvSpPr>
        <p:spPr>
          <a:xfrm>
            <a:off x="8328965" y="1389888"/>
            <a:ext cx="3112922"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Rear IMU lost (26 Oct)</a:t>
            </a:r>
            <a:endParaRPr lang="en-US" sz="1600" dirty="0"/>
          </a:p>
        </p:txBody>
      </p:sp>
      <p:sp>
        <p:nvSpPr>
          <p:cNvPr id="17" name="Text 13"/>
          <p:cNvSpPr txBox="1"/>
          <p:nvPr/>
        </p:nvSpPr>
        <p:spPr>
          <a:xfrm>
            <a:off x="8328965" y="1755648"/>
            <a:ext cx="3112922" cy="173736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No device at 0x68 on the telemetry unit: wiring or module supply open. The sensor worked on a second ESP32-S3, which became the rear IMU node.</a:t>
            </a:r>
            <a:endParaRPr lang="en-US" sz="1600" dirty="0"/>
          </a:p>
        </p:txBody>
      </p:sp>
      <p:sp>
        <p:nvSpPr>
          <p:cNvPr id="18" name="Shape 14"/>
          <p:cNvSpPr/>
          <p:nvPr/>
        </p:nvSpPr>
        <p:spPr>
          <a:xfrm>
            <a:off x="548640" y="3840480"/>
            <a:ext cx="3515258" cy="2286000"/>
          </a:xfrm>
          <a:prstGeom prst="roundRect">
            <a:avLst>
              <a:gd name="adj" fmla="val 4800"/>
            </a:avLst>
          </a:prstGeom>
          <a:solidFill>
            <a:srgbClr val="E8F0FA"/>
          </a:solidFill>
          <a:ln w="12700">
            <a:solidFill>
              <a:srgbClr val="E8F0FA"/>
            </a:solidFill>
            <a:prstDash val="solid"/>
          </a:ln>
        </p:spPr>
      </p:sp>
      <p:sp>
        <p:nvSpPr>
          <p:cNvPr id="19" name="Text 15"/>
          <p:cNvSpPr txBox="1"/>
          <p:nvPr/>
        </p:nvSpPr>
        <p:spPr>
          <a:xfrm>
            <a:off x="749808" y="3950208"/>
            <a:ext cx="3112922"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Boot loop at full flash</a:t>
            </a:r>
            <a:endParaRPr lang="en-US" sz="1600" dirty="0"/>
          </a:p>
        </p:txBody>
      </p:sp>
      <p:sp>
        <p:nvSpPr>
          <p:cNvPr id="20" name="Text 16"/>
          <p:cNvSpPr txBox="1"/>
          <p:nvPr/>
        </p:nvSpPr>
        <p:spPr>
          <a:xfrm>
            <a:off x="749808" y="4315968"/>
            <a:ext cx="3112922" cy="173736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Reset at a fixed address after enabling 16 MB flash. Cause: quad mode asked for, the chip runs dual (DIO). Fix: size, mode and partition table set together.</a:t>
            </a:r>
            <a:endParaRPr lang="en-US" sz="1600" dirty="0"/>
          </a:p>
        </p:txBody>
      </p:sp>
      <p:sp>
        <p:nvSpPr>
          <p:cNvPr id="21" name="Shape 17"/>
          <p:cNvSpPr/>
          <p:nvPr/>
        </p:nvSpPr>
        <p:spPr>
          <a:xfrm>
            <a:off x="4338218" y="3840480"/>
            <a:ext cx="3515258" cy="2286000"/>
          </a:xfrm>
          <a:prstGeom prst="roundRect">
            <a:avLst>
              <a:gd name="adj" fmla="val 4800"/>
            </a:avLst>
          </a:prstGeom>
          <a:solidFill>
            <a:srgbClr val="E8F0FA"/>
          </a:solidFill>
          <a:ln w="12700">
            <a:solidFill>
              <a:srgbClr val="E8F0FA"/>
            </a:solidFill>
            <a:prstDash val="solid"/>
          </a:ln>
        </p:spPr>
      </p:sp>
      <p:sp>
        <p:nvSpPr>
          <p:cNvPr id="22" name="Text 18"/>
          <p:cNvSpPr txBox="1"/>
          <p:nvPr/>
        </p:nvSpPr>
        <p:spPr>
          <a:xfrm>
            <a:off x="4539386" y="3950208"/>
            <a:ext cx="3112922"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Battery checksum</a:t>
            </a:r>
            <a:endParaRPr lang="en-US" sz="1600" dirty="0"/>
          </a:p>
        </p:txBody>
      </p:sp>
      <p:sp>
        <p:nvSpPr>
          <p:cNvPr id="23" name="Text 19"/>
          <p:cNvSpPr txBox="1"/>
          <p:nvPr/>
        </p:nvSpPr>
        <p:spPr>
          <a:xfrm>
            <a:off x="4539386" y="4315968"/>
            <a:ext cx="3112922" cy="173736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Every frame rejected. The firmware's own query frame showed the rule: the register byte was left out, so replies failed by 3. Fixed: 74.78 V read.</a:t>
            </a:r>
            <a:endParaRPr lang="en-US" sz="1600" dirty="0"/>
          </a:p>
        </p:txBody>
      </p:sp>
      <p:sp>
        <p:nvSpPr>
          <p:cNvPr id="24" name="Shape 20"/>
          <p:cNvSpPr/>
          <p:nvPr/>
        </p:nvSpPr>
        <p:spPr>
          <a:xfrm>
            <a:off x="8127797" y="3840480"/>
            <a:ext cx="3515258" cy="2286000"/>
          </a:xfrm>
          <a:prstGeom prst="roundRect">
            <a:avLst>
              <a:gd name="adj" fmla="val 4800"/>
            </a:avLst>
          </a:prstGeom>
          <a:solidFill>
            <a:srgbClr val="E8F0FA"/>
          </a:solidFill>
          <a:ln w="12700">
            <a:solidFill>
              <a:srgbClr val="E8F0FA"/>
            </a:solidFill>
            <a:prstDash val="solid"/>
          </a:ln>
        </p:spPr>
      </p:sp>
      <p:sp>
        <p:nvSpPr>
          <p:cNvPr id="25" name="Text 21"/>
          <p:cNvSpPr txBox="1"/>
          <p:nvPr/>
        </p:nvSpPr>
        <p:spPr>
          <a:xfrm>
            <a:off x="8328965" y="3950208"/>
            <a:ext cx="3112922"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Invalid JSON in the log</a:t>
            </a:r>
            <a:endParaRPr lang="en-US" sz="1600" dirty="0"/>
          </a:p>
        </p:txBody>
      </p:sp>
      <p:sp>
        <p:nvSpPr>
          <p:cNvPr id="26" name="Text 22"/>
          <p:cNvSpPr txBox="1"/>
          <p:nvPr/>
        </p:nvSpPr>
        <p:spPr>
          <a:xfrm>
            <a:off x="8328965" y="4315968"/>
            <a:ext cx="3112922" cy="173736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5,545 of 6,020 records failed to parse. A length-checked read-back showed the transfer intact; cause: nan for missing values. Fix: null; all parse.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Telemetry: log first, then store and forward</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7</a:t>
            </a:r>
            <a:endParaRPr lang="en-US" sz="1100" dirty="0"/>
          </a:p>
        </p:txBody>
      </p:sp>
      <p:sp>
        <p:nvSpPr>
          <p:cNvPr id="9" name="Shape 5"/>
          <p:cNvSpPr/>
          <p:nvPr/>
        </p:nvSpPr>
        <p:spPr>
          <a:xfrm>
            <a:off x="548640" y="1280160"/>
            <a:ext cx="6355080" cy="4892040"/>
          </a:xfrm>
          <a:prstGeom prst="roundRect">
            <a:avLst>
              <a:gd name="adj" fmla="val 2243"/>
            </a:avLst>
          </a:prstGeom>
          <a:solidFill>
            <a:srgbClr val="E8F0FA"/>
          </a:solidFill>
          <a:ln w="12700">
            <a:solidFill>
              <a:srgbClr val="E8F0FA"/>
            </a:solidFill>
            <a:prstDash val="solid"/>
          </a:ln>
        </p:spPr>
      </p:sp>
      <p:sp>
        <p:nvSpPr>
          <p:cNvPr id="10" name="Text 6"/>
          <p:cNvSpPr txBox="1"/>
          <p:nvPr/>
        </p:nvSpPr>
        <p:spPr>
          <a:xfrm>
            <a:off x="777240" y="1389888"/>
            <a:ext cx="5897880" cy="347472"/>
          </a:xfrm>
          <a:prstGeom prst="rect">
            <a:avLst/>
          </a:prstGeom>
          <a:noFill/>
          <a:ln/>
        </p:spPr>
        <p:txBody>
          <a:bodyPr wrap="square" lIns="0" tIns="0" rIns="0" bIns="0" rtlCol="0" anchor="ctr"/>
          <a:lstStyle/>
          <a:p>
            <a:pPr indent="0" marL="0">
              <a:buNone/>
            </a:pPr>
            <a:r>
              <a:rPr lang="en-US" sz="1700" b="1" dirty="0">
                <a:solidFill>
                  <a:srgbClr val="14305C"/>
                </a:solidFill>
                <a:latin typeface="Calibri" pitchFamily="34" charset="0"/>
                <a:ea typeface="Calibri" pitchFamily="34" charset="-122"/>
                <a:cs typeface="Calibri" pitchFamily="34" charset="-120"/>
              </a:rPr>
              <a:t>Bench: 10-minute LTE outage</a:t>
            </a:r>
            <a:endParaRPr lang="en-US" sz="1700" dirty="0"/>
          </a:p>
        </p:txBody>
      </p:sp>
      <p:pic>
        <p:nvPicPr>
          <p:cNvPr id="11" name="Image 1" descr="C:\Users\0geda\OneDrive - University of Cape Town\Documents\PlatformIO\Projects\Tukzie-HPEC-HUD\Report\figures\results\t15_outage_backlog.png">    </p:cNvPr>
          <p:cNvPicPr>
            <a:picLocks noChangeAspect="1"/>
          </p:cNvPicPr>
          <p:nvPr/>
        </p:nvPicPr>
        <p:blipFill>
          <a:blip r:embed="rId2"/>
          <a:stretch>
            <a:fillRect/>
          </a:stretch>
        </p:blipFill>
        <p:spPr>
          <a:xfrm>
            <a:off x="777240" y="1828800"/>
            <a:ext cx="5897880" cy="2219580"/>
          </a:xfrm>
          <a:prstGeom prst="rect">
            <a:avLst/>
          </a:prstGeom>
        </p:spPr>
      </p:pic>
      <p:sp>
        <p:nvSpPr>
          <p:cNvPr id="12" name="Shape 7"/>
          <p:cNvSpPr/>
          <p:nvPr/>
        </p:nvSpPr>
        <p:spPr>
          <a:xfrm>
            <a:off x="777240" y="4276980"/>
            <a:ext cx="1844040" cy="1712340"/>
          </a:xfrm>
          <a:prstGeom prst="roundRect">
            <a:avLst>
              <a:gd name="adj" fmla="val 6408"/>
            </a:avLst>
          </a:prstGeom>
          <a:solidFill>
            <a:srgbClr val="FFFFFF"/>
          </a:solidFill>
          <a:ln w="12700">
            <a:solidFill>
              <a:srgbClr val="FFFFFF"/>
            </a:solidFill>
            <a:prstDash val="solid"/>
          </a:ln>
        </p:spPr>
      </p:sp>
      <p:sp>
        <p:nvSpPr>
          <p:cNvPr id="13" name="Text 8"/>
          <p:cNvSpPr txBox="1"/>
          <p:nvPr/>
        </p:nvSpPr>
        <p:spPr>
          <a:xfrm>
            <a:off x="978408" y="4386708"/>
            <a:ext cx="1441704" cy="457200"/>
          </a:xfrm>
          <a:prstGeom prst="rect">
            <a:avLst/>
          </a:prstGeom>
          <a:noFill/>
          <a:ln/>
        </p:spPr>
        <p:txBody>
          <a:bodyPr wrap="square" lIns="0" tIns="0" rIns="0" bIns="0" rtlCol="0" anchor="ctr"/>
          <a:lstStyle/>
          <a:p>
            <a:pPr indent="0" marL="0">
              <a:buNone/>
            </a:pPr>
            <a:r>
              <a:rPr lang="en-US" sz="2600" b="1" dirty="0">
                <a:solidFill>
                  <a:srgbClr val="14305C"/>
                </a:solidFill>
                <a:latin typeface="Calibri" pitchFamily="34" charset="0"/>
                <a:ea typeface="Calibri" pitchFamily="34" charset="-122"/>
                <a:cs typeface="Calibri" pitchFamily="34" charset="-120"/>
              </a:rPr>
              <a:t>5.2 s</a:t>
            </a:r>
            <a:endParaRPr lang="en-US" sz="2600" dirty="0"/>
          </a:p>
        </p:txBody>
      </p:sp>
      <p:sp>
        <p:nvSpPr>
          <p:cNvPr id="14" name="Text 9"/>
          <p:cNvSpPr txBox="1"/>
          <p:nvPr/>
        </p:nvSpPr>
        <p:spPr>
          <a:xfrm>
            <a:off x="978408" y="4880484"/>
            <a:ext cx="1441704" cy="1035684"/>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to reconnect after the radio returned</a:t>
            </a:r>
            <a:endParaRPr lang="en-US" sz="1400" dirty="0"/>
          </a:p>
        </p:txBody>
      </p:sp>
      <p:sp>
        <p:nvSpPr>
          <p:cNvPr id="15" name="Shape 10"/>
          <p:cNvSpPr/>
          <p:nvPr/>
        </p:nvSpPr>
        <p:spPr>
          <a:xfrm>
            <a:off x="2804160" y="4276980"/>
            <a:ext cx="1844040" cy="1712340"/>
          </a:xfrm>
          <a:prstGeom prst="roundRect">
            <a:avLst>
              <a:gd name="adj" fmla="val 6408"/>
            </a:avLst>
          </a:prstGeom>
          <a:solidFill>
            <a:srgbClr val="FFFFFF"/>
          </a:solidFill>
          <a:ln w="12700">
            <a:solidFill>
              <a:srgbClr val="FFFFFF"/>
            </a:solidFill>
            <a:prstDash val="solid"/>
          </a:ln>
        </p:spPr>
      </p:sp>
      <p:sp>
        <p:nvSpPr>
          <p:cNvPr id="16" name="Text 11"/>
          <p:cNvSpPr txBox="1"/>
          <p:nvPr/>
        </p:nvSpPr>
        <p:spPr>
          <a:xfrm>
            <a:off x="3005328" y="4386708"/>
            <a:ext cx="1441704" cy="457200"/>
          </a:xfrm>
          <a:prstGeom prst="rect">
            <a:avLst/>
          </a:prstGeom>
          <a:noFill/>
          <a:ln/>
        </p:spPr>
        <p:txBody>
          <a:bodyPr wrap="square" lIns="0" tIns="0" rIns="0" bIns="0" rtlCol="0" anchor="ctr"/>
          <a:lstStyle/>
          <a:p>
            <a:pPr indent="0" marL="0">
              <a:buNone/>
            </a:pPr>
            <a:r>
              <a:rPr lang="en-US" sz="2600" b="1" dirty="0">
                <a:solidFill>
                  <a:srgbClr val="14305C"/>
                </a:solidFill>
                <a:latin typeface="Calibri" pitchFamily="34" charset="0"/>
                <a:ea typeface="Calibri" pitchFamily="34" charset="-122"/>
                <a:cs typeface="Calibri" pitchFamily="34" charset="-120"/>
              </a:rPr>
              <a:t>38 s</a:t>
            </a:r>
            <a:endParaRPr lang="en-US" sz="2600" dirty="0"/>
          </a:p>
        </p:txBody>
      </p:sp>
      <p:sp>
        <p:nvSpPr>
          <p:cNvPr id="17" name="Text 12"/>
          <p:cNvSpPr txBox="1"/>
          <p:nvPr/>
        </p:nvSpPr>
        <p:spPr>
          <a:xfrm>
            <a:off x="3005328" y="4880484"/>
            <a:ext cx="1441704" cy="1035684"/>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to clear the 60-record backlog</a:t>
            </a:r>
            <a:endParaRPr lang="en-US" sz="1400" dirty="0"/>
          </a:p>
        </p:txBody>
      </p:sp>
      <p:sp>
        <p:nvSpPr>
          <p:cNvPr id="18" name="Shape 13"/>
          <p:cNvSpPr/>
          <p:nvPr/>
        </p:nvSpPr>
        <p:spPr>
          <a:xfrm>
            <a:off x="4831080" y="4276980"/>
            <a:ext cx="1844040" cy="1712340"/>
          </a:xfrm>
          <a:prstGeom prst="roundRect">
            <a:avLst>
              <a:gd name="adj" fmla="val 6408"/>
            </a:avLst>
          </a:prstGeom>
          <a:solidFill>
            <a:srgbClr val="FFFFFF"/>
          </a:solidFill>
          <a:ln w="12700">
            <a:solidFill>
              <a:srgbClr val="FFFFFF"/>
            </a:solidFill>
            <a:prstDash val="solid"/>
          </a:ln>
        </p:spPr>
      </p:sp>
      <p:sp>
        <p:nvSpPr>
          <p:cNvPr id="19" name="Text 14"/>
          <p:cNvSpPr txBox="1"/>
          <p:nvPr/>
        </p:nvSpPr>
        <p:spPr>
          <a:xfrm>
            <a:off x="5032248" y="4386708"/>
            <a:ext cx="1441704" cy="457200"/>
          </a:xfrm>
          <a:prstGeom prst="rect">
            <a:avLst/>
          </a:prstGeom>
          <a:noFill/>
          <a:ln/>
        </p:spPr>
        <p:txBody>
          <a:bodyPr wrap="square" lIns="0" tIns="0" rIns="0" bIns="0" rtlCol="0" anchor="ctr"/>
          <a:lstStyle/>
          <a:p>
            <a:pPr indent="0" marL="0">
              <a:buNone/>
            </a:pPr>
            <a:r>
              <a:rPr lang="en-US" sz="2600" b="1" dirty="0">
                <a:solidFill>
                  <a:srgbClr val="14305C"/>
                </a:solidFill>
                <a:latin typeface="Calibri" pitchFamily="34" charset="0"/>
                <a:ea typeface="Calibri" pitchFamily="34" charset="-122"/>
                <a:cs typeface="Calibri" pitchFamily="34" charset="-120"/>
              </a:rPr>
              <a:t>112 / 112</a:t>
            </a:r>
            <a:endParaRPr lang="en-US" sz="2600" dirty="0"/>
          </a:p>
        </p:txBody>
      </p:sp>
      <p:sp>
        <p:nvSpPr>
          <p:cNvPr id="20" name="Text 15"/>
          <p:cNvSpPr txBox="1"/>
          <p:nvPr/>
        </p:nvSpPr>
        <p:spPr>
          <a:xfrm>
            <a:off x="5032248" y="4880484"/>
            <a:ext cx="1441704" cy="1035684"/>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records stored, none missing or doubled</a:t>
            </a:r>
            <a:endParaRPr lang="en-US" sz="1400" dirty="0"/>
          </a:p>
        </p:txBody>
      </p:sp>
      <p:sp>
        <p:nvSpPr>
          <p:cNvPr id="21" name="Shape 16"/>
          <p:cNvSpPr/>
          <p:nvPr/>
        </p:nvSpPr>
        <p:spPr>
          <a:xfrm>
            <a:off x="7223760" y="1280160"/>
            <a:ext cx="4419295" cy="4892040"/>
          </a:xfrm>
          <a:prstGeom prst="roundRect">
            <a:avLst>
              <a:gd name="adj" fmla="val 2483"/>
            </a:avLst>
          </a:prstGeom>
          <a:solidFill>
            <a:srgbClr val="E8F0FA"/>
          </a:solidFill>
          <a:ln w="12700">
            <a:solidFill>
              <a:srgbClr val="E8F0FA"/>
            </a:solidFill>
            <a:prstDash val="solid"/>
          </a:ln>
        </p:spPr>
      </p:sp>
      <p:sp>
        <p:nvSpPr>
          <p:cNvPr id="22" name="Text 17"/>
          <p:cNvSpPr txBox="1"/>
          <p:nvPr/>
        </p:nvSpPr>
        <p:spPr>
          <a:xfrm>
            <a:off x="7452360" y="1389888"/>
            <a:ext cx="3962095" cy="347472"/>
          </a:xfrm>
          <a:prstGeom prst="rect">
            <a:avLst/>
          </a:prstGeom>
          <a:noFill/>
          <a:ln/>
        </p:spPr>
        <p:txBody>
          <a:bodyPr wrap="square" lIns="0" tIns="0" rIns="0" bIns="0" rtlCol="0" anchor="ctr"/>
          <a:lstStyle/>
          <a:p>
            <a:pPr indent="0" marL="0">
              <a:buNone/>
            </a:pPr>
            <a:r>
              <a:rPr lang="en-US" sz="1700" b="1" dirty="0">
                <a:solidFill>
                  <a:srgbClr val="14305C"/>
                </a:solidFill>
                <a:latin typeface="Calibri" pitchFamily="34" charset="0"/>
                <a:ea typeface="Calibri" pitchFamily="34" charset="-122"/>
                <a:cs typeface="Calibri" pitchFamily="34" charset="-120"/>
              </a:rPr>
              <a:t>Road, 27 October</a:t>
            </a:r>
            <a:endParaRPr lang="en-US" sz="1700" dirty="0"/>
          </a:p>
        </p:txBody>
      </p:sp>
      <p:sp>
        <p:nvSpPr>
          <p:cNvPr id="23" name="Text 18"/>
          <p:cNvSpPr txBox="1"/>
          <p:nvPr/>
        </p:nvSpPr>
        <p:spPr>
          <a:xfrm>
            <a:off x="7452360" y="1828800"/>
            <a:ext cx="1600200" cy="502920"/>
          </a:xfrm>
          <a:prstGeom prst="rect">
            <a:avLst/>
          </a:prstGeom>
          <a:noFill/>
          <a:ln/>
        </p:spPr>
        <p:txBody>
          <a:bodyPr wrap="square" lIns="0" tIns="0" rIns="0" bIns="0" rtlCol="0" anchor="ctr"/>
          <a:lstStyle/>
          <a:p>
            <a:pPr indent="0" marL="0">
              <a:buNone/>
            </a:pPr>
            <a:r>
              <a:rPr lang="en-US" sz="2800" b="1" dirty="0">
                <a:solidFill>
                  <a:srgbClr val="14305C"/>
                </a:solidFill>
                <a:latin typeface="Calibri" pitchFamily="34" charset="0"/>
                <a:ea typeface="Calibri" pitchFamily="34" charset="-122"/>
                <a:cs typeface="Calibri" pitchFamily="34" charset="-120"/>
              </a:rPr>
              <a:t>99.9 %</a:t>
            </a:r>
            <a:endParaRPr lang="en-US" sz="2800" dirty="0"/>
          </a:p>
        </p:txBody>
      </p:sp>
      <p:sp>
        <p:nvSpPr>
          <p:cNvPr id="24" name="Text 19"/>
          <p:cNvSpPr txBox="1"/>
          <p:nvPr/>
        </p:nvSpPr>
        <p:spPr>
          <a:xfrm>
            <a:off x="9098280" y="1828800"/>
            <a:ext cx="2316175" cy="10972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4,196 of 4,201 records over the wired link (62 % over USB, 19 Oct)</a:t>
            </a:r>
            <a:endParaRPr lang="en-US" sz="1400" dirty="0"/>
          </a:p>
        </p:txBody>
      </p:sp>
      <p:sp>
        <p:nvSpPr>
          <p:cNvPr id="25" name="Text 20"/>
          <p:cNvSpPr txBox="1"/>
          <p:nvPr/>
        </p:nvSpPr>
        <p:spPr>
          <a:xfrm>
            <a:off x="7452360" y="3017520"/>
            <a:ext cx="1600200" cy="502920"/>
          </a:xfrm>
          <a:prstGeom prst="rect">
            <a:avLst/>
          </a:prstGeom>
          <a:noFill/>
          <a:ln/>
        </p:spPr>
        <p:txBody>
          <a:bodyPr wrap="square" lIns="0" tIns="0" rIns="0" bIns="0" rtlCol="0" anchor="ctr"/>
          <a:lstStyle/>
          <a:p>
            <a:pPr indent="0" marL="0">
              <a:buNone/>
            </a:pPr>
            <a:r>
              <a:rPr lang="en-US" sz="2800" b="1" dirty="0">
                <a:solidFill>
                  <a:srgbClr val="14305C"/>
                </a:solidFill>
                <a:latin typeface="Calibri" pitchFamily="34" charset="0"/>
                <a:ea typeface="Calibri" pitchFamily="34" charset="-122"/>
                <a:cs typeface="Calibri" pitchFamily="34" charset="-120"/>
              </a:rPr>
              <a:t>153</a:t>
            </a:r>
            <a:endParaRPr lang="en-US" sz="2800" dirty="0"/>
          </a:p>
        </p:txBody>
      </p:sp>
      <p:sp>
        <p:nvSpPr>
          <p:cNvPr id="26" name="Text 21"/>
          <p:cNvSpPr txBox="1"/>
          <p:nvPr/>
        </p:nvSpPr>
        <p:spPr>
          <a:xfrm>
            <a:off x="9098280" y="3017520"/>
            <a:ext cx="2316175" cy="10972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records over LTE, 116 of them replayed from the backlog</a:t>
            </a:r>
            <a:endParaRPr lang="en-US" sz="1400" dirty="0"/>
          </a:p>
        </p:txBody>
      </p:sp>
      <p:sp>
        <p:nvSpPr>
          <p:cNvPr id="27" name="Text 22"/>
          <p:cNvSpPr txBox="1"/>
          <p:nvPr/>
        </p:nvSpPr>
        <p:spPr>
          <a:xfrm>
            <a:off x="7452360" y="4206240"/>
            <a:ext cx="1600200" cy="502920"/>
          </a:xfrm>
          <a:prstGeom prst="rect">
            <a:avLst/>
          </a:prstGeom>
          <a:noFill/>
          <a:ln/>
        </p:spPr>
        <p:txBody>
          <a:bodyPr wrap="square" lIns="0" tIns="0" rIns="0" bIns="0" rtlCol="0" anchor="ctr"/>
          <a:lstStyle/>
          <a:p>
            <a:pPr indent="0" marL="0">
              <a:buNone/>
            </a:pPr>
            <a:r>
              <a:rPr lang="en-US" sz="2800" b="1" dirty="0">
                <a:solidFill>
                  <a:srgbClr val="14305C"/>
                </a:solidFill>
                <a:latin typeface="Calibri" pitchFamily="34" charset="0"/>
                <a:ea typeface="Calibri" pitchFamily="34" charset="-122"/>
                <a:cs typeface="Calibri" pitchFamily="34" charset="-120"/>
              </a:rPr>
              <a:t>0.44 s</a:t>
            </a:r>
            <a:endParaRPr lang="en-US" sz="2800" dirty="0"/>
          </a:p>
        </p:txBody>
      </p:sp>
      <p:sp>
        <p:nvSpPr>
          <p:cNvPr id="28" name="Text 23"/>
          <p:cNvSpPr txBox="1"/>
          <p:nvPr/>
        </p:nvSpPr>
        <p:spPr>
          <a:xfrm>
            <a:off x="9098280" y="4206240"/>
            <a:ext cx="2316175" cy="10972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median delay from stamp to database (n = 9)</a:t>
            </a:r>
            <a:endParaRPr lang="en-US" sz="1400" dirty="0"/>
          </a:p>
        </p:txBody>
      </p:sp>
      <p:sp>
        <p:nvSpPr>
          <p:cNvPr id="29" name="Shape 24"/>
          <p:cNvSpPr/>
          <p:nvPr/>
        </p:nvSpPr>
        <p:spPr>
          <a:xfrm>
            <a:off x="7452360" y="5440680"/>
            <a:ext cx="3962095" cy="548640"/>
          </a:xfrm>
          <a:prstGeom prst="roundRect">
            <a:avLst>
              <a:gd name="adj" fmla="val 20000"/>
            </a:avLst>
          </a:prstGeom>
          <a:solidFill>
            <a:srgbClr val="FFFFFF"/>
          </a:solidFill>
          <a:ln w="25400">
            <a:solidFill>
              <a:srgbClr val="B85C00"/>
            </a:solidFill>
            <a:prstDash val="dash"/>
          </a:ln>
        </p:spPr>
      </p:sp>
      <p:sp>
        <p:nvSpPr>
          <p:cNvPr id="30" name="Text 25"/>
          <p:cNvSpPr txBox="1"/>
          <p:nvPr/>
        </p:nvSpPr>
        <p:spPr>
          <a:xfrm>
            <a:off x="7635240" y="5440680"/>
            <a:ext cx="3596335" cy="548640"/>
          </a:xfrm>
          <a:prstGeom prst="rect">
            <a:avLst/>
          </a:prstGeom>
          <a:noFill/>
          <a:ln/>
        </p:spPr>
        <p:txBody>
          <a:bodyPr wrap="square" lIns="0" tIns="0" rIns="0" bIns="0" rtlCol="0" anchor="ctr"/>
          <a:lstStyle/>
          <a:p>
            <a:pPr indent="0" marL="0">
              <a:buNone/>
            </a:pPr>
            <a:r>
              <a:rPr lang="en-US" sz="1400" b="1" dirty="0">
                <a:solidFill>
                  <a:srgbClr val="B85C00"/>
                </a:solidFill>
                <a:latin typeface="Calibri" pitchFamily="34" charset="0"/>
                <a:ea typeface="Calibri" pitchFamily="34" charset="-122"/>
                <a:cs typeface="Calibri" pitchFamily="34" charset="-120"/>
              </a:rPr>
              <a:t>From 11:51 the LTE link did not reconnect; the rest stayed in the unit's log.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Hazard detection on the road: front and rear</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8</a:t>
            </a:r>
            <a:endParaRPr lang="en-US" sz="1100" dirty="0"/>
          </a:p>
        </p:txBody>
      </p:sp>
      <p:pic>
        <p:nvPicPr>
          <p:cNvPr id="9" name="Image 1" descr="C:\Users\0geda\OneDrive - University of Cape Town\Documents\PlatformIO\Projects\Tukzie-HPEC-HUD\Report\figures\ui\ui_dualcam_rear_approaching.png">    </p:cNvPr>
          <p:cNvPicPr>
            <a:picLocks noChangeAspect="1"/>
          </p:cNvPicPr>
          <p:nvPr/>
        </p:nvPicPr>
        <p:blipFill>
          <a:blip r:embed="rId2"/>
          <a:stretch>
            <a:fillRect/>
          </a:stretch>
        </p:blipFill>
        <p:spPr>
          <a:xfrm>
            <a:off x="548640" y="1280160"/>
            <a:ext cx="5760720" cy="3600450"/>
          </a:xfrm>
          <a:prstGeom prst="rect">
            <a:avLst/>
          </a:prstGeom>
        </p:spPr>
      </p:pic>
      <p:sp>
        <p:nvSpPr>
          <p:cNvPr id="10" name="Text 5"/>
          <p:cNvSpPr txBox="1"/>
          <p:nvPr/>
        </p:nvSpPr>
        <p:spPr>
          <a:xfrm>
            <a:off x="548640" y="4953762"/>
            <a:ext cx="5760720" cy="27432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Dashboard, rear view mirrored, with an approaching-object warning (test image)</a:t>
            </a:r>
            <a:endParaRPr lang="en-US" sz="1200" dirty="0"/>
          </a:p>
        </p:txBody>
      </p:sp>
      <p:sp>
        <p:nvSpPr>
          <p:cNvPr id="11" name="Shape 6"/>
          <p:cNvSpPr/>
          <p:nvPr/>
        </p:nvSpPr>
        <p:spPr>
          <a:xfrm>
            <a:off x="548640" y="5337810"/>
            <a:ext cx="5760720" cy="834390"/>
          </a:xfrm>
          <a:prstGeom prst="roundRect">
            <a:avLst>
              <a:gd name="adj" fmla="val 13151"/>
            </a:avLst>
          </a:prstGeom>
          <a:solidFill>
            <a:srgbClr val="E8F0FA"/>
          </a:solidFill>
          <a:ln w="12700">
            <a:solidFill>
              <a:srgbClr val="E8F0FA"/>
            </a:solidFill>
            <a:prstDash val="solid"/>
          </a:ln>
        </p:spPr>
      </p:sp>
      <p:sp>
        <p:nvSpPr>
          <p:cNvPr id="12" name="Text 7"/>
          <p:cNvSpPr txBox="1"/>
          <p:nvPr/>
        </p:nvSpPr>
        <p:spPr>
          <a:xfrm>
            <a:off x="777240" y="5337810"/>
            <a:ext cx="5303520" cy="834390"/>
          </a:xfrm>
          <a:prstGeom prst="rect">
            <a:avLst/>
          </a:prstGeom>
          <a:noFill/>
          <a:ln/>
        </p:spPr>
        <p:txBody>
          <a:bodyPr wrap="square" lIns="0" tIns="0" rIns="0" bIns="0" rtlCol="0" anchor="ctr"/>
          <a:lstStyle/>
          <a:p>
            <a:pPr indent="0" marL="0">
              <a:buNone/>
            </a:pPr>
            <a:r>
              <a:rPr lang="en-US" sz="1500" b="1" dirty="0">
                <a:solidFill>
                  <a:srgbClr val="14305C"/>
                </a:solidFill>
                <a:latin typeface="Calibri" pitchFamily="34" charset="0"/>
                <a:ea typeface="Calibri" pitchFamily="34" charset="-122"/>
                <a:cs typeface="Calibri" pitchFamily="34" charset="-120"/>
              </a:rPr>
              <a:t>Time to contact </a:t>
            </a:r>
            <a:pPr indent="0" marL="0">
              <a:buNone/>
            </a:pPr>
            <a:r>
              <a:rPr lang="en-US" sz="1500" dirty="0">
                <a:solidFill>
                  <a:srgbClr val="1B1F24"/>
                </a:solidFill>
                <a:latin typeface="Calibri" pitchFamily="34" charset="0"/>
                <a:ea typeface="Calibri" pitchFamily="34" charset="-122"/>
                <a:cs typeface="Calibri" pitchFamily="34" charset="-120"/>
              </a:rPr>
              <a:t>from box growth, τ = w / (dw/dt): within 2 % in 40 synthetic tests; no real approach yet.</a:t>
            </a:r>
            <a:endParaRPr lang="en-US" sz="1500" dirty="0"/>
          </a:p>
        </p:txBody>
      </p:sp>
      <p:sp>
        <p:nvSpPr>
          <p:cNvPr id="13" name="Shape 8"/>
          <p:cNvSpPr/>
          <p:nvPr/>
        </p:nvSpPr>
        <p:spPr>
          <a:xfrm>
            <a:off x="6675120" y="1280160"/>
            <a:ext cx="2346808" cy="1874520"/>
          </a:xfrm>
          <a:prstGeom prst="roundRect">
            <a:avLst>
              <a:gd name="adj" fmla="val 5854"/>
            </a:avLst>
          </a:prstGeom>
          <a:solidFill>
            <a:srgbClr val="E8F0FA"/>
          </a:solidFill>
          <a:ln w="12700">
            <a:solidFill>
              <a:srgbClr val="E8F0FA"/>
            </a:solidFill>
            <a:prstDash val="solid"/>
          </a:ln>
        </p:spPr>
      </p:sp>
      <p:sp>
        <p:nvSpPr>
          <p:cNvPr id="14" name="Text 9"/>
          <p:cNvSpPr txBox="1"/>
          <p:nvPr/>
        </p:nvSpPr>
        <p:spPr>
          <a:xfrm>
            <a:off x="6876288" y="1389888"/>
            <a:ext cx="1944472" cy="640080"/>
          </a:xfrm>
          <a:prstGeom prst="rect">
            <a:avLst/>
          </a:prstGeom>
          <a:noFill/>
          <a:ln/>
        </p:spPr>
        <p:txBody>
          <a:bodyPr wrap="square" lIns="0" tIns="0" rIns="0" bIns="0" rtlCol="0" anchor="ctr"/>
          <a:lstStyle/>
          <a:p>
            <a:pPr indent="0" marL="0">
              <a:buNone/>
            </a:pPr>
            <a:r>
              <a:rPr lang="en-US" sz="3400" b="1" dirty="0">
                <a:solidFill>
                  <a:srgbClr val="14305C"/>
                </a:solidFill>
                <a:latin typeface="Calibri" pitchFamily="34" charset="0"/>
                <a:ea typeface="Calibri" pitchFamily="34" charset="-122"/>
                <a:cs typeface="Calibri" pitchFamily="34" charset="-120"/>
              </a:rPr>
              <a:t>68 ms</a:t>
            </a:r>
            <a:endParaRPr lang="en-US" sz="3400" dirty="0"/>
          </a:p>
        </p:txBody>
      </p:sp>
      <p:sp>
        <p:nvSpPr>
          <p:cNvPr id="15" name="Text 10"/>
          <p:cNvSpPr txBox="1"/>
          <p:nvPr/>
        </p:nvSpPr>
        <p:spPr>
          <a:xfrm>
            <a:off x="6876288" y="2066544"/>
            <a:ext cx="1944472" cy="1014984"/>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front, Pi 5: median on the road, 23.3 fps (bench 51 to 54 ms)</a:t>
            </a:r>
            <a:endParaRPr lang="en-US" sz="1400" dirty="0"/>
          </a:p>
        </p:txBody>
      </p:sp>
      <p:sp>
        <p:nvSpPr>
          <p:cNvPr id="16" name="Shape 11"/>
          <p:cNvSpPr/>
          <p:nvPr/>
        </p:nvSpPr>
        <p:spPr>
          <a:xfrm>
            <a:off x="9296248" y="1280160"/>
            <a:ext cx="2346808" cy="1874520"/>
          </a:xfrm>
          <a:prstGeom prst="roundRect">
            <a:avLst>
              <a:gd name="adj" fmla="val 5854"/>
            </a:avLst>
          </a:prstGeom>
          <a:solidFill>
            <a:srgbClr val="E8F0FA"/>
          </a:solidFill>
          <a:ln w="12700">
            <a:solidFill>
              <a:srgbClr val="E8F0FA"/>
            </a:solidFill>
            <a:prstDash val="solid"/>
          </a:ln>
        </p:spPr>
      </p:sp>
      <p:sp>
        <p:nvSpPr>
          <p:cNvPr id="17" name="Text 12"/>
          <p:cNvSpPr txBox="1"/>
          <p:nvPr/>
        </p:nvSpPr>
        <p:spPr>
          <a:xfrm>
            <a:off x="9497416" y="1389888"/>
            <a:ext cx="1944472" cy="640080"/>
          </a:xfrm>
          <a:prstGeom prst="rect">
            <a:avLst/>
          </a:prstGeom>
          <a:noFill/>
          <a:ln/>
        </p:spPr>
        <p:txBody>
          <a:bodyPr wrap="square" lIns="0" tIns="0" rIns="0" bIns="0" rtlCol="0" anchor="ctr"/>
          <a:lstStyle/>
          <a:p>
            <a:pPr indent="0" marL="0">
              <a:buNone/>
            </a:pPr>
            <a:r>
              <a:rPr lang="en-US" sz="3400" b="1" dirty="0">
                <a:solidFill>
                  <a:srgbClr val="14305C"/>
                </a:solidFill>
                <a:latin typeface="Calibri" pitchFamily="34" charset="0"/>
                <a:ea typeface="Calibri" pitchFamily="34" charset="-122"/>
                <a:cs typeface="Calibri" pitchFamily="34" charset="-120"/>
              </a:rPr>
              <a:t>103 ms</a:t>
            </a:r>
            <a:endParaRPr lang="en-US" sz="3400" dirty="0"/>
          </a:p>
        </p:txBody>
      </p:sp>
      <p:sp>
        <p:nvSpPr>
          <p:cNvPr id="18" name="Text 13"/>
          <p:cNvSpPr txBox="1"/>
          <p:nvPr/>
        </p:nvSpPr>
        <p:spPr>
          <a:xfrm>
            <a:off x="9497416" y="2066544"/>
            <a:ext cx="1944472" cy="1014984"/>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rear, Pi 4: median on the road, 12.1 fps (bench 118 to 122 ms)</a:t>
            </a:r>
            <a:endParaRPr lang="en-US" sz="1400" dirty="0"/>
          </a:p>
        </p:txBody>
      </p:sp>
      <p:sp>
        <p:nvSpPr>
          <p:cNvPr id="19" name="Shape 14"/>
          <p:cNvSpPr/>
          <p:nvPr/>
        </p:nvSpPr>
        <p:spPr>
          <a:xfrm>
            <a:off x="6675120" y="3429000"/>
            <a:ext cx="4967935" cy="1143000"/>
          </a:xfrm>
          <a:prstGeom prst="roundRect">
            <a:avLst>
              <a:gd name="adj" fmla="val 9600"/>
            </a:avLst>
          </a:prstGeom>
          <a:solidFill>
            <a:srgbClr val="E8F0FA"/>
          </a:solidFill>
          <a:ln w="12700">
            <a:solidFill>
              <a:srgbClr val="E8F0FA"/>
            </a:solidFill>
            <a:prstDash val="solid"/>
          </a:ln>
        </p:spPr>
      </p:sp>
      <p:sp>
        <p:nvSpPr>
          <p:cNvPr id="20" name="Text 15"/>
          <p:cNvSpPr txBox="1"/>
          <p:nvPr/>
        </p:nvSpPr>
        <p:spPr>
          <a:xfrm>
            <a:off x="6876288" y="3538728"/>
            <a:ext cx="4565599"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Alert logic and privacy</a:t>
            </a:r>
            <a:endParaRPr lang="en-US" sz="1600" dirty="0"/>
          </a:p>
        </p:txBody>
      </p:sp>
      <p:sp>
        <p:nvSpPr>
          <p:cNvPr id="21" name="Text 16"/>
          <p:cNvSpPr txBox="1"/>
          <p:nvPr/>
        </p:nvSpPr>
        <p:spPr>
          <a:xfrm>
            <a:off x="6876288" y="3904488"/>
            <a:ext cx="4565599" cy="59436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Raised after 3 frames, cleared after 5. No frame is ever stored.</a:t>
            </a:r>
            <a:endParaRPr lang="en-US" sz="1400" dirty="0"/>
          </a:p>
        </p:txBody>
      </p:sp>
      <p:sp>
        <p:nvSpPr>
          <p:cNvPr id="22" name="Shape 17"/>
          <p:cNvSpPr/>
          <p:nvPr/>
        </p:nvSpPr>
        <p:spPr>
          <a:xfrm>
            <a:off x="6675120" y="4846320"/>
            <a:ext cx="4967935" cy="1325880"/>
          </a:xfrm>
          <a:prstGeom prst="roundRect">
            <a:avLst>
              <a:gd name="adj" fmla="val 8276"/>
            </a:avLst>
          </a:prstGeom>
          <a:solidFill>
            <a:srgbClr val="FFFFFF"/>
          </a:solidFill>
          <a:ln w="25400">
            <a:solidFill>
              <a:srgbClr val="B85C00"/>
            </a:solidFill>
            <a:prstDash val="dash"/>
          </a:ln>
        </p:spPr>
      </p:sp>
      <p:sp>
        <p:nvSpPr>
          <p:cNvPr id="23" name="Text 18"/>
          <p:cNvSpPr txBox="1"/>
          <p:nvPr/>
        </p:nvSpPr>
        <p:spPr>
          <a:xfrm>
            <a:off x="6876288" y="4956048"/>
            <a:ext cx="4565599" cy="329184"/>
          </a:xfrm>
          <a:prstGeom prst="rect">
            <a:avLst/>
          </a:prstGeom>
          <a:noFill/>
          <a:ln/>
        </p:spPr>
        <p:txBody>
          <a:bodyPr wrap="square" lIns="0" tIns="0" rIns="0" bIns="0" rtlCol="0" anchor="ctr"/>
          <a:lstStyle/>
          <a:p>
            <a:pPr indent="0" marL="0">
              <a:buNone/>
            </a:pPr>
            <a:r>
              <a:rPr lang="en-US" sz="1600" b="1" dirty="0">
                <a:solidFill>
                  <a:srgbClr val="B85C00"/>
                </a:solidFill>
                <a:latin typeface="Calibri" pitchFamily="34" charset="0"/>
                <a:ea typeface="Calibri" pitchFamily="34" charset="-122"/>
                <a:cs typeface="Calibri" pitchFamily="34" charset="-120"/>
              </a:rPr>
              <a:t>Not yet checked</a:t>
            </a:r>
            <a:endParaRPr lang="en-US" sz="1600" dirty="0"/>
          </a:p>
        </p:txBody>
      </p:sp>
      <p:sp>
        <p:nvSpPr>
          <p:cNvPr id="24" name="Text 19"/>
          <p:cNvSpPr txBox="1"/>
          <p:nvPr/>
        </p:nvSpPr>
        <p:spPr>
          <a:xfrm>
            <a:off x="6876288" y="5321808"/>
            <a:ext cx="4565599" cy="77724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No forward video kept, so road precision is unknown. Fused range 0.47 m at about 0.5 m on a person (n = 43); a flat-target check is needed.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The existing dashboard: live alerts, honest legibility</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9</a:t>
            </a:r>
            <a:endParaRPr lang="en-US" sz="1100" dirty="0"/>
          </a:p>
        </p:txBody>
      </p:sp>
      <p:pic>
        <p:nvPicPr>
          <p:cNvPr id="9" name="Image 1" descr="C:\Users\0geda\OneDrive - University of Cape Town\Documents\PlatformIO\Projects\Tukzie-HPEC-HUD\Report\figures\road1\vid_dash_drive.jpg">    </p:cNvPr>
          <p:cNvPicPr>
            <a:picLocks noChangeAspect="1"/>
          </p:cNvPicPr>
          <p:nvPr/>
        </p:nvPicPr>
        <p:blipFill>
          <a:blip r:embed="rId2"/>
          <a:stretch>
            <a:fillRect/>
          </a:stretch>
        </p:blipFill>
        <p:spPr>
          <a:xfrm>
            <a:off x="548640" y="1280160"/>
            <a:ext cx="2339681" cy="4160520"/>
          </a:xfrm>
          <a:prstGeom prst="rect">
            <a:avLst/>
          </a:prstGeom>
        </p:spPr>
      </p:pic>
      <p:sp>
        <p:nvSpPr>
          <p:cNvPr id="10" name="Text 5"/>
          <p:cNvSpPr txBox="1"/>
          <p:nvPr/>
        </p:nvSpPr>
        <p:spPr>
          <a:xfrm>
            <a:off x="548640" y="5513832"/>
            <a:ext cx="2339681" cy="50292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On the vehicle: the driving page</a:t>
            </a:r>
            <a:endParaRPr lang="en-US" sz="1200" dirty="0"/>
          </a:p>
        </p:txBody>
      </p:sp>
      <p:pic>
        <p:nvPicPr>
          <p:cNvPr id="11" name="Image 2" descr="C:\Users\0geda\OneDrive - University of Cape Town\Documents\PlatformIO\Projects\Tukzie-HPEC-HUD\Report\figures\ui\ui_pi5_live_drive.png">    </p:cNvPr>
          <p:cNvPicPr>
            <a:picLocks noChangeAspect="1"/>
          </p:cNvPicPr>
          <p:nvPr/>
        </p:nvPicPr>
        <p:blipFill>
          <a:blip r:embed="rId3"/>
          <a:stretch>
            <a:fillRect/>
          </a:stretch>
        </p:blipFill>
        <p:spPr>
          <a:xfrm>
            <a:off x="3208361" y="1280160"/>
            <a:ext cx="4846320" cy="3028950"/>
          </a:xfrm>
          <a:prstGeom prst="rect">
            <a:avLst/>
          </a:prstGeom>
        </p:spPr>
      </p:pic>
      <p:sp>
        <p:nvSpPr>
          <p:cNvPr id="12" name="Text 6"/>
          <p:cNvSpPr txBox="1"/>
          <p:nvPr/>
        </p:nvSpPr>
        <p:spPr>
          <a:xfrm>
            <a:off x="3208361" y="4382262"/>
            <a:ext cx="4846320" cy="50292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Live on the Pi 5: an obstacle banner over the driving page; absent data shown as absent</a:t>
            </a:r>
            <a:endParaRPr lang="en-US" sz="1200" dirty="0"/>
          </a:p>
        </p:txBody>
      </p:sp>
      <p:sp>
        <p:nvSpPr>
          <p:cNvPr id="13" name="Shape 7"/>
          <p:cNvSpPr/>
          <p:nvPr/>
        </p:nvSpPr>
        <p:spPr>
          <a:xfrm>
            <a:off x="3208361" y="4994910"/>
            <a:ext cx="4846320" cy="1177290"/>
          </a:xfrm>
          <a:prstGeom prst="roundRect">
            <a:avLst>
              <a:gd name="adj" fmla="val 9320"/>
            </a:avLst>
          </a:prstGeom>
          <a:solidFill>
            <a:srgbClr val="E8F0FA"/>
          </a:solidFill>
          <a:ln w="12700">
            <a:solidFill>
              <a:srgbClr val="E8F0FA"/>
            </a:solidFill>
            <a:prstDash val="solid"/>
          </a:ln>
        </p:spPr>
      </p:sp>
      <p:sp>
        <p:nvSpPr>
          <p:cNvPr id="14" name="Text 8"/>
          <p:cNvSpPr txBox="1"/>
          <p:nvPr/>
        </p:nvSpPr>
        <p:spPr>
          <a:xfrm>
            <a:off x="3409529" y="5104638"/>
            <a:ext cx="4443984"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Voice commands, offline</a:t>
            </a:r>
            <a:endParaRPr lang="en-US" sz="1600" dirty="0"/>
          </a:p>
        </p:txBody>
      </p:sp>
      <p:sp>
        <p:nvSpPr>
          <p:cNvPr id="15" name="Text 9"/>
          <p:cNvSpPr txBox="1"/>
          <p:nvPr/>
        </p:nvSpPr>
        <p:spPr>
          <a:xfrm>
            <a:off x="3409529" y="5470398"/>
            <a:ext cx="4443984" cy="62865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15 to 18 of 18 synthetic-voice commands on the bench, in 1.8 to 2.4 s; alerts and battery read out on request. No driver tested.</a:t>
            </a:r>
            <a:endParaRPr lang="en-US" sz="1400" dirty="0"/>
          </a:p>
        </p:txBody>
      </p:sp>
      <p:sp>
        <p:nvSpPr>
          <p:cNvPr id="16" name="Shape 10"/>
          <p:cNvSpPr/>
          <p:nvPr/>
        </p:nvSpPr>
        <p:spPr>
          <a:xfrm>
            <a:off x="8374721" y="1280160"/>
            <a:ext cx="3268335" cy="4892040"/>
          </a:xfrm>
          <a:prstGeom prst="roundRect">
            <a:avLst>
              <a:gd name="adj" fmla="val 3357"/>
            </a:avLst>
          </a:prstGeom>
          <a:solidFill>
            <a:srgbClr val="E8F0FA"/>
          </a:solidFill>
          <a:ln w="12700">
            <a:solidFill>
              <a:srgbClr val="E8F0FA"/>
            </a:solidFill>
            <a:prstDash val="solid"/>
          </a:ln>
        </p:spPr>
      </p:sp>
      <p:sp>
        <p:nvSpPr>
          <p:cNvPr id="17" name="Text 11"/>
          <p:cNvSpPr txBox="1"/>
          <p:nvPr/>
        </p:nvSpPr>
        <p:spPr>
          <a:xfrm>
            <a:off x="8575889" y="1389888"/>
            <a:ext cx="2865999" cy="566928"/>
          </a:xfrm>
          <a:prstGeom prst="rect">
            <a:avLst/>
          </a:prstGeom>
          <a:noFill/>
          <a:ln/>
        </p:spPr>
        <p:txBody>
          <a:bodyPr wrap="square" lIns="0" tIns="0" rIns="0" bIns="0" rtlCol="0" anchor="t"/>
          <a:lstStyle/>
          <a:p>
            <a:pPr indent="0" marL="0">
              <a:buNone/>
            </a:pPr>
            <a:r>
              <a:rPr lang="en-US" sz="1600" b="1" dirty="0">
                <a:solidFill>
                  <a:srgbClr val="14305C"/>
                </a:solidFill>
                <a:latin typeface="Calibri" pitchFamily="34" charset="0"/>
                <a:ea typeface="Calibri" pitchFamily="34" charset="-122"/>
                <a:cs typeface="Calibri" pitchFamily="34" charset="-120"/>
              </a:rPr>
              <a:t>Legibility at 0.62 m (ISO 15008)</a:t>
            </a:r>
            <a:endParaRPr lang="en-US" sz="1600" dirty="0"/>
          </a:p>
        </p:txBody>
      </p:sp>
      <p:sp>
        <p:nvSpPr>
          <p:cNvPr id="18" name="Text 12"/>
          <p:cNvSpPr txBox="1"/>
          <p:nvPr/>
        </p:nvSpPr>
        <p:spPr>
          <a:xfrm>
            <a:off x="8575889" y="2011680"/>
            <a:ext cx="2865999" cy="502920"/>
          </a:xfrm>
          <a:prstGeom prst="rect">
            <a:avLst/>
          </a:prstGeom>
          <a:noFill/>
          <a:ln/>
        </p:spPr>
        <p:txBody>
          <a:bodyPr wrap="square" lIns="0" tIns="0" rIns="0" bIns="0"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94 arc min</a:t>
            </a:r>
            <a:endParaRPr lang="en-US" sz="2800" dirty="0"/>
          </a:p>
        </p:txBody>
      </p:sp>
      <p:sp>
        <p:nvSpPr>
          <p:cNvPr id="19" name="Text 13"/>
          <p:cNvSpPr txBox="1"/>
          <p:nvPr/>
        </p:nvSpPr>
        <p:spPr>
          <a:xfrm>
            <a:off x="8575889" y="2514600"/>
            <a:ext cx="2865999" cy="320040"/>
          </a:xfrm>
          <a:prstGeom prst="rect">
            <a:avLst/>
          </a:prstGeom>
          <a:noFill/>
          <a:ln/>
        </p:spPr>
        <p:txBody>
          <a:bodyPr wrap="square" lIns="0" tIns="0" rIns="0" bIns="0" rtlCol="0" anchor="ctr"/>
          <a:lstStyle/>
          <a:p>
            <a:pPr indent="0" marL="0">
              <a:buNone/>
            </a:pPr>
            <a:r>
              <a:rPr lang="en-US" sz="1400" dirty="0">
                <a:solidFill>
                  <a:srgbClr val="1B1F24"/>
                </a:solidFill>
                <a:latin typeface="Calibri" pitchFamily="34" charset="0"/>
                <a:ea typeface="Calibri" pitchFamily="34" charset="-122"/>
                <a:cs typeface="Calibri" pitchFamily="34" charset="-120"/>
              </a:rPr>
              <a:t>speed digits; 20 recommended</a:t>
            </a:r>
            <a:endParaRPr lang="en-US" sz="1400" dirty="0"/>
          </a:p>
        </p:txBody>
      </p:sp>
      <p:sp>
        <p:nvSpPr>
          <p:cNvPr id="20" name="Text 14"/>
          <p:cNvSpPr txBox="1"/>
          <p:nvPr/>
        </p:nvSpPr>
        <p:spPr>
          <a:xfrm>
            <a:off x="8575889" y="3017520"/>
            <a:ext cx="2865999" cy="502920"/>
          </a:xfrm>
          <a:prstGeom prst="rect">
            <a:avLst/>
          </a:prstGeom>
          <a:noFill/>
          <a:ln/>
        </p:spPr>
        <p:txBody>
          <a:bodyPr wrap="square" lIns="0" tIns="0" rIns="0" bIns="0" rtlCol="0" anchor="ctr"/>
          <a:lstStyle/>
          <a:p>
            <a:pPr indent="0" marL="0">
              <a:buNone/>
            </a:pPr>
            <a:r>
              <a:rPr lang="en-US" sz="2800" b="1" dirty="0">
                <a:solidFill>
                  <a:srgbClr val="B85C00"/>
                </a:solidFill>
                <a:latin typeface="Calibri" pitchFamily="34" charset="0"/>
                <a:ea typeface="Calibri" pitchFamily="34" charset="-122"/>
                <a:cs typeface="Calibri" pitchFamily="34" charset="-120"/>
              </a:rPr>
              <a:t>10 arc min</a:t>
            </a:r>
            <a:endParaRPr lang="en-US" sz="2800" dirty="0"/>
          </a:p>
        </p:txBody>
      </p:sp>
      <p:sp>
        <p:nvSpPr>
          <p:cNvPr id="21" name="Text 15"/>
          <p:cNvSpPr txBox="1"/>
          <p:nvPr/>
        </p:nvSpPr>
        <p:spPr>
          <a:xfrm>
            <a:off x="8575889" y="3520440"/>
            <a:ext cx="2865999" cy="8686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alert banner; below the minimum of 12. Only 4 of 110 labels reach the acceptable 16.</a:t>
            </a:r>
            <a:endParaRPr lang="en-US" sz="1400" dirty="0"/>
          </a:p>
        </p:txBody>
      </p:sp>
      <p:sp>
        <p:nvSpPr>
          <p:cNvPr id="22" name="Text 16"/>
          <p:cNvSpPr txBox="1"/>
          <p:nvPr/>
        </p:nvSpPr>
        <p:spPr>
          <a:xfrm>
            <a:off x="8575889" y="4572000"/>
            <a:ext cx="2865999" cy="1508760"/>
          </a:xfrm>
          <a:prstGeom prst="rect">
            <a:avLst/>
          </a:prstGeom>
          <a:noFill/>
          <a:ln/>
        </p:spPr>
        <p:txBody>
          <a:bodyPr wrap="square" lIns="0" tIns="0" rIns="0" bIns="0" rtlCol="0" anchor="t"/>
          <a:lstStyle/>
          <a:p>
            <a:pPr indent="0" marL="0">
              <a:buNone/>
            </a:pPr>
            <a:r>
              <a:rPr lang="en-US" sz="1400" b="1" dirty="0">
                <a:solidFill>
                  <a:srgbClr val="14305C"/>
                </a:solidFill>
                <a:latin typeface="Calibri" pitchFamily="34" charset="0"/>
                <a:ea typeface="Calibri" pitchFamily="34" charset="-122"/>
                <a:cs typeface="Calibri" pitchFamily="34" charset="-120"/>
              </a:rPr>
              <a:t>The speed is legible at a glance; the warnings are not. Enlarge them first, then a glance study (R12, not tested: needs a participant).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Road test, 27 October: repeatable per pass, not per place</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10</a:t>
            </a:r>
            <a:endParaRPr lang="en-US" sz="1100" dirty="0"/>
          </a:p>
        </p:txBody>
      </p:sp>
      <p:sp>
        <p:nvSpPr>
          <p:cNvPr id="9" name="Shape 5"/>
          <p:cNvSpPr/>
          <p:nvPr/>
        </p:nvSpPr>
        <p:spPr>
          <a:xfrm>
            <a:off x="548640" y="1280160"/>
            <a:ext cx="3611880" cy="3429000"/>
          </a:xfrm>
          <a:prstGeom prst="roundRect">
            <a:avLst>
              <a:gd name="adj" fmla="val 3200"/>
            </a:avLst>
          </a:prstGeom>
          <a:solidFill>
            <a:srgbClr val="FFFFFF"/>
          </a:solidFill>
          <a:ln w="12700">
            <a:solidFill>
              <a:srgbClr val="C9D6E8"/>
            </a:solidFill>
            <a:prstDash val="solid"/>
          </a:ln>
        </p:spPr>
      </p:sp>
      <p:graphicFrame>
        <p:nvGraphicFramePr>
          <p:cNvPr id="10" name="Chart 0" descr=""/>
          <p:cNvGraphicFramePr/>
          <p:nvPr/>
        </p:nvGraphicFramePr>
        <p:xfrm>
          <a:off x="640080" y="1371600"/>
          <a:ext cx="3429000" cy="324612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731520" y="4873752"/>
            <a:ext cx="3246120" cy="457200"/>
          </a:xfrm>
          <a:prstGeom prst="roundRect">
            <a:avLst>
              <a:gd name="adj" fmla="val 50000"/>
            </a:avLst>
          </a:prstGeom>
          <a:solidFill>
            <a:srgbClr val="1565C0"/>
          </a:solidFill>
          <a:ln w="19050">
            <a:solidFill>
              <a:srgbClr val="1565C0"/>
            </a:solidFill>
            <a:prstDash val="solid"/>
          </a:ln>
        </p:spPr>
      </p:sp>
      <p:sp>
        <p:nvSpPr>
          <p:cNvPr id="12" name="Text 7"/>
          <p:cNvSpPr txBox="1"/>
          <p:nvPr/>
        </p:nvSpPr>
        <p:spPr>
          <a:xfrm>
            <a:off x="731520" y="4873752"/>
            <a:ext cx="32461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Met at both ends</a:t>
            </a:r>
            <a:endParaRPr lang="en-US" sz="1400" dirty="0"/>
          </a:p>
        </p:txBody>
      </p:sp>
      <p:sp>
        <p:nvSpPr>
          <p:cNvPr id="13" name="Shape 8"/>
          <p:cNvSpPr/>
          <p:nvPr/>
        </p:nvSpPr>
        <p:spPr>
          <a:xfrm>
            <a:off x="4434840" y="1280160"/>
            <a:ext cx="3611880" cy="3429000"/>
          </a:xfrm>
          <a:prstGeom prst="roundRect">
            <a:avLst>
              <a:gd name="adj" fmla="val 3200"/>
            </a:avLst>
          </a:prstGeom>
          <a:solidFill>
            <a:srgbClr val="FFFFFF"/>
          </a:solidFill>
          <a:ln w="12700">
            <a:solidFill>
              <a:srgbClr val="C9D6E8"/>
            </a:solidFill>
            <a:prstDash val="solid"/>
          </a:ln>
        </p:spPr>
      </p:sp>
      <p:graphicFrame>
        <p:nvGraphicFramePr>
          <p:cNvPr id="14" name="Chart 1" descr=""/>
          <p:cNvGraphicFramePr/>
          <p:nvPr/>
        </p:nvGraphicFramePr>
        <p:xfrm>
          <a:off x="4526280" y="1371600"/>
          <a:ext cx="3429000" cy="3246120"/>
        </p:xfrm>
        <a:graphic xmlns:a="http://schemas.openxmlformats.org/drawingml/2006/main">
          <a:graphicData uri="http://schemas.openxmlformats.org/drawingml/2006/chart">
            <c:chart xmlns:c="http://schemas.openxmlformats.org/drawingml/2006/chart" r:id="rId3"/>
          </a:graphicData>
        </a:graphic>
      </p:graphicFrame>
      <p:sp>
        <p:nvSpPr>
          <p:cNvPr id="15" name="Shape 9"/>
          <p:cNvSpPr/>
          <p:nvPr/>
        </p:nvSpPr>
        <p:spPr>
          <a:xfrm>
            <a:off x="4617720" y="4873752"/>
            <a:ext cx="3246120" cy="457200"/>
          </a:xfrm>
          <a:prstGeom prst="roundRect">
            <a:avLst>
              <a:gd name="adj" fmla="val 50000"/>
            </a:avLst>
          </a:prstGeom>
          <a:solidFill>
            <a:srgbClr val="14305C"/>
          </a:solidFill>
          <a:ln w="19050">
            <a:solidFill>
              <a:srgbClr val="14305C"/>
            </a:solidFill>
            <a:prstDash val="solid"/>
          </a:ln>
        </p:spPr>
      </p:sp>
      <p:sp>
        <p:nvSpPr>
          <p:cNvPr id="16" name="Text 10"/>
          <p:cNvSpPr txBox="1"/>
          <p:nvPr/>
        </p:nvSpPr>
        <p:spPr>
          <a:xfrm>
            <a:off x="4617720" y="4873752"/>
            <a:ext cx="32461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About twice: separates surfaces</a:t>
            </a:r>
            <a:endParaRPr lang="en-US" sz="1400" dirty="0"/>
          </a:p>
        </p:txBody>
      </p:sp>
      <p:sp>
        <p:nvSpPr>
          <p:cNvPr id="17" name="Shape 11"/>
          <p:cNvSpPr/>
          <p:nvPr/>
        </p:nvSpPr>
        <p:spPr>
          <a:xfrm>
            <a:off x="8321040" y="1280160"/>
            <a:ext cx="3322015" cy="2514600"/>
          </a:xfrm>
          <a:prstGeom prst="roundRect">
            <a:avLst>
              <a:gd name="adj" fmla="val 4364"/>
            </a:avLst>
          </a:prstGeom>
          <a:solidFill>
            <a:srgbClr val="FFFFFF"/>
          </a:solidFill>
          <a:ln w="25400">
            <a:solidFill>
              <a:srgbClr val="B85C00"/>
            </a:solidFill>
            <a:prstDash val="dash"/>
          </a:ln>
        </p:spPr>
      </p:sp>
      <p:sp>
        <p:nvSpPr>
          <p:cNvPr id="18" name="Text 12"/>
          <p:cNvSpPr txBox="1"/>
          <p:nvPr/>
        </p:nvSpPr>
        <p:spPr>
          <a:xfrm>
            <a:off x="8522208" y="1389888"/>
            <a:ext cx="2919679" cy="347472"/>
          </a:xfrm>
          <a:prstGeom prst="rect">
            <a:avLst/>
          </a:prstGeom>
          <a:noFill/>
          <a:ln/>
        </p:spPr>
        <p:txBody>
          <a:bodyPr wrap="square" lIns="0" tIns="0" rIns="0" bIns="0" rtlCol="0" anchor="ctr"/>
          <a:lstStyle/>
          <a:p>
            <a:pPr indent="0" marL="0">
              <a:buNone/>
            </a:pPr>
            <a:r>
              <a:rPr lang="en-US" sz="1600" b="1" dirty="0">
                <a:solidFill>
                  <a:srgbClr val="B85C00"/>
                </a:solidFill>
                <a:latin typeface="Calibri" pitchFamily="34" charset="0"/>
                <a:ea typeface="Calibri" pitchFamily="34" charset="-122"/>
                <a:cs typeface="Calibri" pitchFamily="34" charset="-120"/>
              </a:rPr>
              <a:t>Place by place: not met</a:t>
            </a:r>
            <a:endParaRPr lang="en-US" sz="1600" dirty="0"/>
          </a:p>
        </p:txBody>
      </p:sp>
      <p:sp>
        <p:nvSpPr>
          <p:cNvPr id="19" name="Text 13"/>
          <p:cNvSpPr txBox="1"/>
          <p:nvPr/>
        </p:nvSpPr>
        <p:spPr>
          <a:xfrm>
            <a:off x="8522208" y="1783080"/>
            <a:ext cx="2919679" cy="640080"/>
          </a:xfrm>
          <a:prstGeom prst="rect">
            <a:avLst/>
          </a:prstGeom>
          <a:noFill/>
          <a:ln/>
        </p:spPr>
        <p:txBody>
          <a:bodyPr wrap="square" lIns="0" tIns="0" rIns="0" bIns="0" rtlCol="0" anchor="ctr"/>
          <a:lstStyle/>
          <a:p>
            <a:pPr indent="0" marL="0">
              <a:buNone/>
            </a:pPr>
            <a:r>
              <a:rPr lang="en-US" sz="3600" b="1" dirty="0">
                <a:solidFill>
                  <a:srgbClr val="B85C00"/>
                </a:solidFill>
                <a:latin typeface="Calibri" pitchFamily="34" charset="0"/>
                <a:ea typeface="Calibri" pitchFamily="34" charset="-122"/>
                <a:cs typeface="Calibri" pitchFamily="34" charset="-120"/>
              </a:rPr>
              <a:t>ICC 0.16</a:t>
            </a:r>
            <a:endParaRPr lang="en-US" sz="3600" dirty="0"/>
          </a:p>
        </p:txBody>
      </p:sp>
      <p:sp>
        <p:nvSpPr>
          <p:cNvPr id="20" name="Text 14"/>
          <p:cNvSpPr txBox="1"/>
          <p:nvPr/>
        </p:nvSpPr>
        <p:spPr>
          <a:xfrm>
            <a:off x="8522208" y="2468880"/>
            <a:ext cx="2919679" cy="123444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at most 0.32 in sensitivity checks, against 0.75. Whole passes repeat; place by place they do not.</a:t>
            </a:r>
            <a:endParaRPr lang="en-US" sz="1400" dirty="0"/>
          </a:p>
        </p:txBody>
      </p:sp>
      <p:sp>
        <p:nvSpPr>
          <p:cNvPr id="21" name="Shape 15"/>
          <p:cNvSpPr/>
          <p:nvPr/>
        </p:nvSpPr>
        <p:spPr>
          <a:xfrm>
            <a:off x="8321040" y="4069080"/>
            <a:ext cx="3322015" cy="1261872"/>
          </a:xfrm>
          <a:prstGeom prst="roundRect">
            <a:avLst>
              <a:gd name="adj" fmla="val 8696"/>
            </a:avLst>
          </a:prstGeom>
          <a:solidFill>
            <a:srgbClr val="E8F0FA"/>
          </a:solidFill>
          <a:ln w="12700">
            <a:solidFill>
              <a:srgbClr val="E8F0FA"/>
            </a:solidFill>
            <a:prstDash val="solid"/>
          </a:ln>
        </p:spPr>
      </p:sp>
      <p:sp>
        <p:nvSpPr>
          <p:cNvPr id="22" name="Text 16"/>
          <p:cNvSpPr txBox="1"/>
          <p:nvPr/>
        </p:nvSpPr>
        <p:spPr>
          <a:xfrm>
            <a:off x="8522208" y="4178808"/>
            <a:ext cx="2919679"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Speed index I_v rose with speed</a:t>
            </a:r>
            <a:endParaRPr lang="en-US" sz="1600" dirty="0"/>
          </a:p>
        </p:txBody>
      </p:sp>
      <p:sp>
        <p:nvSpPr>
          <p:cNvPr id="23" name="Text 17"/>
          <p:cNvSpPr txBox="1"/>
          <p:nvPr/>
        </p:nvSpPr>
        <p:spPr>
          <a:xfrm>
            <a:off x="8522208" y="4544568"/>
            <a:ext cx="2919679" cy="713232"/>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Rear 1.14, 1.59, 2.44 at about 10, 13, 18 km/h: not speed-invariant.</a:t>
            </a:r>
            <a:endParaRPr lang="en-US" sz="1400" dirty="0"/>
          </a:p>
        </p:txBody>
      </p:sp>
      <p:sp>
        <p:nvSpPr>
          <p:cNvPr id="24" name="Text 18"/>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300" i="1" dirty="0">
                <a:solidFill>
                  <a:srgbClr val="4A5566"/>
                </a:solidFill>
                <a:latin typeface="Calibri" pitchFamily="34" charset="0"/>
                <a:ea typeface="Calibri" pitchFamily="34" charset="-122"/>
                <a:cs typeface="Calibri" pitchFamily="34" charset="-120"/>
              </a:rPr>
              <a:t>Laps 11:30 to 12:40; speed from the phone's GNSS; passes found from speed and current, no section markers or video. Only 2 passes at 15 km/h and 1 at 20 km/h. Battery peaked at 82.9 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Powertrain against road: the road dominates</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11</a:t>
            </a:r>
            <a:endParaRPr lang="en-US" sz="1100" dirty="0"/>
          </a:p>
        </p:txBody>
      </p:sp>
      <p:pic>
        <p:nvPicPr>
          <p:cNvPr id="9" name="Image 1" descr="C:\Users\0geda\OneDrive - University of Cape Town\Documents\PlatformIO\Projects\Tukzie-HPEC-HUD\Report\figures\results\stand_spectra_1023.png">    </p:cNvPr>
          <p:cNvPicPr>
            <a:picLocks noChangeAspect="1"/>
          </p:cNvPicPr>
          <p:nvPr/>
        </p:nvPicPr>
        <p:blipFill>
          <a:blip r:embed="rId2"/>
          <a:stretch>
            <a:fillRect/>
          </a:stretch>
        </p:blipFill>
        <p:spPr>
          <a:xfrm>
            <a:off x="548640" y="1280160"/>
            <a:ext cx="6812280" cy="2452421"/>
          </a:xfrm>
          <a:prstGeom prst="rect">
            <a:avLst/>
          </a:prstGeom>
        </p:spPr>
      </p:pic>
      <p:sp>
        <p:nvSpPr>
          <p:cNvPr id="10" name="Text 5"/>
          <p:cNvSpPr txBox="1"/>
          <p:nvPr/>
        </p:nvSpPr>
        <p:spPr>
          <a:xfrm>
            <a:off x="548640" y="3805733"/>
            <a:ext cx="6812280" cy="548640"/>
          </a:xfrm>
          <a:prstGeom prst="rect">
            <a:avLst/>
          </a:prstGeom>
          <a:noFill/>
          <a:ln/>
        </p:spPr>
        <p:txBody>
          <a:bodyPr wrap="square" lIns="0" tIns="0" rIns="0" bIns="0" rtlCol="0" anchor="t"/>
          <a:lstStyle/>
          <a:p>
            <a:pPr indent="0" marL="0">
              <a:buNone/>
            </a:pPr>
            <a:r>
              <a:rPr lang="en-US" sz="1200" i="1" dirty="0">
                <a:solidFill>
                  <a:srgbClr val="4A5566"/>
                </a:solidFill>
                <a:latin typeface="Calibri" pitchFamily="34" charset="0"/>
                <a:ea typeface="Calibri" pitchFamily="34" charset="-122"/>
                <a:cs typeface="Calibri" pitchFamily="34" charset="-120"/>
              </a:rPr>
              <a:t>Stands, 23 Oct, drive wheel raised: rear vibration 5 to 7 times rest, energy 40 to 70 Hz; the same lines at the front (42.75, 49.0, 64.0 Hz).</a:t>
            </a:r>
            <a:endParaRPr lang="en-US" sz="1200" dirty="0"/>
          </a:p>
        </p:txBody>
      </p:sp>
      <p:sp>
        <p:nvSpPr>
          <p:cNvPr id="11" name="Shape 6"/>
          <p:cNvSpPr/>
          <p:nvPr/>
        </p:nvSpPr>
        <p:spPr>
          <a:xfrm>
            <a:off x="548640" y="4509821"/>
            <a:ext cx="6812280" cy="1662379"/>
          </a:xfrm>
          <a:prstGeom prst="roundRect">
            <a:avLst>
              <a:gd name="adj" fmla="val 6601"/>
            </a:avLst>
          </a:prstGeom>
          <a:solidFill>
            <a:srgbClr val="14305C"/>
          </a:solidFill>
          <a:ln w="12700">
            <a:solidFill>
              <a:srgbClr val="14305C"/>
            </a:solidFill>
            <a:prstDash val="solid"/>
          </a:ln>
        </p:spPr>
      </p:sp>
      <p:sp>
        <p:nvSpPr>
          <p:cNvPr id="12" name="Text 7"/>
          <p:cNvSpPr txBox="1"/>
          <p:nvPr/>
        </p:nvSpPr>
        <p:spPr>
          <a:xfrm>
            <a:off x="822960" y="4509821"/>
            <a:ext cx="6263640" cy="1662379"/>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At these speeds the road dominates the measured vibration; at higher power the 40 to 70 Hz energy of the stand runs would weigh more.</a:t>
            </a:r>
            <a:endParaRPr lang="en-US" sz="1800" dirty="0"/>
          </a:p>
        </p:txBody>
      </p:sp>
      <p:sp>
        <p:nvSpPr>
          <p:cNvPr id="13" name="Shape 8"/>
          <p:cNvSpPr/>
          <p:nvPr/>
        </p:nvSpPr>
        <p:spPr>
          <a:xfrm>
            <a:off x="7680960" y="1280160"/>
            <a:ext cx="3962095" cy="1447800"/>
          </a:xfrm>
          <a:prstGeom prst="roundRect">
            <a:avLst>
              <a:gd name="adj" fmla="val 7579"/>
            </a:avLst>
          </a:prstGeom>
          <a:solidFill>
            <a:srgbClr val="E8F0FA"/>
          </a:solidFill>
          <a:ln w="12700">
            <a:solidFill>
              <a:srgbClr val="E8F0FA"/>
            </a:solidFill>
            <a:prstDash val="solid"/>
          </a:ln>
        </p:spPr>
      </p:sp>
      <p:sp>
        <p:nvSpPr>
          <p:cNvPr id="14" name="Text 9"/>
          <p:cNvSpPr txBox="1"/>
          <p:nvPr/>
        </p:nvSpPr>
        <p:spPr>
          <a:xfrm>
            <a:off x="7882128" y="1389888"/>
            <a:ext cx="3559759" cy="566928"/>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0.9 to 3.1 %</a:t>
            </a:r>
            <a:endParaRPr lang="en-US" sz="3000" dirty="0"/>
          </a:p>
        </p:txBody>
      </p:sp>
      <p:sp>
        <p:nvSpPr>
          <p:cNvPr id="15" name="Text 10"/>
          <p:cNvSpPr txBox="1"/>
          <p:nvPr/>
        </p:nvSpPr>
        <p:spPr>
          <a:xfrm>
            <a:off x="7882128" y="1993392"/>
            <a:ext cx="3559759" cy="661416"/>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of the 0.5 to 80 Hz road energy in the powertrain lines, powered passes (0.4 % coasting)</a:t>
            </a:r>
            <a:endParaRPr lang="en-US" sz="1400" dirty="0"/>
          </a:p>
        </p:txBody>
      </p:sp>
      <p:sp>
        <p:nvSpPr>
          <p:cNvPr id="16" name="Shape 11"/>
          <p:cNvSpPr/>
          <p:nvPr/>
        </p:nvSpPr>
        <p:spPr>
          <a:xfrm>
            <a:off x="7680960" y="3002280"/>
            <a:ext cx="3962095" cy="1447800"/>
          </a:xfrm>
          <a:prstGeom prst="roundRect">
            <a:avLst>
              <a:gd name="adj" fmla="val 7579"/>
            </a:avLst>
          </a:prstGeom>
          <a:solidFill>
            <a:srgbClr val="E8F0FA"/>
          </a:solidFill>
          <a:ln w="12700">
            <a:solidFill>
              <a:srgbClr val="E8F0FA"/>
            </a:solidFill>
            <a:prstDash val="solid"/>
          </a:ln>
        </p:spPr>
      </p:sp>
      <p:sp>
        <p:nvSpPr>
          <p:cNvPr id="17" name="Text 12"/>
          <p:cNvSpPr txBox="1"/>
          <p:nvPr/>
        </p:nvSpPr>
        <p:spPr>
          <a:xfrm>
            <a:off x="7882128" y="3112008"/>
            <a:ext cx="3559759" cy="566928"/>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65 to 84 %</a:t>
            </a:r>
            <a:endParaRPr lang="en-US" sz="3000" dirty="0"/>
          </a:p>
        </p:txBody>
      </p:sp>
      <p:sp>
        <p:nvSpPr>
          <p:cNvPr id="18" name="Text 13"/>
          <p:cNvSpPr txBox="1"/>
          <p:nvPr/>
        </p:nvSpPr>
        <p:spPr>
          <a:xfrm>
            <a:off x="7882128" y="3715512"/>
            <a:ext cx="3559759" cy="661416"/>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between 4 and 8 Hz: the body's response to the road</a:t>
            </a:r>
            <a:endParaRPr lang="en-US" sz="1400" dirty="0"/>
          </a:p>
        </p:txBody>
      </p:sp>
      <p:sp>
        <p:nvSpPr>
          <p:cNvPr id="19" name="Shape 14"/>
          <p:cNvSpPr/>
          <p:nvPr/>
        </p:nvSpPr>
        <p:spPr>
          <a:xfrm>
            <a:off x="7680960" y="4724400"/>
            <a:ext cx="3962095" cy="1447800"/>
          </a:xfrm>
          <a:prstGeom prst="roundRect">
            <a:avLst>
              <a:gd name="adj" fmla="val 7579"/>
            </a:avLst>
          </a:prstGeom>
          <a:solidFill>
            <a:srgbClr val="E8F0FA"/>
          </a:solidFill>
          <a:ln w="12700">
            <a:solidFill>
              <a:srgbClr val="E8F0FA"/>
            </a:solidFill>
            <a:prstDash val="solid"/>
          </a:ln>
        </p:spPr>
      </p:sp>
      <p:sp>
        <p:nvSpPr>
          <p:cNvPr id="20" name="Text 15"/>
          <p:cNvSpPr txBox="1"/>
          <p:nvPr/>
        </p:nvSpPr>
        <p:spPr>
          <a:xfrm>
            <a:off x="7882128" y="4834128"/>
            <a:ext cx="3559759" cy="566928"/>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1.80 vs 1.78</a:t>
            </a:r>
            <a:endParaRPr lang="en-US" sz="3000" dirty="0"/>
          </a:p>
        </p:txBody>
      </p:sp>
      <p:sp>
        <p:nvSpPr>
          <p:cNvPr id="21" name="Text 16"/>
          <p:cNvSpPr txBox="1"/>
          <p:nvPr/>
        </p:nvSpPr>
        <p:spPr>
          <a:xfrm>
            <a:off x="7882128" y="5437632"/>
            <a:ext cx="3559759" cy="661416"/>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rear a_w (m/s²), coasting against powered, smooth loop at 10 km/h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11</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Conclusions: each question answered in part</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12</a:t>
            </a:r>
            <a:endParaRPr lang="en-US" sz="1100" dirty="0"/>
          </a:p>
        </p:txBody>
      </p:sp>
      <p:sp>
        <p:nvSpPr>
          <p:cNvPr id="9" name="Shape 5"/>
          <p:cNvSpPr/>
          <p:nvPr/>
        </p:nvSpPr>
        <p:spPr>
          <a:xfrm>
            <a:off x="548640" y="1280160"/>
            <a:ext cx="7498080" cy="1024128"/>
          </a:xfrm>
          <a:prstGeom prst="roundRect">
            <a:avLst>
              <a:gd name="adj" fmla="val 10714"/>
            </a:avLst>
          </a:prstGeom>
          <a:solidFill>
            <a:srgbClr val="E8F0FA"/>
          </a:solidFill>
          <a:ln w="12700">
            <a:solidFill>
              <a:srgbClr val="E8F0FA"/>
            </a:solidFill>
            <a:prstDash val="solid"/>
          </a:ln>
        </p:spPr>
      </p:sp>
      <p:sp>
        <p:nvSpPr>
          <p:cNvPr id="10" name="Text 6"/>
          <p:cNvSpPr txBox="1"/>
          <p:nvPr/>
        </p:nvSpPr>
        <p:spPr>
          <a:xfrm>
            <a:off x="749808" y="1280160"/>
            <a:ext cx="777240" cy="1024128"/>
          </a:xfrm>
          <a:prstGeom prst="rect">
            <a:avLst/>
          </a:prstGeom>
          <a:noFill/>
          <a:ln/>
        </p:spPr>
        <p:txBody>
          <a:bodyPr wrap="square" lIns="0" tIns="0" rIns="0" bIns="0" rtlCol="0" anchor="ctr"/>
          <a:lstStyle/>
          <a:p>
            <a:pPr indent="0" marL="0">
              <a:buNone/>
            </a:pPr>
            <a:r>
              <a:rPr lang="en-US" sz="2000" b="1" dirty="0">
                <a:solidFill>
                  <a:srgbClr val="14305C"/>
                </a:solidFill>
                <a:latin typeface="Calibri" pitchFamily="34" charset="0"/>
                <a:ea typeface="Calibri" pitchFamily="34" charset="-122"/>
                <a:cs typeface="Calibri" pitchFamily="34" charset="-120"/>
              </a:rPr>
              <a:t>RQ1</a:t>
            </a:r>
            <a:endParaRPr lang="en-US" sz="2000" dirty="0"/>
          </a:p>
        </p:txBody>
      </p:sp>
      <p:sp>
        <p:nvSpPr>
          <p:cNvPr id="11" name="Text 7"/>
          <p:cNvSpPr txBox="1"/>
          <p:nvPr/>
        </p:nvSpPr>
        <p:spPr>
          <a:xfrm>
            <a:off x="1554480" y="1280160"/>
            <a:ext cx="4434840" cy="1024128"/>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Bench: rate, calibration and features verified. Road: repeats over whole passes (CV 5 %), not place by place (ICC 0.16).</a:t>
            </a:r>
            <a:endParaRPr lang="en-US" sz="1500" dirty="0"/>
          </a:p>
        </p:txBody>
      </p:sp>
      <p:sp>
        <p:nvSpPr>
          <p:cNvPr id="12" name="Shape 8"/>
          <p:cNvSpPr/>
          <p:nvPr/>
        </p:nvSpPr>
        <p:spPr>
          <a:xfrm>
            <a:off x="6126480" y="1563624"/>
            <a:ext cx="1737360" cy="457200"/>
          </a:xfrm>
          <a:prstGeom prst="roundRect">
            <a:avLst>
              <a:gd name="adj" fmla="val 50000"/>
            </a:avLst>
          </a:prstGeom>
          <a:solidFill>
            <a:srgbClr val="14305C"/>
          </a:solidFill>
          <a:ln w="19050">
            <a:solidFill>
              <a:srgbClr val="14305C"/>
            </a:solidFill>
            <a:prstDash val="solid"/>
          </a:ln>
        </p:spPr>
      </p:sp>
      <p:sp>
        <p:nvSpPr>
          <p:cNvPr id="13" name="Text 9"/>
          <p:cNvSpPr txBox="1"/>
          <p:nvPr/>
        </p:nvSpPr>
        <p:spPr>
          <a:xfrm>
            <a:off x="6126480" y="1563624"/>
            <a:ext cx="1737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p>
        </p:txBody>
      </p:sp>
      <p:sp>
        <p:nvSpPr>
          <p:cNvPr id="14" name="Shape 10"/>
          <p:cNvSpPr/>
          <p:nvPr/>
        </p:nvSpPr>
        <p:spPr>
          <a:xfrm>
            <a:off x="548640" y="2487168"/>
            <a:ext cx="7498080" cy="1024128"/>
          </a:xfrm>
          <a:prstGeom prst="roundRect">
            <a:avLst>
              <a:gd name="adj" fmla="val 10714"/>
            </a:avLst>
          </a:prstGeom>
          <a:solidFill>
            <a:srgbClr val="E8F0FA"/>
          </a:solidFill>
          <a:ln w="12700">
            <a:solidFill>
              <a:srgbClr val="E8F0FA"/>
            </a:solidFill>
            <a:prstDash val="solid"/>
          </a:ln>
        </p:spPr>
      </p:sp>
      <p:sp>
        <p:nvSpPr>
          <p:cNvPr id="15" name="Text 11"/>
          <p:cNvSpPr txBox="1"/>
          <p:nvPr/>
        </p:nvSpPr>
        <p:spPr>
          <a:xfrm>
            <a:off x="749808" y="2487168"/>
            <a:ext cx="777240" cy="1024128"/>
          </a:xfrm>
          <a:prstGeom prst="rect">
            <a:avLst/>
          </a:prstGeom>
          <a:noFill/>
          <a:ln/>
        </p:spPr>
        <p:txBody>
          <a:bodyPr wrap="square" lIns="0" tIns="0" rIns="0" bIns="0" rtlCol="0" anchor="ctr"/>
          <a:lstStyle/>
          <a:p>
            <a:pPr indent="0" marL="0">
              <a:buNone/>
            </a:pPr>
            <a:r>
              <a:rPr lang="en-US" sz="2000" b="1" dirty="0">
                <a:solidFill>
                  <a:srgbClr val="14305C"/>
                </a:solidFill>
                <a:latin typeface="Calibri" pitchFamily="34" charset="0"/>
                <a:ea typeface="Calibri" pitchFamily="34" charset="-122"/>
                <a:cs typeface="Calibri" pitchFamily="34" charset="-120"/>
              </a:rPr>
              <a:t>RQ2</a:t>
            </a:r>
            <a:endParaRPr lang="en-US" sz="2000" dirty="0"/>
          </a:p>
        </p:txBody>
      </p:sp>
      <p:sp>
        <p:nvSpPr>
          <p:cNvPr id="16" name="Text 12"/>
          <p:cNvSpPr txBox="1"/>
          <p:nvPr/>
        </p:nvSpPr>
        <p:spPr>
          <a:xfrm>
            <a:off x="1554480" y="2487168"/>
            <a:ext cx="4434840" cy="1024128"/>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Sparse, live-only alerts on the existing dashboard; warning text below ISO 15008; glance time not measured.</a:t>
            </a:r>
            <a:endParaRPr lang="en-US" sz="1500" dirty="0"/>
          </a:p>
        </p:txBody>
      </p:sp>
      <p:sp>
        <p:nvSpPr>
          <p:cNvPr id="17" name="Shape 13"/>
          <p:cNvSpPr/>
          <p:nvPr/>
        </p:nvSpPr>
        <p:spPr>
          <a:xfrm>
            <a:off x="6126480" y="2770632"/>
            <a:ext cx="1737360" cy="457200"/>
          </a:xfrm>
          <a:prstGeom prst="roundRect">
            <a:avLst>
              <a:gd name="adj" fmla="val 50000"/>
            </a:avLst>
          </a:prstGeom>
          <a:solidFill>
            <a:srgbClr val="14305C"/>
          </a:solidFill>
          <a:ln w="19050">
            <a:solidFill>
              <a:srgbClr val="14305C"/>
            </a:solidFill>
            <a:prstDash val="solid"/>
          </a:ln>
        </p:spPr>
      </p:sp>
      <p:sp>
        <p:nvSpPr>
          <p:cNvPr id="18" name="Text 14"/>
          <p:cNvSpPr txBox="1"/>
          <p:nvPr/>
        </p:nvSpPr>
        <p:spPr>
          <a:xfrm>
            <a:off x="6126480" y="2770632"/>
            <a:ext cx="1737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p>
        </p:txBody>
      </p:sp>
      <p:sp>
        <p:nvSpPr>
          <p:cNvPr id="19" name="Shape 15"/>
          <p:cNvSpPr/>
          <p:nvPr/>
        </p:nvSpPr>
        <p:spPr>
          <a:xfrm>
            <a:off x="548640" y="3694176"/>
            <a:ext cx="7498080" cy="1024128"/>
          </a:xfrm>
          <a:prstGeom prst="roundRect">
            <a:avLst>
              <a:gd name="adj" fmla="val 10714"/>
            </a:avLst>
          </a:prstGeom>
          <a:solidFill>
            <a:srgbClr val="E8F0FA"/>
          </a:solidFill>
          <a:ln w="12700">
            <a:solidFill>
              <a:srgbClr val="E8F0FA"/>
            </a:solidFill>
            <a:prstDash val="solid"/>
          </a:ln>
        </p:spPr>
      </p:sp>
      <p:sp>
        <p:nvSpPr>
          <p:cNvPr id="20" name="Text 16"/>
          <p:cNvSpPr txBox="1"/>
          <p:nvPr/>
        </p:nvSpPr>
        <p:spPr>
          <a:xfrm>
            <a:off x="749808" y="3694176"/>
            <a:ext cx="777240" cy="1024128"/>
          </a:xfrm>
          <a:prstGeom prst="rect">
            <a:avLst/>
          </a:prstGeom>
          <a:noFill/>
          <a:ln/>
        </p:spPr>
        <p:txBody>
          <a:bodyPr wrap="square" lIns="0" tIns="0" rIns="0" bIns="0" rtlCol="0" anchor="ctr"/>
          <a:lstStyle/>
          <a:p>
            <a:pPr indent="0" marL="0">
              <a:buNone/>
            </a:pPr>
            <a:r>
              <a:rPr lang="en-US" sz="2000" b="1" dirty="0">
                <a:solidFill>
                  <a:srgbClr val="14305C"/>
                </a:solidFill>
                <a:latin typeface="Calibri" pitchFamily="34" charset="0"/>
                <a:ea typeface="Calibri" pitchFamily="34" charset="-122"/>
                <a:cs typeface="Calibri" pitchFamily="34" charset="-120"/>
              </a:rPr>
              <a:t>RQ3</a:t>
            </a:r>
            <a:endParaRPr lang="en-US" sz="2000" dirty="0"/>
          </a:p>
        </p:txBody>
      </p:sp>
      <p:sp>
        <p:nvSpPr>
          <p:cNvPr id="21" name="Text 17"/>
          <p:cNvSpPr txBox="1"/>
          <p:nvPr/>
        </p:nvSpPr>
        <p:spPr>
          <a:xfrm>
            <a:off x="1554480" y="3694176"/>
            <a:ext cx="4434840" cy="1024128"/>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Bench: every record replayed after a 10-minute outage. Road: 99.9 % over the wired link; LTE latency rests on 9 records.</a:t>
            </a:r>
            <a:endParaRPr lang="en-US" sz="1500" dirty="0"/>
          </a:p>
        </p:txBody>
      </p:sp>
      <p:sp>
        <p:nvSpPr>
          <p:cNvPr id="22" name="Shape 18"/>
          <p:cNvSpPr/>
          <p:nvPr/>
        </p:nvSpPr>
        <p:spPr>
          <a:xfrm>
            <a:off x="6126480" y="3977640"/>
            <a:ext cx="1737360" cy="457200"/>
          </a:xfrm>
          <a:prstGeom prst="roundRect">
            <a:avLst>
              <a:gd name="adj" fmla="val 50000"/>
            </a:avLst>
          </a:prstGeom>
          <a:solidFill>
            <a:srgbClr val="14305C"/>
          </a:solidFill>
          <a:ln w="19050">
            <a:solidFill>
              <a:srgbClr val="14305C"/>
            </a:solidFill>
            <a:prstDash val="solid"/>
          </a:ln>
        </p:spPr>
      </p:sp>
      <p:sp>
        <p:nvSpPr>
          <p:cNvPr id="23" name="Text 19"/>
          <p:cNvSpPr txBox="1"/>
          <p:nvPr/>
        </p:nvSpPr>
        <p:spPr>
          <a:xfrm>
            <a:off x="6126480" y="3977640"/>
            <a:ext cx="1737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p>
        </p:txBody>
      </p:sp>
      <p:sp>
        <p:nvSpPr>
          <p:cNvPr id="24" name="Shape 20"/>
          <p:cNvSpPr/>
          <p:nvPr/>
        </p:nvSpPr>
        <p:spPr>
          <a:xfrm>
            <a:off x="548640" y="4901184"/>
            <a:ext cx="7498080" cy="1024128"/>
          </a:xfrm>
          <a:prstGeom prst="roundRect">
            <a:avLst>
              <a:gd name="adj" fmla="val 10714"/>
            </a:avLst>
          </a:prstGeom>
          <a:solidFill>
            <a:srgbClr val="E8F0FA"/>
          </a:solidFill>
          <a:ln w="12700">
            <a:solidFill>
              <a:srgbClr val="E8F0FA"/>
            </a:solidFill>
            <a:prstDash val="solid"/>
          </a:ln>
        </p:spPr>
      </p:sp>
      <p:sp>
        <p:nvSpPr>
          <p:cNvPr id="25" name="Text 21"/>
          <p:cNvSpPr txBox="1"/>
          <p:nvPr/>
        </p:nvSpPr>
        <p:spPr>
          <a:xfrm>
            <a:off x="749808" y="4901184"/>
            <a:ext cx="777240" cy="1024128"/>
          </a:xfrm>
          <a:prstGeom prst="rect">
            <a:avLst/>
          </a:prstGeom>
          <a:noFill/>
          <a:ln/>
        </p:spPr>
        <p:txBody>
          <a:bodyPr wrap="square" lIns="0" tIns="0" rIns="0" bIns="0" rtlCol="0" anchor="ctr"/>
          <a:lstStyle/>
          <a:p>
            <a:pPr indent="0" marL="0">
              <a:buNone/>
            </a:pPr>
            <a:r>
              <a:rPr lang="en-US" sz="2000" b="1" dirty="0">
                <a:solidFill>
                  <a:srgbClr val="14305C"/>
                </a:solidFill>
                <a:latin typeface="Calibri" pitchFamily="34" charset="0"/>
                <a:ea typeface="Calibri" pitchFamily="34" charset="-122"/>
                <a:cs typeface="Calibri" pitchFamily="34" charset="-120"/>
              </a:rPr>
              <a:t>RQ4</a:t>
            </a:r>
            <a:endParaRPr lang="en-US" sz="2000" dirty="0"/>
          </a:p>
        </p:txBody>
      </p:sp>
      <p:sp>
        <p:nvSpPr>
          <p:cNvPr id="26" name="Text 22"/>
          <p:cNvSpPr txBox="1"/>
          <p:nvPr/>
        </p:nvSpPr>
        <p:spPr>
          <a:xfrm>
            <a:off x="1554480" y="4901184"/>
            <a:ext cx="4434840" cy="1024128"/>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Powertrain lines at 40 to 70 Hz on the stands; 0.9 to 3.1 % of the road energy; one coasting pass did not lower a_w.</a:t>
            </a:r>
            <a:endParaRPr lang="en-US" sz="1500" dirty="0"/>
          </a:p>
        </p:txBody>
      </p:sp>
      <p:sp>
        <p:nvSpPr>
          <p:cNvPr id="27" name="Shape 23"/>
          <p:cNvSpPr/>
          <p:nvPr/>
        </p:nvSpPr>
        <p:spPr>
          <a:xfrm>
            <a:off x="6126480" y="5184648"/>
            <a:ext cx="1737360" cy="457200"/>
          </a:xfrm>
          <a:prstGeom prst="roundRect">
            <a:avLst>
              <a:gd name="adj" fmla="val 50000"/>
            </a:avLst>
          </a:prstGeom>
          <a:solidFill>
            <a:srgbClr val="1565C0"/>
          </a:solidFill>
          <a:ln w="19050">
            <a:solidFill>
              <a:srgbClr val="1565C0"/>
            </a:solidFill>
            <a:prstDash val="solid"/>
          </a:ln>
        </p:spPr>
      </p:sp>
      <p:sp>
        <p:nvSpPr>
          <p:cNvPr id="28" name="Text 24"/>
          <p:cNvSpPr txBox="1"/>
          <p:nvPr/>
        </p:nvSpPr>
        <p:spPr>
          <a:xfrm>
            <a:off x="6126480" y="5184648"/>
            <a:ext cx="1737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Road dominates</a:t>
            </a:r>
            <a:endParaRPr lang="en-US" sz="1400" dirty="0"/>
          </a:p>
        </p:txBody>
      </p:sp>
      <p:sp>
        <p:nvSpPr>
          <p:cNvPr id="29" name="Shape 25"/>
          <p:cNvSpPr/>
          <p:nvPr/>
        </p:nvSpPr>
        <p:spPr>
          <a:xfrm>
            <a:off x="8366760" y="1280160"/>
            <a:ext cx="3276295" cy="4892040"/>
          </a:xfrm>
          <a:prstGeom prst="roundRect">
            <a:avLst>
              <a:gd name="adj" fmla="val 3349"/>
            </a:avLst>
          </a:prstGeom>
          <a:solidFill>
            <a:srgbClr val="E8F0FA"/>
          </a:solidFill>
          <a:ln w="12700">
            <a:solidFill>
              <a:srgbClr val="E8F0FA"/>
            </a:solidFill>
            <a:prstDash val="solid"/>
          </a:ln>
        </p:spPr>
      </p:sp>
      <p:sp>
        <p:nvSpPr>
          <p:cNvPr id="30" name="Text 26"/>
          <p:cNvSpPr txBox="1"/>
          <p:nvPr/>
        </p:nvSpPr>
        <p:spPr>
          <a:xfrm>
            <a:off x="8595360" y="1389888"/>
            <a:ext cx="2819095" cy="365760"/>
          </a:xfrm>
          <a:prstGeom prst="rect">
            <a:avLst/>
          </a:prstGeom>
          <a:noFill/>
          <a:ln/>
        </p:spPr>
        <p:txBody>
          <a:bodyPr wrap="square" lIns="0" tIns="0" rIns="0" bIns="0" rtlCol="0" anchor="ctr"/>
          <a:lstStyle/>
          <a:p>
            <a:pPr indent="0" marL="0">
              <a:buNone/>
            </a:pPr>
            <a:r>
              <a:rPr lang="en-US" sz="1700" b="1" dirty="0">
                <a:solidFill>
                  <a:srgbClr val="14305C"/>
                </a:solidFill>
                <a:latin typeface="Calibri" pitchFamily="34" charset="0"/>
                <a:ea typeface="Calibri" pitchFamily="34" charset="-122"/>
                <a:cs typeface="Calibri" pitchFamily="34" charset="-120"/>
              </a:rPr>
              <a:t>13 requirements (bench)</a:t>
            </a:r>
            <a:endParaRPr lang="en-US" sz="1700" dirty="0"/>
          </a:p>
        </p:txBody>
      </p:sp>
      <p:sp>
        <p:nvSpPr>
          <p:cNvPr id="31" name="Text 27"/>
          <p:cNvSpPr txBox="1"/>
          <p:nvPr/>
        </p:nvSpPr>
        <p:spPr>
          <a:xfrm>
            <a:off x="8595360" y="1874520"/>
            <a:ext cx="731520" cy="685800"/>
          </a:xfrm>
          <a:prstGeom prst="rect">
            <a:avLst/>
          </a:prstGeom>
          <a:noFill/>
          <a:ln/>
        </p:spPr>
        <p:txBody>
          <a:bodyPr wrap="square" lIns="0" tIns="0" rIns="0" bIns="0" rtlCol="0" anchor="ctr"/>
          <a:lstStyle/>
          <a:p>
            <a:pPr indent="0" marL="0">
              <a:buNone/>
            </a:pPr>
            <a:r>
              <a:rPr lang="en-US" sz="4000" b="1" dirty="0">
                <a:solidFill>
                  <a:srgbClr val="1565C0"/>
                </a:solidFill>
                <a:latin typeface="Calibri" pitchFamily="34" charset="0"/>
                <a:ea typeface="Calibri" pitchFamily="34" charset="-122"/>
                <a:cs typeface="Calibri" pitchFamily="34" charset="-120"/>
              </a:rPr>
              <a:t>5</a:t>
            </a:r>
            <a:endParaRPr lang="en-US" sz="4000" dirty="0"/>
          </a:p>
        </p:txBody>
      </p:sp>
      <p:sp>
        <p:nvSpPr>
          <p:cNvPr id="32" name="Text 28"/>
          <p:cNvSpPr txBox="1"/>
          <p:nvPr/>
        </p:nvSpPr>
        <p:spPr>
          <a:xfrm>
            <a:off x="9372600" y="1874520"/>
            <a:ext cx="2041855" cy="685800"/>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met</a:t>
            </a:r>
            <a:endParaRPr lang="en-US" sz="1500" dirty="0"/>
          </a:p>
        </p:txBody>
      </p:sp>
      <p:sp>
        <p:nvSpPr>
          <p:cNvPr id="33" name="Text 29"/>
          <p:cNvSpPr txBox="1"/>
          <p:nvPr/>
        </p:nvSpPr>
        <p:spPr>
          <a:xfrm>
            <a:off x="8595360" y="2651760"/>
            <a:ext cx="731520" cy="685800"/>
          </a:xfrm>
          <a:prstGeom prst="rect">
            <a:avLst/>
          </a:prstGeom>
          <a:noFill/>
          <a:ln/>
        </p:spPr>
        <p:txBody>
          <a:bodyPr wrap="square" lIns="0" tIns="0" rIns="0" bIns="0" rtlCol="0" anchor="ctr"/>
          <a:lstStyle/>
          <a:p>
            <a:pPr indent="0" marL="0">
              <a:buNone/>
            </a:pPr>
            <a:r>
              <a:rPr lang="en-US" sz="4000" b="1" dirty="0">
                <a:solidFill>
                  <a:srgbClr val="14305C"/>
                </a:solidFill>
                <a:latin typeface="Calibri" pitchFamily="34" charset="0"/>
                <a:ea typeface="Calibri" pitchFamily="34" charset="-122"/>
                <a:cs typeface="Calibri" pitchFamily="34" charset="-120"/>
              </a:rPr>
              <a:t>7</a:t>
            </a:r>
            <a:endParaRPr lang="en-US" sz="4000" dirty="0"/>
          </a:p>
        </p:txBody>
      </p:sp>
      <p:sp>
        <p:nvSpPr>
          <p:cNvPr id="34" name="Text 30"/>
          <p:cNvSpPr txBox="1"/>
          <p:nvPr/>
        </p:nvSpPr>
        <p:spPr>
          <a:xfrm>
            <a:off x="9372600" y="2651760"/>
            <a:ext cx="2041855" cy="685800"/>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partly met</a:t>
            </a:r>
            <a:endParaRPr lang="en-US" sz="1500" dirty="0"/>
          </a:p>
        </p:txBody>
      </p:sp>
      <p:sp>
        <p:nvSpPr>
          <p:cNvPr id="35" name="Text 31"/>
          <p:cNvSpPr txBox="1"/>
          <p:nvPr/>
        </p:nvSpPr>
        <p:spPr>
          <a:xfrm>
            <a:off x="8595360" y="3429000"/>
            <a:ext cx="731520" cy="685800"/>
          </a:xfrm>
          <a:prstGeom prst="rect">
            <a:avLst/>
          </a:prstGeom>
          <a:noFill/>
          <a:ln/>
        </p:spPr>
        <p:txBody>
          <a:bodyPr wrap="square" lIns="0" tIns="0" rIns="0" bIns="0" rtlCol="0" anchor="ctr"/>
          <a:lstStyle/>
          <a:p>
            <a:pPr indent="0" marL="0">
              <a:buNone/>
            </a:pPr>
            <a:r>
              <a:rPr lang="en-US" sz="4000" b="1" dirty="0">
                <a:solidFill>
                  <a:srgbClr val="B85C00"/>
                </a:solidFill>
                <a:latin typeface="Calibri" pitchFamily="34" charset="0"/>
                <a:ea typeface="Calibri" pitchFamily="34" charset="-122"/>
                <a:cs typeface="Calibri" pitchFamily="34" charset="-120"/>
              </a:rPr>
              <a:t>1</a:t>
            </a:r>
            <a:endParaRPr lang="en-US" sz="4000" dirty="0"/>
          </a:p>
        </p:txBody>
      </p:sp>
      <p:sp>
        <p:nvSpPr>
          <p:cNvPr id="36" name="Text 32"/>
          <p:cNvSpPr txBox="1"/>
          <p:nvPr/>
        </p:nvSpPr>
        <p:spPr>
          <a:xfrm>
            <a:off x="9372600" y="3429000"/>
            <a:ext cx="2041855" cy="685800"/>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not tested (R12, glance time)</a:t>
            </a:r>
            <a:endParaRPr lang="en-US" sz="1500" dirty="0"/>
          </a:p>
        </p:txBody>
      </p:sp>
      <p:sp>
        <p:nvSpPr>
          <p:cNvPr id="37" name="Text 33"/>
          <p:cNvSpPr txBox="1"/>
          <p:nvPr/>
        </p:nvSpPr>
        <p:spPr>
          <a:xfrm>
            <a:off x="8595360" y="4343400"/>
            <a:ext cx="2819095" cy="347472"/>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On the vehicle, 27 Oct</a:t>
            </a:r>
            <a:endParaRPr lang="en-US" sz="1600" dirty="0"/>
          </a:p>
        </p:txBody>
      </p:sp>
      <p:sp>
        <p:nvSpPr>
          <p:cNvPr id="38" name="Text 34"/>
          <p:cNvSpPr txBox="1"/>
          <p:nvPr/>
        </p:nvSpPr>
        <p:spPr>
          <a:xfrm>
            <a:off x="8595360" y="4754880"/>
            <a:ext cx="2819095" cy="13258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R1 met at the front</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R4, R9, R10 partly met</a:t>
            </a:r>
            <a:endParaRPr lang="en-US" sz="1500" dirty="0"/>
          </a:p>
          <a:p>
            <a:pPr marL="228600" indent="-228600">
              <a:spcAft>
                <a:spcPts val="600"/>
              </a:spcAft>
              <a:buSzPct val="100000"/>
              <a:buChar char="•"/>
            </a:pPr>
            <a:r>
              <a:rPr lang="en-US" sz="1500" dirty="0">
                <a:solidFill>
                  <a:srgbClr val="1B1F24"/>
                </a:solidFill>
                <a:latin typeface="Calibri" pitchFamily="34" charset="0"/>
                <a:ea typeface="Calibri" pitchFamily="34" charset="-122"/>
                <a:cs typeface="Calibri" pitchFamily="34" charset="-120"/>
              </a:rPr>
              <a:t>R2 not met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4305C"/>
          </a:solidFill>
          <a:ln w="12700">
            <a:solidFill>
              <a:srgbClr val="14305C"/>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4" name="Text 2"/>
          <p:cNvSpPr txBox="1"/>
          <p:nvPr/>
        </p:nvSpPr>
        <p:spPr>
          <a:xfrm>
            <a:off x="1325880" y="310896"/>
            <a:ext cx="10317175" cy="731520"/>
          </a:xfrm>
          <a:prstGeom prst="rect">
            <a:avLst/>
          </a:prstGeom>
          <a:noFill/>
          <a:ln/>
        </p:spPr>
        <p:txBody>
          <a:bodyPr wrap="square" lIns="0" tIns="0" rIns="0" bIns="0" rtlCol="0" anchor="ctr"/>
          <a:lstStyle/>
          <a:p>
            <a:pPr indent="0" marL="0">
              <a:buNone/>
            </a:pPr>
            <a:r>
              <a:rPr lang="en-US" sz="3000" b="1" dirty="0">
                <a:solidFill>
                  <a:srgbClr val="14305C"/>
                </a:solidFill>
                <a:latin typeface="Calibri" pitchFamily="34" charset="0"/>
                <a:ea typeface="Calibri" pitchFamily="34" charset="-122"/>
                <a:cs typeface="Calibri" pitchFamily="34" charset="-120"/>
              </a:rPr>
              <a:t>Contribution and next steps</a:t>
            </a:r>
            <a:endParaRPr lang="en-US" sz="3000" dirty="0"/>
          </a:p>
        </p:txBody>
      </p:sp>
      <p:pic>
        <p:nvPicPr>
          <p:cNvPr id="5" name="Image 0" descr="C:\Users\0geda\OneDrive - University of Cape Town\Documents\PlatformIO\Projects\Tukzie-HPEC-HUD\Presentation\source\assets\uct_logo.png">    </p:cNvPr>
          <p:cNvPicPr>
            <a:picLocks noChangeAspect="1"/>
          </p:cNvPicPr>
          <p:nvPr/>
        </p:nvPicPr>
        <p:blipFill>
          <a:blip r:embed="rId1"/>
          <a:stretch>
            <a:fillRect/>
          </a:stretch>
        </p:blipFill>
        <p:spPr>
          <a:xfrm>
            <a:off x="11259007" y="6327648"/>
            <a:ext cx="384048" cy="390449"/>
          </a:xfrm>
          <a:prstGeom prst="rect">
            <a:avLst/>
          </a:prstGeom>
        </p:spPr>
      </p:pic>
      <p:sp>
        <p:nvSpPr>
          <p:cNvPr id="6" name="Text 3"/>
          <p:cNvSpPr txBox="1"/>
          <p:nvPr/>
        </p:nvSpPr>
        <p:spPr>
          <a:xfrm>
            <a:off x="548640" y="6382512"/>
            <a:ext cx="5486400" cy="292608"/>
          </a:xfrm>
          <a:prstGeom prst="rect">
            <a:avLst/>
          </a:prstGeom>
          <a:noFill/>
          <a:ln/>
        </p:spPr>
        <p:txBody>
          <a:bodyPr wrap="square" lIns="0" tIns="0" rIns="0" bIns="0" rtlCol="0" anchor="ctr"/>
          <a:lstStyle/>
          <a:p>
            <a:pPr indent="0" marL="0">
              <a:buNone/>
            </a:pPr>
            <a:r>
              <a:rPr lang="en-US" sz="1100" dirty="0">
                <a:solidFill>
                  <a:srgbClr val="4A5566"/>
                </a:solidFill>
                <a:latin typeface="Calibri" pitchFamily="34" charset="0"/>
                <a:ea typeface="Calibri" pitchFamily="34" charset="-122"/>
                <a:cs typeface="Calibri" pitchFamily="34" charset="-120"/>
              </a:rPr>
              <a:t>Samson Okuthe   |   EEE4022S 2026   |   UCT</a:t>
            </a:r>
            <a:endParaRPr lang="en-US" sz="1100" dirty="0"/>
          </a:p>
        </p:txBody>
      </p:sp>
      <p:sp>
        <p:nvSpPr>
          <p:cNvPr id="7" name="Text 4"/>
          <p:cNvSpPr txBox="1"/>
          <p:nvPr/>
        </p:nvSpPr>
        <p:spPr>
          <a:xfrm>
            <a:off x="10180015" y="6382512"/>
            <a:ext cx="914400" cy="292608"/>
          </a:xfrm>
          <a:prstGeom prst="rect">
            <a:avLst/>
          </a:prstGeom>
          <a:noFill/>
          <a:ln/>
        </p:spPr>
        <p:txBody>
          <a:bodyPr wrap="square" lIns="0" tIns="0" rIns="0" bIns="0" rtlCol="0" anchor="ctr"/>
          <a:lstStyle/>
          <a:p>
            <a:pPr algn="r" indent="0" marL="0">
              <a:buNone/>
            </a:pPr>
            <a:r>
              <a:rPr lang="en-US" sz="1100" dirty="0">
                <a:solidFill>
                  <a:srgbClr val="4A5566"/>
                </a:solidFill>
                <a:latin typeface="Calibri" pitchFamily="34" charset="0"/>
                <a:ea typeface="Calibri" pitchFamily="34" charset="-122"/>
                <a:cs typeface="Calibri" pitchFamily="34" charset="-120"/>
              </a:rPr>
              <a:t>13</a:t>
            </a:r>
            <a:endParaRPr lang="en-US" sz="1100" dirty="0"/>
          </a:p>
        </p:txBody>
      </p:sp>
      <p:sp>
        <p:nvSpPr>
          <p:cNvPr id="9" name="Shape 5"/>
          <p:cNvSpPr/>
          <p:nvPr/>
        </p:nvSpPr>
        <p:spPr>
          <a:xfrm>
            <a:off x="548640" y="1280160"/>
            <a:ext cx="11094415" cy="1188720"/>
          </a:xfrm>
          <a:prstGeom prst="roundRect">
            <a:avLst>
              <a:gd name="adj" fmla="val 9231"/>
            </a:avLst>
          </a:prstGeom>
          <a:solidFill>
            <a:srgbClr val="E8F0FA"/>
          </a:solidFill>
          <a:ln w="12700">
            <a:solidFill>
              <a:srgbClr val="E8F0FA"/>
            </a:solidFill>
            <a:prstDash val="solid"/>
          </a:ln>
        </p:spPr>
      </p:sp>
      <p:sp>
        <p:nvSpPr>
          <p:cNvPr id="10" name="Text 6"/>
          <p:cNvSpPr txBox="1"/>
          <p:nvPr/>
        </p:nvSpPr>
        <p:spPr>
          <a:xfrm>
            <a:off x="777240" y="1371600"/>
            <a:ext cx="2743200" cy="329184"/>
          </a:xfrm>
          <a:prstGeom prst="rect">
            <a:avLst/>
          </a:prstGeom>
          <a:noFill/>
          <a:ln/>
        </p:spPr>
        <p:txBody>
          <a:bodyPr wrap="square" lIns="0" tIns="0" rIns="0" bIns="0" rtlCol="0" anchor="ctr"/>
          <a:lstStyle/>
          <a:p>
            <a:pPr indent="0" marL="0">
              <a:buNone/>
            </a:pPr>
            <a:r>
              <a:rPr lang="en-US" sz="1600" b="1" dirty="0">
                <a:solidFill>
                  <a:srgbClr val="14305C"/>
                </a:solidFill>
                <a:latin typeface="Calibri" pitchFamily="34" charset="0"/>
                <a:ea typeface="Calibri" pitchFamily="34" charset="-122"/>
                <a:cs typeface="Calibri" pitchFamily="34" charset="-120"/>
              </a:rPr>
              <a:t>Contribution</a:t>
            </a:r>
            <a:endParaRPr lang="en-US" sz="1600" dirty="0"/>
          </a:p>
        </p:txBody>
      </p:sp>
      <p:sp>
        <p:nvSpPr>
          <p:cNvPr id="11" name="Text 7"/>
          <p:cNvSpPr txBox="1"/>
          <p:nvPr/>
        </p:nvSpPr>
        <p:spPr>
          <a:xfrm>
            <a:off x="777240" y="1737360"/>
            <a:ext cx="3362858" cy="6400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An integrated, low-cost architecture for a three-wheeled EV, run on the vehicle</a:t>
            </a:r>
            <a:endParaRPr lang="en-US" sz="1500" dirty="0"/>
          </a:p>
        </p:txBody>
      </p:sp>
      <p:sp>
        <p:nvSpPr>
          <p:cNvPr id="12" name="Text 8"/>
          <p:cNvSpPr txBox="1"/>
          <p:nvPr/>
        </p:nvSpPr>
        <p:spPr>
          <a:xfrm>
            <a:off x="4414418" y="1737360"/>
            <a:ext cx="3362858" cy="6400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A measured account of timing and loss: flash gap, detector latency, outage replay</a:t>
            </a:r>
            <a:endParaRPr lang="en-US" sz="1500" dirty="0"/>
          </a:p>
        </p:txBody>
      </p:sp>
      <p:sp>
        <p:nvSpPr>
          <p:cNvPr id="13" name="Text 9"/>
          <p:cNvSpPr txBox="1"/>
          <p:nvPr/>
        </p:nvSpPr>
        <p:spPr>
          <a:xfrm>
            <a:off x="8051597" y="1737360"/>
            <a:ext cx="3362858" cy="6400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Road evidence: repeats over whole passes, separates surfaces; not yet place by place</a:t>
            </a:r>
            <a:endParaRPr lang="en-US" sz="1500" dirty="0"/>
          </a:p>
        </p:txBody>
      </p:sp>
      <p:sp>
        <p:nvSpPr>
          <p:cNvPr id="14" name="Shape 10"/>
          <p:cNvSpPr/>
          <p:nvPr/>
        </p:nvSpPr>
        <p:spPr>
          <a:xfrm>
            <a:off x="548640" y="2743200"/>
            <a:ext cx="2567864" cy="2103120"/>
          </a:xfrm>
          <a:prstGeom prst="roundRect">
            <a:avLst>
              <a:gd name="adj" fmla="val 5217"/>
            </a:avLst>
          </a:prstGeom>
          <a:solidFill>
            <a:srgbClr val="FFFFFF"/>
          </a:solidFill>
          <a:ln w="19050">
            <a:solidFill>
              <a:srgbClr val="1565C0"/>
            </a:solidFill>
            <a:prstDash val="solid"/>
          </a:ln>
        </p:spPr>
      </p:sp>
      <p:sp>
        <p:nvSpPr>
          <p:cNvPr id="15" name="Shape 11"/>
          <p:cNvSpPr/>
          <p:nvPr/>
        </p:nvSpPr>
        <p:spPr>
          <a:xfrm>
            <a:off x="731520" y="2898648"/>
            <a:ext cx="384048" cy="384048"/>
          </a:xfrm>
          <a:prstGeom prst="ellipse">
            <a:avLst/>
          </a:prstGeom>
          <a:solidFill>
            <a:srgbClr val="14305C"/>
          </a:solidFill>
          <a:ln w="12700">
            <a:solidFill>
              <a:srgbClr val="14305C"/>
            </a:solidFill>
            <a:prstDash val="solid"/>
          </a:ln>
        </p:spPr>
      </p:sp>
      <p:sp>
        <p:nvSpPr>
          <p:cNvPr id="16" name="Text 12"/>
          <p:cNvSpPr txBox="1"/>
          <p:nvPr/>
        </p:nvSpPr>
        <p:spPr>
          <a:xfrm>
            <a:off x="731520" y="2898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3"/>
          <p:cNvSpPr txBox="1"/>
          <p:nvPr/>
        </p:nvSpPr>
        <p:spPr>
          <a:xfrm>
            <a:off x="1234440" y="2852928"/>
            <a:ext cx="1744904" cy="475488"/>
          </a:xfrm>
          <a:prstGeom prst="rect">
            <a:avLst/>
          </a:prstGeom>
          <a:noFill/>
          <a:ln/>
        </p:spPr>
        <p:txBody>
          <a:bodyPr wrap="square" lIns="0" tIns="0" rIns="0" bIns="0" rtlCol="0" anchor="ctr"/>
          <a:lstStyle/>
          <a:p>
            <a:pPr indent="0" marL="0">
              <a:buNone/>
            </a:pPr>
            <a:r>
              <a:rPr lang="en-US" sz="1500" b="1" dirty="0">
                <a:solidFill>
                  <a:srgbClr val="14305C"/>
                </a:solidFill>
                <a:latin typeface="Calibri" pitchFamily="34" charset="0"/>
                <a:ea typeface="Calibri" pitchFamily="34" charset="-122"/>
                <a:cs typeface="Calibri" pitchFamily="34" charset="-120"/>
              </a:rPr>
              <a:t>Regulated supply</a:t>
            </a:r>
            <a:endParaRPr lang="en-US" sz="1500" dirty="0"/>
          </a:p>
        </p:txBody>
      </p:sp>
      <p:sp>
        <p:nvSpPr>
          <p:cNvPr id="18" name="Text 14"/>
          <p:cNvSpPr txBox="1"/>
          <p:nvPr/>
        </p:nvSpPr>
        <p:spPr>
          <a:xfrm>
            <a:off x="731520" y="3429000"/>
            <a:ext cx="2202104" cy="13258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Power the telemetry unit from a vehicle converter, never a Pi's USB port; measure each unit inline.</a:t>
            </a:r>
            <a:endParaRPr lang="en-US" sz="1400" dirty="0"/>
          </a:p>
        </p:txBody>
      </p:sp>
      <p:sp>
        <p:nvSpPr>
          <p:cNvPr id="19" name="Shape 15"/>
          <p:cNvSpPr/>
          <p:nvPr/>
        </p:nvSpPr>
        <p:spPr>
          <a:xfrm>
            <a:off x="3390824" y="2743200"/>
            <a:ext cx="2567864" cy="2103120"/>
          </a:xfrm>
          <a:prstGeom prst="roundRect">
            <a:avLst>
              <a:gd name="adj" fmla="val 5217"/>
            </a:avLst>
          </a:prstGeom>
          <a:solidFill>
            <a:srgbClr val="FFFFFF"/>
          </a:solidFill>
          <a:ln w="19050">
            <a:solidFill>
              <a:srgbClr val="1565C0"/>
            </a:solidFill>
            <a:prstDash val="solid"/>
          </a:ln>
        </p:spPr>
      </p:sp>
      <p:sp>
        <p:nvSpPr>
          <p:cNvPr id="20" name="Shape 16"/>
          <p:cNvSpPr/>
          <p:nvPr/>
        </p:nvSpPr>
        <p:spPr>
          <a:xfrm>
            <a:off x="3573704" y="2898648"/>
            <a:ext cx="384048" cy="384048"/>
          </a:xfrm>
          <a:prstGeom prst="ellipse">
            <a:avLst/>
          </a:prstGeom>
          <a:solidFill>
            <a:srgbClr val="14305C"/>
          </a:solidFill>
          <a:ln w="12700">
            <a:solidFill>
              <a:srgbClr val="14305C"/>
            </a:solidFill>
            <a:prstDash val="solid"/>
          </a:ln>
        </p:spPr>
      </p:sp>
      <p:sp>
        <p:nvSpPr>
          <p:cNvPr id="21" name="Text 17"/>
          <p:cNvSpPr txBox="1"/>
          <p:nvPr/>
        </p:nvSpPr>
        <p:spPr>
          <a:xfrm>
            <a:off x="3573704" y="2898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8"/>
          <p:cNvSpPr txBox="1"/>
          <p:nvPr/>
        </p:nvSpPr>
        <p:spPr>
          <a:xfrm>
            <a:off x="4076624" y="2852928"/>
            <a:ext cx="1744904" cy="475488"/>
          </a:xfrm>
          <a:prstGeom prst="rect">
            <a:avLst/>
          </a:prstGeom>
          <a:noFill/>
          <a:ln/>
        </p:spPr>
        <p:txBody>
          <a:bodyPr wrap="square" lIns="0" tIns="0" rIns="0" bIns="0" rtlCol="0" anchor="ctr"/>
          <a:lstStyle/>
          <a:p>
            <a:pPr indent="0" marL="0">
              <a:buNone/>
            </a:pPr>
            <a:r>
              <a:rPr lang="en-US" sz="1500" b="1" dirty="0">
                <a:solidFill>
                  <a:srgbClr val="14305C"/>
                </a:solidFill>
                <a:latin typeface="Calibri" pitchFamily="34" charset="0"/>
                <a:ea typeface="Calibri" pitchFamily="34" charset="-122"/>
                <a:cs typeface="Calibri" pitchFamily="34" charset="-120"/>
              </a:rPr>
              <a:t>LTE reconnection</a:t>
            </a:r>
            <a:endParaRPr lang="en-US" sz="1500" dirty="0"/>
          </a:p>
        </p:txBody>
      </p:sp>
      <p:sp>
        <p:nvSpPr>
          <p:cNvPr id="23" name="Text 19"/>
          <p:cNvSpPr txBox="1"/>
          <p:nvPr/>
        </p:nvSpPr>
        <p:spPr>
          <a:xfrm>
            <a:off x="3573704" y="3429000"/>
            <a:ext cx="2202104" cy="13258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Fix the reconnection lost from 11:51, then measure latency on the road.</a:t>
            </a:r>
            <a:endParaRPr lang="en-US" sz="1400" dirty="0"/>
          </a:p>
        </p:txBody>
      </p:sp>
      <p:sp>
        <p:nvSpPr>
          <p:cNvPr id="24" name="Shape 20"/>
          <p:cNvSpPr/>
          <p:nvPr/>
        </p:nvSpPr>
        <p:spPr>
          <a:xfrm>
            <a:off x="6233008" y="2743200"/>
            <a:ext cx="2567864" cy="2103120"/>
          </a:xfrm>
          <a:prstGeom prst="roundRect">
            <a:avLst>
              <a:gd name="adj" fmla="val 5217"/>
            </a:avLst>
          </a:prstGeom>
          <a:solidFill>
            <a:srgbClr val="FFFFFF"/>
          </a:solidFill>
          <a:ln w="19050">
            <a:solidFill>
              <a:srgbClr val="1565C0"/>
            </a:solidFill>
            <a:prstDash val="solid"/>
          </a:ln>
        </p:spPr>
      </p:sp>
      <p:sp>
        <p:nvSpPr>
          <p:cNvPr id="25" name="Shape 21"/>
          <p:cNvSpPr/>
          <p:nvPr/>
        </p:nvSpPr>
        <p:spPr>
          <a:xfrm>
            <a:off x="6415888" y="2898648"/>
            <a:ext cx="384048" cy="384048"/>
          </a:xfrm>
          <a:prstGeom prst="ellipse">
            <a:avLst/>
          </a:prstGeom>
          <a:solidFill>
            <a:srgbClr val="14305C"/>
          </a:solidFill>
          <a:ln w="12700">
            <a:solidFill>
              <a:srgbClr val="14305C"/>
            </a:solidFill>
            <a:prstDash val="solid"/>
          </a:ln>
        </p:spPr>
      </p:sp>
      <p:sp>
        <p:nvSpPr>
          <p:cNvPr id="26" name="Text 22"/>
          <p:cNvSpPr txBox="1"/>
          <p:nvPr/>
        </p:nvSpPr>
        <p:spPr>
          <a:xfrm>
            <a:off x="6415888" y="2898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3"/>
          <p:cNvSpPr txBox="1"/>
          <p:nvPr/>
        </p:nvSpPr>
        <p:spPr>
          <a:xfrm>
            <a:off x="6918808" y="2852928"/>
            <a:ext cx="1744904" cy="475488"/>
          </a:xfrm>
          <a:prstGeom prst="rect">
            <a:avLst/>
          </a:prstGeom>
          <a:noFill/>
          <a:ln/>
        </p:spPr>
        <p:txBody>
          <a:bodyPr wrap="square" lIns="0" tIns="0" rIns="0" bIns="0" rtlCol="0" anchor="ctr"/>
          <a:lstStyle/>
          <a:p>
            <a:pPr indent="0" marL="0">
              <a:buNone/>
            </a:pPr>
            <a:r>
              <a:rPr lang="en-US" sz="1500" b="1" dirty="0">
                <a:solidFill>
                  <a:srgbClr val="14305C"/>
                </a:solidFill>
                <a:latin typeface="Calibri" pitchFamily="34" charset="0"/>
                <a:ea typeface="Calibri" pitchFamily="34" charset="-122"/>
                <a:cs typeface="Calibri" pitchFamily="34" charset="-120"/>
              </a:rPr>
              <a:t>Marked sections, video</a:t>
            </a:r>
            <a:endParaRPr lang="en-US" sz="1500" dirty="0"/>
          </a:p>
        </p:txBody>
      </p:sp>
      <p:sp>
        <p:nvSpPr>
          <p:cNvPr id="28" name="Text 24"/>
          <p:cNvSpPr txBox="1"/>
          <p:nvPr/>
        </p:nvSpPr>
        <p:spPr>
          <a:xfrm>
            <a:off x="6415888" y="3429000"/>
            <a:ext cx="2202104" cy="13258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Straight sections with side video, three passes per speed, for a place-by-place ICC.</a:t>
            </a:r>
            <a:endParaRPr lang="en-US" sz="1400" dirty="0"/>
          </a:p>
        </p:txBody>
      </p:sp>
      <p:sp>
        <p:nvSpPr>
          <p:cNvPr id="29" name="Shape 25"/>
          <p:cNvSpPr/>
          <p:nvPr/>
        </p:nvSpPr>
        <p:spPr>
          <a:xfrm>
            <a:off x="9075191" y="2743200"/>
            <a:ext cx="2567864" cy="2103120"/>
          </a:xfrm>
          <a:prstGeom prst="roundRect">
            <a:avLst>
              <a:gd name="adj" fmla="val 5217"/>
            </a:avLst>
          </a:prstGeom>
          <a:solidFill>
            <a:srgbClr val="FFFFFF"/>
          </a:solidFill>
          <a:ln w="19050">
            <a:solidFill>
              <a:srgbClr val="1565C0"/>
            </a:solidFill>
            <a:prstDash val="solid"/>
          </a:ln>
        </p:spPr>
      </p:sp>
      <p:sp>
        <p:nvSpPr>
          <p:cNvPr id="30" name="Shape 26"/>
          <p:cNvSpPr/>
          <p:nvPr/>
        </p:nvSpPr>
        <p:spPr>
          <a:xfrm>
            <a:off x="9258071" y="2898648"/>
            <a:ext cx="384048" cy="384048"/>
          </a:xfrm>
          <a:prstGeom prst="ellipse">
            <a:avLst/>
          </a:prstGeom>
          <a:solidFill>
            <a:srgbClr val="14305C"/>
          </a:solidFill>
          <a:ln w="12700">
            <a:solidFill>
              <a:srgbClr val="14305C"/>
            </a:solidFill>
            <a:prstDash val="solid"/>
          </a:ln>
        </p:spPr>
      </p:sp>
      <p:sp>
        <p:nvSpPr>
          <p:cNvPr id="31" name="Text 27"/>
          <p:cNvSpPr txBox="1"/>
          <p:nvPr/>
        </p:nvSpPr>
        <p:spPr>
          <a:xfrm>
            <a:off x="9258071" y="2898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2" name="Text 28"/>
          <p:cNvSpPr txBox="1"/>
          <p:nvPr/>
        </p:nvSpPr>
        <p:spPr>
          <a:xfrm>
            <a:off x="9760991" y="2852928"/>
            <a:ext cx="1744904" cy="475488"/>
          </a:xfrm>
          <a:prstGeom prst="rect">
            <a:avLst/>
          </a:prstGeom>
          <a:noFill/>
          <a:ln/>
        </p:spPr>
        <p:txBody>
          <a:bodyPr wrap="square" lIns="0" tIns="0" rIns="0" bIns="0" rtlCol="0" anchor="ctr"/>
          <a:lstStyle/>
          <a:p>
            <a:pPr indent="0" marL="0">
              <a:buNone/>
            </a:pPr>
            <a:r>
              <a:rPr lang="en-US" sz="1500" b="1" dirty="0">
                <a:solidFill>
                  <a:srgbClr val="14305C"/>
                </a:solidFill>
                <a:latin typeface="Calibri" pitchFamily="34" charset="0"/>
                <a:ea typeface="Calibri" pitchFamily="34" charset="-122"/>
                <a:cs typeface="Calibri" pitchFamily="34" charset="-120"/>
              </a:rPr>
              <a:t>Fusion and time to contact</a:t>
            </a:r>
            <a:endParaRPr lang="en-US" sz="1500" dirty="0"/>
          </a:p>
        </p:txBody>
      </p:sp>
      <p:sp>
        <p:nvSpPr>
          <p:cNvPr id="33" name="Text 29"/>
          <p:cNvSpPr txBox="1"/>
          <p:nvPr/>
        </p:nvSpPr>
        <p:spPr>
          <a:xfrm>
            <a:off x="9258071" y="3429000"/>
            <a:ext cx="2202104" cy="13258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Flat-target ranging, a car approaching the parked trike, at least 200 road alerts labelled on video.</a:t>
            </a:r>
            <a:endParaRPr lang="en-US" sz="1400" dirty="0"/>
          </a:p>
        </p:txBody>
      </p:sp>
      <p:sp>
        <p:nvSpPr>
          <p:cNvPr id="34" name="Text 30"/>
          <p:cNvSpPr txBox="1"/>
          <p:nvPr/>
        </p:nvSpPr>
        <p:spPr>
          <a:xfrm>
            <a:off x="548640" y="5074920"/>
            <a:ext cx="11094415" cy="502920"/>
          </a:xfrm>
          <a:prstGeom prst="rect">
            <a:avLst/>
          </a:prstGeom>
          <a:noFill/>
          <a:ln/>
        </p:spPr>
        <p:txBody>
          <a:bodyPr wrap="square" lIns="0" tIns="0" rIns="0" bIns="0" rtlCol="0" anchor="ctr"/>
          <a:lstStyle/>
          <a:p>
            <a:pPr algn="ctr" indent="0" marL="0">
              <a:buNone/>
            </a:pPr>
            <a:r>
              <a:rPr lang="en-US" sz="2800" b="1" dirty="0">
                <a:solidFill>
                  <a:srgbClr val="14305C"/>
                </a:solidFill>
                <a:latin typeface="Calibri" pitchFamily="34" charset="0"/>
                <a:ea typeface="Calibri" pitchFamily="34" charset="-122"/>
                <a:cs typeface="Calibri" pitchFamily="34" charset="-120"/>
              </a:rPr>
              <a:t>Thank you. Questions?</a:t>
            </a:r>
            <a:endParaRPr lang="en-US" sz="2800" dirty="0"/>
          </a:p>
        </p:txBody>
      </p:sp>
      <p:sp>
        <p:nvSpPr>
          <p:cNvPr id="35" name="Text 31"/>
          <p:cNvSpPr txBox="1"/>
          <p:nvPr/>
        </p:nvSpPr>
        <p:spPr>
          <a:xfrm>
            <a:off x="548640" y="5577840"/>
            <a:ext cx="11094415" cy="365760"/>
          </a:xfrm>
          <a:prstGeom prst="rect">
            <a:avLst/>
          </a:prstGeom>
          <a:noFill/>
          <a:ln/>
        </p:spPr>
        <p:txBody>
          <a:bodyPr wrap="square" lIns="0" tIns="0" rIns="0" bIns="0" rtlCol="0" anchor="ctr"/>
          <a:lstStyle/>
          <a:p>
            <a:pPr algn="ctr" indent="0" marL="0">
              <a:buNone/>
            </a:pPr>
            <a:r>
              <a:rPr lang="en-US" sz="1600" dirty="0">
                <a:solidFill>
                  <a:srgbClr val="1B1F24"/>
                </a:solidFill>
                <a:latin typeface="Calibri" pitchFamily="34" charset="0"/>
                <a:ea typeface="Calibri" pitchFamily="34" charset="-122"/>
                <a:cs typeface="Calibri" pitchFamily="34" charset="-120"/>
              </a:rPr>
              <a:t>Videos of the system on the road: </a:t>
            </a:r>
            <a:pPr algn="ctr" indent="0" marL="0">
              <a:buNone/>
            </a:pPr>
            <a:r>
              <a:rPr lang="en-US" sz="1600" b="1" u="sng" dirty="0">
                <a:solidFill>
                  <a:srgbClr val="1565C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https://tuksense.site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Telemetry with Road-Surface Characterisation and Camera-Based Hazard Detection for the TUKZIE Electric Trike</dc:title>
  <dc:subject>PptxGenJS Presentation</dc:subject>
  <dc:creator>Samson Okuthe</dc:creator>
  <cp:lastModifiedBy>Samson Okuthe</cp:lastModifiedBy>
  <cp:revision>1</cp:revision>
  <dcterms:created xsi:type="dcterms:W3CDTF">2026-10-30T12:32:59Z</dcterms:created>
  <dcterms:modified xsi:type="dcterms:W3CDTF">2026-10-30T12:32:59Z</dcterms:modified>
</cp:coreProperties>
</file>