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305C"/>
                </a:solidFill>
                <a:latin typeface="Calibri"/>
              </a:defRPr>
            </a:pPr>
            <a:r>
              <a:rPr sz="1500" b="0" i="0" u="none" strike="noStrike">
                <a:solidFill>
                  <a:srgbClr val="14305C"/>
                </a:solidFill>
                <a:latin typeface="Calibri"/>
              </a:rPr>
              <a:t>Median, sensor readout to detection (ms)</a:t>
            </a:r>
          </a:p>
        </c:rich>
      </c:tx>
      <c:layout/>
      <c:overlay val="0"/>
    </c:title>
    <c:autoTitleDeleted val="0"/>
    <c:plotArea>
      <c:layout/>
      <c:barChart>
        <c:barDir val="bar"/>
        <c:grouping val="clustered"/>
        <c:varyColors val="0"/>
        <c:ser>
          <c:idx val="0"/>
          <c:order val="0"/>
          <c:tx>
            <c:strRef>
              <c:f>Sheet1!$B$1</c:f>
              <c:strCache>
                <c:ptCount val="1"/>
                <c:pt idx="0">
                  <c:v>Median readout to result (ms)</c:v>
                </c:pt>
              </c:strCache>
            </c:strRef>
          </c:tx>
          <c:spPr>
            <a:solidFill>
              <a:srgbClr val="1565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 4, whole system: 118 to 122 ms</c:v>
                  </c:pt>
                  <c:pt idx="1">
                    <c:v>Pi 4, detector alone: 102 ms</c:v>
                  </c:pt>
                  <c:pt idx="2">
                    <c:v>Pi 5, with the dashboard: 51 to 54 ms</c:v>
                  </c:pt>
                </c:lvl>
              </c:multiLvlStrCache>
            </c:multiLvlStrRef>
          </c:cat>
          <c:val>
            <c:numRef>
              <c:f>Sheet1!$B$2:$B$4</c:f>
              <c:numCache>
                <c:formatCode>General</c:formatCode>
                <c:ptCount val="3"/>
                <c:pt idx="0">
                  <c:v>120</c:v>
                </c:pt>
                <c:pt idx="1">
                  <c:v>102</c:v>
                </c:pt>
                <c:pt idx="2">
                  <c:v>52.5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4"/>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b"/>
        <c:majorGridlines>
          <c:spPr>
            <a:ln w="9525" cap="flat">
              <a:solidFill>
                <a:srgbClr val="C9D6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566"/>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It is part of TUKZIE, a 72 volt electric cargo trike for last-mile freight. I built its on-board electronics: a telemetry unit that measures how the trike rides, and safety alerts on the dashboard it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trikes make economic sense for freight in African cities: on delivery routes in Dar es Salaam, an electric cargo tricycle cut the operating cost per kilometre by 45.5 percent against a motorcycle. But anything that takes the driver's eyes off the road is a risk; NHTSA guidance limits a single glance to two seconds. So the problem is to combine edge telemetry with short, safety-only alerts on a low-cost trike, and to measure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and where each honestly stands. RQ1, how accurately and repeatably a low-cost unit characterises the ride: verified on the bench; road repeatability waits for Monday's run. RQ2, alerts on the existing dashboard with the least distraction: this replaced the head-up display with my supervisor's agreement. It is built and its legibility measured; glance time needs a participant. RQ3, latency, loss and recovery: loss and recovery pass a ten-minute outage test; latency needs GNSS time. RQ4, road against powertrain vibration: the stands found the powertrain's lines; their road share waits for the road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fifteenth of October the system has two sides, joined by one Ethernet cable. At the front, a Raspberry Pi 5 behind the dashboard runs its own camera, the detector, a time-of-flight board and the fusion, so a front alert never crosses the network. At the rear, beside the battery, the Pi 4 runs the rear camera and sensors and carries the telemetry unit: an ESP32-S3 with LTE, GNSS, the battery link and one IMU at 200 hertz. A second node with its own IMU now sits at the front, so both ends are measured. Two findings drove this: the battery's Bluetooth did not reach the front, and the Pi 5 runs the detector more than twice as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across two cores. Core 1 holds one task per IMU at the highest priority, on a fixed 5 millisecond period. They never block: each sample is time-stamped into a bounded queue, and if it is full the sample is dropped and counted. Core 0 does the modem, GNSS, MQTT and the flash log, in one task because the modem's serial line has no lock. Version 0.7.4 adds sequence numbers, backlog replay and a 94 hertz filter against aliasing.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IMUs run at 200 hertz with no dropped samples, counted, not assumed. Flash writes cause one gap of under 45 milliseconds a minute, and the queue holds the samples through it. A gravity factor per sensor brings both to 9.80 or 9.81, but only in that orientation: with bench factors the parked vehicle read 10.04 and 10.34, so both were recalibrated mounted, not yet rechecked. In a 150 second session all 149 windows fused with under a millisecond of skew. One limit: the 94 hertz filter only partly suppresses aliasing, so a line at 40 to 70 hertz could be an image of one at 136 to 157. A speed sweep tells them apart: a motor line rises with speed, its image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each stage was tested before the next, every fault could be traced to one change. Seven needed a real diagnosis; here is the one that mattered most. The Pi 4 kept throttling and rebooting. A logger recorded its power flags every two seconds: clear with nothing attached, then under-voltage fourteen seconds after the telemetry unit's modem came up on its USB port. Moved off, no restarts in four hours. It came back in the closed box: 76.9 degrees and a brown-out restart. So the unit needs its own supply, and the lids gained vents. The Pi 5's restarts while mounting were different: abrupt power loss, not a brown-out.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sync wire gives a median interval of 500.06 milliseconds over 121 edges, with under 0.7 of spread, so camera and IMU clocks line up. On a rooftop, GNSS was a median 2.7 metres from a phone. On the vehicle it has not fixed yet, so a phone now streams its GNSS over its hotspot as the speed reference. The outage test: I switched the radio off for ten minutes. The unit reconnected 5.2 seconds after it came back and cleared 60 records in about 40 seconds; the database holds 112 of 112. The public test broker does not queue, so the log read-back is the safety net, and latency needs GNSS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a pretrained 8-bit SSD-MobileNet. On the Pi 4 with the whole system running it takes 118 to 122 milliseconds from sensor readout to result, at 14.6 frames per second. On the Pi 5 beside the dashboard it is 51 to 54 milliseconds at 19.2 frames per second, with no throttling. At 30 kilometres an hour that is about 0.6 metres less travel before an alert. An alert needs three frames to raise and five to clear, and no frame is ever stored. My pothole model works on a test image but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 bands say how near an object is, not whether it is coming closer. For an object closing at constant speed, the inverse of its box width falls in a straight line to zero at contact. So time to contact is the width over its rate of growth, after Lee in 1976, and it needs no focal length or object size. I fit that line robustly over the last 0.6 seconds, and warn below 4 seconds, immediate below 2. A one percent jitter in box width gives about plus or minus 0.3 seconds at 4 seconds. In 40 synthetic tests it is within 2 percent, at 0.27 milliseconds a frame. It has not been tested on a real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lands, on the dashboard the team already runs. A Front and Rear switch moves the picture, alerts and distances together, the rear mirrored; the banner names the side and puts an approaching object first; only live data is shown. Glance time needs a participant, but legibility does not, so I measured it. At 0.70 metres the speed digits subtend 84 arc minutes, far above the 20 ISO 15008 recommends; the alert banner subtends 9, and the labels a median of 9, against 16 acceptable. So the speed is legible at a glance; the warnings are not. Enlarging them comes before any glance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enclosures were modelled from scripts in SOLIDWORKS, each checked for interference, fasteners and thin walls: a display mount, a front pod for the Pi 5 and its AI HAT, and a screwless IMU pod. After the Pi 4 reached 76.9 degrees in its closed box, both lids gained an exhaust grille under a rain hood. The power budget is about 20 watts, 0.27 amps from the 72 volt pack, under one percent of the motor's rated input. Only the Pi 5 is measured; the rest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nineteenth of October the whole system was mounted and the first road session run. A recorder on the Pi 5 ran for 108.6 minutes, about 16 of them driving, with no laptop on board. One IMU stall of about 2 seconds, not in the drop count, means R1 is not met on the vehicle, and 38 percent of the records were lost on USB, now replaced by wires. The battery link held at up to 46.9 amps. With no GNSS antenna and no raw samples, RQ1 and RQ4 stayed open. On the twenty-third, with the drive wheel raised, the rear vibration rose five to seven times, between about 40 and 70 hertz, and the front showed the same lines, so the powertrain reaches the front through the frame. Throttle settings were not recorded, so the lines are not yet assigned to motor orders. Monday's road run answers RQ1 and RQ4; the analysis is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now on the vehicle: two nodes at 200 hertz with no counted drops; a database that lost nothing across an outage; detection in about 50 milliseconds at the front; an approaching-object warning; and both cameras on the existing dashboard. On the stands the powertrain showed at 40 to 70 hertz, at both ends; the dashboard's warnings are too small. What remains is Monday's road run for RQ1 and RQ4, larger warnings and then glance time for RQ2, the real approach test, and a separate supply for the telemetry unit.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100" b="1" dirty="0">
                <a:solidFill>
                  <a:srgbClr val="FFFFFF"/>
                </a:solidFill>
                <a:latin typeface="Calibri" pitchFamily="34" charset="0"/>
                <a:ea typeface="Calibri" pitchFamily="34" charset="-122"/>
                <a:cs typeface="Calibri" pitchFamily="34" charset="-120"/>
              </a:rPr>
              <a:t>Embedded Telemetry with Road-Surface Characterisation</a:t>
            </a:r>
            <a:endParaRPr lang="en-US" sz="3100" dirty="0"/>
          </a:p>
          <a:p>
            <a:pPr algn="ctr" indent="0" marL="0">
              <a:buNone/>
            </a:pPr>
            <a:r>
              <a:rPr lang="en-US" sz="3100" b="1" dirty="0">
                <a:solidFill>
                  <a:srgbClr val="FFFFFF"/>
                </a:solidFill>
                <a:latin typeface="Calibri" pitchFamily="34" charset="0"/>
                <a:ea typeface="Calibri" pitchFamily="34" charset="-122"/>
                <a:cs typeface="Calibri" pitchFamily="34" charset="-120"/>
              </a:rPr>
              <a:t>and Camera-Based Hazard Detection</a:t>
            </a:r>
            <a:endParaRPr lang="en-US" sz="3100" dirty="0"/>
          </a:p>
          <a:p>
            <a:pPr algn="ctr" indent="0" marL="0">
              <a:buNone/>
            </a:pPr>
            <a:r>
              <a:rPr lang="en-US" sz="3100" b="1" dirty="0">
                <a:solidFill>
                  <a:srgbClr val="FFFFFF"/>
                </a:solidFill>
                <a:latin typeface="Calibri" pitchFamily="34" charset="0"/>
                <a:ea typeface="Calibri" pitchFamily="34" charset="-122"/>
                <a:cs typeface="Calibri" pitchFamily="34" charset="-120"/>
              </a:rPr>
              <a:t>for the TUKZIE Electric Trike</a:t>
            </a:r>
            <a:endParaRPr lang="en-US" sz="31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14</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14</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How accurately and repeatably can a low-cost edge unit characterise the trike's ride response?</a:t>
            </a:r>
            <a:endParaRPr lang="en-US" sz="1800" dirty="0"/>
          </a:p>
        </p:txBody>
      </p:sp>
      <p:sp>
        <p:nvSpPr>
          <p:cNvPr id="12" name="Shape 8"/>
          <p:cNvSpPr/>
          <p:nvPr/>
        </p:nvSpPr>
        <p:spPr>
          <a:xfrm>
            <a:off x="9128455" y="1591056"/>
            <a:ext cx="2240280" cy="457200"/>
          </a:xfrm>
          <a:prstGeom prst="roundRect">
            <a:avLst>
              <a:gd name="adj" fmla="val 50000"/>
            </a:avLst>
          </a:prstGeom>
          <a:solidFill>
            <a:srgbClr val="FFFFFF"/>
          </a:solidFill>
          <a:ln w="19050">
            <a:solidFill>
              <a:srgbClr val="D4700C"/>
            </a:solidFill>
            <a:prstDash val="dash"/>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Road run pending</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layout and update strategy show safety alerts on the existing dashboard with least distraction?</a:t>
            </a:r>
            <a:endParaRPr lang="en-US" sz="1800" dirty="0"/>
          </a:p>
        </p:txBody>
      </p:sp>
      <p:sp>
        <p:nvSpPr>
          <p:cNvPr id="17" name="Shape 13"/>
          <p:cNvSpPr/>
          <p:nvPr/>
        </p:nvSpPr>
        <p:spPr>
          <a:xfrm>
            <a:off x="9128455" y="2743200"/>
            <a:ext cx="2240280" cy="457200"/>
          </a:xfrm>
          <a:prstGeom prst="roundRect">
            <a:avLst>
              <a:gd name="adj" fmla="val 50000"/>
            </a:avLst>
          </a:prstGeom>
          <a:solidFill>
            <a:srgbClr val="14305C"/>
          </a:solidFill>
          <a:ln w="19050">
            <a:solidFill>
              <a:srgbClr val="14305C"/>
            </a:solidFill>
            <a:prstDash val="solid"/>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Legibility measured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What latency, data loss and recovery from sensor through local log to the LTE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Loss tested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ride features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Stand lines found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front and rear, joined by one cable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14</a:t>
            </a:r>
            <a:endParaRPr lang="en-US" sz="1100" dirty="0"/>
          </a:p>
        </p:txBody>
      </p:sp>
      <p:sp>
        <p:nvSpPr>
          <p:cNvPr id="9" name="Shape 5"/>
          <p:cNvSpPr/>
          <p:nvPr/>
        </p:nvSpPr>
        <p:spPr>
          <a:xfrm>
            <a:off x="548640" y="1325880"/>
            <a:ext cx="4572000" cy="3154680"/>
          </a:xfrm>
          <a:prstGeom prst="roundRect">
            <a:avLst>
              <a:gd name="adj" fmla="val 3478"/>
            </a:avLst>
          </a:prstGeom>
          <a:solidFill>
            <a:srgbClr val="E8F0FA"/>
          </a:solidFill>
          <a:ln w="12700">
            <a:solidFill>
              <a:srgbClr val="E8F0FA"/>
            </a:solidFill>
            <a:prstDash val="solid"/>
          </a:ln>
        </p:spPr>
      </p:sp>
      <p:sp>
        <p:nvSpPr>
          <p:cNvPr id="10" name="Text 6"/>
          <p:cNvSpPr txBox="1"/>
          <p:nvPr/>
        </p:nvSpPr>
        <p:spPr>
          <a:xfrm>
            <a:off x="822960"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Front: Raspberry Pi 5,</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behind the dashboard</a:t>
            </a:r>
            <a:endParaRPr lang="en-US" sz="1900" dirty="0"/>
          </a:p>
        </p:txBody>
      </p:sp>
      <p:sp>
        <p:nvSpPr>
          <p:cNvPr id="11" name="Text 7"/>
          <p:cNvSpPr txBox="1"/>
          <p:nvPr/>
        </p:nvSpPr>
        <p:spPr>
          <a:xfrm>
            <a:off x="822960"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camera, detector, time-of-flight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node: ESP32-S3 with one IMU at 200 Hz</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Dashboard on the 10.1 in touchscreen; phone GNSS for speed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recorder for all sources</a:t>
            </a:r>
            <a:endParaRPr lang="en-US" sz="1600" dirty="0"/>
          </a:p>
        </p:txBody>
      </p:sp>
      <p:sp>
        <p:nvSpPr>
          <p:cNvPr id="12" name="Shape 8"/>
          <p:cNvSpPr/>
          <p:nvPr/>
        </p:nvSpPr>
        <p:spPr>
          <a:xfrm>
            <a:off x="7071055" y="1325880"/>
            <a:ext cx="4572000" cy="3154680"/>
          </a:xfrm>
          <a:prstGeom prst="roundRect">
            <a:avLst>
              <a:gd name="adj" fmla="val 3478"/>
            </a:avLst>
          </a:prstGeom>
          <a:solidFill>
            <a:srgbClr val="E8F0FA"/>
          </a:solidFill>
          <a:ln w="12700">
            <a:solidFill>
              <a:srgbClr val="E8F0FA"/>
            </a:solidFill>
            <a:prstDash val="solid"/>
          </a:ln>
        </p:spPr>
      </p:sp>
      <p:sp>
        <p:nvSpPr>
          <p:cNvPr id="13" name="Text 9"/>
          <p:cNvSpPr txBox="1"/>
          <p:nvPr/>
        </p:nvSpPr>
        <p:spPr>
          <a:xfrm>
            <a:off x="7345375"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Rear: Raspberry Pi 4,</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beside the battery</a:t>
            </a:r>
            <a:endParaRPr lang="en-US" sz="1900" dirty="0"/>
          </a:p>
        </p:txBody>
      </p:sp>
      <p:sp>
        <p:nvSpPr>
          <p:cNvPr id="14" name="Text 10"/>
          <p:cNvSpPr txBox="1"/>
          <p:nvPr/>
        </p:nvSpPr>
        <p:spPr>
          <a:xfrm>
            <a:off x="7345375"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Rear camera, detector, time-of-flight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Rear node: ESP32-S3 with one IMU at 200 Hz, wired UART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LTE, GNSS, local log; battery over Bluetooth</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LTE uplink to the central database</a:t>
            </a:r>
            <a:endParaRPr lang="en-US" sz="1600" dirty="0"/>
          </a:p>
        </p:txBody>
      </p:sp>
      <p:sp>
        <p:nvSpPr>
          <p:cNvPr id="15" name="Shape 11"/>
          <p:cNvSpPr/>
          <p:nvPr/>
        </p:nvSpPr>
        <p:spPr>
          <a:xfrm>
            <a:off x="5230368" y="2903220"/>
            <a:ext cx="1730959" cy="0"/>
          </a:xfrm>
          <a:prstGeom prst="line">
            <a:avLst/>
          </a:prstGeom>
          <a:noFill/>
          <a:ln w="38100">
            <a:solidFill>
              <a:srgbClr val="14305C"/>
            </a:solidFill>
            <a:prstDash val="solid"/>
            <a:headEnd type="triangle"/>
            <a:tailEnd type="triangle"/>
          </a:ln>
        </p:spPr>
      </p:sp>
      <p:sp>
        <p:nvSpPr>
          <p:cNvPr id="16" name="Text 12"/>
          <p:cNvSpPr txBox="1"/>
          <p:nvPr/>
        </p:nvSpPr>
        <p:spPr>
          <a:xfrm>
            <a:off x="5230368" y="2400300"/>
            <a:ext cx="1730959" cy="365760"/>
          </a:xfrm>
          <a:prstGeom prst="rect">
            <a:avLst/>
          </a:prstGeom>
          <a:noFill/>
          <a:ln/>
        </p:spPr>
        <p:txBody>
          <a:bodyPr wrap="square" lIns="0" tIns="0" rIns="0" bIns="0" rtlCol="0" anchor="ctr"/>
          <a:lstStyle/>
          <a:p>
            <a:pPr algn="ctr" indent="0" marL="0">
              <a:buNone/>
            </a:pPr>
            <a:r>
              <a:rPr lang="en-US" sz="1600" b="1" dirty="0">
                <a:solidFill>
                  <a:srgbClr val="14305C"/>
                </a:solidFill>
                <a:latin typeface="Calibri" pitchFamily="34" charset="0"/>
                <a:ea typeface="Calibri" pitchFamily="34" charset="-122"/>
                <a:cs typeface="Calibri" pitchFamily="34" charset="-120"/>
              </a:rPr>
              <a:t>Ethernet</a:t>
            </a:r>
            <a:endParaRPr lang="en-US" sz="1600" dirty="0"/>
          </a:p>
        </p:txBody>
      </p:sp>
      <p:sp>
        <p:nvSpPr>
          <p:cNvPr id="17" name="Text 13"/>
          <p:cNvSpPr txBox="1"/>
          <p:nvPr/>
        </p:nvSpPr>
        <p:spPr>
          <a:xfrm>
            <a:off x="5230368" y="3040380"/>
            <a:ext cx="1730959" cy="640080"/>
          </a:xfrm>
          <a:prstGeom prst="rect">
            <a:avLst/>
          </a:prstGeom>
          <a:noFill/>
          <a:ln/>
        </p:spPr>
        <p:txBody>
          <a:bodyPr wrap="square" lIns="0" tIns="0" rIns="0" bIns="0" rtlCol="0" anchor="t"/>
          <a:lstStyle/>
          <a:p>
            <a:pPr algn="ctr" indent="0" marL="0">
              <a:buNone/>
            </a:pPr>
            <a:r>
              <a:rPr lang="en-US" sz="1300" dirty="0">
                <a:solidFill>
                  <a:srgbClr val="4A5566"/>
                </a:solidFill>
                <a:latin typeface="Calibri" pitchFamily="34" charset="0"/>
                <a:ea typeface="Calibri" pitchFamily="34" charset="-122"/>
                <a:cs typeface="Calibri" pitchFamily="34" charset="-120"/>
              </a:rPr>
              <a:t>1000 Mb/s</a:t>
            </a:r>
            <a:endParaRPr lang="en-US" sz="1300" dirty="0"/>
          </a:p>
          <a:p>
            <a:pPr algn="ctr" indent="0" marL="0">
              <a:buNone/>
            </a:pPr>
            <a:r>
              <a:rPr lang="en-US" sz="1300" dirty="0">
                <a:solidFill>
                  <a:srgbClr val="4A5566"/>
                </a:solidFill>
                <a:latin typeface="Calibri" pitchFamily="34" charset="0"/>
                <a:ea typeface="Calibri" pitchFamily="34" charset="-122"/>
                <a:cs typeface="Calibri" pitchFamily="34" charset="-120"/>
              </a:rPr>
              <a:t>0.22 to 0.25 ms</a:t>
            </a:r>
            <a:endParaRPr lang="en-US" sz="1300" dirty="0"/>
          </a:p>
        </p:txBody>
      </p:sp>
      <p:sp>
        <p:nvSpPr>
          <p:cNvPr id="18" name="Shape 14"/>
          <p:cNvSpPr/>
          <p:nvPr/>
        </p:nvSpPr>
        <p:spPr>
          <a:xfrm>
            <a:off x="548640" y="4754880"/>
            <a:ext cx="11094415" cy="1417320"/>
          </a:xfrm>
          <a:prstGeom prst="roundRect">
            <a:avLst>
              <a:gd name="adj" fmla="val 7742"/>
            </a:avLst>
          </a:prstGeom>
          <a:solidFill>
            <a:srgbClr val="FFFFFF"/>
          </a:solidFill>
          <a:ln w="19050">
            <a:solidFill>
              <a:srgbClr val="1565C0"/>
            </a:solidFill>
            <a:prstDash val="solid"/>
          </a:ln>
        </p:spPr>
      </p:sp>
      <p:sp>
        <p:nvSpPr>
          <p:cNvPr id="19" name="Text 15"/>
          <p:cNvSpPr txBox="1"/>
          <p:nvPr/>
        </p:nvSpPr>
        <p:spPr>
          <a:xfrm>
            <a:off x="822960" y="4754880"/>
            <a:ext cx="10545775" cy="141732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two sides (15 Oct): </a:t>
            </a:r>
            <a:pPr indent="0" marL="0">
              <a:buNone/>
            </a:pPr>
            <a:r>
              <a:rPr lang="en-US" sz="1600" dirty="0">
                <a:solidFill>
                  <a:srgbClr val="1B1F24"/>
                </a:solidFill>
                <a:latin typeface="Calibri" pitchFamily="34" charset="0"/>
                <a:ea typeface="Calibri" pitchFamily="34" charset="-122"/>
                <a:cs typeface="Calibri" pitchFamily="34" charset="-120"/>
              </a:rPr>
              <a:t>the battery's Bluetooth link did not reach the telemetry unit at the front, and the Pi 5 runs the detector more than twice as fast as the Pi 4. A front alert no longer crosses the network to reach the screen.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14</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GNSS, MQTT with sequence numbers and backlog replay (v0.7.4), flash log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
        <p:nvSpPr>
          <p:cNvPr id="50" name="Text 46"/>
          <p:cNvSpPr txBox="1"/>
          <p:nvPr/>
        </p:nvSpPr>
        <p:spPr>
          <a:xfrm>
            <a:off x="548640" y="5806440"/>
            <a:ext cx="11094415" cy="4114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Method: each stage (bring-up, acquisition, features and fusion, log and uplink, vehicle) was tested against a pass criterion before the next was built on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14</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no samples dropped</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9.8 m/s²</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at rest just after calibration (9.80, 9.81)</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Calibration and limits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Bench factors on the parked vehicle: 10.04 and 10.34 m/s²</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Mounted (23 Oct): front 0.9919, rear 1.0094; not yet rechecked</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Flash gaps 33 to 44 ms, once a minute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94 Hz filter: lines at 40 to 70 Hz could be images of 136 to 157 Hz; a speed sweep tells them apart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Seven fault investigations: symptom, test, cause, fix</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14</a:t>
            </a:r>
            <a:endParaRPr lang="en-US" sz="1100" dirty="0"/>
          </a:p>
        </p:txBody>
      </p:sp>
      <p:sp>
        <p:nvSpPr>
          <p:cNvPr id="9" name="Shape 5"/>
          <p:cNvSpPr/>
          <p:nvPr/>
        </p:nvSpPr>
        <p:spPr>
          <a:xfrm>
            <a:off x="548640" y="1234440"/>
            <a:ext cx="2622728" cy="2194560"/>
          </a:xfrm>
          <a:prstGeom prst="roundRect">
            <a:avLst>
              <a:gd name="adj" fmla="val 5000"/>
            </a:avLst>
          </a:prstGeom>
          <a:solidFill>
            <a:srgbClr val="E8F0FA"/>
          </a:solidFill>
          <a:ln w="12700">
            <a:solidFill>
              <a:srgbClr val="E8F0FA"/>
            </a:solidFill>
            <a:prstDash val="solid"/>
          </a:ln>
        </p:spPr>
      </p:sp>
      <p:sp>
        <p:nvSpPr>
          <p:cNvPr id="10" name="Text 6"/>
          <p:cNvSpPr txBox="1"/>
          <p:nvPr/>
        </p:nvSpPr>
        <p:spPr>
          <a:xfrm>
            <a:off x="731520"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Boot loop, full flash</a:t>
            </a:r>
            <a:endParaRPr lang="en-US" sz="1500" dirty="0"/>
          </a:p>
        </p:txBody>
      </p:sp>
      <p:sp>
        <p:nvSpPr>
          <p:cNvPr id="11" name="Text 7"/>
          <p:cNvSpPr txBox="1"/>
          <p:nvPr/>
        </p:nvSpPr>
        <p:spPr>
          <a:xfrm>
            <a:off x="731520"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reset once a second at one address. Tests: PSRAM setting, all overrides off, ROM banner. Cause: quad mode asked, chip runs dual (DIO). Fix: size, mode and table set together.</a:t>
            </a:r>
            <a:endParaRPr lang="en-US" sz="1200" dirty="0"/>
          </a:p>
        </p:txBody>
      </p:sp>
      <p:sp>
        <p:nvSpPr>
          <p:cNvPr id="12" name="Shape 8"/>
          <p:cNvSpPr/>
          <p:nvPr/>
        </p:nvSpPr>
        <p:spPr>
          <a:xfrm>
            <a:off x="3372536" y="1234440"/>
            <a:ext cx="2622728" cy="2194560"/>
          </a:xfrm>
          <a:prstGeom prst="roundRect">
            <a:avLst>
              <a:gd name="adj" fmla="val 5000"/>
            </a:avLst>
          </a:prstGeom>
          <a:solidFill>
            <a:srgbClr val="E8F0FA"/>
          </a:solidFill>
          <a:ln w="12700">
            <a:solidFill>
              <a:srgbClr val="E8F0FA"/>
            </a:solidFill>
            <a:prstDash val="solid"/>
          </a:ln>
        </p:spPr>
      </p:sp>
      <p:sp>
        <p:nvSpPr>
          <p:cNvPr id="13" name="Text 9"/>
          <p:cNvSpPr txBox="1"/>
          <p:nvPr/>
        </p:nvSpPr>
        <p:spPr>
          <a:xfrm>
            <a:off x="3555416"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GNSS reply layout</a:t>
            </a:r>
            <a:endParaRPr lang="en-US" sz="1500" dirty="0"/>
          </a:p>
        </p:txBody>
      </p:sp>
      <p:sp>
        <p:nvSpPr>
          <p:cNvPr id="14" name="Text 10"/>
          <p:cNvSpPr txBox="1"/>
          <p:nvPr/>
        </p:nvSpPr>
        <p:spPr>
          <a:xfrm>
            <a:off x="3555416"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first fix near 0, 0. Test: raw replies logged: 17 fields in decimal degrees, not 13 as assumed. Fix: parser anchors on the hemisphere letter; median 2.7 m.</a:t>
            </a:r>
            <a:endParaRPr lang="en-US" sz="1200" dirty="0"/>
          </a:p>
        </p:txBody>
      </p:sp>
      <p:sp>
        <p:nvSpPr>
          <p:cNvPr id="15" name="Shape 11"/>
          <p:cNvSpPr/>
          <p:nvPr/>
        </p:nvSpPr>
        <p:spPr>
          <a:xfrm>
            <a:off x="6196432" y="1234440"/>
            <a:ext cx="2622728" cy="2194560"/>
          </a:xfrm>
          <a:prstGeom prst="roundRect">
            <a:avLst>
              <a:gd name="adj" fmla="val 5000"/>
            </a:avLst>
          </a:prstGeom>
          <a:solidFill>
            <a:srgbClr val="E8F0FA"/>
          </a:solidFill>
          <a:ln w="12700">
            <a:solidFill>
              <a:srgbClr val="E8F0FA"/>
            </a:solidFill>
            <a:prstDash val="solid"/>
          </a:ln>
        </p:spPr>
      </p:sp>
      <p:sp>
        <p:nvSpPr>
          <p:cNvPr id="16" name="Text 12"/>
          <p:cNvSpPr txBox="1"/>
          <p:nvPr/>
        </p:nvSpPr>
        <p:spPr>
          <a:xfrm>
            <a:off x="6379312"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Battery checksum</a:t>
            </a:r>
            <a:endParaRPr lang="en-US" sz="1500" dirty="0"/>
          </a:p>
        </p:txBody>
      </p:sp>
      <p:sp>
        <p:nvSpPr>
          <p:cNvPr id="17" name="Text 13"/>
          <p:cNvSpPr txBox="1"/>
          <p:nvPr/>
        </p:nvSpPr>
        <p:spPr>
          <a:xfrm>
            <a:off x="6379312"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every frame rejected. Test: the firmware's own query frame shows the rule. Cause: register byte summed too, so each reply failed by 3. Fix: 14 valid records, 74.78 V.</a:t>
            </a:r>
            <a:endParaRPr lang="en-US" sz="1200" dirty="0"/>
          </a:p>
        </p:txBody>
      </p:sp>
      <p:sp>
        <p:nvSpPr>
          <p:cNvPr id="18" name="Shape 14"/>
          <p:cNvSpPr/>
          <p:nvPr/>
        </p:nvSpPr>
        <p:spPr>
          <a:xfrm>
            <a:off x="9020327" y="1234440"/>
            <a:ext cx="2622728" cy="2194560"/>
          </a:xfrm>
          <a:prstGeom prst="roundRect">
            <a:avLst>
              <a:gd name="adj" fmla="val 5000"/>
            </a:avLst>
          </a:prstGeom>
          <a:solidFill>
            <a:srgbClr val="E8F0FA"/>
          </a:solidFill>
          <a:ln w="12700">
            <a:solidFill>
              <a:srgbClr val="E8F0FA"/>
            </a:solidFill>
            <a:prstDash val="solid"/>
          </a:ln>
        </p:spPr>
      </p:sp>
      <p:sp>
        <p:nvSpPr>
          <p:cNvPr id="19" name="Text 15"/>
          <p:cNvSpPr txBox="1"/>
          <p:nvPr/>
        </p:nvSpPr>
        <p:spPr>
          <a:xfrm>
            <a:off x="9203207"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Invalid JSON in the log</a:t>
            </a:r>
            <a:endParaRPr lang="en-US" sz="1500" dirty="0"/>
          </a:p>
        </p:txBody>
      </p:sp>
      <p:sp>
        <p:nvSpPr>
          <p:cNvPr id="20" name="Text 16"/>
          <p:cNvSpPr txBox="1"/>
          <p:nvPr/>
        </p:nvSpPr>
        <p:spPr>
          <a:xfrm>
            <a:off x="9203207"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5,545 of 6,020 records failed to parse. Test: indexed, length-checked read-back: all intact, so not transfer. Cause: nan for missing values. Fix: null; all parse.</a:t>
            </a:r>
            <a:endParaRPr lang="en-US" sz="1200" dirty="0"/>
          </a:p>
        </p:txBody>
      </p:sp>
      <p:sp>
        <p:nvSpPr>
          <p:cNvPr id="21" name="Shape 17"/>
          <p:cNvSpPr/>
          <p:nvPr/>
        </p:nvSpPr>
        <p:spPr>
          <a:xfrm>
            <a:off x="548640" y="3593592"/>
            <a:ext cx="2622728" cy="2194560"/>
          </a:xfrm>
          <a:prstGeom prst="roundRect">
            <a:avLst>
              <a:gd name="adj" fmla="val 5000"/>
            </a:avLst>
          </a:prstGeom>
          <a:solidFill>
            <a:srgbClr val="E8F0FA"/>
          </a:solidFill>
          <a:ln w="12700">
            <a:solidFill>
              <a:srgbClr val="E8F0FA"/>
            </a:solidFill>
            <a:prstDash val="solid"/>
          </a:ln>
        </p:spPr>
      </p:sp>
      <p:sp>
        <p:nvSpPr>
          <p:cNvPr id="22" name="Text 18"/>
          <p:cNvSpPr txBox="1"/>
          <p:nvPr/>
        </p:nvSpPr>
        <p:spPr>
          <a:xfrm>
            <a:off x="731520"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Camera colour cast</a:t>
            </a:r>
            <a:endParaRPr lang="en-US" sz="1500" dirty="0"/>
          </a:p>
        </p:txBody>
      </p:sp>
      <p:sp>
        <p:nvSpPr>
          <p:cNvPr id="23" name="Text 19"/>
          <p:cNvSpPr txBox="1"/>
          <p:nvPr/>
        </p:nvSpPr>
        <p:spPr>
          <a:xfrm>
            <a:off x="731520"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pink image. Tests: stills with the standard and the NoIR tuning. Cause: no infrared-cut filter, not channel order. Fix: NoIR tuning plus saturation 1.8.</a:t>
            </a:r>
            <a:endParaRPr lang="en-US" sz="1200" dirty="0"/>
          </a:p>
        </p:txBody>
      </p:sp>
      <p:sp>
        <p:nvSpPr>
          <p:cNvPr id="24" name="Shape 20"/>
          <p:cNvSpPr/>
          <p:nvPr/>
        </p:nvSpPr>
        <p:spPr>
          <a:xfrm>
            <a:off x="3372536" y="3593592"/>
            <a:ext cx="2622728" cy="2194560"/>
          </a:xfrm>
          <a:prstGeom prst="roundRect">
            <a:avLst>
              <a:gd name="adj" fmla="val 5000"/>
            </a:avLst>
          </a:prstGeom>
          <a:solidFill>
            <a:srgbClr val="E8F0FA"/>
          </a:solidFill>
          <a:ln w="12700">
            <a:solidFill>
              <a:srgbClr val="E8F0FA"/>
            </a:solidFill>
            <a:prstDash val="solid"/>
          </a:ln>
        </p:spPr>
      </p:sp>
      <p:sp>
        <p:nvSpPr>
          <p:cNvPr id="25" name="Text 21"/>
          <p:cNvSpPr txBox="1"/>
          <p:nvPr/>
        </p:nvSpPr>
        <p:spPr>
          <a:xfrm>
            <a:off x="3555416"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Distance-sensor hang</a:t>
            </a:r>
            <a:endParaRPr lang="en-US" sz="1500" dirty="0"/>
          </a:p>
        </p:txBody>
      </p:sp>
      <p:sp>
        <p:nvSpPr>
          <p:cNvPr id="26" name="Text 22"/>
          <p:cNvSpPr txBox="1"/>
          <p:nvPr/>
        </p:nvSpPr>
        <p:spPr>
          <a:xfrm>
            <a:off x="3555416"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nulls, then a frozen reader. Test: bus scan; driver timeout found to be zero, wait for ever. Fix: 0.5 s timeout, wiring re-seated; all three read again.</a:t>
            </a:r>
            <a:endParaRPr lang="en-US" sz="1200" dirty="0"/>
          </a:p>
        </p:txBody>
      </p:sp>
      <p:sp>
        <p:nvSpPr>
          <p:cNvPr id="27" name="Shape 23"/>
          <p:cNvSpPr/>
          <p:nvPr/>
        </p:nvSpPr>
        <p:spPr>
          <a:xfrm>
            <a:off x="6196432" y="3593592"/>
            <a:ext cx="2622728" cy="2194560"/>
          </a:xfrm>
          <a:prstGeom prst="roundRect">
            <a:avLst>
              <a:gd name="adj" fmla="val 5000"/>
            </a:avLst>
          </a:prstGeom>
          <a:solidFill>
            <a:srgbClr val="E8F0FA"/>
          </a:solidFill>
          <a:ln w="12700">
            <a:solidFill>
              <a:srgbClr val="E8F0FA"/>
            </a:solidFill>
            <a:prstDash val="solid"/>
          </a:ln>
        </p:spPr>
      </p:sp>
      <p:sp>
        <p:nvSpPr>
          <p:cNvPr id="28" name="Text 24"/>
          <p:cNvSpPr txBox="1"/>
          <p:nvPr/>
        </p:nvSpPr>
        <p:spPr>
          <a:xfrm>
            <a:off x="6379312"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Pi 4 under-voltage, reboots</a:t>
            </a:r>
            <a:endParaRPr lang="en-US" sz="1500" dirty="0"/>
          </a:p>
        </p:txBody>
      </p:sp>
      <p:sp>
        <p:nvSpPr>
          <p:cNvPr id="29" name="Text 25"/>
          <p:cNvSpPr txBox="1"/>
          <p:nvPr/>
        </p:nvSpPr>
        <p:spPr>
          <a:xfrm>
            <a:off x="6379312"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Candidates: supply, sensor board, telemetry unit on USB, heat. Test: power flags every 2 s: under-voltage 14 s after the modem came up. Unit moved off: 3 restarts in 20 min, then none in 4 h.</a:t>
            </a:r>
            <a:endParaRPr lang="en-US" sz="1200" dirty="0"/>
          </a:p>
        </p:txBody>
      </p:sp>
      <p:sp>
        <p:nvSpPr>
          <p:cNvPr id="30" name="Shape 26"/>
          <p:cNvSpPr/>
          <p:nvPr/>
        </p:nvSpPr>
        <p:spPr>
          <a:xfrm>
            <a:off x="9020327" y="3593592"/>
            <a:ext cx="2622728" cy="2194560"/>
          </a:xfrm>
          <a:prstGeom prst="roundRect">
            <a:avLst>
              <a:gd name="adj" fmla="val 5000"/>
            </a:avLst>
          </a:prstGeom>
          <a:solidFill>
            <a:srgbClr val="FFFFFF"/>
          </a:solidFill>
          <a:ln w="25400">
            <a:solidFill>
              <a:srgbClr val="D4700C"/>
            </a:solidFill>
            <a:prstDash val="dash"/>
          </a:ln>
        </p:spPr>
      </p:sp>
      <p:sp>
        <p:nvSpPr>
          <p:cNvPr id="31" name="Text 27"/>
          <p:cNvSpPr txBox="1"/>
          <p:nvPr/>
        </p:nvSpPr>
        <p:spPr>
          <a:xfrm>
            <a:off x="9203207" y="3703320"/>
            <a:ext cx="2256968" cy="347472"/>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It came back (16 to 19 Oct)</a:t>
            </a:r>
            <a:endParaRPr lang="en-US" sz="1500" dirty="0"/>
          </a:p>
        </p:txBody>
      </p:sp>
      <p:sp>
        <p:nvSpPr>
          <p:cNvPr id="32" name="Text 28"/>
          <p:cNvSpPr txBox="1"/>
          <p:nvPr/>
        </p:nvSpPr>
        <p:spPr>
          <a:xfrm>
            <a:off x="9203207"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Closed rear box, unit still on the Pi's USB: 76.9 °C and a brown-out restart. Fix: own supply for the unit; vented lids. Pi 5 restarts: last readings normal, so abrupt power loss, not a brown-out.</a:t>
            </a:r>
            <a:endParaRPr lang="en-US" sz="1200" dirty="0"/>
          </a:p>
        </p:txBody>
      </p:sp>
      <p:sp>
        <p:nvSpPr>
          <p:cNvPr id="33" name="Text 29"/>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400" i="1" dirty="0">
                <a:solidFill>
                  <a:srgbClr val="4A5566"/>
                </a:solidFill>
                <a:latin typeface="Calibri" pitchFamily="34" charset="0"/>
                <a:ea typeface="Calibri" pitchFamily="34" charset="-122"/>
                <a:cs typeface="Calibri" pitchFamily="34" charset="-120"/>
              </a:rPr>
              <a:t>Each is told in the report as symptom, candidate causes, deciding test, cause and fix, consequence; each test was run again after the fix.</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no data lost in an outage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14</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Spread under 0.7 ms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Video frames placed on the IMU clock within 1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4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 (bench)</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95% within 11 m; fix 105 s after a cold start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fix on the road (19 Oct, no antenna) or in 45 min in the lab (23 Oct)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Speed now from a phone's GNSS over its hotspot: a simulated 20 km/h showed as 20 km/h</a:t>
            </a:r>
            <a:endParaRPr lang="en-US" sz="14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10-minute LTE outage (T15)</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112 / 112</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records stored in the Pi 5 database, none missing or doubled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60 records built up; reconnected 5.2 s after radio 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Backlog cleared in 37 to 43 s; 111 of 111 against the unit's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An ingest fault found in the test was fixed; 24 records backfilled from the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Latency not yet measured (needs GNSS time)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detection: twice as fast at the front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14</a:t>
            </a:r>
            <a:endParaRPr lang="en-US" sz="1100" dirty="0"/>
          </a:p>
        </p:txBody>
      </p:sp>
      <p:sp>
        <p:nvSpPr>
          <p:cNvPr id="9" name="Shape 5"/>
          <p:cNvSpPr/>
          <p:nvPr/>
        </p:nvSpPr>
        <p:spPr>
          <a:xfrm>
            <a:off x="548640" y="1280160"/>
            <a:ext cx="5989320" cy="4160520"/>
          </a:xfrm>
          <a:prstGeom prst="roundRect">
            <a:avLst>
              <a:gd name="adj" fmla="val 2637"/>
            </a:avLst>
          </a:prstGeom>
          <a:solidFill>
            <a:srgbClr val="E8F0FA"/>
          </a:solidFill>
          <a:ln w="12700">
            <a:solidFill>
              <a:srgbClr val="E8F0FA"/>
            </a:solidFill>
            <a:prstDash val="solid"/>
          </a:ln>
        </p:spPr>
      </p:sp>
      <p:graphicFrame>
        <p:nvGraphicFramePr>
          <p:cNvPr id="10" name="Chart 0" descr=""/>
          <p:cNvGraphicFramePr/>
          <p:nvPr/>
        </p:nvGraphicFramePr>
        <p:xfrm>
          <a:off x="731520" y="1417320"/>
          <a:ext cx="5623560" cy="388620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548640" y="5532120"/>
            <a:ext cx="598932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Bench runs: Pi 4 whole system 11 Oct; Pi 5 with the dashboard 15 Oct, 60 s. At 30 km/h the Pi 5 saves about 0.6 m of travel before an alert.</a:t>
            </a:r>
            <a:endParaRPr lang="en-US" sz="1200" dirty="0"/>
          </a:p>
        </p:txBody>
      </p:sp>
      <p:sp>
        <p:nvSpPr>
          <p:cNvPr id="12" name="Shape 7"/>
          <p:cNvSpPr/>
          <p:nvPr/>
        </p:nvSpPr>
        <p:spPr>
          <a:xfrm>
            <a:off x="6858000" y="1280160"/>
            <a:ext cx="4785055" cy="1120140"/>
          </a:xfrm>
          <a:prstGeom prst="roundRect">
            <a:avLst>
              <a:gd name="adj" fmla="val 9796"/>
            </a:avLst>
          </a:prstGeom>
          <a:solidFill>
            <a:srgbClr val="E8F0FA"/>
          </a:solidFill>
          <a:ln w="12700">
            <a:solidFill>
              <a:srgbClr val="E8F0FA"/>
            </a:solidFill>
            <a:prstDash val="solid"/>
          </a:ln>
        </p:spPr>
      </p:sp>
      <p:sp>
        <p:nvSpPr>
          <p:cNvPr id="13" name="Text 8"/>
          <p:cNvSpPr txBox="1"/>
          <p:nvPr/>
        </p:nvSpPr>
        <p:spPr>
          <a:xfrm>
            <a:off x="7086600" y="13716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Front, Raspberry Pi 5 (bench)</a:t>
            </a:r>
            <a:endParaRPr lang="en-US" sz="1600" dirty="0"/>
          </a:p>
        </p:txBody>
      </p:sp>
      <p:sp>
        <p:nvSpPr>
          <p:cNvPr id="14" name="Text 9"/>
          <p:cNvSpPr txBox="1"/>
          <p:nvPr/>
        </p:nvSpPr>
        <p:spPr>
          <a:xfrm>
            <a:off x="7086600" y="17190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19.2 fps; 51 to 54 ms median, 61 to 63 ms 95th percentile; CPU 64 to 73 %, 53 to 54 °C, no throttling.</a:t>
            </a:r>
            <a:endParaRPr lang="en-US" sz="1300" dirty="0"/>
          </a:p>
        </p:txBody>
      </p:sp>
      <p:sp>
        <p:nvSpPr>
          <p:cNvPr id="15" name="Shape 10"/>
          <p:cNvSpPr/>
          <p:nvPr/>
        </p:nvSpPr>
        <p:spPr>
          <a:xfrm>
            <a:off x="6858000" y="2537460"/>
            <a:ext cx="4785055" cy="1120140"/>
          </a:xfrm>
          <a:prstGeom prst="roundRect">
            <a:avLst>
              <a:gd name="adj" fmla="val 9796"/>
            </a:avLst>
          </a:prstGeom>
          <a:solidFill>
            <a:srgbClr val="E8F0FA"/>
          </a:solidFill>
          <a:ln w="12700">
            <a:solidFill>
              <a:srgbClr val="E8F0FA"/>
            </a:solidFill>
            <a:prstDash val="solid"/>
          </a:ln>
        </p:spPr>
      </p:sp>
      <p:sp>
        <p:nvSpPr>
          <p:cNvPr id="16" name="Text 11"/>
          <p:cNvSpPr txBox="1"/>
          <p:nvPr/>
        </p:nvSpPr>
        <p:spPr>
          <a:xfrm>
            <a:off x="7086600" y="26289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Mounted on the vehicle (19 Oct)</a:t>
            </a:r>
            <a:endParaRPr lang="en-US" sz="1600" dirty="0"/>
          </a:p>
        </p:txBody>
      </p:sp>
      <p:sp>
        <p:nvSpPr>
          <p:cNvPr id="17" name="Text 12"/>
          <p:cNvSpPr txBox="1"/>
          <p:nvPr/>
        </p:nvSpPr>
        <p:spPr>
          <a:xfrm>
            <a:off x="7086600" y="29763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Front 17.5 to 22.0 fps, 53 to 102 ms. Rear 14.4 to 14.5 fps, 126 to 151 ms, slower while the Pi 4 was throttled.</a:t>
            </a:r>
            <a:endParaRPr lang="en-US" sz="1300" dirty="0"/>
          </a:p>
        </p:txBody>
      </p:sp>
      <p:sp>
        <p:nvSpPr>
          <p:cNvPr id="18" name="Shape 13"/>
          <p:cNvSpPr/>
          <p:nvPr/>
        </p:nvSpPr>
        <p:spPr>
          <a:xfrm>
            <a:off x="6858000" y="3794760"/>
            <a:ext cx="4785055" cy="1120140"/>
          </a:xfrm>
          <a:prstGeom prst="roundRect">
            <a:avLst>
              <a:gd name="adj" fmla="val 9796"/>
            </a:avLst>
          </a:prstGeom>
          <a:solidFill>
            <a:srgbClr val="E8F0FA"/>
          </a:solidFill>
          <a:ln w="12700">
            <a:solidFill>
              <a:srgbClr val="E8F0FA"/>
            </a:solidFill>
            <a:prstDash val="solid"/>
          </a:ln>
        </p:spPr>
      </p:sp>
      <p:sp>
        <p:nvSpPr>
          <p:cNvPr id="19" name="Text 14"/>
          <p:cNvSpPr txBox="1"/>
          <p:nvPr/>
        </p:nvSpPr>
        <p:spPr>
          <a:xfrm>
            <a:off x="7086600" y="38862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Alert logic and privacy</a:t>
            </a:r>
            <a:endParaRPr lang="en-US" sz="1600" dirty="0"/>
          </a:p>
        </p:txBody>
      </p:sp>
      <p:sp>
        <p:nvSpPr>
          <p:cNvPr id="20" name="Text 15"/>
          <p:cNvSpPr txBox="1"/>
          <p:nvPr/>
        </p:nvSpPr>
        <p:spPr>
          <a:xfrm>
            <a:off x="7086600" y="42336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Frames are never stored; five fields per alert.</a:t>
            </a:r>
            <a:endParaRPr lang="en-US" sz="1300" dirty="0"/>
          </a:p>
        </p:txBody>
      </p:sp>
      <p:sp>
        <p:nvSpPr>
          <p:cNvPr id="21" name="Shape 16"/>
          <p:cNvSpPr/>
          <p:nvPr/>
        </p:nvSpPr>
        <p:spPr>
          <a:xfrm>
            <a:off x="6858000" y="5052060"/>
            <a:ext cx="4785055" cy="1120140"/>
          </a:xfrm>
          <a:prstGeom prst="roundRect">
            <a:avLst>
              <a:gd name="adj" fmla="val 9796"/>
            </a:avLst>
          </a:prstGeom>
          <a:solidFill>
            <a:srgbClr val="E8F0FA"/>
          </a:solidFill>
          <a:ln w="12700">
            <a:solidFill>
              <a:srgbClr val="E8F0FA"/>
            </a:solidFill>
            <a:prstDash val="solid"/>
          </a:ln>
        </p:spPr>
      </p:sp>
      <p:sp>
        <p:nvSpPr>
          <p:cNvPr id="22" name="Text 17"/>
          <p:cNvSpPr txBox="1"/>
          <p:nvPr/>
        </p:nvSpPr>
        <p:spPr>
          <a:xfrm>
            <a:off x="7086600" y="51435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Pothole model (off by default)</a:t>
            </a:r>
            <a:endParaRPr lang="en-US" sz="1600" dirty="0"/>
          </a:p>
        </p:txBody>
      </p:sp>
      <p:sp>
        <p:nvSpPr>
          <p:cNvPr id="23" name="Text 18"/>
          <p:cNvSpPr txBox="1"/>
          <p:nvPr/>
        </p:nvSpPr>
        <p:spPr>
          <a:xfrm>
            <a:off x="7086600" y="54909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mAP@50 0.714 on validation tiles; found at 0.63 in a test image; too slow beside the detector on the Pi 4.</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Approaching objects: time to contact from box growth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14</a:t>
            </a:r>
            <a:endParaRPr lang="en-US" sz="1100" dirty="0"/>
          </a:p>
        </p:txBody>
      </p:sp>
      <p:sp>
        <p:nvSpPr>
          <p:cNvPr id="9" name="Shape 5"/>
          <p:cNvSpPr/>
          <p:nvPr/>
        </p:nvSpPr>
        <p:spPr>
          <a:xfrm>
            <a:off x="548640" y="1280160"/>
            <a:ext cx="5760720" cy="4892040"/>
          </a:xfrm>
          <a:prstGeom prst="roundRect">
            <a:avLst>
              <a:gd name="adj" fmla="val 2243"/>
            </a:avLst>
          </a:prstGeom>
          <a:solidFill>
            <a:srgbClr val="E8F0FA"/>
          </a:solidFill>
          <a:ln w="12700">
            <a:solidFill>
              <a:srgbClr val="E8F0FA"/>
            </a:solidFill>
            <a:prstDash val="solid"/>
          </a:ln>
        </p:spPr>
      </p:sp>
      <p:sp>
        <p:nvSpPr>
          <p:cNvPr id="10" name="Shape 6"/>
          <p:cNvSpPr/>
          <p:nvPr/>
        </p:nvSpPr>
        <p:spPr>
          <a:xfrm>
            <a:off x="1165860" y="2724912"/>
            <a:ext cx="502920" cy="384048"/>
          </a:xfrm>
          <a:prstGeom prst="rect">
            <a:avLst/>
          </a:prstGeom>
          <a:solidFill>
            <a:srgbClr val="FFFFFF"/>
          </a:solidFill>
          <a:ln w="25400">
            <a:solidFill>
              <a:srgbClr val="1565C0"/>
            </a:solidFill>
            <a:prstDash val="solid"/>
          </a:ln>
        </p:spPr>
      </p:sp>
      <p:sp>
        <p:nvSpPr>
          <p:cNvPr id="11" name="Shape 7"/>
          <p:cNvSpPr/>
          <p:nvPr/>
        </p:nvSpPr>
        <p:spPr>
          <a:xfrm>
            <a:off x="2857500" y="2450592"/>
            <a:ext cx="868680" cy="658368"/>
          </a:xfrm>
          <a:prstGeom prst="rect">
            <a:avLst/>
          </a:prstGeom>
          <a:solidFill>
            <a:srgbClr val="FFFFFF"/>
          </a:solidFill>
          <a:ln w="25400">
            <a:solidFill>
              <a:srgbClr val="1565C0"/>
            </a:solidFill>
            <a:prstDash val="solid"/>
          </a:ln>
        </p:spPr>
      </p:sp>
      <p:sp>
        <p:nvSpPr>
          <p:cNvPr id="12" name="Shape 8"/>
          <p:cNvSpPr/>
          <p:nvPr/>
        </p:nvSpPr>
        <p:spPr>
          <a:xfrm>
            <a:off x="4457700" y="2029968"/>
            <a:ext cx="1417320" cy="1078992"/>
          </a:xfrm>
          <a:prstGeom prst="rect">
            <a:avLst/>
          </a:prstGeom>
          <a:solidFill>
            <a:srgbClr val="FFFFFF"/>
          </a:solidFill>
          <a:ln w="25400">
            <a:solidFill>
              <a:srgbClr val="D4700C"/>
            </a:solidFill>
            <a:prstDash val="solid"/>
          </a:ln>
        </p:spPr>
      </p:sp>
      <p:sp>
        <p:nvSpPr>
          <p:cNvPr id="13" name="Text 9"/>
          <p:cNvSpPr txBox="1"/>
          <p:nvPr/>
        </p:nvSpPr>
        <p:spPr>
          <a:xfrm>
            <a:off x="685800" y="318211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− 0.6 s</a:t>
            </a:r>
            <a:endParaRPr lang="en-US" sz="1300" dirty="0"/>
          </a:p>
        </p:txBody>
      </p:sp>
      <p:sp>
        <p:nvSpPr>
          <p:cNvPr id="14" name="Text 10"/>
          <p:cNvSpPr txBox="1"/>
          <p:nvPr/>
        </p:nvSpPr>
        <p:spPr>
          <a:xfrm>
            <a:off x="2560320" y="318211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− 0.3 s</a:t>
            </a:r>
            <a:endParaRPr lang="en-US" sz="1300" dirty="0"/>
          </a:p>
        </p:txBody>
      </p:sp>
      <p:sp>
        <p:nvSpPr>
          <p:cNvPr id="15" name="Text 11"/>
          <p:cNvSpPr txBox="1"/>
          <p:nvPr/>
        </p:nvSpPr>
        <p:spPr>
          <a:xfrm>
            <a:off x="4434840" y="318211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now</a:t>
            </a:r>
            <a:endParaRPr lang="en-US" sz="1300" dirty="0"/>
          </a:p>
        </p:txBody>
      </p:sp>
      <p:sp>
        <p:nvSpPr>
          <p:cNvPr id="16" name="Text 12"/>
          <p:cNvSpPr txBox="1"/>
          <p:nvPr/>
        </p:nvSpPr>
        <p:spPr>
          <a:xfrm>
            <a:off x="822960" y="1444752"/>
            <a:ext cx="5212080" cy="36576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The box width w of a tracked object grows as it closes</a:t>
            </a:r>
            <a:endParaRPr lang="en-US" sz="1600" dirty="0"/>
          </a:p>
        </p:txBody>
      </p:sp>
      <p:sp>
        <p:nvSpPr>
          <p:cNvPr id="17" name="Text 13"/>
          <p:cNvSpPr txBox="1"/>
          <p:nvPr/>
        </p:nvSpPr>
        <p:spPr>
          <a:xfrm>
            <a:off x="822960" y="3566160"/>
            <a:ext cx="5212080"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τ = w / (dw/dt)</a:t>
            </a:r>
            <a:endParaRPr lang="en-US" sz="3400" dirty="0"/>
          </a:p>
        </p:txBody>
      </p:sp>
      <p:sp>
        <p:nvSpPr>
          <p:cNvPr id="18" name="Text 14"/>
          <p:cNvSpPr txBox="1"/>
          <p:nvPr/>
        </p:nvSpPr>
        <p:spPr>
          <a:xfrm>
            <a:off x="822960" y="4297680"/>
            <a:ext cx="5212080" cy="182880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1/w falls in a straight line to zero at contact; a Theil-Sen line is fitted over the last 0.6 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No focal length or object size needed (Lee 1976; Dagan et al. 2004)</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Used only with 5 frames over 0.25 s, 75 % of slopes agreeing, 5 % growth, box clear of the image edge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Relative error ≈ ε (τ/T) √(12/n) for box jitter ε over n frames: 1 % jitter gives about ±0.3 s at 4 s</a:t>
            </a:r>
            <a:endParaRPr lang="en-US" sz="1300" dirty="0"/>
          </a:p>
        </p:txBody>
      </p:sp>
      <p:sp>
        <p:nvSpPr>
          <p:cNvPr id="19" name="Shape 15"/>
          <p:cNvSpPr/>
          <p:nvPr/>
        </p:nvSpPr>
        <p:spPr>
          <a:xfrm>
            <a:off x="6629400" y="1280160"/>
            <a:ext cx="5013655" cy="1520952"/>
          </a:xfrm>
          <a:prstGeom prst="roundRect">
            <a:avLst>
              <a:gd name="adj" fmla="val 7214"/>
            </a:avLst>
          </a:prstGeom>
          <a:solidFill>
            <a:srgbClr val="E8F0FA"/>
          </a:solidFill>
          <a:ln w="12700">
            <a:solidFill>
              <a:srgbClr val="E8F0FA"/>
            </a:solidFill>
            <a:prstDash val="solid"/>
          </a:ln>
        </p:spPr>
      </p:sp>
      <p:sp>
        <p:nvSpPr>
          <p:cNvPr id="20" name="Text 16"/>
          <p:cNvSpPr txBox="1"/>
          <p:nvPr/>
        </p:nvSpPr>
        <p:spPr>
          <a:xfrm>
            <a:off x="6858000" y="1371600"/>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Warning rule</a:t>
            </a:r>
            <a:endParaRPr lang="en-US" sz="1600" dirty="0"/>
          </a:p>
        </p:txBody>
      </p:sp>
      <p:sp>
        <p:nvSpPr>
          <p:cNvPr id="21" name="Text 17"/>
          <p:cNvSpPr txBox="1"/>
          <p:nvPr/>
        </p:nvSpPr>
        <p:spPr>
          <a:xfrm>
            <a:off x="6858000" y="1719072"/>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Approaching when τ is under 4 s (warning) or 2 s (immediate), after the 3-frame onset; released above 5 s. Inside the time-of-flight range the sensor's own closing rate gives τ.</a:t>
            </a:r>
            <a:endParaRPr lang="en-US" sz="1300" dirty="0"/>
          </a:p>
        </p:txBody>
      </p:sp>
      <p:sp>
        <p:nvSpPr>
          <p:cNvPr id="22" name="Shape 18"/>
          <p:cNvSpPr/>
          <p:nvPr/>
        </p:nvSpPr>
        <p:spPr>
          <a:xfrm>
            <a:off x="6629400" y="2965704"/>
            <a:ext cx="5013655" cy="1520952"/>
          </a:xfrm>
          <a:prstGeom prst="roundRect">
            <a:avLst>
              <a:gd name="adj" fmla="val 7214"/>
            </a:avLst>
          </a:prstGeom>
          <a:solidFill>
            <a:srgbClr val="E8F0FA"/>
          </a:solidFill>
          <a:ln w="12700">
            <a:solidFill>
              <a:srgbClr val="E8F0FA"/>
            </a:solidFill>
            <a:prstDash val="solid"/>
          </a:ln>
        </p:spPr>
      </p:sp>
      <p:sp>
        <p:nvSpPr>
          <p:cNvPr id="23" name="Text 19"/>
          <p:cNvSpPr txBox="1"/>
          <p:nvPr/>
        </p:nvSpPr>
        <p:spPr>
          <a:xfrm>
            <a:off x="6858000" y="3057144"/>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Tested (synthetic, 15 Oct)</a:t>
            </a:r>
            <a:endParaRPr lang="en-US" sz="1600" dirty="0"/>
          </a:p>
        </p:txBody>
      </p:sp>
      <p:sp>
        <p:nvSpPr>
          <p:cNvPr id="24" name="Text 20"/>
          <p:cNvSpPr txBox="1"/>
          <p:nvPr/>
        </p:nvSpPr>
        <p:spPr>
          <a:xfrm>
            <a:off x="6858000" y="3404616"/>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40 tests pass: τ within 2 % at constant speed; no alerts in 5,000 frames of receding, still or jittering boxes. 0.27 ms per frame on a laptop.</a:t>
            </a:r>
            <a:endParaRPr lang="en-US" sz="1300" dirty="0"/>
          </a:p>
        </p:txBody>
      </p:sp>
      <p:sp>
        <p:nvSpPr>
          <p:cNvPr id="25" name="Shape 21"/>
          <p:cNvSpPr/>
          <p:nvPr/>
        </p:nvSpPr>
        <p:spPr>
          <a:xfrm>
            <a:off x="6629400" y="4651248"/>
            <a:ext cx="5013655" cy="1520952"/>
          </a:xfrm>
          <a:prstGeom prst="roundRect">
            <a:avLst>
              <a:gd name="adj" fmla="val 7214"/>
            </a:avLst>
          </a:prstGeom>
          <a:solidFill>
            <a:srgbClr val="FFFFFF"/>
          </a:solidFill>
          <a:ln w="25400">
            <a:solidFill>
              <a:srgbClr val="D4700C"/>
            </a:solidFill>
            <a:prstDash val="dash"/>
          </a:ln>
        </p:spPr>
      </p:sp>
      <p:sp>
        <p:nvSpPr>
          <p:cNvPr id="26" name="Text 22"/>
          <p:cNvSpPr txBox="1"/>
          <p:nvPr/>
        </p:nvSpPr>
        <p:spPr>
          <a:xfrm>
            <a:off x="6858000" y="4742688"/>
            <a:ext cx="4556455" cy="329184"/>
          </a:xfrm>
          <a:prstGeom prst="rect">
            <a:avLst/>
          </a:prstGeom>
          <a:noFill/>
          <a:ln/>
        </p:spPr>
        <p:txBody>
          <a:bodyPr wrap="square" lIns="0" tIns="0" rIns="0" bIns="0" rtlCol="0" anchor="ctr"/>
          <a:lstStyle/>
          <a:p>
            <a:pPr indent="0" marL="0">
              <a:buNone/>
            </a:pPr>
            <a:r>
              <a:rPr lang="en-US" sz="1600" b="1" dirty="0">
                <a:solidFill>
                  <a:srgbClr val="D4700C"/>
                </a:solidFill>
                <a:latin typeface="Calibri" pitchFamily="34" charset="0"/>
                <a:ea typeface="Calibri" pitchFamily="34" charset="-122"/>
                <a:cs typeface="Calibri" pitchFamily="34" charset="-120"/>
              </a:rPr>
              <a:t>Untested</a:t>
            </a:r>
            <a:endParaRPr lang="en-US" sz="1600" dirty="0"/>
          </a:p>
        </p:txBody>
      </p:sp>
      <p:sp>
        <p:nvSpPr>
          <p:cNvPr id="27" name="Text 23"/>
          <p:cNvSpPr txBox="1"/>
          <p:nvPr/>
        </p:nvSpPr>
        <p:spPr>
          <a:xfrm>
            <a:off x="6858000" y="5090160"/>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No real approach yet (test C11). On the road the front camera marked 261 car alerts as approaching, not yet checked against video. A still object ahead counts while driving: intended.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existing dashboard: both cameras, and legibility</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14</a:t>
            </a:r>
            <a:endParaRPr lang="en-US" sz="1100" dirty="0"/>
          </a:p>
        </p:txBody>
      </p:sp>
      <p:pic>
        <p:nvPicPr>
          <p:cNvPr id="9" name="Image 1" descr="C:\Users\0geda\OneDrive - University of Cape Town\Documents\PlatformIO\Projects\Tukzie-HPEC-HUD\Report\figures\ui\ui_dualcam_front.png">    </p:cNvPr>
          <p:cNvPicPr>
            <a:picLocks noChangeAspect="1"/>
          </p:cNvPicPr>
          <p:nvPr/>
        </p:nvPicPr>
        <p:blipFill>
          <a:blip r:embed="rId2"/>
          <a:stretch>
            <a:fillRect/>
          </a:stretch>
        </p:blipFill>
        <p:spPr>
          <a:xfrm>
            <a:off x="548640" y="1280160"/>
            <a:ext cx="3291840" cy="2057400"/>
          </a:xfrm>
          <a:prstGeom prst="rect">
            <a:avLst/>
          </a:prstGeom>
        </p:spPr>
      </p:pic>
      <p:pic>
        <p:nvPicPr>
          <p:cNvPr id="10" name="Image 2" descr="C:\Users\0geda\OneDrive - University of Cape Town\Documents\PlatformIO\Projects\Tukzie-HPEC-HUD\Report\figures\ui\ui_dualcam_rear_approaching.png">    </p:cNvPr>
          <p:cNvPicPr>
            <a:picLocks noChangeAspect="1"/>
          </p:cNvPicPr>
          <p:nvPr/>
        </p:nvPicPr>
        <p:blipFill>
          <a:blip r:embed="rId3"/>
          <a:stretch>
            <a:fillRect/>
          </a:stretch>
        </p:blipFill>
        <p:spPr>
          <a:xfrm>
            <a:off x="4023360" y="1280160"/>
            <a:ext cx="3291840" cy="2057400"/>
          </a:xfrm>
          <a:prstGeom prst="rect">
            <a:avLst/>
          </a:prstGeom>
        </p:spPr>
      </p:pic>
      <p:sp>
        <p:nvSpPr>
          <p:cNvPr id="11" name="Text 5"/>
          <p:cNvSpPr txBox="1"/>
          <p:nvPr/>
        </p:nvSpPr>
        <p:spPr>
          <a:xfrm>
            <a:off x="54864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Pi 5 camera and ToF (test image)</a:t>
            </a:r>
            <a:endParaRPr lang="en-US" sz="1200" dirty="0"/>
          </a:p>
        </p:txBody>
      </p:sp>
      <p:sp>
        <p:nvSpPr>
          <p:cNvPr id="12" name="Text 6"/>
          <p:cNvSpPr txBox="1"/>
          <p:nvPr/>
        </p:nvSpPr>
        <p:spPr>
          <a:xfrm>
            <a:off x="402336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Rear, mirrored: car approaching at 1.6 s (test)</a:t>
            </a:r>
            <a:endParaRPr lang="en-US" sz="1200" dirty="0"/>
          </a:p>
        </p:txBody>
      </p:sp>
      <p:sp>
        <p:nvSpPr>
          <p:cNvPr id="13" name="Shape 7"/>
          <p:cNvSpPr/>
          <p:nvPr/>
        </p:nvSpPr>
        <p:spPr>
          <a:xfrm>
            <a:off x="548640" y="3794760"/>
            <a:ext cx="6766560" cy="2377440"/>
          </a:xfrm>
          <a:prstGeom prst="roundRect">
            <a:avLst>
              <a:gd name="adj" fmla="val 4615"/>
            </a:avLst>
          </a:prstGeom>
          <a:solidFill>
            <a:srgbClr val="E8F0FA"/>
          </a:solidFill>
          <a:ln w="12700">
            <a:solidFill>
              <a:srgbClr val="E8F0FA"/>
            </a:solidFill>
            <a:prstDash val="solid"/>
          </a:ln>
        </p:spPr>
      </p:sp>
      <p:sp>
        <p:nvSpPr>
          <p:cNvPr id="14" name="Text 8"/>
          <p:cNvSpPr txBox="1"/>
          <p:nvPr/>
        </p:nvSpPr>
        <p:spPr>
          <a:xfrm>
            <a:off x="822960" y="39044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Legibility at 0.70 m, measured without a participant (24 Oct)</a:t>
            </a:r>
            <a:endParaRPr lang="en-US" sz="1600" dirty="0"/>
          </a:p>
        </p:txBody>
      </p:sp>
      <p:sp>
        <p:nvSpPr>
          <p:cNvPr id="15" name="Text 9"/>
          <p:cNvSpPr txBox="1"/>
          <p:nvPr/>
        </p:nvSpPr>
        <p:spPr>
          <a:xfrm>
            <a:off x="822960" y="4297680"/>
            <a:ext cx="6217920" cy="13258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Speed digits: 84 arc minutes (ISO 15008: 16 acceptable, 20 recommended)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Alert banner capitals: 9 arc minutes; labels a median of 9</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Touch targets: median 10.9 mm; 5 of 26 at 17.5 mm</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First change: enlarge the banner to about 24 px capitals, then a glance study</a:t>
            </a:r>
            <a:endParaRPr lang="en-US" sz="1400" dirty="0"/>
          </a:p>
        </p:txBody>
      </p:sp>
      <p:sp>
        <p:nvSpPr>
          <p:cNvPr id="16" name="Text 10"/>
          <p:cNvSpPr txBox="1"/>
          <p:nvPr/>
        </p:nvSpPr>
        <p:spPr>
          <a:xfrm>
            <a:off x="822960" y="5669280"/>
            <a:ext cx="6217920" cy="365760"/>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The speed is legible at a glance; the warnings are not.</a:t>
            </a:r>
            <a:endParaRPr lang="en-US" sz="1500" dirty="0"/>
          </a:p>
        </p:txBody>
      </p:sp>
      <p:sp>
        <p:nvSpPr>
          <p:cNvPr id="17" name="Shape 11"/>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8" name="Text 12"/>
          <p:cNvSpPr txBox="1"/>
          <p:nvPr/>
        </p:nvSpPr>
        <p:spPr>
          <a:xfrm>
            <a:off x="7909560" y="1389888"/>
            <a:ext cx="3459175"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Live on the Pi 5</a:t>
            </a:r>
            <a:endParaRPr lang="en-US" sz="1800" dirty="0"/>
          </a:p>
        </p:txBody>
      </p:sp>
      <p:pic>
        <p:nvPicPr>
          <p:cNvPr id="19" name="Image 3" descr="C:\Users\0geda\OneDrive - University of Cape Town\Documents\PlatformIO\Projects\Tukzie-HPEC-HUD\Report\figures\ui\ui_pi5_live_dualcam.png">    </p:cNvPr>
          <p:cNvPicPr>
            <a:picLocks noChangeAspect="1"/>
          </p:cNvPicPr>
          <p:nvPr/>
        </p:nvPicPr>
        <p:blipFill>
          <a:blip r:embed="rId4"/>
          <a:stretch>
            <a:fillRect/>
          </a:stretch>
        </p:blipFill>
        <p:spPr>
          <a:xfrm>
            <a:off x="7909560" y="1828800"/>
            <a:ext cx="3459175" cy="2161985"/>
          </a:xfrm>
          <a:prstGeom prst="rect">
            <a:avLst/>
          </a:prstGeom>
        </p:spPr>
      </p:pic>
      <p:sp>
        <p:nvSpPr>
          <p:cNvPr id="20" name="Text 13"/>
          <p:cNvSpPr txBox="1"/>
          <p:nvPr/>
        </p:nvSpPr>
        <p:spPr>
          <a:xfrm>
            <a:off x="7909560" y="4045649"/>
            <a:ext cx="3459175" cy="45720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15 Oct: live front camera at 23.6 fps, a rear warning in the banner</a:t>
            </a:r>
            <a:endParaRPr lang="en-US" sz="1200" dirty="0"/>
          </a:p>
        </p:txBody>
      </p:sp>
      <p:sp>
        <p:nvSpPr>
          <p:cNvPr id="21" name="Text 14"/>
          <p:cNvSpPr txBox="1"/>
          <p:nvPr/>
        </p:nvSpPr>
        <p:spPr>
          <a:xfrm>
            <a:off x="7909560" y="4539425"/>
            <a:ext cx="3459175" cy="100584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Front | Rear switch; rear view mirrored</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Banner names the side; approaching first</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Live data only, never simulated</a:t>
            </a:r>
            <a:endParaRPr lang="en-US" sz="1300" dirty="0"/>
          </a:p>
        </p:txBody>
      </p:sp>
      <p:sp>
        <p:nvSpPr>
          <p:cNvPr id="22" name="Text 15"/>
          <p:cNvSpPr txBox="1"/>
          <p:nvPr/>
        </p:nvSpPr>
        <p:spPr>
          <a:xfrm>
            <a:off x="7909560" y="5623560"/>
            <a:ext cx="3459175" cy="457200"/>
          </a:xfrm>
          <a:prstGeom prst="rect">
            <a:avLst/>
          </a:prstGeom>
          <a:noFill/>
          <a:ln/>
        </p:spPr>
        <p:txBody>
          <a:bodyPr wrap="square" lIns="0" tIns="0" rIns="0" bIns="0" rtlCol="0" anchor="t"/>
          <a:lstStyle/>
          <a:p>
            <a:pPr indent="0" marL="0">
              <a:buNone/>
            </a:pPr>
            <a:r>
              <a:rPr lang="en-US" sz="1400" b="1" dirty="0">
                <a:solidFill>
                  <a:srgbClr val="D4700C"/>
                </a:solidFill>
                <a:latin typeface="Calibri" pitchFamily="34" charset="0"/>
                <a:ea typeface="Calibri" pitchFamily="34" charset="-122"/>
                <a:cs typeface="Calibri" pitchFamily="34" charset="-120"/>
              </a:rPr>
              <a:t>Still open: </a:t>
            </a:r>
            <a:pPr indent="0" marL="0">
              <a:buNone/>
            </a:pPr>
            <a:r>
              <a:rPr lang="en-US" sz="1400" dirty="0">
                <a:solidFill>
                  <a:srgbClr val="1B1F24"/>
                </a:solidFill>
                <a:latin typeface="Calibri" pitchFamily="34" charset="0"/>
                <a:ea typeface="Calibri" pitchFamily="34" charset="-122"/>
                <a:cs typeface="Calibri" pitchFamily="34" charset="-120"/>
              </a:rPr>
              <a:t>glance time, which needs a participant.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On the vehicle: enclosures, heat and power</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14</a:t>
            </a:r>
            <a:endParaRPr lang="en-US" sz="1100" dirty="0"/>
          </a:p>
        </p:txBody>
      </p:sp>
      <p:sp>
        <p:nvSpPr>
          <p:cNvPr id="9" name="Shape 5"/>
          <p:cNvSpPr/>
          <p:nvPr/>
        </p:nvSpPr>
        <p:spPr>
          <a:xfrm>
            <a:off x="548640" y="1280160"/>
            <a:ext cx="3291840" cy="2514600"/>
          </a:xfrm>
          <a:prstGeom prst="roundRect">
            <a:avLst>
              <a:gd name="adj" fmla="val 4364"/>
            </a:avLst>
          </a:prstGeom>
          <a:solidFill>
            <a:srgbClr val="FFFFFF"/>
          </a:solidFill>
          <a:ln w="12700">
            <a:solidFill>
              <a:srgbClr val="C9D6E8"/>
            </a:solidFill>
            <a:prstDash val="solid"/>
          </a:ln>
        </p:spPr>
      </p:sp>
      <p:pic>
        <p:nvPicPr>
          <p:cNvPr id="10" name="Image 1" descr="C:\Users\0geda\OneDrive - University of Cape Town\Documents\PlatformIO\Projects\Tukzie-HPEC-HUD\Presentation\source\assets\cad_front_pod.png">    </p:cNvPr>
          <p:cNvPicPr>
            <a:picLocks noChangeAspect="1"/>
          </p:cNvPicPr>
          <p:nvPr/>
        </p:nvPicPr>
        <p:blipFill>
          <a:blip r:embed="rId2"/>
          <a:stretch>
            <a:fillRect/>
          </a:stretch>
        </p:blipFill>
        <p:spPr>
          <a:xfrm>
            <a:off x="698479" y="1371600"/>
            <a:ext cx="2992163" cy="2011680"/>
          </a:xfrm>
          <a:prstGeom prst="rect">
            <a:avLst/>
          </a:prstGeom>
        </p:spPr>
      </p:pic>
      <p:sp>
        <p:nvSpPr>
          <p:cNvPr id="11" name="Text 6"/>
          <p:cNvSpPr txBox="1"/>
          <p:nvPr/>
        </p:nvSpPr>
        <p:spPr>
          <a:xfrm>
            <a:off x="68580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Pi 5 with AI HAT+, camera, ToF</a:t>
            </a:r>
            <a:endParaRPr lang="en-US" sz="1200" dirty="0"/>
          </a:p>
        </p:txBody>
      </p:sp>
      <p:sp>
        <p:nvSpPr>
          <p:cNvPr id="12" name="Shape 7"/>
          <p:cNvSpPr/>
          <p:nvPr/>
        </p:nvSpPr>
        <p:spPr>
          <a:xfrm>
            <a:off x="4023360" y="1280160"/>
            <a:ext cx="3291840" cy="2514600"/>
          </a:xfrm>
          <a:prstGeom prst="roundRect">
            <a:avLst>
              <a:gd name="adj" fmla="val 4364"/>
            </a:avLst>
          </a:prstGeom>
          <a:solidFill>
            <a:srgbClr val="FFFFFF"/>
          </a:solidFill>
          <a:ln w="12700">
            <a:solidFill>
              <a:srgbClr val="C9D6E8"/>
            </a:solidFill>
            <a:prstDash val="solid"/>
          </a:ln>
        </p:spPr>
      </p:sp>
      <p:pic>
        <p:nvPicPr>
          <p:cNvPr id="13" name="Image 2" descr="C:\Users\0geda\OneDrive - University of Cape Town\Documents\PlatformIO\Projects\Tukzie-HPEC-HUD\Presentation\source\assets\cad_display_mount.png">    </p:cNvPr>
          <p:cNvPicPr>
            <a:picLocks noChangeAspect="1"/>
          </p:cNvPicPr>
          <p:nvPr/>
        </p:nvPicPr>
        <p:blipFill>
          <a:blip r:embed="rId3"/>
          <a:stretch>
            <a:fillRect/>
          </a:stretch>
        </p:blipFill>
        <p:spPr>
          <a:xfrm>
            <a:off x="4230370" y="1371600"/>
            <a:ext cx="2877820" cy="2011680"/>
          </a:xfrm>
          <a:prstGeom prst="rect">
            <a:avLst/>
          </a:prstGeom>
        </p:spPr>
      </p:pic>
      <p:sp>
        <p:nvSpPr>
          <p:cNvPr id="14" name="Text 8"/>
          <p:cNvSpPr txBox="1"/>
          <p:nvPr/>
        </p:nvSpPr>
        <p:spPr>
          <a:xfrm>
            <a:off x="416052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Display mount: bar clamp, dovetail rail</a:t>
            </a:r>
            <a:endParaRPr lang="en-US" sz="1200" dirty="0"/>
          </a:p>
        </p:txBody>
      </p:sp>
      <p:sp>
        <p:nvSpPr>
          <p:cNvPr id="15" name="Shape 9"/>
          <p:cNvSpPr/>
          <p:nvPr/>
        </p:nvSpPr>
        <p:spPr>
          <a:xfrm>
            <a:off x="548640" y="3977640"/>
            <a:ext cx="3291840" cy="1600200"/>
          </a:xfrm>
          <a:prstGeom prst="roundRect">
            <a:avLst>
              <a:gd name="adj" fmla="val 6857"/>
            </a:avLst>
          </a:prstGeom>
          <a:solidFill>
            <a:srgbClr val="FFFFFF"/>
          </a:solidFill>
          <a:ln w="12700">
            <a:solidFill>
              <a:srgbClr val="C9D6E8"/>
            </a:solidFill>
            <a:prstDash val="solid"/>
          </a:ln>
        </p:spPr>
      </p:sp>
      <p:pic>
        <p:nvPicPr>
          <p:cNvPr id="16" name="Image 3" descr="C:\Users\0geda\OneDrive - University of Cape Town\Documents\PlatformIO\Projects\Tukzie-HPEC-HUD\Presentation\source\assets\cad_vented_lid.png">    </p:cNvPr>
          <p:cNvPicPr>
            <a:picLocks noChangeAspect="1"/>
          </p:cNvPicPr>
          <p:nvPr/>
        </p:nvPicPr>
        <p:blipFill>
          <a:blip r:embed="rId4"/>
          <a:stretch>
            <a:fillRect/>
          </a:stretch>
        </p:blipFill>
        <p:spPr>
          <a:xfrm>
            <a:off x="1259840" y="4069080"/>
            <a:ext cx="1869440" cy="1097280"/>
          </a:xfrm>
          <a:prstGeom prst="rect">
            <a:avLst/>
          </a:prstGeom>
        </p:spPr>
      </p:pic>
      <p:sp>
        <p:nvSpPr>
          <p:cNvPr id="17" name="Text 10"/>
          <p:cNvSpPr txBox="1"/>
          <p:nvPr/>
        </p:nvSpPr>
        <p:spPr>
          <a:xfrm>
            <a:off x="68580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Vented lid: grille under a rain hood</a:t>
            </a:r>
            <a:endParaRPr lang="en-US" sz="1200" dirty="0"/>
          </a:p>
        </p:txBody>
      </p:sp>
      <p:sp>
        <p:nvSpPr>
          <p:cNvPr id="18" name="Shape 11"/>
          <p:cNvSpPr/>
          <p:nvPr/>
        </p:nvSpPr>
        <p:spPr>
          <a:xfrm>
            <a:off x="4023360" y="3977640"/>
            <a:ext cx="3291840" cy="1600200"/>
          </a:xfrm>
          <a:prstGeom prst="roundRect">
            <a:avLst>
              <a:gd name="adj" fmla="val 6857"/>
            </a:avLst>
          </a:prstGeom>
          <a:solidFill>
            <a:srgbClr val="FFFFFF"/>
          </a:solidFill>
          <a:ln w="12700">
            <a:solidFill>
              <a:srgbClr val="C9D6E8"/>
            </a:solidFill>
            <a:prstDash val="solid"/>
          </a:ln>
        </p:spPr>
      </p:sp>
      <p:pic>
        <p:nvPicPr>
          <p:cNvPr id="19" name="Image 4" descr="C:\Users\0geda\OneDrive - University of Cape Town\Documents\PlatformIO\Projects\Tukzie-HPEC-HUD\Presentation\source\assets\cad_front_pod_inside.png">    </p:cNvPr>
          <p:cNvPicPr>
            <a:picLocks noChangeAspect="1"/>
          </p:cNvPicPr>
          <p:nvPr/>
        </p:nvPicPr>
        <p:blipFill>
          <a:blip r:embed="rId5"/>
          <a:stretch>
            <a:fillRect/>
          </a:stretch>
        </p:blipFill>
        <p:spPr>
          <a:xfrm>
            <a:off x="4242816" y="4069080"/>
            <a:ext cx="2852928" cy="1097280"/>
          </a:xfrm>
          <a:prstGeom prst="rect">
            <a:avLst/>
          </a:prstGeom>
        </p:spPr>
      </p:pic>
      <p:sp>
        <p:nvSpPr>
          <p:cNvPr id="20" name="Text 12"/>
          <p:cNvSpPr txBox="1"/>
          <p:nvPr/>
        </p:nvSpPr>
        <p:spPr>
          <a:xfrm>
            <a:off x="416052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inside: Pi 5, cooler, AI HAT+</a:t>
            </a:r>
            <a:endParaRPr lang="en-US" sz="1200" dirty="0"/>
          </a:p>
        </p:txBody>
      </p:sp>
      <p:sp>
        <p:nvSpPr>
          <p:cNvPr id="21" name="Text 13"/>
          <p:cNvSpPr txBox="1"/>
          <p:nvPr/>
        </p:nvSpPr>
        <p:spPr>
          <a:xfrm>
            <a:off x="548640" y="566928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Also an IMU pod (rev 3, push-fit, no screws). Printed so far: the rear box and a first IMU pod; the rest are checked in CAD only, fit tests outstanding.</a:t>
            </a:r>
            <a:endParaRPr lang="en-US" sz="1200" dirty="0"/>
          </a:p>
        </p:txBody>
      </p:sp>
      <p:sp>
        <p:nvSpPr>
          <p:cNvPr id="22" name="Shape 14"/>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23" name="Text 15"/>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Power budget</a:t>
            </a:r>
            <a:endParaRPr lang="en-US" sz="1800" dirty="0"/>
          </a:p>
        </p:txBody>
      </p:sp>
      <p:sp>
        <p:nvSpPr>
          <p:cNvPr id="24" name="Text 16"/>
          <p:cNvSpPr txBox="1"/>
          <p:nvPr/>
        </p:nvSpPr>
        <p:spPr>
          <a:xfrm>
            <a:off x="7909560" y="1828800"/>
            <a:ext cx="3459175" cy="73152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about 20 W</a:t>
            </a:r>
            <a:endParaRPr lang="en-US" sz="4000" dirty="0"/>
          </a:p>
        </p:txBody>
      </p:sp>
      <p:sp>
        <p:nvSpPr>
          <p:cNvPr id="25" name="Text 17"/>
          <p:cNvSpPr txBox="1"/>
          <p:nvPr/>
        </p:nvSpPr>
        <p:spPr>
          <a:xfrm>
            <a:off x="7909560" y="2578608"/>
            <a:ext cx="3459175"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0.27 A from the 72 V pack while driving; 35 W short peaks</a:t>
            </a:r>
            <a:endParaRPr lang="en-US" sz="1400" dirty="0"/>
          </a:p>
        </p:txBody>
      </p:sp>
      <p:sp>
        <p:nvSpPr>
          <p:cNvPr id="26" name="Text 18"/>
          <p:cNvSpPr txBox="1"/>
          <p:nvPr/>
        </p:nvSpPr>
        <p:spPr>
          <a:xfrm>
            <a:off x="7909560" y="3246120"/>
            <a:ext cx="3459175" cy="28346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About 0.8 % of the motor's 2.5 kW rated input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Pack from the BMS: 24 cells, 150 A, about 60 to 88 V</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Converter: rated to 100 V, 40 W at 5 V, fused, off with the vehicle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Measured: only the Pi 5 (2.2 to 3.0 W on its rails); the rest are estimates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On the vehicle: road session and stand runs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13 / 14</a:t>
            </a:r>
            <a:endParaRPr lang="en-US" sz="1100" dirty="0"/>
          </a:p>
        </p:txBody>
      </p:sp>
      <p:sp>
        <p:nvSpPr>
          <p:cNvPr id="9" name="Shape 5"/>
          <p:cNvSpPr/>
          <p:nvPr/>
        </p:nvSpPr>
        <p:spPr>
          <a:xfrm>
            <a:off x="548640" y="1280160"/>
            <a:ext cx="2602154" cy="1508760"/>
          </a:xfrm>
          <a:prstGeom prst="roundRect">
            <a:avLst>
              <a:gd name="adj" fmla="val 7273"/>
            </a:avLst>
          </a:prstGeom>
          <a:solidFill>
            <a:srgbClr val="E8F0FA"/>
          </a:solidFill>
          <a:ln w="12700">
            <a:solidFill>
              <a:srgbClr val="E8F0FA"/>
            </a:solidFill>
            <a:prstDash val="solid"/>
          </a:ln>
        </p:spPr>
      </p:sp>
      <p:sp>
        <p:nvSpPr>
          <p:cNvPr id="10" name="Text 6"/>
          <p:cNvSpPr txBox="1"/>
          <p:nvPr/>
        </p:nvSpPr>
        <p:spPr>
          <a:xfrm>
            <a:off x="749808" y="1353312"/>
            <a:ext cx="2199818" cy="566928"/>
          </a:xfrm>
          <a:prstGeom prst="rect">
            <a:avLst/>
          </a:prstGeom>
          <a:noFill/>
          <a:ln/>
        </p:spPr>
        <p:txBody>
          <a:bodyPr wrap="square" lIns="0" tIns="0" rIns="0" bIns="0" rtlCol="0" anchor="ctr"/>
          <a:lstStyle/>
          <a:p>
            <a:pPr indent="0" marL="0">
              <a:buNone/>
            </a:pPr>
            <a:r>
              <a:rPr lang="en-US" sz="2800" b="1" dirty="0">
                <a:solidFill>
                  <a:srgbClr val="14305C"/>
                </a:solidFill>
                <a:latin typeface="Calibri" pitchFamily="34" charset="0"/>
                <a:ea typeface="Calibri" pitchFamily="34" charset="-122"/>
                <a:cs typeface="Calibri" pitchFamily="34" charset="-120"/>
              </a:rPr>
              <a:t>108.6 min</a:t>
            </a:r>
            <a:endParaRPr lang="en-US" sz="2800" dirty="0"/>
          </a:p>
        </p:txBody>
      </p:sp>
      <p:sp>
        <p:nvSpPr>
          <p:cNvPr id="11" name="Text 7"/>
          <p:cNvSpPr txBox="1"/>
          <p:nvPr/>
        </p:nvSpPr>
        <p:spPr>
          <a:xfrm>
            <a:off x="749808" y="1938528"/>
            <a:ext cx="2199818" cy="795528"/>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recorded on 19 Oct, about 16 min driving; no GNSS fix (no antenna)</a:t>
            </a:r>
            <a:endParaRPr lang="en-US" sz="1200" dirty="0"/>
          </a:p>
        </p:txBody>
      </p:sp>
      <p:sp>
        <p:nvSpPr>
          <p:cNvPr id="12" name="Shape 8"/>
          <p:cNvSpPr/>
          <p:nvPr/>
        </p:nvSpPr>
        <p:spPr>
          <a:xfrm>
            <a:off x="3379394" y="1280160"/>
            <a:ext cx="2602154" cy="1508760"/>
          </a:xfrm>
          <a:prstGeom prst="roundRect">
            <a:avLst>
              <a:gd name="adj" fmla="val 7273"/>
            </a:avLst>
          </a:prstGeom>
          <a:solidFill>
            <a:srgbClr val="E8F0FA"/>
          </a:solidFill>
          <a:ln w="12700">
            <a:solidFill>
              <a:srgbClr val="E8F0FA"/>
            </a:solidFill>
            <a:prstDash val="solid"/>
          </a:ln>
        </p:spPr>
      </p:sp>
      <p:sp>
        <p:nvSpPr>
          <p:cNvPr id="13" name="Text 9"/>
          <p:cNvSpPr txBox="1"/>
          <p:nvPr/>
        </p:nvSpPr>
        <p:spPr>
          <a:xfrm>
            <a:off x="3580562" y="1353312"/>
            <a:ext cx="2199818" cy="566928"/>
          </a:xfrm>
          <a:prstGeom prst="rect">
            <a:avLst/>
          </a:prstGeom>
          <a:noFill/>
          <a:ln/>
        </p:spPr>
        <p:txBody>
          <a:bodyPr wrap="square" lIns="0" tIns="0" rIns="0" bIns="0" rtlCol="0" anchor="ctr"/>
          <a:lstStyle/>
          <a:p>
            <a:pPr indent="0" marL="0">
              <a:buNone/>
            </a:pPr>
            <a:r>
              <a:rPr lang="en-US" sz="2800" b="1" dirty="0">
                <a:solidFill>
                  <a:srgbClr val="14305C"/>
                </a:solidFill>
                <a:latin typeface="Calibri" pitchFamily="34" charset="0"/>
                <a:ea typeface="Calibri" pitchFamily="34" charset="-122"/>
                <a:cs typeface="Calibri" pitchFamily="34" charset="-120"/>
              </a:rPr>
              <a:t>200 Hz</a:t>
            </a:r>
            <a:endParaRPr lang="en-US" sz="2800" dirty="0"/>
          </a:p>
        </p:txBody>
      </p:sp>
      <p:sp>
        <p:nvSpPr>
          <p:cNvPr id="14" name="Text 10"/>
          <p:cNvSpPr txBox="1"/>
          <p:nvPr/>
        </p:nvSpPr>
        <p:spPr>
          <a:xfrm>
            <a:off x="3580562" y="1938528"/>
            <a:ext cx="2199818" cy="795528"/>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no counted drops, but one 2 s stall: R1 not met on the vehicle; 38 % of records lost on USB</a:t>
            </a:r>
            <a:endParaRPr lang="en-US" sz="1200" dirty="0"/>
          </a:p>
        </p:txBody>
      </p:sp>
      <p:sp>
        <p:nvSpPr>
          <p:cNvPr id="15" name="Shape 11"/>
          <p:cNvSpPr/>
          <p:nvPr/>
        </p:nvSpPr>
        <p:spPr>
          <a:xfrm>
            <a:off x="6210148" y="1280160"/>
            <a:ext cx="2602154" cy="1508760"/>
          </a:xfrm>
          <a:prstGeom prst="roundRect">
            <a:avLst>
              <a:gd name="adj" fmla="val 7273"/>
            </a:avLst>
          </a:prstGeom>
          <a:solidFill>
            <a:srgbClr val="E8F0FA"/>
          </a:solidFill>
          <a:ln w="12700">
            <a:solidFill>
              <a:srgbClr val="E8F0FA"/>
            </a:solidFill>
            <a:prstDash val="solid"/>
          </a:ln>
        </p:spPr>
      </p:sp>
      <p:sp>
        <p:nvSpPr>
          <p:cNvPr id="16" name="Text 12"/>
          <p:cNvSpPr txBox="1"/>
          <p:nvPr/>
        </p:nvSpPr>
        <p:spPr>
          <a:xfrm>
            <a:off x="6411316" y="1353312"/>
            <a:ext cx="2199818" cy="566928"/>
          </a:xfrm>
          <a:prstGeom prst="rect">
            <a:avLst/>
          </a:prstGeom>
          <a:noFill/>
          <a:ln/>
        </p:spPr>
        <p:txBody>
          <a:bodyPr wrap="square" lIns="0" tIns="0" rIns="0" bIns="0" rtlCol="0" anchor="ctr"/>
          <a:lstStyle/>
          <a:p>
            <a:pPr indent="0" marL="0">
              <a:buNone/>
            </a:pPr>
            <a:r>
              <a:rPr lang="en-US" sz="2800" b="1" dirty="0">
                <a:solidFill>
                  <a:srgbClr val="14305C"/>
                </a:solidFill>
                <a:latin typeface="Calibri" pitchFamily="34" charset="0"/>
                <a:ea typeface="Calibri" pitchFamily="34" charset="-122"/>
                <a:cs typeface="Calibri" pitchFamily="34" charset="-120"/>
              </a:rPr>
              <a:t>46.9 A</a:t>
            </a:r>
            <a:endParaRPr lang="en-US" sz="2800" dirty="0"/>
          </a:p>
        </p:txBody>
      </p:sp>
      <p:sp>
        <p:nvSpPr>
          <p:cNvPr id="17" name="Text 13"/>
          <p:cNvSpPr txBox="1"/>
          <p:nvPr/>
        </p:nvSpPr>
        <p:spPr>
          <a:xfrm>
            <a:off x="6411316" y="1938528"/>
            <a:ext cx="2199818" cy="795528"/>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peak battery current; 74.6 to 72.8 V: R5 partly met (no meter check)</a:t>
            </a:r>
            <a:endParaRPr lang="en-US" sz="1200" dirty="0"/>
          </a:p>
        </p:txBody>
      </p:sp>
      <p:sp>
        <p:nvSpPr>
          <p:cNvPr id="18" name="Shape 14"/>
          <p:cNvSpPr/>
          <p:nvPr/>
        </p:nvSpPr>
        <p:spPr>
          <a:xfrm>
            <a:off x="9040901" y="1280160"/>
            <a:ext cx="2602154" cy="1508760"/>
          </a:xfrm>
          <a:prstGeom prst="roundRect">
            <a:avLst>
              <a:gd name="adj" fmla="val 7273"/>
            </a:avLst>
          </a:prstGeom>
          <a:solidFill>
            <a:srgbClr val="E8F0FA"/>
          </a:solidFill>
          <a:ln w="12700">
            <a:solidFill>
              <a:srgbClr val="E8F0FA"/>
            </a:solidFill>
            <a:prstDash val="solid"/>
          </a:ln>
        </p:spPr>
      </p:sp>
      <p:sp>
        <p:nvSpPr>
          <p:cNvPr id="19" name="Text 15"/>
          <p:cNvSpPr txBox="1"/>
          <p:nvPr/>
        </p:nvSpPr>
        <p:spPr>
          <a:xfrm>
            <a:off x="9242069" y="1353312"/>
            <a:ext cx="2199818" cy="566928"/>
          </a:xfrm>
          <a:prstGeom prst="rect">
            <a:avLst/>
          </a:prstGeom>
          <a:noFill/>
          <a:ln/>
        </p:spPr>
        <p:txBody>
          <a:bodyPr wrap="square" lIns="0" tIns="0" rIns="0" bIns="0" rtlCol="0" anchor="ctr"/>
          <a:lstStyle/>
          <a:p>
            <a:pPr indent="0" marL="0">
              <a:buNone/>
            </a:pPr>
            <a:r>
              <a:rPr lang="en-US" sz="2800" b="1" dirty="0">
                <a:solidFill>
                  <a:srgbClr val="14305C"/>
                </a:solidFill>
                <a:latin typeface="Calibri" pitchFamily="34" charset="0"/>
                <a:ea typeface="Calibri" pitchFamily="34" charset="-122"/>
                <a:cs typeface="Calibri" pitchFamily="34" charset="-120"/>
              </a:rPr>
              <a:t>1,342 / 741</a:t>
            </a:r>
            <a:endParaRPr lang="en-US" sz="2800" dirty="0"/>
          </a:p>
        </p:txBody>
      </p:sp>
      <p:sp>
        <p:nvSpPr>
          <p:cNvPr id="20" name="Text 16"/>
          <p:cNvSpPr txBox="1"/>
          <p:nvPr/>
        </p:nvSpPr>
        <p:spPr>
          <a:xfrm>
            <a:off x="9242069" y="1938528"/>
            <a:ext cx="2199818" cy="795528"/>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front and rear camera alerts, not yet checked against video</a:t>
            </a:r>
            <a:endParaRPr lang="en-US" sz="1200" dirty="0"/>
          </a:p>
        </p:txBody>
      </p:sp>
      <p:pic>
        <p:nvPicPr>
          <p:cNvPr id="21" name="Image 1" descr="C:\Users\0geda\OneDrive - University of Cape Town\Documents\PlatformIO\Projects\Tukzie-HPEC-HUD\Report\figures\results\stand_spectra_1023.png">    </p:cNvPr>
          <p:cNvPicPr>
            <a:picLocks noChangeAspect="1"/>
          </p:cNvPicPr>
          <p:nvPr/>
        </p:nvPicPr>
        <p:blipFill>
          <a:blip r:embed="rId2"/>
          <a:stretch>
            <a:fillRect/>
          </a:stretch>
        </p:blipFill>
        <p:spPr>
          <a:xfrm>
            <a:off x="548640" y="3017520"/>
            <a:ext cx="6766560" cy="2435962"/>
          </a:xfrm>
          <a:prstGeom prst="rect">
            <a:avLst/>
          </a:prstGeom>
        </p:spPr>
      </p:pic>
      <p:sp>
        <p:nvSpPr>
          <p:cNvPr id="22" name="Text 17"/>
          <p:cNvSpPr txBox="1"/>
          <p:nvPr/>
        </p:nvSpPr>
        <p:spPr>
          <a:xfrm>
            <a:off x="548640" y="5499202"/>
            <a:ext cx="6766560" cy="764438"/>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Stand runs, 23 Oct, drive wheel raised (3.2 and 4.5 A): rear vibration 5 to 7 times rest, energy 40 to 70 Hz; the same lines at the front (42.75, 49.0, 64.0 Hz). Throttle settings not recorded.</a:t>
            </a:r>
            <a:endParaRPr lang="en-US" sz="1200" dirty="0"/>
          </a:p>
        </p:txBody>
      </p:sp>
      <p:sp>
        <p:nvSpPr>
          <p:cNvPr id="23" name="Shape 18"/>
          <p:cNvSpPr/>
          <p:nvPr/>
        </p:nvSpPr>
        <p:spPr>
          <a:xfrm>
            <a:off x="7635240" y="3017520"/>
            <a:ext cx="4007815" cy="3154680"/>
          </a:xfrm>
          <a:prstGeom prst="roundRect">
            <a:avLst>
              <a:gd name="adj" fmla="val 3478"/>
            </a:avLst>
          </a:prstGeom>
          <a:solidFill>
            <a:srgbClr val="FFFFFF"/>
          </a:solidFill>
          <a:ln w="25400">
            <a:solidFill>
              <a:srgbClr val="D4700C"/>
            </a:solidFill>
            <a:prstDash val="dash"/>
          </a:ln>
        </p:spPr>
      </p:sp>
      <p:sp>
        <p:nvSpPr>
          <p:cNvPr id="24" name="Text 19"/>
          <p:cNvSpPr txBox="1"/>
          <p:nvPr/>
        </p:nvSpPr>
        <p:spPr>
          <a:xfrm>
            <a:off x="7863840" y="3127248"/>
            <a:ext cx="3550615" cy="365760"/>
          </a:xfrm>
          <a:prstGeom prst="rect">
            <a:avLst/>
          </a:prstGeom>
          <a:noFill/>
          <a:ln/>
        </p:spPr>
        <p:txBody>
          <a:bodyPr wrap="square" lIns="0" tIns="0" rIns="0" bIns="0" rtlCol="0" anchor="ctr"/>
          <a:lstStyle/>
          <a:p>
            <a:pPr indent="0" marL="0">
              <a:buNone/>
            </a:pPr>
            <a:r>
              <a:rPr lang="en-US" sz="1600" b="1" dirty="0">
                <a:solidFill>
                  <a:srgbClr val="D4700C"/>
                </a:solidFill>
                <a:latin typeface="Calibri" pitchFamily="34" charset="0"/>
                <a:ea typeface="Calibri" pitchFamily="34" charset="-122"/>
                <a:cs typeface="Calibri" pitchFamily="34" charset="-120"/>
              </a:rPr>
              <a:t>Pending: road run, Monday 26 Oct</a:t>
            </a:r>
            <a:endParaRPr lang="en-US" sz="1600" dirty="0"/>
          </a:p>
        </p:txBody>
      </p:sp>
      <p:sp>
        <p:nvSpPr>
          <p:cNvPr id="25" name="Text 20"/>
          <p:cNvSpPr txBox="1"/>
          <p:nvPr/>
        </p:nvSpPr>
        <p:spPr>
          <a:xfrm>
            <a:off x="7863840" y="3547872"/>
            <a:ext cx="3550615" cy="25603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RQ1: repeatability over passes at 10, 15 and 20 km/h</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RQ4: the stand lines' share of the road spectrum, powered and coasting</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Speed index σ²/v: constant with speed if the ISO 8608 road model holds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Speed from the front-to-rear delay: timing budget 5.3 ms, 1.8 % of a 0.3 s delay</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Phone GNSS speed against video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14 / 14</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and measured</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200 Hz, no drops on both nodes on the bench (R1); one 2 s stall on the road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112 of 112 records stored across an LTE outage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detection 51 to 54 ms on the Pi 5 (Pi 4: about 120 ms)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Approaching-object warning: synthetic tests within 2 %</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Stands: powertrain at 40 to 70 Hz, rear and front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Dashboard: speed legible, warnings too small (ISO 15008)</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Open, and 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run, 26 Oct: repeatability (RQ1), road share (RQ4)</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Enlarge the warnings, then glance time (RQ2)</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Real approach test (C11); latency with GNSS time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Own supply for the telemetry unit (Pi 4 still under-voltage, 23 Oct)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Fit-test the printed enclosures on the vehicle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Embedded Telemetry with Road-Surface Characterisation and Camera-Based Hazard Detection for the TUKZIE Electric Trike</dc:title>
  <dc:subject>PptxGenJS Presentation</dc:subject>
  <dc:creator>Samson Okuthe</dc:creator>
  <cp:lastModifiedBy>Samson Okuthe</cp:lastModifiedBy>
  <cp:revision>1</cp:revision>
  <dcterms:created xsi:type="dcterms:W3CDTF">2026-10-26T21:46:31Z</dcterms:created>
  <dcterms:modified xsi:type="dcterms:W3CDTF">2026-10-26T21:46:31Z</dcterms:modified>
</cp:coreProperties>
</file>