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I'm Samson Okuthe, and my project is SW-7, supervised by Associate Professor Simon Winberg with Sampath Jayalath as co-supervisor. It is part of TUKZIE, a 72 volt electric cargo trike for last-mile freight. I built its on-board electronics: a telemetry unit that measures how the trike rides, and a way of showing the driver only what matters for safety. I'll cover why, how I built and tested it, the results, and what is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facts frame the project. First, electric trikes make economic sense for freight in African cities: on routes studied in Dar es Salaam in 2025, an electric cargo tricycle cut operating cost per kilometre by 45.5 percent against a motorcycle and up to 86 percent against a light car. Second, anything that takes the driver's eyes off the road is a risk: NHTSA guidance limits a single glance to two seconds. The open problem is combining edge telemetry with that kind of sparse, safety-only driver information on a low-cost trike, and measuring whether each part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aim is a low-cost unit that characterises the ride at the edge and shows the driver only safety-relevant information. There are four research questions, marked honestly. RQ1, two IMUs at 200 hertz agreeing within noise, is verified on the bench. RQ3, bounded latency, measured loss and recovery, is verified on the bench but still needs the moving vehicle. RQ4, separating road from powertrain vibration, passes its self-tests but needs road data. RQ2 changed with my supervisor's agreement: the trike already has a dashboard showing what a HUD would show, and a second display adds distraction, so the alerts now go on that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system on the bench. The telemetry unit is an ESP32-S3 with a built-in LTE modem that also gives GNSS. It samples two MPU6050 IMUs at 200 hertz each, reads the battery management system over Bluetooth, and has a hardware counter ready for the motor's Hall sensor. A Raspberry Pi 4 runs the camera detector and three time-of-flight distance sensors facing left, ahead and right, apart from the team's Pi 5 so their dashboard is not disturbed. One wire links the boards: the ESP32 pulses it every half second and the Pi logs each edge, so camera and IMU data can be lined up in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firmware runs on FreeRTOS across the two cores. Core 1 holds the timing-critical work: one task per IMU at the highest priority, each on a fixed 5 millisecond period, so the rate cannot drift. These tasks never print or block. Each sample is time-stamped in microseconds and pushed into a bounded queue; if it is full the sample is dropped and counted, so a slow consumer can never stall acquisition. Core 0 does the blocking work: the modem, GNSS, MQTT and the flash log in one task, because the modem's serial line has no lock, plus the battery link and the Hall counter.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method was staged verification. Each interface was brought up alone on the real board, against a pass criterion written before the test. Then both IMUs at 200 hertz, calibrated; then the ride features and fusion, each self-tested at boot; then the log and the LTE publish. The last stage, the moving vehicle, is drawn dashed: the first road test is planned for 14 October. This order is why the faults I'll show could be traced.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results. Both IMUs run at 200 hertz with zero dropped samples, which the drop counters prove rather than assume. Two identical accelerometers disagreed by about 8 percent at rest; a per-sensor calibration against gravity brought that down to noise. With equal noise, inverse-variance fusion reduces to the mean. Windows are paired only if they end within half a window, the disagreement is reported, and if one sensor is silent for three seconds the other takes over. In this 150 second session all 149 windows were fused with under a millisecond of skew. A review also caught that my speed-normalised index used the mean square, which gravity dominates; version 0.7.2 uses the variance. The calibration only holds in the orientation it was taken in, so it will be redone once mounted.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Testing each stage against a stated pass criterion found faults that assumptions had hidden. The GNSS reply had a different layout from the one assumed, so the first fix put the trike in the sea; the parser now anchors on the hemisphere letter. The battery checksum included one byte too many, so every real frame failed by exactly three. Flash writes stalled both IMUs; switching the log off proved it, and the log is now written six times less often. The pink image came from a camera with no infrared filter. Two are new. The Pi 4 kept browning out and rebooting because the ESP32's LTE modem drew its transmit current through the Pi's USB port; the ESP32 now needs its own powered hub, and a fan brought the Pi down from 81 degrees. And the distance-sensor reader froze when one sensor stopped answering; a half-second timeout now skips it, and all three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more bench results. Timing: the Pi takes each sync edge's time from the kernel, and over 121 edges the median interval was 500.06 milliseconds with a spread under 0.7, so the camera and IMU clocks can be related precisely. Position: on a rooftop, 104 fixes were a median of 2.7 metres from a phone's position. Version 0.7.3 does what a phone does: assisted GNSS loads satellite data over LTE, and indoors the modem gives a network position in 0.7 seconds, stated to 550 metres, and here about 30 metres from the outdoor fix. Cellular: 47 of 47 publishes were acknowledged, and after a 60 second radio cut the link recovered by itself about 5 seconds after the signal returned.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camera's role grew, on supervisor direction, from a visual record to hazard awareness. I designed and 3D printed this casing. The live detector is a pretrained 8-bit SSD-MobileNet sized for the Pi 4: 19.5 frames per second and 102 milliseconds median from sensor to result in the benchmark, and 14.6 frames per second, about 120 milliseconds, in the latest check on a healthy Pi 4. An alert needs three frames to raise and five empty frames to clear, which stopped one person causing 16 alerts in 47 seconds; no frame is stored. COCO has no potholes, so I trained my own model: zero on South African dashcam footage at first, 0.71 mAP at 50 on validation tiles after training on the road band. Running it on the Pi is in progress. Three time-of-flight sensors cover close range until the 8 by 8 zone sensor arrives.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RQ2 lands: my pages on the dashboard the team already runs, now the default at boot on their Pi 5, with their own build untouched. The Pi 4 sends ESP32, distance and camera data twice a second, and the dashboard shows only real values, with dashes where data is missing. On the left, the Sensors page shows the distance gauges and fused hazards, and a red banner covers any page for an immediate hazard. On the right is navigation: a Google-style turn banner with spoken directions. For indoor demonstrations a simulated drive moves every page in step under a yellow SIMULATED strip, and a status chip always reads LIVE, REPLAY, NO DATA or SIMULATED, so simulated numbers are never taken for real ones. Pages change with a two-finger swipe, three on the map. Still open: glance time on the vehicle, against the NHTSA two-second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Every subsystem runs together on the target hardware: two IMUs at 200 hertz with no loss, calibrated and fused; GNSS within about 3 metres, with a network position indoors; the battery over Bluetooth; a cellular link that recovers by itself; a full local log; camera alerts in about a tenth of a second; and hazards, navigation and spoken directions on the existing dashboard. Each fault was found by a test, fixed and tested again. In progress: a central database with backlog replay, and the pothole model on the Pi. Next is the vehicle: the road test on 14 October, then the fusion calibration. Thank you,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05C"/>
        </a:solidFill>
      </p:bgPr>
    </p:bg>
    <p:spTree>
      <p:nvGrpSpPr>
        <p:cNvPr id="1" name=""/>
        <p:cNvGrpSpPr/>
        <p:nvPr/>
      </p:nvGrpSpPr>
      <p:grpSpPr>
        <a:xfrm>
          <a:off x="0" y="0"/>
          <a:ext cx="0" cy="0"/>
          <a:chOff x="0" y="0"/>
          <a:chExt cx="0" cy="0"/>
        </a:xfrm>
      </p:grpSpPr>
      <p:pic>
        <p:nvPicPr>
          <p:cNvPr id="2" name="Image 0" descr="C:\Users\0geda\OneDrive - University of Cape Town\Documents\PlatformIO\Projects\Tukzie-HPEC-HUD\Presentation\source\assets\uct_banner.jpg">    </p:cNvPr>
          <p:cNvPicPr>
            <a:picLocks noChangeAspect="1"/>
          </p:cNvPicPr>
          <p:nvPr/>
        </p:nvPicPr>
        <p:blipFill>
          <a:blip r:embed="rId1"/>
          <a:srcRect l="0" r="0" t="0" b="0"/>
          <a:stretch/>
        </p:blipFill>
        <p:spPr>
          <a:xfrm>
            <a:off x="0" y="0"/>
            <a:ext cx="12191695" cy="6858000"/>
          </a:xfrm>
          <a:prstGeom prst="rect">
            <a:avLst/>
          </a:prstGeom>
        </p:spPr>
      </p:pic>
      <p:sp>
        <p:nvSpPr>
          <p:cNvPr id="4" name="Text 0"/>
          <p:cNvSpPr txBox="1"/>
          <p:nvPr/>
        </p:nvSpPr>
        <p:spPr>
          <a:xfrm>
            <a:off x="548640" y="320040"/>
            <a:ext cx="11094415" cy="36576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EEE4022S Final Year Project 2026, Department of Electrical Engineering, University of Cape Town</a:t>
            </a:r>
            <a:endParaRPr lang="en-US" sz="1500" dirty="0"/>
          </a:p>
        </p:txBody>
      </p:sp>
      <p:sp>
        <p:nvSpPr>
          <p:cNvPr id="5" name="Text 1"/>
          <p:cNvSpPr txBox="1"/>
          <p:nvPr/>
        </p:nvSpPr>
        <p:spPr>
          <a:xfrm>
            <a:off x="548640" y="777240"/>
            <a:ext cx="11094415" cy="146304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Development of an Embedded HPEC Telemetry Unit</a:t>
            </a:r>
            <a:endParaRPr lang="en-US" sz="3400" dirty="0"/>
          </a:p>
          <a:p>
            <a:pPr algn="ctr" indent="0" marL="0">
              <a:buNone/>
            </a:pPr>
            <a:r>
              <a:rPr lang="en-US" sz="3400" b="1" dirty="0">
                <a:solidFill>
                  <a:srgbClr val="FFFFFF"/>
                </a:solidFill>
                <a:latin typeface="Calibri" pitchFamily="34" charset="0"/>
                <a:ea typeface="Calibri" pitchFamily="34" charset="-122"/>
                <a:cs typeface="Calibri" pitchFamily="34" charset="-120"/>
              </a:rPr>
              <a:t>and Dashboard Integration for the TUKZIE Rev 0 Platform</a:t>
            </a:r>
            <a:endParaRPr lang="en-US" sz="3400" dirty="0"/>
          </a:p>
        </p:txBody>
      </p:sp>
      <p:sp>
        <p:nvSpPr>
          <p:cNvPr id="6" name="Text 2"/>
          <p:cNvSpPr txBox="1"/>
          <p:nvPr/>
        </p:nvSpPr>
        <p:spPr>
          <a:xfrm>
            <a:off x="548640" y="2286000"/>
            <a:ext cx="11094415" cy="41148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Samson Okuthe (OKTSAM001)</a:t>
            </a:r>
            <a:endParaRPr lang="en-US" sz="2000" dirty="0"/>
          </a:p>
        </p:txBody>
      </p:sp>
      <p:sp>
        <p:nvSpPr>
          <p:cNvPr id="7" name="Text 3"/>
          <p:cNvSpPr txBox="1"/>
          <p:nvPr/>
        </p:nvSpPr>
        <p:spPr>
          <a:xfrm>
            <a:off x="548640" y="2697480"/>
            <a:ext cx="11094415" cy="36576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Supervisor: A/Prof. Simon Winberg   |   Co-supervisor: Sampath Jayalath   |   Project SW-7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Why this matters</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2 / 12</a:t>
            </a:r>
            <a:endParaRPr lang="en-US" sz="1100" dirty="0"/>
          </a:p>
        </p:txBody>
      </p:sp>
      <p:sp>
        <p:nvSpPr>
          <p:cNvPr id="9" name="Shape 5"/>
          <p:cNvSpPr/>
          <p:nvPr/>
        </p:nvSpPr>
        <p:spPr>
          <a:xfrm>
            <a:off x="548640" y="1325880"/>
            <a:ext cx="5318608" cy="3017520"/>
          </a:xfrm>
          <a:prstGeom prst="roundRect">
            <a:avLst>
              <a:gd name="adj" fmla="val 3636"/>
            </a:avLst>
          </a:prstGeom>
          <a:solidFill>
            <a:srgbClr val="E8F0FA"/>
          </a:solidFill>
          <a:ln w="12700">
            <a:solidFill>
              <a:srgbClr val="E8F0FA"/>
            </a:solidFill>
            <a:prstDash val="solid"/>
          </a:ln>
        </p:spPr>
      </p:sp>
      <p:sp>
        <p:nvSpPr>
          <p:cNvPr id="10" name="Text 6"/>
          <p:cNvSpPr txBox="1"/>
          <p:nvPr/>
        </p:nvSpPr>
        <p:spPr>
          <a:xfrm>
            <a:off x="914400" y="1645920"/>
            <a:ext cx="4587088" cy="1097280"/>
          </a:xfrm>
          <a:prstGeom prst="rect">
            <a:avLst/>
          </a:prstGeom>
          <a:noFill/>
          <a:ln/>
        </p:spPr>
        <p:txBody>
          <a:bodyPr wrap="square" lIns="0" tIns="0" rIns="0" bIns="0" rtlCol="0" anchor="ctr"/>
          <a:lstStyle/>
          <a:p>
            <a:pPr indent="0" marL="0">
              <a:buNone/>
            </a:pPr>
            <a:r>
              <a:rPr lang="en-US" sz="6000" b="1" dirty="0">
                <a:solidFill>
                  <a:srgbClr val="14305C"/>
                </a:solidFill>
                <a:latin typeface="Calibri" pitchFamily="34" charset="0"/>
                <a:ea typeface="Calibri" pitchFamily="34" charset="-122"/>
                <a:cs typeface="Calibri" pitchFamily="34" charset="-120"/>
              </a:rPr>
              <a:t>45.5 to 86%</a:t>
            </a:r>
            <a:endParaRPr lang="en-US" sz="6000" dirty="0"/>
          </a:p>
        </p:txBody>
      </p:sp>
      <p:sp>
        <p:nvSpPr>
          <p:cNvPr id="11" name="Text 7"/>
          <p:cNvSpPr txBox="1"/>
          <p:nvPr/>
        </p:nvSpPr>
        <p:spPr>
          <a:xfrm>
            <a:off x="914400" y="2788920"/>
            <a:ext cx="4587088" cy="1005840"/>
          </a:xfrm>
          <a:prstGeom prst="rect">
            <a:avLst/>
          </a:prstGeom>
          <a:noFill/>
          <a:ln/>
        </p:spPr>
        <p:txBody>
          <a:bodyPr wrap="square" lIns="0" tIns="0" rIns="0" bIns="0" rtlCol="0" anchor="t"/>
          <a:lstStyle/>
          <a:p>
            <a:pPr indent="0" marL="0">
              <a:buNone/>
            </a:pPr>
            <a:r>
              <a:rPr lang="en-US" sz="1800" dirty="0">
                <a:solidFill>
                  <a:srgbClr val="1B1F24"/>
                </a:solidFill>
                <a:latin typeface="Calibri" pitchFamily="34" charset="0"/>
                <a:ea typeface="Calibri" pitchFamily="34" charset="-122"/>
                <a:cs typeface="Calibri" pitchFamily="34" charset="-120"/>
              </a:rPr>
              <a:t>lower operating cost per km for an electric cargo tricycle than a motorcycle, petrol tuk-tuk or light car on delivery routes in Dar es Salaam</a:t>
            </a:r>
            <a:endParaRPr lang="en-US" sz="1800" dirty="0"/>
          </a:p>
        </p:txBody>
      </p:sp>
      <p:sp>
        <p:nvSpPr>
          <p:cNvPr id="12" name="Text 8"/>
          <p:cNvSpPr txBox="1"/>
          <p:nvPr/>
        </p:nvSpPr>
        <p:spPr>
          <a:xfrm>
            <a:off x="914400" y="3840480"/>
            <a:ext cx="4587088" cy="32004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Sebwa et al., 2025</a:t>
            </a:r>
            <a:endParaRPr lang="en-US" sz="1300" dirty="0"/>
          </a:p>
        </p:txBody>
      </p:sp>
      <p:sp>
        <p:nvSpPr>
          <p:cNvPr id="13" name="Shape 9"/>
          <p:cNvSpPr/>
          <p:nvPr/>
        </p:nvSpPr>
        <p:spPr>
          <a:xfrm>
            <a:off x="6324448" y="1325880"/>
            <a:ext cx="5318608" cy="3017520"/>
          </a:xfrm>
          <a:prstGeom prst="roundRect">
            <a:avLst>
              <a:gd name="adj" fmla="val 3636"/>
            </a:avLst>
          </a:prstGeom>
          <a:solidFill>
            <a:srgbClr val="E8F0FA"/>
          </a:solidFill>
          <a:ln w="12700">
            <a:solidFill>
              <a:srgbClr val="E8F0FA"/>
            </a:solidFill>
            <a:prstDash val="solid"/>
          </a:ln>
        </p:spPr>
      </p:sp>
      <p:sp>
        <p:nvSpPr>
          <p:cNvPr id="14" name="Text 10"/>
          <p:cNvSpPr txBox="1"/>
          <p:nvPr/>
        </p:nvSpPr>
        <p:spPr>
          <a:xfrm>
            <a:off x="6690208" y="1645920"/>
            <a:ext cx="4587088" cy="1097280"/>
          </a:xfrm>
          <a:prstGeom prst="rect">
            <a:avLst/>
          </a:prstGeom>
          <a:noFill/>
          <a:ln/>
        </p:spPr>
        <p:txBody>
          <a:bodyPr wrap="square" lIns="0" tIns="0" rIns="0" bIns="0" rtlCol="0" anchor="ctr"/>
          <a:lstStyle/>
          <a:p>
            <a:pPr indent="0" marL="0">
              <a:buNone/>
            </a:pPr>
            <a:r>
              <a:rPr lang="en-US" sz="6000" b="1" dirty="0">
                <a:solidFill>
                  <a:srgbClr val="14305C"/>
                </a:solidFill>
                <a:latin typeface="Calibri" pitchFamily="34" charset="0"/>
                <a:ea typeface="Calibri" pitchFamily="34" charset="-122"/>
                <a:cs typeface="Calibri" pitchFamily="34" charset="-120"/>
              </a:rPr>
              <a:t>2 s</a:t>
            </a:r>
            <a:endParaRPr lang="en-US" sz="6000" dirty="0"/>
          </a:p>
        </p:txBody>
      </p:sp>
      <p:sp>
        <p:nvSpPr>
          <p:cNvPr id="15" name="Text 11"/>
          <p:cNvSpPr txBox="1"/>
          <p:nvPr/>
        </p:nvSpPr>
        <p:spPr>
          <a:xfrm>
            <a:off x="6690208" y="2788920"/>
            <a:ext cx="4587088" cy="1005840"/>
          </a:xfrm>
          <a:prstGeom prst="rect">
            <a:avLst/>
          </a:prstGeom>
          <a:noFill/>
          <a:ln/>
        </p:spPr>
        <p:txBody>
          <a:bodyPr wrap="square" lIns="0" tIns="0" rIns="0" bIns="0" rtlCol="0" anchor="t"/>
          <a:lstStyle/>
          <a:p>
            <a:pPr indent="0" marL="0">
              <a:buNone/>
            </a:pPr>
            <a:r>
              <a:rPr lang="en-US" sz="1800" dirty="0">
                <a:solidFill>
                  <a:srgbClr val="1B1F24"/>
                </a:solidFill>
                <a:latin typeface="Calibri" pitchFamily="34" charset="0"/>
                <a:ea typeface="Calibri" pitchFamily="34" charset="-122"/>
                <a:cs typeface="Calibri" pitchFamily="34" charset="-120"/>
              </a:rPr>
              <a:t>longest single glance away from the road that NHTSA guidance allows, so driver information must be short and safety-only</a:t>
            </a:r>
            <a:endParaRPr lang="en-US" sz="1800" dirty="0"/>
          </a:p>
        </p:txBody>
      </p:sp>
      <p:sp>
        <p:nvSpPr>
          <p:cNvPr id="16" name="Text 12"/>
          <p:cNvSpPr txBox="1"/>
          <p:nvPr/>
        </p:nvSpPr>
        <p:spPr>
          <a:xfrm>
            <a:off x="6690208" y="3840480"/>
            <a:ext cx="4587088" cy="32004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NHTSA, 2013</a:t>
            </a:r>
            <a:endParaRPr lang="en-US" sz="1300" dirty="0"/>
          </a:p>
        </p:txBody>
      </p:sp>
      <p:sp>
        <p:nvSpPr>
          <p:cNvPr id="17" name="Text 13"/>
          <p:cNvSpPr txBox="1"/>
          <p:nvPr/>
        </p:nvSpPr>
        <p:spPr>
          <a:xfrm>
            <a:off x="548640" y="4754880"/>
            <a:ext cx="11094415" cy="914400"/>
          </a:xfrm>
          <a:prstGeom prst="rect">
            <a:avLst/>
          </a:prstGeom>
          <a:noFill/>
          <a:ln/>
        </p:spPr>
        <p:txBody>
          <a:bodyPr wrap="square" lIns="0" tIns="0" rIns="0" bIns="0" rtlCol="0" anchor="ctr"/>
          <a:lstStyle/>
          <a:p>
            <a:pPr indent="0" marL="0">
              <a:buNone/>
            </a:pPr>
            <a:r>
              <a:rPr lang="en-US" sz="2000" b="1" dirty="0">
                <a:solidFill>
                  <a:srgbClr val="14305C"/>
                </a:solidFill>
                <a:latin typeface="Calibri" pitchFamily="34" charset="0"/>
                <a:ea typeface="Calibri" pitchFamily="34" charset="-122"/>
                <a:cs typeface="Calibri" pitchFamily="34" charset="-120"/>
              </a:rPr>
              <a:t>The open problem: </a:t>
            </a:r>
            <a:pPr indent="0" marL="0">
              <a:buNone/>
            </a:pPr>
            <a:r>
              <a:rPr lang="en-US" sz="2000" dirty="0">
                <a:solidFill>
                  <a:srgbClr val="1B1F24"/>
                </a:solidFill>
                <a:latin typeface="Calibri" pitchFamily="34" charset="0"/>
                <a:ea typeface="Calibri" pitchFamily="34" charset="-122"/>
                <a:cs typeface="Calibri" pitchFamily="34" charset="-120"/>
              </a:rPr>
              <a:t>bringing on-board edge telemetry and sparse, safety-only driver alerts together on a low-cost electric trike, and measuring whether each part works.</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Aim and research questions</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3 / 12</a:t>
            </a:r>
            <a:endParaRPr lang="en-US" sz="1100" dirty="0"/>
          </a:p>
        </p:txBody>
      </p:sp>
      <p:sp>
        <p:nvSpPr>
          <p:cNvPr id="9" name="Shape 5"/>
          <p:cNvSpPr/>
          <p:nvPr/>
        </p:nvSpPr>
        <p:spPr>
          <a:xfrm>
            <a:off x="548640" y="1325880"/>
            <a:ext cx="11094415" cy="987552"/>
          </a:xfrm>
          <a:prstGeom prst="roundRect">
            <a:avLst>
              <a:gd name="adj" fmla="val 11111"/>
            </a:avLst>
          </a:prstGeom>
          <a:solidFill>
            <a:srgbClr val="E8F0FA"/>
          </a:solidFill>
          <a:ln w="12700">
            <a:solidFill>
              <a:srgbClr val="E8F0FA"/>
            </a:solidFill>
            <a:prstDash val="solid"/>
          </a:ln>
        </p:spPr>
      </p:sp>
      <p:sp>
        <p:nvSpPr>
          <p:cNvPr id="10" name="Text 6"/>
          <p:cNvSpPr txBox="1"/>
          <p:nvPr/>
        </p:nvSpPr>
        <p:spPr>
          <a:xfrm>
            <a:off x="822960" y="1325880"/>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RQ1</a:t>
            </a:r>
            <a:endParaRPr lang="en-US" sz="2400" dirty="0"/>
          </a:p>
        </p:txBody>
      </p:sp>
      <p:sp>
        <p:nvSpPr>
          <p:cNvPr id="11" name="Text 7"/>
          <p:cNvSpPr txBox="1"/>
          <p:nvPr/>
        </p:nvSpPr>
        <p:spPr>
          <a:xfrm>
            <a:off x="1783080" y="1325880"/>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Acquire two IMUs at 200 Hz (at least 160 Hz for ISO 2631-1) with the sensors agreeing within noise</a:t>
            </a:r>
            <a:endParaRPr lang="en-US" sz="1800" dirty="0"/>
          </a:p>
        </p:txBody>
      </p:sp>
      <p:sp>
        <p:nvSpPr>
          <p:cNvPr id="12" name="Shape 8"/>
          <p:cNvSpPr/>
          <p:nvPr/>
        </p:nvSpPr>
        <p:spPr>
          <a:xfrm>
            <a:off x="9128455" y="1591056"/>
            <a:ext cx="2240280" cy="457200"/>
          </a:xfrm>
          <a:prstGeom prst="roundRect">
            <a:avLst>
              <a:gd name="adj" fmla="val 50000"/>
            </a:avLst>
          </a:prstGeom>
          <a:solidFill>
            <a:srgbClr val="1565C0"/>
          </a:solidFill>
          <a:ln w="19050">
            <a:solidFill>
              <a:srgbClr val="1565C0"/>
            </a:solidFill>
            <a:prstDash val="solid"/>
          </a:ln>
        </p:spPr>
      </p:sp>
      <p:sp>
        <p:nvSpPr>
          <p:cNvPr id="13" name="Text 9"/>
          <p:cNvSpPr txBox="1"/>
          <p:nvPr/>
        </p:nvSpPr>
        <p:spPr>
          <a:xfrm>
            <a:off x="9128455" y="1591056"/>
            <a:ext cx="22402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Bench-verified</a:t>
            </a:r>
            <a:endParaRPr lang="en-US" sz="1500" dirty="0"/>
          </a:p>
        </p:txBody>
      </p:sp>
      <p:sp>
        <p:nvSpPr>
          <p:cNvPr id="14" name="Shape 10"/>
          <p:cNvSpPr/>
          <p:nvPr/>
        </p:nvSpPr>
        <p:spPr>
          <a:xfrm>
            <a:off x="548640" y="2478024"/>
            <a:ext cx="11094415" cy="987552"/>
          </a:xfrm>
          <a:prstGeom prst="roundRect">
            <a:avLst>
              <a:gd name="adj" fmla="val 11111"/>
            </a:avLst>
          </a:prstGeom>
          <a:solidFill>
            <a:srgbClr val="E8F0FA"/>
          </a:solidFill>
          <a:ln w="12700">
            <a:solidFill>
              <a:srgbClr val="E8F0FA"/>
            </a:solidFill>
            <a:prstDash val="solid"/>
          </a:ln>
        </p:spPr>
      </p:sp>
      <p:sp>
        <p:nvSpPr>
          <p:cNvPr id="15" name="Text 11"/>
          <p:cNvSpPr txBox="1"/>
          <p:nvPr/>
        </p:nvSpPr>
        <p:spPr>
          <a:xfrm>
            <a:off x="822960" y="2478024"/>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RQ2</a:t>
            </a:r>
            <a:endParaRPr lang="en-US" sz="2400" dirty="0"/>
          </a:p>
        </p:txBody>
      </p:sp>
      <p:sp>
        <p:nvSpPr>
          <p:cNvPr id="16" name="Text 12"/>
          <p:cNvSpPr txBox="1"/>
          <p:nvPr/>
        </p:nvSpPr>
        <p:spPr>
          <a:xfrm>
            <a:off x="1783080" y="2478024"/>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Show safety-critical alerts on the existing dashboard without exceeding the 2 s glance guidance</a:t>
            </a:r>
            <a:endParaRPr lang="en-US" sz="1800" dirty="0"/>
          </a:p>
        </p:txBody>
      </p:sp>
      <p:sp>
        <p:nvSpPr>
          <p:cNvPr id="17" name="Shape 13"/>
          <p:cNvSpPr/>
          <p:nvPr/>
        </p:nvSpPr>
        <p:spPr>
          <a:xfrm>
            <a:off x="9128455" y="2743200"/>
            <a:ext cx="2240280" cy="457200"/>
          </a:xfrm>
          <a:prstGeom prst="roundRect">
            <a:avLst>
              <a:gd name="adj" fmla="val 50000"/>
            </a:avLst>
          </a:prstGeom>
          <a:solidFill>
            <a:srgbClr val="FFFFFF"/>
          </a:solidFill>
          <a:ln w="19050">
            <a:solidFill>
              <a:srgbClr val="D4700C"/>
            </a:solidFill>
            <a:prstDash val="dash"/>
          </a:ln>
        </p:spPr>
      </p:sp>
      <p:sp>
        <p:nvSpPr>
          <p:cNvPr id="18" name="Text 14"/>
          <p:cNvSpPr txBox="1"/>
          <p:nvPr/>
        </p:nvSpPr>
        <p:spPr>
          <a:xfrm>
            <a:off x="9128455" y="2743200"/>
            <a:ext cx="2240280" cy="457200"/>
          </a:xfrm>
          <a:prstGeom prst="rect">
            <a:avLst/>
          </a:prstGeom>
          <a:noFill/>
          <a:ln/>
        </p:spPr>
        <p:txBody>
          <a:bodyPr wrap="square" lIns="0" tIns="0" rIns="0" bIns="0" rtlCol="0" anchor="ctr"/>
          <a:lstStyle/>
          <a:p>
            <a:pPr algn="ctr" indent="0" marL="0">
              <a:buNone/>
            </a:pPr>
            <a:r>
              <a:rPr lang="en-US" sz="1500" b="1" dirty="0">
                <a:solidFill>
                  <a:srgbClr val="D4700C"/>
                </a:solidFill>
                <a:latin typeface="Calibri" pitchFamily="34" charset="0"/>
                <a:ea typeface="Calibri" pitchFamily="34" charset="-122"/>
                <a:cs typeface="Calibri" pitchFamily="34" charset="-120"/>
              </a:rPr>
              <a:t>Page tested</a:t>
            </a:r>
            <a:endParaRPr lang="en-US" sz="1500" dirty="0"/>
          </a:p>
        </p:txBody>
      </p:sp>
      <p:sp>
        <p:nvSpPr>
          <p:cNvPr id="19" name="Shape 15"/>
          <p:cNvSpPr/>
          <p:nvPr/>
        </p:nvSpPr>
        <p:spPr>
          <a:xfrm>
            <a:off x="548640" y="3630168"/>
            <a:ext cx="11094415" cy="987552"/>
          </a:xfrm>
          <a:prstGeom prst="roundRect">
            <a:avLst>
              <a:gd name="adj" fmla="val 11111"/>
            </a:avLst>
          </a:prstGeom>
          <a:solidFill>
            <a:srgbClr val="E8F0FA"/>
          </a:solidFill>
          <a:ln w="12700">
            <a:solidFill>
              <a:srgbClr val="E8F0FA"/>
            </a:solidFill>
            <a:prstDash val="solid"/>
          </a:ln>
        </p:spPr>
      </p:sp>
      <p:sp>
        <p:nvSpPr>
          <p:cNvPr id="20" name="Text 16"/>
          <p:cNvSpPr txBox="1"/>
          <p:nvPr/>
        </p:nvSpPr>
        <p:spPr>
          <a:xfrm>
            <a:off x="822960" y="3630168"/>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RQ3</a:t>
            </a:r>
            <a:endParaRPr lang="en-US" sz="2400" dirty="0"/>
          </a:p>
        </p:txBody>
      </p:sp>
      <p:sp>
        <p:nvSpPr>
          <p:cNvPr id="21" name="Text 17"/>
          <p:cNvSpPr txBox="1"/>
          <p:nvPr/>
        </p:nvSpPr>
        <p:spPr>
          <a:xfrm>
            <a:off x="1783080" y="3630168"/>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Bounded latency, measured data loss and recovery from sensor through to the cellular link</a:t>
            </a:r>
            <a:endParaRPr lang="en-US" sz="1800" dirty="0"/>
          </a:p>
        </p:txBody>
      </p:sp>
      <p:sp>
        <p:nvSpPr>
          <p:cNvPr id="22" name="Shape 18"/>
          <p:cNvSpPr/>
          <p:nvPr/>
        </p:nvSpPr>
        <p:spPr>
          <a:xfrm>
            <a:off x="9128455" y="3895344"/>
            <a:ext cx="2240280" cy="457200"/>
          </a:xfrm>
          <a:prstGeom prst="roundRect">
            <a:avLst>
              <a:gd name="adj" fmla="val 50000"/>
            </a:avLst>
          </a:prstGeom>
          <a:solidFill>
            <a:srgbClr val="1565C0"/>
          </a:solidFill>
          <a:ln w="19050">
            <a:solidFill>
              <a:srgbClr val="1565C0"/>
            </a:solidFill>
            <a:prstDash val="solid"/>
          </a:ln>
        </p:spPr>
      </p:sp>
      <p:sp>
        <p:nvSpPr>
          <p:cNvPr id="23" name="Text 19"/>
          <p:cNvSpPr txBox="1"/>
          <p:nvPr/>
        </p:nvSpPr>
        <p:spPr>
          <a:xfrm>
            <a:off x="9128455" y="3895344"/>
            <a:ext cx="22402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Bench-verified</a:t>
            </a:r>
            <a:endParaRPr lang="en-US" sz="1500" dirty="0"/>
          </a:p>
        </p:txBody>
      </p:sp>
      <p:sp>
        <p:nvSpPr>
          <p:cNvPr id="24" name="Shape 20"/>
          <p:cNvSpPr/>
          <p:nvPr/>
        </p:nvSpPr>
        <p:spPr>
          <a:xfrm>
            <a:off x="548640" y="4782312"/>
            <a:ext cx="11094415" cy="987552"/>
          </a:xfrm>
          <a:prstGeom prst="roundRect">
            <a:avLst>
              <a:gd name="adj" fmla="val 11111"/>
            </a:avLst>
          </a:prstGeom>
          <a:solidFill>
            <a:srgbClr val="E8F0FA"/>
          </a:solidFill>
          <a:ln w="12700">
            <a:solidFill>
              <a:srgbClr val="E8F0FA"/>
            </a:solidFill>
            <a:prstDash val="solid"/>
          </a:ln>
        </p:spPr>
      </p:sp>
      <p:sp>
        <p:nvSpPr>
          <p:cNvPr id="25" name="Text 21"/>
          <p:cNvSpPr txBox="1"/>
          <p:nvPr/>
        </p:nvSpPr>
        <p:spPr>
          <a:xfrm>
            <a:off x="822960" y="4782312"/>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RQ4</a:t>
            </a:r>
            <a:endParaRPr lang="en-US" sz="2400" dirty="0"/>
          </a:p>
        </p:txBody>
      </p:sp>
      <p:sp>
        <p:nvSpPr>
          <p:cNvPr id="26" name="Text 22"/>
          <p:cNvSpPr txBox="1"/>
          <p:nvPr/>
        </p:nvSpPr>
        <p:spPr>
          <a:xfrm>
            <a:off x="1783080" y="4782312"/>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Ride features that separate road-induced from powertrain vibration</a:t>
            </a:r>
            <a:endParaRPr lang="en-US" sz="1800" dirty="0"/>
          </a:p>
        </p:txBody>
      </p:sp>
      <p:sp>
        <p:nvSpPr>
          <p:cNvPr id="27" name="Shape 23"/>
          <p:cNvSpPr/>
          <p:nvPr/>
        </p:nvSpPr>
        <p:spPr>
          <a:xfrm>
            <a:off x="9128455" y="5047488"/>
            <a:ext cx="2240280" cy="457200"/>
          </a:xfrm>
          <a:prstGeom prst="roundRect">
            <a:avLst>
              <a:gd name="adj" fmla="val 50000"/>
            </a:avLst>
          </a:prstGeom>
          <a:solidFill>
            <a:srgbClr val="14305C"/>
          </a:solidFill>
          <a:ln w="19050">
            <a:solidFill>
              <a:srgbClr val="14305C"/>
            </a:solidFill>
            <a:prstDash val="solid"/>
          </a:ln>
        </p:spPr>
      </p:sp>
      <p:sp>
        <p:nvSpPr>
          <p:cNvPr id="28" name="Text 24"/>
          <p:cNvSpPr txBox="1"/>
          <p:nvPr/>
        </p:nvSpPr>
        <p:spPr>
          <a:xfrm>
            <a:off x="9128455" y="5047488"/>
            <a:ext cx="22402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Self-test only</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The system on the bench</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4 / 12</a:t>
            </a:r>
            <a:endParaRPr lang="en-US" sz="1100" dirty="0"/>
          </a:p>
        </p:txBody>
      </p:sp>
      <p:pic>
        <p:nvPicPr>
          <p:cNvPr id="9" name="Image 1" descr="C:\Users\0geda\OneDrive - University of Cape Town\Documents\PlatformIO\Projects\Tukzie-HPEC-HUD\Presentation\source\assets\bench_labelled.png">    </p:cNvPr>
          <p:cNvPicPr>
            <a:picLocks noChangeAspect="1"/>
          </p:cNvPicPr>
          <p:nvPr/>
        </p:nvPicPr>
        <p:blipFill>
          <a:blip r:embed="rId2"/>
          <a:stretch>
            <a:fillRect/>
          </a:stretch>
        </p:blipFill>
        <p:spPr>
          <a:xfrm>
            <a:off x="548640" y="1234440"/>
            <a:ext cx="6940865" cy="5074920"/>
          </a:xfrm>
          <a:prstGeom prst="rect">
            <a:avLst/>
          </a:prstGeom>
        </p:spPr>
      </p:pic>
      <p:sp>
        <p:nvSpPr>
          <p:cNvPr id="10" name="Shape 5"/>
          <p:cNvSpPr/>
          <p:nvPr/>
        </p:nvSpPr>
        <p:spPr>
          <a:xfrm>
            <a:off x="7900985" y="1234440"/>
            <a:ext cx="3742070" cy="868680"/>
          </a:xfrm>
          <a:prstGeom prst="roundRect">
            <a:avLst>
              <a:gd name="adj" fmla="val 12632"/>
            </a:avLst>
          </a:prstGeom>
          <a:solidFill>
            <a:srgbClr val="E8F0FA"/>
          </a:solidFill>
          <a:ln w="12700">
            <a:solidFill>
              <a:srgbClr val="E8F0FA"/>
            </a:solidFill>
            <a:prstDash val="solid"/>
          </a:ln>
        </p:spPr>
      </p:sp>
      <p:sp>
        <p:nvSpPr>
          <p:cNvPr id="11" name="Text 6"/>
          <p:cNvSpPr txBox="1"/>
          <p:nvPr/>
        </p:nvSpPr>
        <p:spPr>
          <a:xfrm>
            <a:off x="8129585" y="1307592"/>
            <a:ext cx="3284870" cy="310896"/>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Telemetry unit</a:t>
            </a:r>
            <a:endParaRPr lang="en-US" sz="1600" dirty="0"/>
          </a:p>
        </p:txBody>
      </p:sp>
      <p:sp>
        <p:nvSpPr>
          <p:cNvPr id="12" name="Text 7"/>
          <p:cNvSpPr txBox="1"/>
          <p:nvPr/>
        </p:nvSpPr>
        <p:spPr>
          <a:xfrm>
            <a:off x="8129585" y="1618488"/>
            <a:ext cx="3284870" cy="45720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ESP32-S3 with LTE and GNSS: acquisition, ride features, local log, MQTT</a:t>
            </a:r>
            <a:endParaRPr lang="en-US" sz="1300" dirty="0"/>
          </a:p>
        </p:txBody>
      </p:sp>
      <p:sp>
        <p:nvSpPr>
          <p:cNvPr id="13" name="Shape 8"/>
          <p:cNvSpPr/>
          <p:nvPr/>
        </p:nvSpPr>
        <p:spPr>
          <a:xfrm>
            <a:off x="7900985" y="2286000"/>
            <a:ext cx="3742070" cy="868680"/>
          </a:xfrm>
          <a:prstGeom prst="roundRect">
            <a:avLst>
              <a:gd name="adj" fmla="val 12632"/>
            </a:avLst>
          </a:prstGeom>
          <a:solidFill>
            <a:srgbClr val="E8F0FA"/>
          </a:solidFill>
          <a:ln w="12700">
            <a:solidFill>
              <a:srgbClr val="E8F0FA"/>
            </a:solidFill>
            <a:prstDash val="solid"/>
          </a:ln>
        </p:spPr>
      </p:sp>
      <p:sp>
        <p:nvSpPr>
          <p:cNvPr id="14" name="Text 9"/>
          <p:cNvSpPr txBox="1"/>
          <p:nvPr/>
        </p:nvSpPr>
        <p:spPr>
          <a:xfrm>
            <a:off x="8129585" y="2359152"/>
            <a:ext cx="3284870" cy="310896"/>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Two IMUs</a:t>
            </a:r>
            <a:endParaRPr lang="en-US" sz="1600" dirty="0"/>
          </a:p>
        </p:txBody>
      </p:sp>
      <p:sp>
        <p:nvSpPr>
          <p:cNvPr id="15" name="Text 10"/>
          <p:cNvSpPr txBox="1"/>
          <p:nvPr/>
        </p:nvSpPr>
        <p:spPr>
          <a:xfrm>
            <a:off x="8129585" y="2670048"/>
            <a:ext cx="3284870" cy="45720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MPU6050s at 200 Hz each, fused into one ride estimate</a:t>
            </a:r>
            <a:endParaRPr lang="en-US" sz="1300" dirty="0"/>
          </a:p>
        </p:txBody>
      </p:sp>
      <p:sp>
        <p:nvSpPr>
          <p:cNvPr id="16" name="Shape 11"/>
          <p:cNvSpPr/>
          <p:nvPr/>
        </p:nvSpPr>
        <p:spPr>
          <a:xfrm>
            <a:off x="7900985" y="3337560"/>
            <a:ext cx="3742070" cy="868680"/>
          </a:xfrm>
          <a:prstGeom prst="roundRect">
            <a:avLst>
              <a:gd name="adj" fmla="val 12632"/>
            </a:avLst>
          </a:prstGeom>
          <a:solidFill>
            <a:srgbClr val="E8F0FA"/>
          </a:solidFill>
          <a:ln w="12700">
            <a:solidFill>
              <a:srgbClr val="E8F0FA"/>
            </a:solidFill>
            <a:prstDash val="solid"/>
          </a:ln>
        </p:spPr>
      </p:sp>
      <p:sp>
        <p:nvSpPr>
          <p:cNvPr id="17" name="Text 12"/>
          <p:cNvSpPr txBox="1"/>
          <p:nvPr/>
        </p:nvSpPr>
        <p:spPr>
          <a:xfrm>
            <a:off x="8129585" y="3410712"/>
            <a:ext cx="3284870" cy="310896"/>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Battery and motor</a:t>
            </a:r>
            <a:endParaRPr lang="en-US" sz="1600" dirty="0"/>
          </a:p>
        </p:txBody>
      </p:sp>
      <p:sp>
        <p:nvSpPr>
          <p:cNvPr id="18" name="Text 13"/>
          <p:cNvSpPr txBox="1"/>
          <p:nvPr/>
        </p:nvSpPr>
        <p:spPr>
          <a:xfrm>
            <a:off x="8129585" y="3721608"/>
            <a:ext cx="3284870" cy="45720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BMS over Bluetooth Low Energy; Hall pulse counter</a:t>
            </a:r>
            <a:endParaRPr lang="en-US" sz="1300" dirty="0"/>
          </a:p>
        </p:txBody>
      </p:sp>
      <p:sp>
        <p:nvSpPr>
          <p:cNvPr id="19" name="Shape 14"/>
          <p:cNvSpPr/>
          <p:nvPr/>
        </p:nvSpPr>
        <p:spPr>
          <a:xfrm>
            <a:off x="7900985" y="4389120"/>
            <a:ext cx="3742070" cy="868680"/>
          </a:xfrm>
          <a:prstGeom prst="roundRect">
            <a:avLst>
              <a:gd name="adj" fmla="val 12632"/>
            </a:avLst>
          </a:prstGeom>
          <a:solidFill>
            <a:srgbClr val="E8F0FA"/>
          </a:solidFill>
          <a:ln w="12700">
            <a:solidFill>
              <a:srgbClr val="E8F0FA"/>
            </a:solidFill>
            <a:prstDash val="solid"/>
          </a:ln>
        </p:spPr>
      </p:sp>
      <p:sp>
        <p:nvSpPr>
          <p:cNvPr id="20" name="Text 15"/>
          <p:cNvSpPr txBox="1"/>
          <p:nvPr/>
        </p:nvSpPr>
        <p:spPr>
          <a:xfrm>
            <a:off x="8129585" y="4462272"/>
            <a:ext cx="3284870" cy="310896"/>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Camera</a:t>
            </a:r>
            <a:endParaRPr lang="en-US" sz="1600" dirty="0"/>
          </a:p>
        </p:txBody>
      </p:sp>
      <p:sp>
        <p:nvSpPr>
          <p:cNvPr id="21" name="Text 16"/>
          <p:cNvSpPr txBox="1"/>
          <p:nvPr/>
        </p:nvSpPr>
        <p:spPr>
          <a:xfrm>
            <a:off x="8129585" y="4773168"/>
            <a:ext cx="3284870" cy="45720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Pi 4 and OV5647: object detector, time-aligned by a sync wire</a:t>
            </a:r>
            <a:endParaRPr lang="en-US" sz="1300" dirty="0"/>
          </a:p>
        </p:txBody>
      </p:sp>
      <p:sp>
        <p:nvSpPr>
          <p:cNvPr id="22" name="Shape 17"/>
          <p:cNvSpPr/>
          <p:nvPr/>
        </p:nvSpPr>
        <p:spPr>
          <a:xfrm>
            <a:off x="7900985" y="5440680"/>
            <a:ext cx="3742070" cy="868680"/>
          </a:xfrm>
          <a:prstGeom prst="roundRect">
            <a:avLst>
              <a:gd name="adj" fmla="val 12632"/>
            </a:avLst>
          </a:prstGeom>
          <a:solidFill>
            <a:srgbClr val="E8F0FA"/>
          </a:solidFill>
          <a:ln w="12700">
            <a:solidFill>
              <a:srgbClr val="E8F0FA"/>
            </a:solidFill>
            <a:prstDash val="solid"/>
          </a:ln>
        </p:spPr>
      </p:sp>
      <p:sp>
        <p:nvSpPr>
          <p:cNvPr id="23" name="Text 18"/>
          <p:cNvSpPr txBox="1"/>
          <p:nvPr/>
        </p:nvSpPr>
        <p:spPr>
          <a:xfrm>
            <a:off x="8129585" y="5513832"/>
            <a:ext cx="3284870" cy="310896"/>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Distance sensors</a:t>
            </a:r>
            <a:endParaRPr lang="en-US" sz="1600" dirty="0"/>
          </a:p>
        </p:txBody>
      </p:sp>
      <p:sp>
        <p:nvSpPr>
          <p:cNvPr id="24" name="Text 19"/>
          <p:cNvSpPr txBox="1"/>
          <p:nvPr/>
        </p:nvSpPr>
        <p:spPr>
          <a:xfrm>
            <a:off x="8129585" y="5824728"/>
            <a:ext cx="3284870" cy="45720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Three time-of-flight sensors on the Pi: left, ahead, right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Firmware: deterministic acquisition first</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5 / 12</a:t>
            </a:r>
            <a:endParaRPr lang="en-US" sz="1100" dirty="0"/>
          </a:p>
        </p:txBody>
      </p:sp>
      <p:sp>
        <p:nvSpPr>
          <p:cNvPr id="9" name="Shape 5"/>
          <p:cNvSpPr/>
          <p:nvPr/>
        </p:nvSpPr>
        <p:spPr>
          <a:xfrm>
            <a:off x="548640" y="1325880"/>
            <a:ext cx="7406640" cy="4343400"/>
          </a:xfrm>
          <a:prstGeom prst="roundRect">
            <a:avLst>
              <a:gd name="adj" fmla="val 2526"/>
            </a:avLst>
          </a:prstGeom>
          <a:solidFill>
            <a:srgbClr val="E8F0FA"/>
          </a:solidFill>
          <a:ln w="12700">
            <a:solidFill>
              <a:srgbClr val="E8F0FA"/>
            </a:solidFill>
            <a:prstDash val="solid"/>
          </a:ln>
        </p:spPr>
      </p:sp>
      <p:sp>
        <p:nvSpPr>
          <p:cNvPr id="10" name="Text 6"/>
          <p:cNvSpPr txBox="1"/>
          <p:nvPr/>
        </p:nvSpPr>
        <p:spPr>
          <a:xfrm>
            <a:off x="777240" y="1435608"/>
            <a:ext cx="3657600" cy="365760"/>
          </a:xfrm>
          <a:prstGeom prst="rect">
            <a:avLst/>
          </a:prstGeom>
          <a:noFill/>
          <a:ln/>
        </p:spPr>
        <p:txBody>
          <a:bodyPr wrap="square" lIns="0" tIns="0" rIns="0" bIns="0" rtlCol="0" anchor="ctr"/>
          <a:lstStyle/>
          <a:p>
            <a:pPr indent="0" marL="0">
              <a:buNone/>
            </a:pPr>
            <a:r>
              <a:rPr lang="en-US" sz="1600" b="1" dirty="0">
                <a:solidFill>
                  <a:srgbClr val="1565C0"/>
                </a:solidFill>
                <a:latin typeface="Calibri" pitchFamily="34" charset="0"/>
                <a:ea typeface="Calibri" pitchFamily="34" charset="-122"/>
                <a:cs typeface="Calibri" pitchFamily="34" charset="-120"/>
              </a:rPr>
              <a:t>Core 1: timing-critical</a:t>
            </a:r>
            <a:endParaRPr lang="en-US" sz="1600" dirty="0"/>
          </a:p>
        </p:txBody>
      </p:sp>
      <p:sp>
        <p:nvSpPr>
          <p:cNvPr id="11" name="Shape 7"/>
          <p:cNvSpPr/>
          <p:nvPr/>
        </p:nvSpPr>
        <p:spPr>
          <a:xfrm>
            <a:off x="822960" y="1965960"/>
            <a:ext cx="2011680" cy="914400"/>
          </a:xfrm>
          <a:prstGeom prst="roundRect">
            <a:avLst>
              <a:gd name="adj" fmla="val 10000"/>
            </a:avLst>
          </a:prstGeom>
          <a:solidFill>
            <a:srgbClr val="FFFFFF"/>
          </a:solidFill>
          <a:ln w="19050">
            <a:solidFill>
              <a:srgbClr val="1565C0"/>
            </a:solidFill>
            <a:prstDash val="solid"/>
          </a:ln>
        </p:spPr>
      </p:sp>
      <p:sp>
        <p:nvSpPr>
          <p:cNvPr id="12" name="Text 8"/>
          <p:cNvSpPr txBox="1"/>
          <p:nvPr/>
        </p:nvSpPr>
        <p:spPr>
          <a:xfrm>
            <a:off x="93268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Imu1Task</a:t>
            </a:r>
            <a:endParaRPr lang="en-US" sz="1500" dirty="0"/>
          </a:p>
        </p:txBody>
      </p:sp>
      <p:sp>
        <p:nvSpPr>
          <p:cNvPr id="13" name="Text 9"/>
          <p:cNvSpPr txBox="1"/>
          <p:nvPr/>
        </p:nvSpPr>
        <p:spPr>
          <a:xfrm>
            <a:off x="93268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200 Hz, priority 3</a:t>
            </a:r>
            <a:endParaRPr lang="en-US" sz="1200" dirty="0"/>
          </a:p>
        </p:txBody>
      </p:sp>
      <p:sp>
        <p:nvSpPr>
          <p:cNvPr id="14" name="Shape 10"/>
          <p:cNvSpPr/>
          <p:nvPr/>
        </p:nvSpPr>
        <p:spPr>
          <a:xfrm>
            <a:off x="822960" y="3200400"/>
            <a:ext cx="2011680" cy="914400"/>
          </a:xfrm>
          <a:prstGeom prst="roundRect">
            <a:avLst>
              <a:gd name="adj" fmla="val 10000"/>
            </a:avLst>
          </a:prstGeom>
          <a:solidFill>
            <a:srgbClr val="FFFFFF"/>
          </a:solidFill>
          <a:ln w="19050">
            <a:solidFill>
              <a:srgbClr val="1565C0"/>
            </a:solidFill>
            <a:prstDash val="solid"/>
          </a:ln>
        </p:spPr>
      </p:sp>
      <p:sp>
        <p:nvSpPr>
          <p:cNvPr id="15" name="Text 11"/>
          <p:cNvSpPr txBox="1"/>
          <p:nvPr/>
        </p:nvSpPr>
        <p:spPr>
          <a:xfrm>
            <a:off x="93268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Imu2Task</a:t>
            </a:r>
            <a:endParaRPr lang="en-US" sz="1500" dirty="0"/>
          </a:p>
        </p:txBody>
      </p:sp>
      <p:sp>
        <p:nvSpPr>
          <p:cNvPr id="16" name="Text 12"/>
          <p:cNvSpPr txBox="1"/>
          <p:nvPr/>
        </p:nvSpPr>
        <p:spPr>
          <a:xfrm>
            <a:off x="93268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200 Hz, priority 3</a:t>
            </a:r>
            <a:endParaRPr lang="en-US" sz="1200" dirty="0"/>
          </a:p>
        </p:txBody>
      </p:sp>
      <p:sp>
        <p:nvSpPr>
          <p:cNvPr id="17" name="Shape 13"/>
          <p:cNvSpPr/>
          <p:nvPr/>
        </p:nvSpPr>
        <p:spPr>
          <a:xfrm>
            <a:off x="3246120" y="1965960"/>
            <a:ext cx="2011680" cy="914400"/>
          </a:xfrm>
          <a:prstGeom prst="roundRect">
            <a:avLst>
              <a:gd name="adj" fmla="val 10000"/>
            </a:avLst>
          </a:prstGeom>
          <a:solidFill>
            <a:srgbClr val="FFFFFF"/>
          </a:solidFill>
          <a:ln w="19050">
            <a:solidFill>
              <a:srgbClr val="1565C0"/>
            </a:solidFill>
            <a:prstDash val="solid"/>
          </a:ln>
        </p:spPr>
      </p:sp>
      <p:sp>
        <p:nvSpPr>
          <p:cNvPr id="18" name="Text 14"/>
          <p:cNvSpPr txBox="1"/>
          <p:nvPr/>
        </p:nvSpPr>
        <p:spPr>
          <a:xfrm>
            <a:off x="335584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Queues</a:t>
            </a:r>
            <a:endParaRPr lang="en-US" sz="1500" dirty="0"/>
          </a:p>
        </p:txBody>
      </p:sp>
      <p:sp>
        <p:nvSpPr>
          <p:cNvPr id="19" name="Text 15"/>
          <p:cNvSpPr txBox="1"/>
          <p:nvPr/>
        </p:nvSpPr>
        <p:spPr>
          <a:xfrm>
            <a:off x="335584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bounded; drop and count, never block</a:t>
            </a:r>
            <a:endParaRPr lang="en-US" sz="1200" dirty="0"/>
          </a:p>
        </p:txBody>
      </p:sp>
      <p:sp>
        <p:nvSpPr>
          <p:cNvPr id="20" name="Shape 16"/>
          <p:cNvSpPr/>
          <p:nvPr/>
        </p:nvSpPr>
        <p:spPr>
          <a:xfrm>
            <a:off x="3246120" y="3200400"/>
            <a:ext cx="2011680" cy="914400"/>
          </a:xfrm>
          <a:prstGeom prst="roundRect">
            <a:avLst>
              <a:gd name="adj" fmla="val 10000"/>
            </a:avLst>
          </a:prstGeom>
          <a:solidFill>
            <a:srgbClr val="FFFFFF"/>
          </a:solidFill>
          <a:ln w="19050">
            <a:solidFill>
              <a:srgbClr val="1565C0"/>
            </a:solidFill>
            <a:prstDash val="solid"/>
          </a:ln>
        </p:spPr>
      </p:sp>
      <p:sp>
        <p:nvSpPr>
          <p:cNvPr id="21" name="Text 17"/>
          <p:cNvSpPr txBox="1"/>
          <p:nvPr/>
        </p:nvSpPr>
        <p:spPr>
          <a:xfrm>
            <a:off x="335584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StatsTask</a:t>
            </a:r>
            <a:endParaRPr lang="en-US" sz="1500" dirty="0"/>
          </a:p>
        </p:txBody>
      </p:sp>
      <p:sp>
        <p:nvSpPr>
          <p:cNvPr id="22" name="Text 18"/>
          <p:cNvSpPr txBox="1"/>
          <p:nvPr/>
        </p:nvSpPr>
        <p:spPr>
          <a:xfrm>
            <a:off x="335584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rate, jitter, drops every 2 s</a:t>
            </a:r>
            <a:endParaRPr lang="en-US" sz="1200" dirty="0"/>
          </a:p>
        </p:txBody>
      </p:sp>
      <p:sp>
        <p:nvSpPr>
          <p:cNvPr id="23" name="Shape 19"/>
          <p:cNvSpPr/>
          <p:nvPr/>
        </p:nvSpPr>
        <p:spPr>
          <a:xfrm>
            <a:off x="5669280" y="1965960"/>
            <a:ext cx="2011680" cy="914400"/>
          </a:xfrm>
          <a:prstGeom prst="roundRect">
            <a:avLst>
              <a:gd name="adj" fmla="val 10000"/>
            </a:avLst>
          </a:prstGeom>
          <a:solidFill>
            <a:srgbClr val="FFFFFF"/>
          </a:solidFill>
          <a:ln w="19050">
            <a:solidFill>
              <a:srgbClr val="1565C0"/>
            </a:solidFill>
            <a:prstDash val="solid"/>
          </a:ln>
        </p:spPr>
      </p:sp>
      <p:sp>
        <p:nvSpPr>
          <p:cNvPr id="24" name="Text 20"/>
          <p:cNvSpPr txBox="1"/>
          <p:nvPr/>
        </p:nvSpPr>
        <p:spPr>
          <a:xfrm>
            <a:off x="577900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RideChar x2</a:t>
            </a:r>
            <a:endParaRPr lang="en-US" sz="1500" dirty="0"/>
          </a:p>
        </p:txBody>
      </p:sp>
      <p:sp>
        <p:nvSpPr>
          <p:cNvPr id="25" name="Text 21"/>
          <p:cNvSpPr txBox="1"/>
          <p:nvPr/>
        </p:nvSpPr>
        <p:spPr>
          <a:xfrm>
            <a:off x="577900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1 s windows: RMS, std, peak-to-peak, jerk</a:t>
            </a:r>
            <a:endParaRPr lang="en-US" sz="1200" dirty="0"/>
          </a:p>
        </p:txBody>
      </p:sp>
      <p:sp>
        <p:nvSpPr>
          <p:cNvPr id="26" name="Shape 22"/>
          <p:cNvSpPr/>
          <p:nvPr/>
        </p:nvSpPr>
        <p:spPr>
          <a:xfrm>
            <a:off x="5669280" y="3200400"/>
            <a:ext cx="2011680" cy="914400"/>
          </a:xfrm>
          <a:prstGeom prst="roundRect">
            <a:avLst>
              <a:gd name="adj" fmla="val 10000"/>
            </a:avLst>
          </a:prstGeom>
          <a:solidFill>
            <a:srgbClr val="FFFFFF"/>
          </a:solidFill>
          <a:ln w="19050">
            <a:solidFill>
              <a:srgbClr val="D4700C"/>
            </a:solidFill>
            <a:prstDash val="solid"/>
          </a:ln>
        </p:spPr>
      </p:sp>
      <p:sp>
        <p:nvSpPr>
          <p:cNvPr id="27" name="Text 23"/>
          <p:cNvSpPr txBox="1"/>
          <p:nvPr/>
        </p:nvSpPr>
        <p:spPr>
          <a:xfrm>
            <a:off x="577900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Fusion</a:t>
            </a:r>
            <a:endParaRPr lang="en-US" sz="1500" dirty="0"/>
          </a:p>
        </p:txBody>
      </p:sp>
      <p:sp>
        <p:nvSpPr>
          <p:cNvPr id="28" name="Text 24"/>
          <p:cNvSpPr txBox="1"/>
          <p:nvPr/>
        </p:nvSpPr>
        <p:spPr>
          <a:xfrm>
            <a:off x="577900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pairs windows, reports disagreement</a:t>
            </a:r>
            <a:endParaRPr lang="en-US" sz="1200" dirty="0"/>
          </a:p>
        </p:txBody>
      </p:sp>
      <p:sp>
        <p:nvSpPr>
          <p:cNvPr id="29" name="Shape 25"/>
          <p:cNvSpPr/>
          <p:nvPr/>
        </p:nvSpPr>
        <p:spPr>
          <a:xfrm>
            <a:off x="2834640" y="2423160"/>
            <a:ext cx="411480" cy="0"/>
          </a:xfrm>
          <a:prstGeom prst="line">
            <a:avLst/>
          </a:prstGeom>
          <a:noFill/>
          <a:ln w="19050">
            <a:solidFill>
              <a:srgbClr val="14305C"/>
            </a:solidFill>
            <a:prstDash val="solid"/>
            <a:tailEnd type="triangle"/>
          </a:ln>
        </p:spPr>
      </p:sp>
      <p:sp>
        <p:nvSpPr>
          <p:cNvPr id="30" name="Shape 26"/>
          <p:cNvSpPr/>
          <p:nvPr/>
        </p:nvSpPr>
        <p:spPr>
          <a:xfrm flipV="1">
            <a:off x="2834640" y="2651760"/>
            <a:ext cx="411480" cy="1005840"/>
          </a:xfrm>
          <a:prstGeom prst="line">
            <a:avLst/>
          </a:prstGeom>
          <a:noFill/>
          <a:ln w="19050">
            <a:solidFill>
              <a:srgbClr val="14305C"/>
            </a:solidFill>
            <a:prstDash val="solid"/>
            <a:tailEnd type="triangle"/>
          </a:ln>
        </p:spPr>
      </p:sp>
      <p:sp>
        <p:nvSpPr>
          <p:cNvPr id="31" name="Shape 27"/>
          <p:cNvSpPr/>
          <p:nvPr/>
        </p:nvSpPr>
        <p:spPr>
          <a:xfrm>
            <a:off x="5257800" y="2423160"/>
            <a:ext cx="411480" cy="0"/>
          </a:xfrm>
          <a:prstGeom prst="line">
            <a:avLst/>
          </a:prstGeom>
          <a:noFill/>
          <a:ln w="19050">
            <a:solidFill>
              <a:srgbClr val="14305C"/>
            </a:solidFill>
            <a:prstDash val="solid"/>
            <a:tailEnd type="triangle"/>
          </a:ln>
        </p:spPr>
      </p:sp>
      <p:sp>
        <p:nvSpPr>
          <p:cNvPr id="32" name="Shape 28"/>
          <p:cNvSpPr/>
          <p:nvPr/>
        </p:nvSpPr>
        <p:spPr>
          <a:xfrm>
            <a:off x="4251960" y="2880360"/>
            <a:ext cx="0" cy="320040"/>
          </a:xfrm>
          <a:prstGeom prst="line">
            <a:avLst/>
          </a:prstGeom>
          <a:noFill/>
          <a:ln w="19050">
            <a:solidFill>
              <a:srgbClr val="14305C"/>
            </a:solidFill>
            <a:prstDash val="solid"/>
            <a:tailEnd type="triangle"/>
          </a:ln>
        </p:spPr>
      </p:sp>
      <p:sp>
        <p:nvSpPr>
          <p:cNvPr id="33" name="Shape 29"/>
          <p:cNvSpPr/>
          <p:nvPr/>
        </p:nvSpPr>
        <p:spPr>
          <a:xfrm>
            <a:off x="6675120" y="2880360"/>
            <a:ext cx="0" cy="320040"/>
          </a:xfrm>
          <a:prstGeom prst="line">
            <a:avLst/>
          </a:prstGeom>
          <a:noFill/>
          <a:ln w="19050">
            <a:solidFill>
              <a:srgbClr val="14305C"/>
            </a:solidFill>
            <a:prstDash val="solid"/>
            <a:tailEnd type="triangle"/>
          </a:ln>
        </p:spPr>
      </p:sp>
      <p:sp>
        <p:nvSpPr>
          <p:cNvPr id="34" name="Shape 30"/>
          <p:cNvSpPr/>
          <p:nvPr/>
        </p:nvSpPr>
        <p:spPr>
          <a:xfrm>
            <a:off x="822960" y="4434840"/>
            <a:ext cx="2011680" cy="914400"/>
          </a:xfrm>
          <a:prstGeom prst="roundRect">
            <a:avLst>
              <a:gd name="adj" fmla="val 10000"/>
            </a:avLst>
          </a:prstGeom>
          <a:solidFill>
            <a:srgbClr val="FFFFFF"/>
          </a:solidFill>
          <a:ln w="19050">
            <a:solidFill>
              <a:srgbClr val="1565C0"/>
            </a:solidFill>
            <a:prstDash val="solid"/>
          </a:ln>
        </p:spPr>
      </p:sp>
      <p:sp>
        <p:nvSpPr>
          <p:cNvPr id="35" name="Text 31"/>
          <p:cNvSpPr txBox="1"/>
          <p:nvPr/>
        </p:nvSpPr>
        <p:spPr>
          <a:xfrm>
            <a:off x="932688" y="448970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SyncTask</a:t>
            </a:r>
            <a:endParaRPr lang="en-US" sz="1500" dirty="0"/>
          </a:p>
        </p:txBody>
      </p:sp>
      <p:sp>
        <p:nvSpPr>
          <p:cNvPr id="36" name="Text 32"/>
          <p:cNvSpPr txBox="1"/>
          <p:nvPr/>
        </p:nvSpPr>
        <p:spPr>
          <a:xfrm>
            <a:off x="932688" y="481888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pulse to the Pi every 500 ms</a:t>
            </a:r>
            <a:endParaRPr lang="en-US" sz="1200" dirty="0"/>
          </a:p>
        </p:txBody>
      </p:sp>
      <p:sp>
        <p:nvSpPr>
          <p:cNvPr id="37" name="Text 33"/>
          <p:cNvSpPr txBox="1"/>
          <p:nvPr/>
        </p:nvSpPr>
        <p:spPr>
          <a:xfrm>
            <a:off x="3246120" y="4480560"/>
            <a:ext cx="4434840" cy="822960"/>
          </a:xfrm>
          <a:prstGeom prst="rect">
            <a:avLst/>
          </a:prstGeom>
          <a:noFill/>
          <a:ln/>
        </p:spPr>
        <p:txBody>
          <a:bodyPr wrap="square" lIns="0" tIns="0" rIns="0" bIns="0" rtlCol="0" anchor="ctr"/>
          <a:lstStyle/>
          <a:p>
            <a:pPr indent="0" marL="0">
              <a:buNone/>
            </a:pPr>
            <a:r>
              <a:rPr lang="en-US" sz="1400" i="1" dirty="0">
                <a:solidFill>
                  <a:srgbClr val="4A5566"/>
                </a:solidFill>
                <a:latin typeface="Calibri" pitchFamily="34" charset="0"/>
                <a:ea typeface="Calibri" pitchFamily="34" charset="-122"/>
                <a:cs typeface="Calibri" pitchFamily="34" charset="-120"/>
              </a:rPr>
              <a:t>Each sample carries a sensor ID, a sequence number and a microsecond timestamp from esp_timer.</a:t>
            </a:r>
            <a:endParaRPr lang="en-US" sz="1400" dirty="0"/>
          </a:p>
        </p:txBody>
      </p:sp>
      <p:sp>
        <p:nvSpPr>
          <p:cNvPr id="38" name="Shape 34"/>
          <p:cNvSpPr/>
          <p:nvPr/>
        </p:nvSpPr>
        <p:spPr>
          <a:xfrm>
            <a:off x="8275320" y="1325880"/>
            <a:ext cx="3367735" cy="4343400"/>
          </a:xfrm>
          <a:prstGeom prst="roundRect">
            <a:avLst>
              <a:gd name="adj" fmla="val 3258"/>
            </a:avLst>
          </a:prstGeom>
          <a:solidFill>
            <a:srgbClr val="E8F0FA"/>
          </a:solidFill>
          <a:ln w="12700">
            <a:solidFill>
              <a:srgbClr val="E8F0FA"/>
            </a:solidFill>
            <a:prstDash val="solid"/>
          </a:ln>
        </p:spPr>
      </p:sp>
      <p:sp>
        <p:nvSpPr>
          <p:cNvPr id="39" name="Text 35"/>
          <p:cNvSpPr txBox="1"/>
          <p:nvPr/>
        </p:nvSpPr>
        <p:spPr>
          <a:xfrm>
            <a:off x="8503920" y="1435608"/>
            <a:ext cx="2910535" cy="365760"/>
          </a:xfrm>
          <a:prstGeom prst="rect">
            <a:avLst/>
          </a:prstGeom>
          <a:noFill/>
          <a:ln/>
        </p:spPr>
        <p:txBody>
          <a:bodyPr wrap="square" lIns="0" tIns="0" rIns="0" bIns="0" rtlCol="0" anchor="ctr"/>
          <a:lstStyle/>
          <a:p>
            <a:pPr indent="0" marL="0">
              <a:buNone/>
            </a:pPr>
            <a:r>
              <a:rPr lang="en-US" sz="1600" b="1" dirty="0">
                <a:solidFill>
                  <a:srgbClr val="1565C0"/>
                </a:solidFill>
                <a:latin typeface="Calibri" pitchFamily="34" charset="0"/>
                <a:ea typeface="Calibri" pitchFamily="34" charset="-122"/>
                <a:cs typeface="Calibri" pitchFamily="34" charset="-120"/>
              </a:rPr>
              <a:t>Core 0: blocking I/O</a:t>
            </a:r>
            <a:endParaRPr lang="en-US" sz="1600" dirty="0"/>
          </a:p>
        </p:txBody>
      </p:sp>
      <p:sp>
        <p:nvSpPr>
          <p:cNvPr id="40" name="Shape 36"/>
          <p:cNvSpPr/>
          <p:nvPr/>
        </p:nvSpPr>
        <p:spPr>
          <a:xfrm>
            <a:off x="8549640" y="1920240"/>
            <a:ext cx="2819095" cy="1188720"/>
          </a:xfrm>
          <a:prstGeom prst="roundRect">
            <a:avLst>
              <a:gd name="adj" fmla="val 7692"/>
            </a:avLst>
          </a:prstGeom>
          <a:solidFill>
            <a:srgbClr val="FFFFFF"/>
          </a:solidFill>
          <a:ln w="19050">
            <a:solidFill>
              <a:srgbClr val="1565C0"/>
            </a:solidFill>
            <a:prstDash val="solid"/>
          </a:ln>
        </p:spPr>
      </p:sp>
      <p:sp>
        <p:nvSpPr>
          <p:cNvPr id="41" name="Text 37"/>
          <p:cNvSpPr txBox="1"/>
          <p:nvPr/>
        </p:nvSpPr>
        <p:spPr>
          <a:xfrm>
            <a:off x="8659368" y="1975104"/>
            <a:ext cx="2599639"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ModemTask</a:t>
            </a:r>
            <a:endParaRPr lang="en-US" sz="1500" dirty="0"/>
          </a:p>
        </p:txBody>
      </p:sp>
      <p:sp>
        <p:nvSpPr>
          <p:cNvPr id="42" name="Text 38"/>
          <p:cNvSpPr txBox="1"/>
          <p:nvPr/>
        </p:nvSpPr>
        <p:spPr>
          <a:xfrm>
            <a:off x="8659368" y="2304288"/>
            <a:ext cx="2599639" cy="74980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AT commands, GNSS with assisted GNSS, MQTT, signal quality, flash log once a minute</a:t>
            </a:r>
            <a:endParaRPr lang="en-US" sz="1200" dirty="0"/>
          </a:p>
        </p:txBody>
      </p:sp>
      <p:sp>
        <p:nvSpPr>
          <p:cNvPr id="43" name="Shape 39"/>
          <p:cNvSpPr/>
          <p:nvPr/>
        </p:nvSpPr>
        <p:spPr>
          <a:xfrm>
            <a:off x="8549640" y="3246120"/>
            <a:ext cx="2819095" cy="731520"/>
          </a:xfrm>
          <a:prstGeom prst="roundRect">
            <a:avLst>
              <a:gd name="adj" fmla="val 12500"/>
            </a:avLst>
          </a:prstGeom>
          <a:solidFill>
            <a:srgbClr val="FFFFFF"/>
          </a:solidFill>
          <a:ln w="19050">
            <a:solidFill>
              <a:srgbClr val="1565C0"/>
            </a:solidFill>
            <a:prstDash val="solid"/>
          </a:ln>
        </p:spPr>
      </p:sp>
      <p:sp>
        <p:nvSpPr>
          <p:cNvPr id="44" name="Text 40"/>
          <p:cNvSpPr txBox="1"/>
          <p:nvPr/>
        </p:nvSpPr>
        <p:spPr>
          <a:xfrm>
            <a:off x="8659368" y="3300984"/>
            <a:ext cx="2599639"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BmsTask</a:t>
            </a:r>
            <a:endParaRPr lang="en-US" sz="1500" dirty="0"/>
          </a:p>
        </p:txBody>
      </p:sp>
      <p:sp>
        <p:nvSpPr>
          <p:cNvPr id="45" name="Text 41"/>
          <p:cNvSpPr txBox="1"/>
          <p:nvPr/>
        </p:nvSpPr>
        <p:spPr>
          <a:xfrm>
            <a:off x="8659368" y="3630168"/>
            <a:ext cx="2599639" cy="29260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battery over BLE</a:t>
            </a:r>
            <a:endParaRPr lang="en-US" sz="1200" dirty="0"/>
          </a:p>
        </p:txBody>
      </p:sp>
      <p:sp>
        <p:nvSpPr>
          <p:cNvPr id="46" name="Shape 42"/>
          <p:cNvSpPr/>
          <p:nvPr/>
        </p:nvSpPr>
        <p:spPr>
          <a:xfrm>
            <a:off x="8549640" y="4114800"/>
            <a:ext cx="2819095" cy="731520"/>
          </a:xfrm>
          <a:prstGeom prst="roundRect">
            <a:avLst>
              <a:gd name="adj" fmla="val 12500"/>
            </a:avLst>
          </a:prstGeom>
          <a:solidFill>
            <a:srgbClr val="FFFFFF"/>
          </a:solidFill>
          <a:ln w="19050">
            <a:solidFill>
              <a:srgbClr val="1565C0"/>
            </a:solidFill>
            <a:prstDash val="solid"/>
          </a:ln>
        </p:spPr>
      </p:sp>
      <p:sp>
        <p:nvSpPr>
          <p:cNvPr id="47" name="Text 43"/>
          <p:cNvSpPr txBox="1"/>
          <p:nvPr/>
        </p:nvSpPr>
        <p:spPr>
          <a:xfrm>
            <a:off x="8659368" y="4169664"/>
            <a:ext cx="2599639"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HallTask</a:t>
            </a:r>
            <a:endParaRPr lang="en-US" sz="1500" dirty="0"/>
          </a:p>
        </p:txBody>
      </p:sp>
      <p:sp>
        <p:nvSpPr>
          <p:cNvPr id="48" name="Text 44"/>
          <p:cNvSpPr txBox="1"/>
          <p:nvPr/>
        </p:nvSpPr>
        <p:spPr>
          <a:xfrm>
            <a:off x="8659368" y="4498848"/>
            <a:ext cx="2599639" cy="29260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hardware pulse counter</a:t>
            </a:r>
            <a:endParaRPr lang="en-US" sz="1200" dirty="0"/>
          </a:p>
        </p:txBody>
      </p:sp>
      <p:sp>
        <p:nvSpPr>
          <p:cNvPr id="49" name="Text 45"/>
          <p:cNvSpPr txBox="1"/>
          <p:nvPr/>
        </p:nvSpPr>
        <p:spPr>
          <a:xfrm>
            <a:off x="8549640" y="4937760"/>
            <a:ext cx="2819095" cy="64008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The modem UART has no lock, so all modem traffic stays in one task.</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Approach: prove each stage before building on it</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6 / 12</a:t>
            </a:r>
            <a:endParaRPr lang="en-US" sz="1100" dirty="0"/>
          </a:p>
        </p:txBody>
      </p:sp>
      <p:sp>
        <p:nvSpPr>
          <p:cNvPr id="9" name="Shape 5"/>
          <p:cNvSpPr/>
          <p:nvPr/>
        </p:nvSpPr>
        <p:spPr>
          <a:xfrm>
            <a:off x="548640" y="1828800"/>
            <a:ext cx="2014057" cy="2651760"/>
          </a:xfrm>
          <a:prstGeom prst="roundRect">
            <a:avLst>
              <a:gd name="adj" fmla="val 5448"/>
            </a:avLst>
          </a:prstGeom>
          <a:solidFill>
            <a:srgbClr val="E8F0FA"/>
          </a:solidFill>
          <a:ln w="25400">
            <a:solidFill>
              <a:srgbClr val="E8F0FA"/>
            </a:solidFill>
            <a:prstDash val="solid"/>
          </a:ln>
        </p:spPr>
      </p:sp>
      <p:sp>
        <p:nvSpPr>
          <p:cNvPr id="10" name="Shape 6"/>
          <p:cNvSpPr/>
          <p:nvPr/>
        </p:nvSpPr>
        <p:spPr>
          <a:xfrm>
            <a:off x="1226485" y="2103120"/>
            <a:ext cx="658368" cy="658368"/>
          </a:xfrm>
          <a:prstGeom prst="ellipse">
            <a:avLst/>
          </a:prstGeom>
          <a:solidFill>
            <a:srgbClr val="14305C"/>
          </a:solidFill>
          <a:ln w="12700">
            <a:solidFill>
              <a:srgbClr val="14305C"/>
            </a:solidFill>
            <a:prstDash val="solid"/>
          </a:ln>
        </p:spPr>
      </p:sp>
      <p:sp>
        <p:nvSpPr>
          <p:cNvPr id="11" name="Text 7"/>
          <p:cNvSpPr txBox="1"/>
          <p:nvPr/>
        </p:nvSpPr>
        <p:spPr>
          <a:xfrm>
            <a:off x="1226485"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12" name="Text 8"/>
          <p:cNvSpPr txBox="1"/>
          <p:nvPr/>
        </p:nvSpPr>
        <p:spPr>
          <a:xfrm>
            <a:off x="685800" y="2926080"/>
            <a:ext cx="1739737" cy="457200"/>
          </a:xfrm>
          <a:prstGeom prst="rect">
            <a:avLst/>
          </a:prstGeom>
          <a:noFill/>
          <a:ln/>
        </p:spPr>
        <p:txBody>
          <a:bodyPr wrap="square" lIns="0" tIns="0" rIns="0" bIns="0" rtlCol="0" anchor="ctr"/>
          <a:lstStyle/>
          <a:p>
            <a:pPr algn="ctr" indent="0" marL="0">
              <a:buNone/>
            </a:pPr>
            <a:r>
              <a:rPr lang="en-US" sz="2000" b="1" dirty="0">
                <a:solidFill>
                  <a:srgbClr val="14305C"/>
                </a:solidFill>
                <a:latin typeface="Calibri" pitchFamily="34" charset="0"/>
                <a:ea typeface="Calibri" pitchFamily="34" charset="-122"/>
                <a:cs typeface="Calibri" pitchFamily="34" charset="-120"/>
              </a:rPr>
              <a:t>Bring up</a:t>
            </a:r>
            <a:endParaRPr lang="en-US" sz="2000" dirty="0"/>
          </a:p>
        </p:txBody>
      </p:sp>
      <p:sp>
        <p:nvSpPr>
          <p:cNvPr id="13" name="Text 9"/>
          <p:cNvSpPr txBox="1"/>
          <p:nvPr/>
        </p:nvSpPr>
        <p:spPr>
          <a:xfrm>
            <a:off x="731520"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each interface alone on the target board</a:t>
            </a:r>
            <a:endParaRPr lang="en-US" sz="1500" dirty="0"/>
          </a:p>
        </p:txBody>
      </p:sp>
      <p:sp>
        <p:nvSpPr>
          <p:cNvPr id="14" name="Shape 10"/>
          <p:cNvSpPr/>
          <p:nvPr/>
        </p:nvSpPr>
        <p:spPr>
          <a:xfrm>
            <a:off x="2590129" y="3154680"/>
            <a:ext cx="201168" cy="0"/>
          </a:xfrm>
          <a:prstGeom prst="line">
            <a:avLst/>
          </a:prstGeom>
          <a:noFill/>
          <a:ln w="25400">
            <a:solidFill>
              <a:srgbClr val="14305C"/>
            </a:solidFill>
            <a:prstDash val="solid"/>
            <a:tailEnd type="triangle"/>
          </a:ln>
        </p:spPr>
      </p:sp>
      <p:sp>
        <p:nvSpPr>
          <p:cNvPr id="15" name="Shape 11"/>
          <p:cNvSpPr/>
          <p:nvPr/>
        </p:nvSpPr>
        <p:spPr>
          <a:xfrm>
            <a:off x="2818729" y="1828800"/>
            <a:ext cx="2014057" cy="2651760"/>
          </a:xfrm>
          <a:prstGeom prst="roundRect">
            <a:avLst>
              <a:gd name="adj" fmla="val 5448"/>
            </a:avLst>
          </a:prstGeom>
          <a:solidFill>
            <a:srgbClr val="E8F0FA"/>
          </a:solidFill>
          <a:ln w="25400">
            <a:solidFill>
              <a:srgbClr val="E8F0FA"/>
            </a:solidFill>
            <a:prstDash val="solid"/>
          </a:ln>
        </p:spPr>
      </p:sp>
      <p:sp>
        <p:nvSpPr>
          <p:cNvPr id="16" name="Shape 12"/>
          <p:cNvSpPr/>
          <p:nvPr/>
        </p:nvSpPr>
        <p:spPr>
          <a:xfrm>
            <a:off x="3496574" y="2103120"/>
            <a:ext cx="658368" cy="658368"/>
          </a:xfrm>
          <a:prstGeom prst="ellipse">
            <a:avLst/>
          </a:prstGeom>
          <a:solidFill>
            <a:srgbClr val="14305C"/>
          </a:solidFill>
          <a:ln w="12700">
            <a:solidFill>
              <a:srgbClr val="14305C"/>
            </a:solidFill>
            <a:prstDash val="solid"/>
          </a:ln>
        </p:spPr>
      </p:sp>
      <p:sp>
        <p:nvSpPr>
          <p:cNvPr id="17" name="Text 13"/>
          <p:cNvSpPr txBox="1"/>
          <p:nvPr/>
        </p:nvSpPr>
        <p:spPr>
          <a:xfrm>
            <a:off x="3496574"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8" name="Text 14"/>
          <p:cNvSpPr txBox="1"/>
          <p:nvPr/>
        </p:nvSpPr>
        <p:spPr>
          <a:xfrm>
            <a:off x="2955889" y="2926080"/>
            <a:ext cx="1739737" cy="457200"/>
          </a:xfrm>
          <a:prstGeom prst="rect">
            <a:avLst/>
          </a:prstGeom>
          <a:noFill/>
          <a:ln/>
        </p:spPr>
        <p:txBody>
          <a:bodyPr wrap="square" lIns="0" tIns="0" rIns="0" bIns="0" rtlCol="0" anchor="ctr"/>
          <a:lstStyle/>
          <a:p>
            <a:pPr algn="ctr" indent="0" marL="0">
              <a:buNone/>
            </a:pPr>
            <a:r>
              <a:rPr lang="en-US" sz="2000" b="1" dirty="0">
                <a:solidFill>
                  <a:srgbClr val="14305C"/>
                </a:solidFill>
                <a:latin typeface="Calibri" pitchFamily="34" charset="0"/>
                <a:ea typeface="Calibri" pitchFamily="34" charset="-122"/>
                <a:cs typeface="Calibri" pitchFamily="34" charset="-120"/>
              </a:rPr>
              <a:t>Acquire</a:t>
            </a:r>
            <a:endParaRPr lang="en-US" sz="2000" dirty="0"/>
          </a:p>
        </p:txBody>
      </p:sp>
      <p:sp>
        <p:nvSpPr>
          <p:cNvPr id="19" name="Text 15"/>
          <p:cNvSpPr txBox="1"/>
          <p:nvPr/>
        </p:nvSpPr>
        <p:spPr>
          <a:xfrm>
            <a:off x="3001609"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both IMUs at 200 Hz, calibrate to gravity</a:t>
            </a:r>
            <a:endParaRPr lang="en-US" sz="1500" dirty="0"/>
          </a:p>
        </p:txBody>
      </p:sp>
      <p:sp>
        <p:nvSpPr>
          <p:cNvPr id="20" name="Shape 16"/>
          <p:cNvSpPr/>
          <p:nvPr/>
        </p:nvSpPr>
        <p:spPr>
          <a:xfrm>
            <a:off x="4860219" y="3154680"/>
            <a:ext cx="201168" cy="0"/>
          </a:xfrm>
          <a:prstGeom prst="line">
            <a:avLst/>
          </a:prstGeom>
          <a:noFill/>
          <a:ln w="25400">
            <a:solidFill>
              <a:srgbClr val="14305C"/>
            </a:solidFill>
            <a:prstDash val="solid"/>
            <a:tailEnd type="triangle"/>
          </a:ln>
        </p:spPr>
      </p:sp>
      <p:sp>
        <p:nvSpPr>
          <p:cNvPr id="21" name="Shape 17"/>
          <p:cNvSpPr/>
          <p:nvPr/>
        </p:nvSpPr>
        <p:spPr>
          <a:xfrm>
            <a:off x="5088819" y="1828800"/>
            <a:ext cx="2014057" cy="2651760"/>
          </a:xfrm>
          <a:prstGeom prst="roundRect">
            <a:avLst>
              <a:gd name="adj" fmla="val 5448"/>
            </a:avLst>
          </a:prstGeom>
          <a:solidFill>
            <a:srgbClr val="E8F0FA"/>
          </a:solidFill>
          <a:ln w="25400">
            <a:solidFill>
              <a:srgbClr val="E8F0FA"/>
            </a:solidFill>
            <a:prstDash val="solid"/>
          </a:ln>
        </p:spPr>
      </p:sp>
      <p:sp>
        <p:nvSpPr>
          <p:cNvPr id="22" name="Shape 18"/>
          <p:cNvSpPr/>
          <p:nvPr/>
        </p:nvSpPr>
        <p:spPr>
          <a:xfrm>
            <a:off x="5766664" y="2103120"/>
            <a:ext cx="658368" cy="658368"/>
          </a:xfrm>
          <a:prstGeom prst="ellipse">
            <a:avLst/>
          </a:prstGeom>
          <a:solidFill>
            <a:srgbClr val="14305C"/>
          </a:solidFill>
          <a:ln w="12700">
            <a:solidFill>
              <a:srgbClr val="14305C"/>
            </a:solidFill>
            <a:prstDash val="solid"/>
          </a:ln>
        </p:spPr>
      </p:sp>
      <p:sp>
        <p:nvSpPr>
          <p:cNvPr id="23" name="Text 19"/>
          <p:cNvSpPr txBox="1"/>
          <p:nvPr/>
        </p:nvSpPr>
        <p:spPr>
          <a:xfrm>
            <a:off x="5766664"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24" name="Text 20"/>
          <p:cNvSpPr txBox="1"/>
          <p:nvPr/>
        </p:nvSpPr>
        <p:spPr>
          <a:xfrm>
            <a:off x="5225979" y="2926080"/>
            <a:ext cx="1739737" cy="457200"/>
          </a:xfrm>
          <a:prstGeom prst="rect">
            <a:avLst/>
          </a:prstGeom>
          <a:noFill/>
          <a:ln/>
        </p:spPr>
        <p:txBody>
          <a:bodyPr wrap="square" lIns="0" tIns="0" rIns="0" bIns="0" rtlCol="0" anchor="ctr"/>
          <a:lstStyle/>
          <a:p>
            <a:pPr algn="ctr" indent="0" marL="0">
              <a:buNone/>
            </a:pPr>
            <a:r>
              <a:rPr lang="en-US" sz="2000" b="1" dirty="0">
                <a:solidFill>
                  <a:srgbClr val="14305C"/>
                </a:solidFill>
                <a:latin typeface="Calibri" pitchFamily="34" charset="0"/>
                <a:ea typeface="Calibri" pitchFamily="34" charset="-122"/>
                <a:cs typeface="Calibri" pitchFamily="34" charset="-120"/>
              </a:rPr>
              <a:t>Compute</a:t>
            </a:r>
            <a:endParaRPr lang="en-US" sz="2000" dirty="0"/>
          </a:p>
        </p:txBody>
      </p:sp>
      <p:sp>
        <p:nvSpPr>
          <p:cNvPr id="25" name="Text 21"/>
          <p:cNvSpPr txBox="1"/>
          <p:nvPr/>
        </p:nvSpPr>
        <p:spPr>
          <a:xfrm>
            <a:off x="5271699"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ride features and dual-IMU fusion, self-tested</a:t>
            </a:r>
            <a:endParaRPr lang="en-US" sz="1500" dirty="0"/>
          </a:p>
        </p:txBody>
      </p:sp>
      <p:sp>
        <p:nvSpPr>
          <p:cNvPr id="26" name="Shape 22"/>
          <p:cNvSpPr/>
          <p:nvPr/>
        </p:nvSpPr>
        <p:spPr>
          <a:xfrm>
            <a:off x="7130308" y="3154680"/>
            <a:ext cx="201168" cy="0"/>
          </a:xfrm>
          <a:prstGeom prst="line">
            <a:avLst/>
          </a:prstGeom>
          <a:noFill/>
          <a:ln w="25400">
            <a:solidFill>
              <a:srgbClr val="14305C"/>
            </a:solidFill>
            <a:prstDash val="solid"/>
            <a:tailEnd type="triangle"/>
          </a:ln>
        </p:spPr>
      </p:sp>
      <p:sp>
        <p:nvSpPr>
          <p:cNvPr id="27" name="Shape 23"/>
          <p:cNvSpPr/>
          <p:nvPr/>
        </p:nvSpPr>
        <p:spPr>
          <a:xfrm>
            <a:off x="7358908" y="1828800"/>
            <a:ext cx="2014057" cy="2651760"/>
          </a:xfrm>
          <a:prstGeom prst="roundRect">
            <a:avLst>
              <a:gd name="adj" fmla="val 5448"/>
            </a:avLst>
          </a:prstGeom>
          <a:solidFill>
            <a:srgbClr val="E8F0FA"/>
          </a:solidFill>
          <a:ln w="25400">
            <a:solidFill>
              <a:srgbClr val="E8F0FA"/>
            </a:solidFill>
            <a:prstDash val="solid"/>
          </a:ln>
        </p:spPr>
      </p:sp>
      <p:sp>
        <p:nvSpPr>
          <p:cNvPr id="28" name="Shape 24"/>
          <p:cNvSpPr/>
          <p:nvPr/>
        </p:nvSpPr>
        <p:spPr>
          <a:xfrm>
            <a:off x="8036753" y="2103120"/>
            <a:ext cx="658368" cy="658368"/>
          </a:xfrm>
          <a:prstGeom prst="ellipse">
            <a:avLst/>
          </a:prstGeom>
          <a:solidFill>
            <a:srgbClr val="14305C"/>
          </a:solidFill>
          <a:ln w="12700">
            <a:solidFill>
              <a:srgbClr val="14305C"/>
            </a:solidFill>
            <a:prstDash val="solid"/>
          </a:ln>
        </p:spPr>
      </p:sp>
      <p:sp>
        <p:nvSpPr>
          <p:cNvPr id="29" name="Text 25"/>
          <p:cNvSpPr txBox="1"/>
          <p:nvPr/>
        </p:nvSpPr>
        <p:spPr>
          <a:xfrm>
            <a:off x="8036753"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30" name="Text 26"/>
          <p:cNvSpPr txBox="1"/>
          <p:nvPr/>
        </p:nvSpPr>
        <p:spPr>
          <a:xfrm>
            <a:off x="7496068" y="2926080"/>
            <a:ext cx="1739737" cy="457200"/>
          </a:xfrm>
          <a:prstGeom prst="rect">
            <a:avLst/>
          </a:prstGeom>
          <a:noFill/>
          <a:ln/>
        </p:spPr>
        <p:txBody>
          <a:bodyPr wrap="square" lIns="0" tIns="0" rIns="0" bIns="0" rtlCol="0" anchor="ctr"/>
          <a:lstStyle/>
          <a:p>
            <a:pPr algn="ctr" indent="0" marL="0">
              <a:buNone/>
            </a:pPr>
            <a:r>
              <a:rPr lang="en-US" sz="2000" b="1" dirty="0">
                <a:solidFill>
                  <a:srgbClr val="14305C"/>
                </a:solidFill>
                <a:latin typeface="Calibri" pitchFamily="34" charset="0"/>
                <a:ea typeface="Calibri" pitchFamily="34" charset="-122"/>
                <a:cs typeface="Calibri" pitchFamily="34" charset="-120"/>
              </a:rPr>
              <a:t>Store and send</a:t>
            </a:r>
            <a:endParaRPr lang="en-US" sz="2000" dirty="0"/>
          </a:p>
        </p:txBody>
      </p:sp>
      <p:sp>
        <p:nvSpPr>
          <p:cNvPr id="31" name="Text 27"/>
          <p:cNvSpPr txBox="1"/>
          <p:nvPr/>
        </p:nvSpPr>
        <p:spPr>
          <a:xfrm>
            <a:off x="7541788"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log to flash, publish over LTE</a:t>
            </a:r>
            <a:endParaRPr lang="en-US" sz="1500" dirty="0"/>
          </a:p>
        </p:txBody>
      </p:sp>
      <p:sp>
        <p:nvSpPr>
          <p:cNvPr id="32" name="Shape 28"/>
          <p:cNvSpPr/>
          <p:nvPr/>
        </p:nvSpPr>
        <p:spPr>
          <a:xfrm>
            <a:off x="9400398" y="3154680"/>
            <a:ext cx="201168" cy="0"/>
          </a:xfrm>
          <a:prstGeom prst="line">
            <a:avLst/>
          </a:prstGeom>
          <a:noFill/>
          <a:ln w="25400">
            <a:solidFill>
              <a:srgbClr val="14305C"/>
            </a:solidFill>
            <a:prstDash val="solid"/>
            <a:tailEnd type="triangle"/>
          </a:ln>
        </p:spPr>
      </p:sp>
      <p:sp>
        <p:nvSpPr>
          <p:cNvPr id="33" name="Shape 29"/>
          <p:cNvSpPr/>
          <p:nvPr/>
        </p:nvSpPr>
        <p:spPr>
          <a:xfrm>
            <a:off x="9628998" y="1828800"/>
            <a:ext cx="2014057" cy="2651760"/>
          </a:xfrm>
          <a:prstGeom prst="roundRect">
            <a:avLst>
              <a:gd name="adj" fmla="val 5448"/>
            </a:avLst>
          </a:prstGeom>
          <a:solidFill>
            <a:srgbClr val="FFFFFF"/>
          </a:solidFill>
          <a:ln w="25400">
            <a:solidFill>
              <a:srgbClr val="D4700C"/>
            </a:solidFill>
            <a:prstDash val="dash"/>
          </a:ln>
        </p:spPr>
      </p:sp>
      <p:sp>
        <p:nvSpPr>
          <p:cNvPr id="34" name="Shape 30"/>
          <p:cNvSpPr/>
          <p:nvPr/>
        </p:nvSpPr>
        <p:spPr>
          <a:xfrm>
            <a:off x="10306842" y="2103120"/>
            <a:ext cx="658368" cy="658368"/>
          </a:xfrm>
          <a:prstGeom prst="ellipse">
            <a:avLst/>
          </a:prstGeom>
          <a:solidFill>
            <a:srgbClr val="D4700C"/>
          </a:solidFill>
          <a:ln w="12700">
            <a:solidFill>
              <a:srgbClr val="D4700C"/>
            </a:solidFill>
            <a:prstDash val="solid"/>
          </a:ln>
        </p:spPr>
      </p:sp>
      <p:sp>
        <p:nvSpPr>
          <p:cNvPr id="35" name="Text 31"/>
          <p:cNvSpPr txBox="1"/>
          <p:nvPr/>
        </p:nvSpPr>
        <p:spPr>
          <a:xfrm>
            <a:off x="10306842"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36" name="Text 32"/>
          <p:cNvSpPr txBox="1"/>
          <p:nvPr/>
        </p:nvSpPr>
        <p:spPr>
          <a:xfrm>
            <a:off x="9766158" y="2926080"/>
            <a:ext cx="1739737" cy="457200"/>
          </a:xfrm>
          <a:prstGeom prst="rect">
            <a:avLst/>
          </a:prstGeom>
          <a:noFill/>
          <a:ln/>
        </p:spPr>
        <p:txBody>
          <a:bodyPr wrap="square" lIns="0" tIns="0" rIns="0" bIns="0" rtlCol="0" anchor="ctr"/>
          <a:lstStyle/>
          <a:p>
            <a:pPr algn="ctr" indent="0" marL="0">
              <a:buNone/>
            </a:pPr>
            <a:r>
              <a:rPr lang="en-US" sz="2000" b="1" dirty="0">
                <a:solidFill>
                  <a:srgbClr val="D4700C"/>
                </a:solidFill>
                <a:latin typeface="Calibri" pitchFamily="34" charset="0"/>
                <a:ea typeface="Calibri" pitchFamily="34" charset="-122"/>
                <a:cs typeface="Calibri" pitchFamily="34" charset="-120"/>
              </a:rPr>
              <a:t>Validate</a:t>
            </a:r>
            <a:endParaRPr lang="en-US" sz="2000" dirty="0"/>
          </a:p>
        </p:txBody>
      </p:sp>
      <p:sp>
        <p:nvSpPr>
          <p:cNvPr id="37" name="Text 33"/>
          <p:cNvSpPr txBox="1"/>
          <p:nvPr/>
        </p:nvSpPr>
        <p:spPr>
          <a:xfrm>
            <a:off x="9811878"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on the moving vehicle</a:t>
            </a:r>
            <a:endParaRPr lang="en-US" sz="1500" dirty="0"/>
          </a:p>
        </p:txBody>
      </p:sp>
      <p:sp>
        <p:nvSpPr>
          <p:cNvPr id="38" name="Text 34"/>
          <p:cNvSpPr txBox="1"/>
          <p:nvPr/>
        </p:nvSpPr>
        <p:spPr>
          <a:xfrm>
            <a:off x="548640" y="4937760"/>
            <a:ext cx="11094415" cy="548640"/>
          </a:xfrm>
          <a:prstGeom prst="rect">
            <a:avLst/>
          </a:prstGeom>
          <a:noFill/>
          <a:ln/>
        </p:spPr>
        <p:txBody>
          <a:bodyPr wrap="square" lIns="0" tIns="0" rIns="0" bIns="0" rtlCol="0" anchor="ctr"/>
          <a:lstStyle/>
          <a:p>
            <a:pPr algn="ctr" indent="0" marL="0">
              <a:buNone/>
            </a:pPr>
            <a:r>
              <a:rPr lang="en-US" sz="1800" i="1" dirty="0">
                <a:solidFill>
                  <a:srgbClr val="4A5566"/>
                </a:solidFill>
                <a:latin typeface="Calibri" pitchFamily="34" charset="0"/>
                <a:ea typeface="Calibri" pitchFamily="34" charset="-122"/>
                <a:cs typeface="Calibri" pitchFamily="34" charset="-120"/>
              </a:rPr>
              <a:t>Stages 1 to 4 are complete on the bench. Stage 5: the first road test is planned for 14 October.</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Result: 200 Hz acquisition and dual-IMU fusion</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7 / 12</a:t>
            </a:r>
            <a:endParaRPr lang="en-US" sz="1100" dirty="0"/>
          </a:p>
        </p:txBody>
      </p:sp>
      <p:sp>
        <p:nvSpPr>
          <p:cNvPr id="9" name="Shape 5"/>
          <p:cNvSpPr/>
          <p:nvPr/>
        </p:nvSpPr>
        <p:spPr>
          <a:xfrm>
            <a:off x="548640" y="1280160"/>
            <a:ext cx="2567864" cy="1463040"/>
          </a:xfrm>
          <a:prstGeom prst="roundRect">
            <a:avLst>
              <a:gd name="adj" fmla="val 7500"/>
            </a:avLst>
          </a:prstGeom>
          <a:solidFill>
            <a:srgbClr val="E8F0FA"/>
          </a:solidFill>
          <a:ln w="12700">
            <a:solidFill>
              <a:srgbClr val="E8F0FA"/>
            </a:solidFill>
            <a:prstDash val="solid"/>
          </a:ln>
        </p:spPr>
      </p:sp>
      <p:sp>
        <p:nvSpPr>
          <p:cNvPr id="10" name="Text 6"/>
          <p:cNvSpPr txBox="1"/>
          <p:nvPr/>
        </p:nvSpPr>
        <p:spPr>
          <a:xfrm>
            <a:off x="777240"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200 Hz</a:t>
            </a:r>
            <a:endParaRPr lang="en-US" sz="3400" dirty="0"/>
          </a:p>
        </p:txBody>
      </p:sp>
      <p:sp>
        <p:nvSpPr>
          <p:cNvPr id="11" name="Text 7"/>
          <p:cNvSpPr txBox="1"/>
          <p:nvPr/>
        </p:nvSpPr>
        <p:spPr>
          <a:xfrm>
            <a:off x="777240"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on both IMUs, zero dropped samples</a:t>
            </a:r>
            <a:endParaRPr lang="en-US" sz="1400" dirty="0"/>
          </a:p>
        </p:txBody>
      </p:sp>
      <p:sp>
        <p:nvSpPr>
          <p:cNvPr id="12" name="Shape 8"/>
          <p:cNvSpPr/>
          <p:nvPr/>
        </p:nvSpPr>
        <p:spPr>
          <a:xfrm>
            <a:off x="3390824" y="1280160"/>
            <a:ext cx="2567864" cy="1463040"/>
          </a:xfrm>
          <a:prstGeom prst="roundRect">
            <a:avLst>
              <a:gd name="adj" fmla="val 7500"/>
            </a:avLst>
          </a:prstGeom>
          <a:solidFill>
            <a:srgbClr val="E8F0FA"/>
          </a:solidFill>
          <a:ln w="12700">
            <a:solidFill>
              <a:srgbClr val="E8F0FA"/>
            </a:solidFill>
            <a:prstDash val="solid"/>
          </a:ln>
        </p:spPr>
      </p:sp>
      <p:sp>
        <p:nvSpPr>
          <p:cNvPr id="13" name="Text 9"/>
          <p:cNvSpPr txBox="1"/>
          <p:nvPr/>
        </p:nvSpPr>
        <p:spPr>
          <a:xfrm>
            <a:off x="3619424"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8%</a:t>
            </a:r>
            <a:endParaRPr lang="en-US" sz="3400" dirty="0"/>
          </a:p>
        </p:txBody>
      </p:sp>
      <p:sp>
        <p:nvSpPr>
          <p:cNvPr id="14" name="Text 10"/>
          <p:cNvSpPr txBox="1"/>
          <p:nvPr/>
        </p:nvSpPr>
        <p:spPr>
          <a:xfrm>
            <a:off x="3619424"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IMU gap at rest, calibrated down to noise</a:t>
            </a:r>
            <a:endParaRPr lang="en-US" sz="1400" dirty="0"/>
          </a:p>
        </p:txBody>
      </p:sp>
      <p:sp>
        <p:nvSpPr>
          <p:cNvPr id="15" name="Shape 11"/>
          <p:cNvSpPr/>
          <p:nvPr/>
        </p:nvSpPr>
        <p:spPr>
          <a:xfrm>
            <a:off x="6233008" y="1280160"/>
            <a:ext cx="2567864" cy="1463040"/>
          </a:xfrm>
          <a:prstGeom prst="roundRect">
            <a:avLst>
              <a:gd name="adj" fmla="val 7500"/>
            </a:avLst>
          </a:prstGeom>
          <a:solidFill>
            <a:srgbClr val="E8F0FA"/>
          </a:solidFill>
          <a:ln w="12700">
            <a:solidFill>
              <a:srgbClr val="E8F0FA"/>
            </a:solidFill>
            <a:prstDash val="solid"/>
          </a:ln>
        </p:spPr>
      </p:sp>
      <p:sp>
        <p:nvSpPr>
          <p:cNvPr id="16" name="Text 12"/>
          <p:cNvSpPr txBox="1"/>
          <p:nvPr/>
        </p:nvSpPr>
        <p:spPr>
          <a:xfrm>
            <a:off x="6461608"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149 / 149</a:t>
            </a:r>
            <a:endParaRPr lang="en-US" sz="3400" dirty="0"/>
          </a:p>
        </p:txBody>
      </p:sp>
      <p:sp>
        <p:nvSpPr>
          <p:cNvPr id="17" name="Text 13"/>
          <p:cNvSpPr txBox="1"/>
          <p:nvPr/>
        </p:nvSpPr>
        <p:spPr>
          <a:xfrm>
            <a:off x="6461608"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windows fused from both IMUs</a:t>
            </a:r>
            <a:endParaRPr lang="en-US" sz="1400" dirty="0"/>
          </a:p>
        </p:txBody>
      </p:sp>
      <p:sp>
        <p:nvSpPr>
          <p:cNvPr id="18" name="Shape 14"/>
          <p:cNvSpPr/>
          <p:nvPr/>
        </p:nvSpPr>
        <p:spPr>
          <a:xfrm>
            <a:off x="9075191" y="1280160"/>
            <a:ext cx="2567864" cy="1463040"/>
          </a:xfrm>
          <a:prstGeom prst="roundRect">
            <a:avLst>
              <a:gd name="adj" fmla="val 7500"/>
            </a:avLst>
          </a:prstGeom>
          <a:solidFill>
            <a:srgbClr val="E8F0FA"/>
          </a:solidFill>
          <a:ln w="12700">
            <a:solidFill>
              <a:srgbClr val="E8F0FA"/>
            </a:solidFill>
            <a:prstDash val="solid"/>
          </a:ln>
        </p:spPr>
      </p:sp>
      <p:sp>
        <p:nvSpPr>
          <p:cNvPr id="19" name="Text 15"/>
          <p:cNvSpPr txBox="1"/>
          <p:nvPr/>
        </p:nvSpPr>
        <p:spPr>
          <a:xfrm>
            <a:off x="9303791"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&lt; 1 ms</a:t>
            </a:r>
            <a:endParaRPr lang="en-US" sz="3400" dirty="0"/>
          </a:p>
        </p:txBody>
      </p:sp>
      <p:sp>
        <p:nvSpPr>
          <p:cNvPr id="20" name="Text 16"/>
          <p:cNvSpPr txBox="1"/>
          <p:nvPr/>
        </p:nvSpPr>
        <p:spPr>
          <a:xfrm>
            <a:off x="9303791"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skew between paired windows</a:t>
            </a:r>
            <a:endParaRPr lang="en-US" sz="1400" dirty="0"/>
          </a:p>
        </p:txBody>
      </p:sp>
      <p:pic>
        <p:nvPicPr>
          <p:cNvPr id="21" name="Image 1" descr="C:\Users\0geda\OneDrive - University of Cape Town\Documents\PlatformIO\Projects\Tukzie-HPEC-HUD\Presentation\source\assets\vibration_chart.png">    </p:cNvPr>
          <p:cNvPicPr>
            <a:picLocks noChangeAspect="1"/>
          </p:cNvPicPr>
          <p:nvPr/>
        </p:nvPicPr>
        <p:blipFill>
          <a:blip r:embed="rId2"/>
          <a:stretch>
            <a:fillRect/>
          </a:stretch>
        </p:blipFill>
        <p:spPr>
          <a:xfrm>
            <a:off x="548640" y="3017520"/>
            <a:ext cx="6949440" cy="2369855"/>
          </a:xfrm>
          <a:prstGeom prst="rect">
            <a:avLst/>
          </a:prstGeom>
        </p:spPr>
      </p:pic>
      <p:sp>
        <p:nvSpPr>
          <p:cNvPr id="22" name="Text 17"/>
          <p:cNvSpPr txBox="1"/>
          <p:nvPr/>
        </p:nvSpPr>
        <p:spPr>
          <a:xfrm>
            <a:off x="548640" y="5433095"/>
            <a:ext cx="6949440" cy="45720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Recorded 150 s session: still, then disturbed by hand from about 75 s. Fused (green) sits between IMU1 and IMU2.</a:t>
            </a:r>
            <a:endParaRPr lang="en-US" sz="1300" dirty="0"/>
          </a:p>
        </p:txBody>
      </p:sp>
      <p:sp>
        <p:nvSpPr>
          <p:cNvPr id="23" name="Shape 18"/>
          <p:cNvSpPr/>
          <p:nvPr/>
        </p:nvSpPr>
        <p:spPr>
          <a:xfrm>
            <a:off x="7818120" y="3017520"/>
            <a:ext cx="3824935" cy="3154680"/>
          </a:xfrm>
          <a:prstGeom prst="roundRect">
            <a:avLst>
              <a:gd name="adj" fmla="val 3478"/>
            </a:avLst>
          </a:prstGeom>
          <a:solidFill>
            <a:srgbClr val="E8F0FA"/>
          </a:solidFill>
          <a:ln w="12700">
            <a:solidFill>
              <a:srgbClr val="E8F0FA"/>
            </a:solidFill>
            <a:prstDash val="solid"/>
          </a:ln>
        </p:spPr>
      </p:sp>
      <p:sp>
        <p:nvSpPr>
          <p:cNvPr id="24" name="Text 19"/>
          <p:cNvSpPr txBox="1"/>
          <p:nvPr/>
        </p:nvSpPr>
        <p:spPr>
          <a:xfrm>
            <a:off x="8092440" y="3154680"/>
            <a:ext cx="3276295" cy="365760"/>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Fusion rules</a:t>
            </a:r>
            <a:endParaRPr lang="en-US" sz="1800" dirty="0"/>
          </a:p>
        </p:txBody>
      </p:sp>
      <p:sp>
        <p:nvSpPr>
          <p:cNvPr id="25" name="Text 20"/>
          <p:cNvSpPr txBox="1"/>
          <p:nvPr/>
        </p:nvSpPr>
        <p:spPr>
          <a:xfrm>
            <a:off x="8092440" y="3584448"/>
            <a:ext cx="3276295" cy="246888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Equal-weight mean (inverse-variance, equal noise)</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Paired only if windows end within 500 ms</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Disagreement figure reported, not hidden</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One-sensor fallback after 3 s of silence</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5 / 5 boot self-tests passed</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Speed index: variance, not mean square (v0.7.2)</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7</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What testing found, and how it was fixed</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8 / 12</a:t>
            </a:r>
            <a:endParaRPr lang="en-US" sz="1100" dirty="0"/>
          </a:p>
        </p:txBody>
      </p:sp>
      <p:sp>
        <p:nvSpPr>
          <p:cNvPr id="9" name="Shape 5"/>
          <p:cNvSpPr/>
          <p:nvPr/>
        </p:nvSpPr>
        <p:spPr>
          <a:xfrm>
            <a:off x="548640" y="1234440"/>
            <a:ext cx="5410048" cy="1417320"/>
          </a:xfrm>
          <a:prstGeom prst="roundRect">
            <a:avLst>
              <a:gd name="adj" fmla="val 7742"/>
            </a:avLst>
          </a:prstGeom>
          <a:solidFill>
            <a:srgbClr val="E8F0FA"/>
          </a:solidFill>
          <a:ln w="12700">
            <a:solidFill>
              <a:srgbClr val="E8F0FA"/>
            </a:solidFill>
            <a:prstDash val="solid"/>
          </a:ln>
        </p:spPr>
      </p:sp>
      <p:sp>
        <p:nvSpPr>
          <p:cNvPr id="10" name="Text 6"/>
          <p:cNvSpPr txBox="1"/>
          <p:nvPr/>
        </p:nvSpPr>
        <p:spPr>
          <a:xfrm>
            <a:off x="822960" y="1325880"/>
            <a:ext cx="4861408"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GNSS reply layout</a:t>
            </a:r>
            <a:endParaRPr lang="en-US" sz="1700" dirty="0"/>
          </a:p>
        </p:txBody>
      </p:sp>
      <p:sp>
        <p:nvSpPr>
          <p:cNvPr id="11" name="Text 7"/>
          <p:cNvSpPr txBox="1"/>
          <p:nvPr/>
        </p:nvSpPr>
        <p:spPr>
          <a:xfrm>
            <a:off x="822960" y="1691640"/>
            <a:ext cx="4861408" cy="905256"/>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Assumed degrees and minutes in fixed places; the real reply is decimal degrees with a varying layout, so satellite counts were read as the position. Parser now anchors on the hemisphere letter: median 2.7 m from the reference.</a:t>
            </a:r>
            <a:endParaRPr lang="en-US" sz="1300" dirty="0"/>
          </a:p>
        </p:txBody>
      </p:sp>
      <p:sp>
        <p:nvSpPr>
          <p:cNvPr id="12" name="Shape 8"/>
          <p:cNvSpPr/>
          <p:nvPr/>
        </p:nvSpPr>
        <p:spPr>
          <a:xfrm>
            <a:off x="6233008" y="1234440"/>
            <a:ext cx="5410048" cy="1417320"/>
          </a:xfrm>
          <a:prstGeom prst="roundRect">
            <a:avLst>
              <a:gd name="adj" fmla="val 7742"/>
            </a:avLst>
          </a:prstGeom>
          <a:solidFill>
            <a:srgbClr val="E8F0FA"/>
          </a:solidFill>
          <a:ln w="12700">
            <a:solidFill>
              <a:srgbClr val="E8F0FA"/>
            </a:solidFill>
            <a:prstDash val="solid"/>
          </a:ln>
        </p:spPr>
      </p:sp>
      <p:sp>
        <p:nvSpPr>
          <p:cNvPr id="13" name="Text 9"/>
          <p:cNvSpPr txBox="1"/>
          <p:nvPr/>
        </p:nvSpPr>
        <p:spPr>
          <a:xfrm>
            <a:off x="6507328" y="1325880"/>
            <a:ext cx="4861408"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Battery checksum</a:t>
            </a:r>
            <a:endParaRPr lang="en-US" sz="1700" dirty="0"/>
          </a:p>
        </p:txBody>
      </p:sp>
      <p:sp>
        <p:nvSpPr>
          <p:cNvPr id="14" name="Text 10"/>
          <p:cNvSpPr txBox="1"/>
          <p:nvPr/>
        </p:nvSpPr>
        <p:spPr>
          <a:xfrm>
            <a:off x="6507328" y="1691640"/>
            <a:ext cx="4861408" cy="905256"/>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Summed the register byte as well, so every real frame failed by exactly 3. The protocol's own query frame showed the rule. After the fix: valid readings, 74.78 V and 60%.</a:t>
            </a:r>
            <a:endParaRPr lang="en-US" sz="1300" dirty="0"/>
          </a:p>
        </p:txBody>
      </p:sp>
      <p:sp>
        <p:nvSpPr>
          <p:cNvPr id="15" name="Shape 11"/>
          <p:cNvSpPr/>
          <p:nvPr/>
        </p:nvSpPr>
        <p:spPr>
          <a:xfrm>
            <a:off x="548640" y="2788920"/>
            <a:ext cx="5410048" cy="1417320"/>
          </a:xfrm>
          <a:prstGeom prst="roundRect">
            <a:avLst>
              <a:gd name="adj" fmla="val 7742"/>
            </a:avLst>
          </a:prstGeom>
          <a:solidFill>
            <a:srgbClr val="E8F0FA"/>
          </a:solidFill>
          <a:ln w="12700">
            <a:solidFill>
              <a:srgbClr val="E8F0FA"/>
            </a:solidFill>
            <a:prstDash val="solid"/>
          </a:ln>
        </p:spPr>
      </p:sp>
      <p:sp>
        <p:nvSpPr>
          <p:cNvPr id="16" name="Text 12"/>
          <p:cNvSpPr txBox="1"/>
          <p:nvPr/>
        </p:nvSpPr>
        <p:spPr>
          <a:xfrm>
            <a:off x="822960" y="2880360"/>
            <a:ext cx="4861408"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IMU stalls from flash writes</a:t>
            </a:r>
            <a:endParaRPr lang="en-US" sz="1700" dirty="0"/>
          </a:p>
        </p:txBody>
      </p:sp>
      <p:sp>
        <p:nvSpPr>
          <p:cNvPr id="17" name="Text 13"/>
          <p:cNvSpPr txBox="1"/>
          <p:nvPr/>
        </p:nvSpPr>
        <p:spPr>
          <a:xfrm>
            <a:off x="822960" y="3246120"/>
            <a:ext cx="4861408" cy="905256"/>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33 to 40 ms gaps every 10 s on both IMUs. Logging off: worst gap 5.9 ms, so the flash is the cause. The log is now buffered and written once a minute.</a:t>
            </a:r>
            <a:endParaRPr lang="en-US" sz="1300" dirty="0"/>
          </a:p>
        </p:txBody>
      </p:sp>
      <p:sp>
        <p:nvSpPr>
          <p:cNvPr id="18" name="Shape 14"/>
          <p:cNvSpPr/>
          <p:nvPr/>
        </p:nvSpPr>
        <p:spPr>
          <a:xfrm>
            <a:off x="6233008" y="2788920"/>
            <a:ext cx="5410048" cy="1417320"/>
          </a:xfrm>
          <a:prstGeom prst="roundRect">
            <a:avLst>
              <a:gd name="adj" fmla="val 7742"/>
            </a:avLst>
          </a:prstGeom>
          <a:solidFill>
            <a:srgbClr val="E8F0FA"/>
          </a:solidFill>
          <a:ln w="12700">
            <a:solidFill>
              <a:srgbClr val="E8F0FA"/>
            </a:solidFill>
            <a:prstDash val="solid"/>
          </a:ln>
        </p:spPr>
      </p:sp>
      <p:sp>
        <p:nvSpPr>
          <p:cNvPr id="19" name="Text 15"/>
          <p:cNvSpPr txBox="1"/>
          <p:nvPr/>
        </p:nvSpPr>
        <p:spPr>
          <a:xfrm>
            <a:off x="6507328" y="2880360"/>
            <a:ext cx="4861408"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Pink camera image</a:t>
            </a:r>
            <a:endParaRPr lang="en-US" sz="1700" dirty="0"/>
          </a:p>
        </p:txBody>
      </p:sp>
      <p:sp>
        <p:nvSpPr>
          <p:cNvPr id="20" name="Text 16"/>
          <p:cNvSpPr txBox="1"/>
          <p:nvPr/>
        </p:nvSpPr>
        <p:spPr>
          <a:xfrm>
            <a:off x="6507328" y="3246120"/>
            <a:ext cx="4861408" cy="905256"/>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The module has no infrared filter: the same scene was pink with the standard tuning and neutral with the NoIR one. With saturation 1.8 the colour cards read correctly.</a:t>
            </a:r>
            <a:endParaRPr lang="en-US" sz="1300" dirty="0"/>
          </a:p>
        </p:txBody>
      </p:sp>
      <p:sp>
        <p:nvSpPr>
          <p:cNvPr id="21" name="Shape 17"/>
          <p:cNvSpPr/>
          <p:nvPr/>
        </p:nvSpPr>
        <p:spPr>
          <a:xfrm>
            <a:off x="548640" y="4343400"/>
            <a:ext cx="5410048" cy="1417320"/>
          </a:xfrm>
          <a:prstGeom prst="roundRect">
            <a:avLst>
              <a:gd name="adj" fmla="val 7742"/>
            </a:avLst>
          </a:prstGeom>
          <a:solidFill>
            <a:srgbClr val="E8F0FA"/>
          </a:solidFill>
          <a:ln w="12700">
            <a:solidFill>
              <a:srgbClr val="E8F0FA"/>
            </a:solidFill>
            <a:prstDash val="solid"/>
          </a:ln>
        </p:spPr>
      </p:sp>
      <p:sp>
        <p:nvSpPr>
          <p:cNvPr id="22" name="Text 18"/>
          <p:cNvSpPr txBox="1"/>
          <p:nvPr/>
        </p:nvSpPr>
        <p:spPr>
          <a:xfrm>
            <a:off x="822960" y="4434840"/>
            <a:ext cx="4861408"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Pi 4 brown-outs and reboots</a:t>
            </a:r>
            <a:endParaRPr lang="en-US" sz="1700" dirty="0"/>
          </a:p>
        </p:txBody>
      </p:sp>
      <p:sp>
        <p:nvSpPr>
          <p:cNvPr id="23" name="Text 19"/>
          <p:cNvSpPr txBox="1"/>
          <p:nvPr/>
        </p:nvSpPr>
        <p:spPr>
          <a:xfrm>
            <a:off x="822960" y="4800600"/>
            <a:ext cx="4861408" cy="905256"/>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Under-voltage began 14 s after the ESP32 was plugged into the Pi's USB, when its LTE modem came up: throttled to 600 MHz. Fix: a powered hub for the ESP32 (to fit). A fan took the Pi from 81 C to 48 to 57 C.</a:t>
            </a:r>
            <a:endParaRPr lang="en-US" sz="1300" dirty="0"/>
          </a:p>
        </p:txBody>
      </p:sp>
      <p:sp>
        <p:nvSpPr>
          <p:cNvPr id="24" name="Shape 20"/>
          <p:cNvSpPr/>
          <p:nvPr/>
        </p:nvSpPr>
        <p:spPr>
          <a:xfrm>
            <a:off x="6233008" y="4343400"/>
            <a:ext cx="5410048" cy="1417320"/>
          </a:xfrm>
          <a:prstGeom prst="roundRect">
            <a:avLst>
              <a:gd name="adj" fmla="val 7742"/>
            </a:avLst>
          </a:prstGeom>
          <a:solidFill>
            <a:srgbClr val="E8F0FA"/>
          </a:solidFill>
          <a:ln w="12700">
            <a:solidFill>
              <a:srgbClr val="E8F0FA"/>
            </a:solidFill>
            <a:prstDash val="solid"/>
          </a:ln>
        </p:spPr>
      </p:sp>
      <p:sp>
        <p:nvSpPr>
          <p:cNvPr id="25" name="Text 21"/>
          <p:cNvSpPr txBox="1"/>
          <p:nvPr/>
        </p:nvSpPr>
        <p:spPr>
          <a:xfrm>
            <a:off x="6507328" y="4434840"/>
            <a:ext cx="4861408"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Distance-sensor reader hang</a:t>
            </a:r>
            <a:endParaRPr lang="en-US" sz="1700" dirty="0"/>
          </a:p>
        </p:txBody>
      </p:sp>
      <p:sp>
        <p:nvSpPr>
          <p:cNvPr id="26" name="Text 22"/>
          <p:cNvSpPr txBox="1"/>
          <p:nvPr/>
        </p:nvSpPr>
        <p:spPr>
          <a:xfrm>
            <a:off x="6507328" y="4800600"/>
            <a:ext cx="4861408" cy="905256"/>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One stuck sensor froze the whole reader. A 0.5 s I/O timeout now skips and logs it. All three read again: hand test 80 to 264 mm ahead, 157 to 199 mm right.</a:t>
            </a:r>
            <a:endParaRPr lang="en-US" sz="1300" dirty="0"/>
          </a:p>
        </p:txBody>
      </p:sp>
      <p:sp>
        <p:nvSpPr>
          <p:cNvPr id="27" name="Text 23"/>
          <p:cNvSpPr txBox="1"/>
          <p:nvPr/>
        </p:nvSpPr>
        <p:spPr>
          <a:xfrm>
            <a:off x="548640" y="5943600"/>
            <a:ext cx="11094415" cy="320040"/>
          </a:xfrm>
          <a:prstGeom prst="rect">
            <a:avLst/>
          </a:prstGeom>
          <a:noFill/>
          <a:ln/>
        </p:spPr>
        <p:txBody>
          <a:bodyPr wrap="square" lIns="0" tIns="0" rIns="0" bIns="0" rtlCol="0" anchor="ctr"/>
          <a:lstStyle/>
          <a:p>
            <a:pPr algn="ctr" indent="0" marL="0">
              <a:buNone/>
            </a:pPr>
            <a:r>
              <a:rPr lang="en-US" sz="1500" i="1" dirty="0">
                <a:solidFill>
                  <a:srgbClr val="4A5566"/>
                </a:solidFill>
                <a:latin typeface="Calibri" pitchFamily="34" charset="0"/>
                <a:ea typeface="Calibri" pitchFamily="34" charset="-122"/>
                <a:cs typeface="Calibri" pitchFamily="34" charset="-120"/>
              </a:rPr>
              <a:t>Each fault was found by a test, fixed, and the same test run again.</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8</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Result: timing, position and the cellular link</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9 / 12</a:t>
            </a:r>
            <a:endParaRPr lang="en-US" sz="1100" dirty="0"/>
          </a:p>
        </p:txBody>
      </p:sp>
      <p:sp>
        <p:nvSpPr>
          <p:cNvPr id="9" name="Shape 5"/>
          <p:cNvSpPr/>
          <p:nvPr/>
        </p:nvSpPr>
        <p:spPr>
          <a:xfrm>
            <a:off x="548640" y="1280160"/>
            <a:ext cx="3484778" cy="4892040"/>
          </a:xfrm>
          <a:prstGeom prst="roundRect">
            <a:avLst>
              <a:gd name="adj" fmla="val 3149"/>
            </a:avLst>
          </a:prstGeom>
          <a:solidFill>
            <a:srgbClr val="E8F0FA"/>
          </a:solidFill>
          <a:ln w="12700">
            <a:solidFill>
              <a:srgbClr val="E8F0FA"/>
            </a:solidFill>
            <a:prstDash val="solid"/>
          </a:ln>
        </p:spPr>
      </p:sp>
      <p:sp>
        <p:nvSpPr>
          <p:cNvPr id="10" name="Text 6"/>
          <p:cNvSpPr txBox="1"/>
          <p:nvPr/>
        </p:nvSpPr>
        <p:spPr>
          <a:xfrm>
            <a:off x="822960" y="1463040"/>
            <a:ext cx="2936138" cy="411480"/>
          </a:xfrm>
          <a:prstGeom prst="rect">
            <a:avLst/>
          </a:prstGeom>
          <a:noFill/>
          <a:ln/>
        </p:spPr>
        <p:txBody>
          <a:bodyPr wrap="square" lIns="0" tIns="0" rIns="0" bIns="0" rtlCol="0" anchor="ctr"/>
          <a:lstStyle/>
          <a:p>
            <a:pPr indent="0" marL="0">
              <a:buNone/>
            </a:pPr>
            <a:r>
              <a:rPr lang="en-US" sz="1900" b="1" dirty="0">
                <a:solidFill>
                  <a:srgbClr val="14305C"/>
                </a:solidFill>
                <a:latin typeface="Calibri" pitchFamily="34" charset="0"/>
                <a:ea typeface="Calibri" pitchFamily="34" charset="-122"/>
                <a:cs typeface="Calibri" pitchFamily="34" charset="-120"/>
              </a:rPr>
              <a:t>Camera to IMU timing</a:t>
            </a:r>
            <a:endParaRPr lang="en-US" sz="1900" dirty="0"/>
          </a:p>
        </p:txBody>
      </p:sp>
      <p:sp>
        <p:nvSpPr>
          <p:cNvPr id="11" name="Text 7"/>
          <p:cNvSpPr txBox="1"/>
          <p:nvPr/>
        </p:nvSpPr>
        <p:spPr>
          <a:xfrm>
            <a:off x="822960" y="1920240"/>
            <a:ext cx="2936138" cy="82296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500.06 ms</a:t>
            </a:r>
            <a:endParaRPr lang="en-US" sz="4000" dirty="0"/>
          </a:p>
        </p:txBody>
      </p:sp>
      <p:sp>
        <p:nvSpPr>
          <p:cNvPr id="12" name="Text 8"/>
          <p:cNvSpPr txBox="1"/>
          <p:nvPr/>
        </p:nvSpPr>
        <p:spPr>
          <a:xfrm>
            <a:off x="822960" y="2743200"/>
            <a:ext cx="2936138" cy="548640"/>
          </a:xfrm>
          <a:prstGeom prst="rect">
            <a:avLst/>
          </a:prstGeom>
          <a:noFill/>
          <a:ln/>
        </p:spPr>
        <p:txBody>
          <a:bodyPr wrap="square" lIns="0" tIns="0" rIns="0" bIns="0" rtlCol="0" anchor="t"/>
          <a:lstStyle/>
          <a:p>
            <a:pPr indent="0" marL="0">
              <a:buNone/>
            </a:pPr>
            <a:r>
              <a:rPr lang="en-US" sz="1400" dirty="0">
                <a:solidFill>
                  <a:srgbClr val="4A5566"/>
                </a:solidFill>
                <a:latin typeface="Calibri" pitchFamily="34" charset="0"/>
                <a:ea typeface="Calibri" pitchFamily="34" charset="-122"/>
                <a:cs typeface="Calibri" pitchFamily="34" charset="-120"/>
              </a:rPr>
              <a:t>median sync interval over 121 edges, kernel timestamps</a:t>
            </a:r>
            <a:endParaRPr lang="en-US" sz="1400" dirty="0"/>
          </a:p>
        </p:txBody>
      </p:sp>
      <p:sp>
        <p:nvSpPr>
          <p:cNvPr id="13" name="Text 9"/>
          <p:cNvSpPr txBox="1"/>
          <p:nvPr/>
        </p:nvSpPr>
        <p:spPr>
          <a:xfrm>
            <a:off x="822960" y="3429000"/>
            <a:ext cx="2936138" cy="260604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Spread under 0.7 ms</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Video frames placed on the IMU clock within 1 s</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A loose jumper twice gave false edges: a latched connector is needed</a:t>
            </a:r>
            <a:endParaRPr lang="en-US" sz="1500" dirty="0"/>
          </a:p>
        </p:txBody>
      </p:sp>
      <p:sp>
        <p:nvSpPr>
          <p:cNvPr id="14" name="Shape 10"/>
          <p:cNvSpPr/>
          <p:nvPr/>
        </p:nvSpPr>
        <p:spPr>
          <a:xfrm>
            <a:off x="4353458" y="1280160"/>
            <a:ext cx="3484778" cy="4892040"/>
          </a:xfrm>
          <a:prstGeom prst="roundRect">
            <a:avLst>
              <a:gd name="adj" fmla="val 3149"/>
            </a:avLst>
          </a:prstGeom>
          <a:solidFill>
            <a:srgbClr val="E8F0FA"/>
          </a:solidFill>
          <a:ln w="12700">
            <a:solidFill>
              <a:srgbClr val="E8F0FA"/>
            </a:solidFill>
            <a:prstDash val="solid"/>
          </a:ln>
        </p:spPr>
      </p:sp>
      <p:sp>
        <p:nvSpPr>
          <p:cNvPr id="15" name="Text 11"/>
          <p:cNvSpPr txBox="1"/>
          <p:nvPr/>
        </p:nvSpPr>
        <p:spPr>
          <a:xfrm>
            <a:off x="4627778" y="1463040"/>
            <a:ext cx="2936138" cy="411480"/>
          </a:xfrm>
          <a:prstGeom prst="rect">
            <a:avLst/>
          </a:prstGeom>
          <a:noFill/>
          <a:ln/>
        </p:spPr>
        <p:txBody>
          <a:bodyPr wrap="square" lIns="0" tIns="0" rIns="0" bIns="0" rtlCol="0" anchor="ctr"/>
          <a:lstStyle/>
          <a:p>
            <a:pPr indent="0" marL="0">
              <a:buNone/>
            </a:pPr>
            <a:r>
              <a:rPr lang="en-US" sz="1900" b="1" dirty="0">
                <a:solidFill>
                  <a:srgbClr val="14305C"/>
                </a:solidFill>
                <a:latin typeface="Calibri" pitchFamily="34" charset="0"/>
                <a:ea typeface="Calibri" pitchFamily="34" charset="-122"/>
                <a:cs typeface="Calibri" pitchFamily="34" charset="-120"/>
              </a:rPr>
              <a:t>GNSS outdoors</a:t>
            </a:r>
            <a:endParaRPr lang="en-US" sz="1900" dirty="0"/>
          </a:p>
        </p:txBody>
      </p:sp>
      <p:sp>
        <p:nvSpPr>
          <p:cNvPr id="16" name="Text 12"/>
          <p:cNvSpPr txBox="1"/>
          <p:nvPr/>
        </p:nvSpPr>
        <p:spPr>
          <a:xfrm>
            <a:off x="4627778" y="1920240"/>
            <a:ext cx="2936138" cy="82296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2.7 m</a:t>
            </a:r>
            <a:endParaRPr lang="en-US" sz="4000" dirty="0"/>
          </a:p>
        </p:txBody>
      </p:sp>
      <p:sp>
        <p:nvSpPr>
          <p:cNvPr id="17" name="Text 13"/>
          <p:cNvSpPr txBox="1"/>
          <p:nvPr/>
        </p:nvSpPr>
        <p:spPr>
          <a:xfrm>
            <a:off x="4627778" y="2743200"/>
            <a:ext cx="2936138" cy="548640"/>
          </a:xfrm>
          <a:prstGeom prst="rect">
            <a:avLst/>
          </a:prstGeom>
          <a:noFill/>
          <a:ln/>
        </p:spPr>
        <p:txBody>
          <a:bodyPr wrap="square" lIns="0" tIns="0" rIns="0" bIns="0" rtlCol="0" anchor="t"/>
          <a:lstStyle/>
          <a:p>
            <a:pPr indent="0" marL="0">
              <a:buNone/>
            </a:pPr>
            <a:r>
              <a:rPr lang="en-US" sz="1400" dirty="0">
                <a:solidFill>
                  <a:srgbClr val="4A5566"/>
                </a:solidFill>
                <a:latin typeface="Calibri" pitchFamily="34" charset="0"/>
                <a:ea typeface="Calibri" pitchFamily="34" charset="-122"/>
                <a:cs typeface="Calibri" pitchFamily="34" charset="-120"/>
              </a:rPr>
              <a:t>median from a phone's position over 104 fixes</a:t>
            </a:r>
            <a:endParaRPr lang="en-US" sz="1400" dirty="0"/>
          </a:p>
        </p:txBody>
      </p:sp>
      <p:sp>
        <p:nvSpPr>
          <p:cNvPr id="18" name="Text 14"/>
          <p:cNvSpPr txBox="1"/>
          <p:nvPr/>
        </p:nvSpPr>
        <p:spPr>
          <a:xfrm>
            <a:off x="4627778" y="3429000"/>
            <a:ext cx="2936138" cy="260604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95% within 11 m; fix 105 s after a cold start</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Assisted GNSS loads (+AGPS: success); effect on fix time not yet measured</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Indoors: network position in 0.7 s, 550 m stated, about 30 m from the outdoor fix</a:t>
            </a:r>
            <a:endParaRPr lang="en-US" sz="1500" dirty="0"/>
          </a:p>
        </p:txBody>
      </p:sp>
      <p:sp>
        <p:nvSpPr>
          <p:cNvPr id="19" name="Shape 15"/>
          <p:cNvSpPr/>
          <p:nvPr/>
        </p:nvSpPr>
        <p:spPr>
          <a:xfrm>
            <a:off x="8158277" y="1280160"/>
            <a:ext cx="3484778" cy="4892040"/>
          </a:xfrm>
          <a:prstGeom prst="roundRect">
            <a:avLst>
              <a:gd name="adj" fmla="val 3149"/>
            </a:avLst>
          </a:prstGeom>
          <a:solidFill>
            <a:srgbClr val="E8F0FA"/>
          </a:solidFill>
          <a:ln w="12700">
            <a:solidFill>
              <a:srgbClr val="E8F0FA"/>
            </a:solidFill>
            <a:prstDash val="solid"/>
          </a:ln>
        </p:spPr>
      </p:sp>
      <p:sp>
        <p:nvSpPr>
          <p:cNvPr id="20" name="Text 16"/>
          <p:cNvSpPr txBox="1"/>
          <p:nvPr/>
        </p:nvSpPr>
        <p:spPr>
          <a:xfrm>
            <a:off x="8432597" y="1463040"/>
            <a:ext cx="2936138" cy="411480"/>
          </a:xfrm>
          <a:prstGeom prst="rect">
            <a:avLst/>
          </a:prstGeom>
          <a:noFill/>
          <a:ln/>
        </p:spPr>
        <p:txBody>
          <a:bodyPr wrap="square" lIns="0" tIns="0" rIns="0" bIns="0" rtlCol="0" anchor="ctr"/>
          <a:lstStyle/>
          <a:p>
            <a:pPr indent="0" marL="0">
              <a:buNone/>
            </a:pPr>
            <a:r>
              <a:rPr lang="en-US" sz="1900" b="1" dirty="0">
                <a:solidFill>
                  <a:srgbClr val="14305C"/>
                </a:solidFill>
                <a:latin typeface="Calibri" pitchFamily="34" charset="0"/>
                <a:ea typeface="Calibri" pitchFamily="34" charset="-122"/>
                <a:cs typeface="Calibri" pitchFamily="34" charset="-120"/>
              </a:rPr>
              <a:t>Cellular link</a:t>
            </a:r>
            <a:endParaRPr lang="en-US" sz="1900" dirty="0"/>
          </a:p>
        </p:txBody>
      </p:sp>
      <p:sp>
        <p:nvSpPr>
          <p:cNvPr id="21" name="Text 17"/>
          <p:cNvSpPr txBox="1"/>
          <p:nvPr/>
        </p:nvSpPr>
        <p:spPr>
          <a:xfrm>
            <a:off x="8432597" y="1920240"/>
            <a:ext cx="2936138" cy="82296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47 / 47</a:t>
            </a:r>
            <a:endParaRPr lang="en-US" sz="4000" dirty="0"/>
          </a:p>
        </p:txBody>
      </p:sp>
      <p:sp>
        <p:nvSpPr>
          <p:cNvPr id="22" name="Text 18"/>
          <p:cNvSpPr txBox="1"/>
          <p:nvPr/>
        </p:nvSpPr>
        <p:spPr>
          <a:xfrm>
            <a:off x="8432597" y="2743200"/>
            <a:ext cx="2936138" cy="548640"/>
          </a:xfrm>
          <a:prstGeom prst="rect">
            <a:avLst/>
          </a:prstGeom>
          <a:noFill/>
          <a:ln/>
        </p:spPr>
        <p:txBody>
          <a:bodyPr wrap="square" lIns="0" tIns="0" rIns="0" bIns="0" rtlCol="0" anchor="t"/>
          <a:lstStyle/>
          <a:p>
            <a:pPr indent="0" marL="0">
              <a:buNone/>
            </a:pPr>
            <a:r>
              <a:rPr lang="en-US" sz="1400" dirty="0">
                <a:solidFill>
                  <a:srgbClr val="4A5566"/>
                </a:solidFill>
                <a:latin typeface="Calibri" pitchFamily="34" charset="0"/>
                <a:ea typeface="Calibri" pitchFamily="34" charset="-122"/>
                <a:cs typeface="Calibri" pitchFamily="34" charset="-120"/>
              </a:rPr>
              <a:t>MQTT publishes acknowledged</a:t>
            </a:r>
            <a:endParaRPr lang="en-US" sz="1400" dirty="0"/>
          </a:p>
        </p:txBody>
      </p:sp>
      <p:sp>
        <p:nvSpPr>
          <p:cNvPr id="23" name="Text 19"/>
          <p:cNvSpPr txBox="1"/>
          <p:nvPr/>
        </p:nvSpPr>
        <p:spPr>
          <a:xfrm>
            <a:off x="8432597" y="3429000"/>
            <a:ext cx="2936138" cy="260604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Radio cut for 60 s: loss seen in 0.8 s, reconnected about 5 s after it returned</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Every record also logged to flash: 6,020 read back</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In progress: sequence numbers, backlog replay, central database (v0.7.4)</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9</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Camera hazard detection and distance sensing</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10 / 12</a:t>
            </a:r>
            <a:endParaRPr lang="en-US" sz="1100" dirty="0"/>
          </a:p>
        </p:txBody>
      </p:sp>
      <p:pic>
        <p:nvPicPr>
          <p:cNvPr id="9" name="Image 1" descr="C:\Users\0geda\OneDrive - University of Cape Town\Documents\PlatformIO\Projects\Tukzie-HPEC-HUD\Presentation\source\assets\casing_labelled.png">    </p:cNvPr>
          <p:cNvPicPr>
            <a:picLocks noChangeAspect="1"/>
          </p:cNvPicPr>
          <p:nvPr/>
        </p:nvPicPr>
        <p:blipFill>
          <a:blip r:embed="rId2"/>
          <a:stretch>
            <a:fillRect/>
          </a:stretch>
        </p:blipFill>
        <p:spPr>
          <a:xfrm>
            <a:off x="548640" y="1280160"/>
            <a:ext cx="6843612" cy="4892040"/>
          </a:xfrm>
          <a:prstGeom prst="rect">
            <a:avLst/>
          </a:prstGeom>
        </p:spPr>
      </p:pic>
      <p:sp>
        <p:nvSpPr>
          <p:cNvPr id="10" name="Shape 5"/>
          <p:cNvSpPr/>
          <p:nvPr/>
        </p:nvSpPr>
        <p:spPr>
          <a:xfrm>
            <a:off x="7758012" y="1280160"/>
            <a:ext cx="3885043" cy="1508760"/>
          </a:xfrm>
          <a:prstGeom prst="roundRect">
            <a:avLst>
              <a:gd name="adj" fmla="val 7273"/>
            </a:avLst>
          </a:prstGeom>
          <a:solidFill>
            <a:srgbClr val="E8F0FA"/>
          </a:solidFill>
          <a:ln w="12700">
            <a:solidFill>
              <a:srgbClr val="E8F0FA"/>
            </a:solidFill>
            <a:prstDash val="solid"/>
          </a:ln>
        </p:spPr>
      </p:sp>
      <p:sp>
        <p:nvSpPr>
          <p:cNvPr id="11" name="Text 6"/>
          <p:cNvSpPr txBox="1"/>
          <p:nvPr/>
        </p:nvSpPr>
        <p:spPr>
          <a:xfrm>
            <a:off x="7986612" y="1389888"/>
            <a:ext cx="3427843"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Object detection</a:t>
            </a:r>
            <a:endParaRPr lang="en-US" sz="1700" dirty="0"/>
          </a:p>
        </p:txBody>
      </p:sp>
      <p:sp>
        <p:nvSpPr>
          <p:cNvPr id="12" name="Text 7"/>
          <p:cNvSpPr txBox="1"/>
          <p:nvPr/>
        </p:nvSpPr>
        <p:spPr>
          <a:xfrm>
            <a:off x="7986612" y="1755648"/>
            <a:ext cx="3427843" cy="96012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Live: pretrained SSD-MobileNet, 19.5 fps and 102 ms median (benchmark); 14.6 fps and about 120 ms on a healthy Pi 4 (Oct). Own pothole model: mAP@50 0.000 before, 0.714 after road-band tiles (validation); on the Pi: in progress.</a:t>
            </a:r>
            <a:endParaRPr lang="en-US" sz="1300" dirty="0"/>
          </a:p>
        </p:txBody>
      </p:sp>
      <p:sp>
        <p:nvSpPr>
          <p:cNvPr id="13" name="Shape 8"/>
          <p:cNvSpPr/>
          <p:nvPr/>
        </p:nvSpPr>
        <p:spPr>
          <a:xfrm>
            <a:off x="7758012" y="2971800"/>
            <a:ext cx="3885043" cy="1508760"/>
          </a:xfrm>
          <a:prstGeom prst="roundRect">
            <a:avLst>
              <a:gd name="adj" fmla="val 7273"/>
            </a:avLst>
          </a:prstGeom>
          <a:solidFill>
            <a:srgbClr val="E8F0FA"/>
          </a:solidFill>
          <a:ln w="12700">
            <a:solidFill>
              <a:srgbClr val="E8F0FA"/>
            </a:solidFill>
            <a:prstDash val="solid"/>
          </a:ln>
        </p:spPr>
      </p:sp>
      <p:sp>
        <p:nvSpPr>
          <p:cNvPr id="14" name="Text 9"/>
          <p:cNvSpPr txBox="1"/>
          <p:nvPr/>
        </p:nvSpPr>
        <p:spPr>
          <a:xfrm>
            <a:off x="7986612" y="3081528"/>
            <a:ext cx="3427843"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Alert logic</a:t>
            </a:r>
            <a:endParaRPr lang="en-US" sz="1700" dirty="0"/>
          </a:p>
        </p:txBody>
      </p:sp>
      <p:sp>
        <p:nvSpPr>
          <p:cNvPr id="15" name="Text 10"/>
          <p:cNvSpPr txBox="1"/>
          <p:nvPr/>
        </p:nvSpPr>
        <p:spPr>
          <a:xfrm>
            <a:off x="7986612" y="3447288"/>
            <a:ext cx="3427843" cy="96012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Raised after 3 frames, cleared after 5 empty frames. Five fields logged per alert; frames are never stored.</a:t>
            </a:r>
            <a:endParaRPr lang="en-US" sz="1300" dirty="0"/>
          </a:p>
        </p:txBody>
      </p:sp>
      <p:sp>
        <p:nvSpPr>
          <p:cNvPr id="16" name="Shape 11"/>
          <p:cNvSpPr/>
          <p:nvPr/>
        </p:nvSpPr>
        <p:spPr>
          <a:xfrm>
            <a:off x="7758012" y="4663440"/>
            <a:ext cx="3885043" cy="1508760"/>
          </a:xfrm>
          <a:prstGeom prst="roundRect">
            <a:avLst>
              <a:gd name="adj" fmla="val 7273"/>
            </a:avLst>
          </a:prstGeom>
          <a:solidFill>
            <a:srgbClr val="E8F0FA"/>
          </a:solidFill>
          <a:ln w="12700">
            <a:solidFill>
              <a:srgbClr val="E8F0FA"/>
            </a:solidFill>
            <a:prstDash val="solid"/>
          </a:ln>
        </p:spPr>
      </p:sp>
      <p:sp>
        <p:nvSpPr>
          <p:cNvPr id="17" name="Text 12"/>
          <p:cNvSpPr txBox="1"/>
          <p:nvPr/>
        </p:nvSpPr>
        <p:spPr>
          <a:xfrm>
            <a:off x="7986612" y="4773168"/>
            <a:ext cx="3427843"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Distance sensors</a:t>
            </a:r>
            <a:endParaRPr lang="en-US" sz="1700" dirty="0"/>
          </a:p>
        </p:txBody>
      </p:sp>
      <p:sp>
        <p:nvSpPr>
          <p:cNvPr id="18" name="Text 13"/>
          <p:cNvSpPr txBox="1"/>
          <p:nvPr/>
        </p:nvSpPr>
        <p:spPr>
          <a:xfrm>
            <a:off x="7986612" y="5138928"/>
            <a:ext cx="3427843" cy="96012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Three VL53L0X stand in for the VL53L5CX: left, ahead, right. Reader hang fixed (0.5 s timeout); all three reading: 80 to 264 mm ahead, 157 to 199 mm right in a hand test.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10</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Hazard alerts and navigation on the existing dashboard</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11 / 12</a:t>
            </a:r>
            <a:endParaRPr lang="en-US" sz="1100" dirty="0"/>
          </a:p>
        </p:txBody>
      </p:sp>
      <p:pic>
        <p:nvPicPr>
          <p:cNvPr id="9" name="Image 1" descr="C:\Users\0geda\OneDrive - University of Cape Town\Documents\PlatformIO\Projects\Tukzie-HPEC-HUD\Presentation\source\assets\sensors_page.png">    </p:cNvPr>
          <p:cNvPicPr>
            <a:picLocks noChangeAspect="1"/>
          </p:cNvPicPr>
          <p:nvPr/>
        </p:nvPicPr>
        <p:blipFill>
          <a:blip r:embed="rId2"/>
          <a:stretch>
            <a:fillRect/>
          </a:stretch>
        </p:blipFill>
        <p:spPr>
          <a:xfrm>
            <a:off x="548640" y="1280160"/>
            <a:ext cx="3291840" cy="2057400"/>
          </a:xfrm>
          <a:prstGeom prst="rect">
            <a:avLst/>
          </a:prstGeom>
        </p:spPr>
      </p:pic>
      <p:pic>
        <p:nvPicPr>
          <p:cNvPr id="10" name="Image 2" descr="C:\Users\0geda\OneDrive - University of Cape Town\Documents\PlatformIO\Projects\Tukzie-HPEC-HUD\Presentation\source\assets\nav_simulated.png">    </p:cNvPr>
          <p:cNvPicPr>
            <a:picLocks noChangeAspect="1"/>
          </p:cNvPicPr>
          <p:nvPr/>
        </p:nvPicPr>
        <p:blipFill>
          <a:blip r:embed="rId3"/>
          <a:stretch>
            <a:fillRect/>
          </a:stretch>
        </p:blipFill>
        <p:spPr>
          <a:xfrm>
            <a:off x="4023360" y="1280160"/>
            <a:ext cx="3291840" cy="2057400"/>
          </a:xfrm>
          <a:prstGeom prst="rect">
            <a:avLst/>
          </a:prstGeom>
        </p:spPr>
      </p:pic>
      <p:sp>
        <p:nvSpPr>
          <p:cNvPr id="11" name="Text 5"/>
          <p:cNvSpPr txBox="1"/>
          <p:nvPr/>
        </p:nvSpPr>
        <p:spPr>
          <a:xfrm>
            <a:off x="548640" y="3392424"/>
            <a:ext cx="3291840" cy="274320"/>
          </a:xfrm>
          <a:prstGeom prst="rect">
            <a:avLst/>
          </a:prstGeom>
          <a:noFill/>
          <a:ln/>
        </p:spPr>
        <p:txBody>
          <a:bodyPr wrap="square" lIns="0" tIns="0" rIns="0" bIns="0" rtlCol="0" anchor="ctr"/>
          <a:lstStyle/>
          <a:p>
            <a:pPr indent="0" marL="0">
              <a:buNone/>
            </a:pPr>
            <a:r>
              <a:rPr lang="en-US" sz="1200" i="1" dirty="0">
                <a:solidFill>
                  <a:srgbClr val="4A5566"/>
                </a:solidFill>
                <a:latin typeface="Calibri" pitchFamily="34" charset="0"/>
                <a:ea typeface="Calibri" pitchFamily="34" charset="-122"/>
                <a:cs typeface="Calibri" pitchFamily="34" charset="-120"/>
              </a:rPr>
              <a:t>Sensors page, live data on the Pi 5</a:t>
            </a:r>
            <a:endParaRPr lang="en-US" sz="1200" dirty="0"/>
          </a:p>
        </p:txBody>
      </p:sp>
      <p:sp>
        <p:nvSpPr>
          <p:cNvPr id="12" name="Text 6"/>
          <p:cNvSpPr txBox="1"/>
          <p:nvPr/>
        </p:nvSpPr>
        <p:spPr>
          <a:xfrm>
            <a:off x="4023360" y="3392424"/>
            <a:ext cx="3291840" cy="274320"/>
          </a:xfrm>
          <a:prstGeom prst="rect">
            <a:avLst/>
          </a:prstGeom>
          <a:noFill/>
          <a:ln/>
        </p:spPr>
        <p:txBody>
          <a:bodyPr wrap="square" lIns="0" tIns="0" rIns="0" bIns="0" rtlCol="0" anchor="ctr"/>
          <a:lstStyle/>
          <a:p>
            <a:pPr indent="0" marL="0">
              <a:buNone/>
            </a:pPr>
            <a:r>
              <a:rPr lang="en-US" sz="1200" i="1" dirty="0">
                <a:solidFill>
                  <a:srgbClr val="4A5566"/>
                </a:solidFill>
                <a:latin typeface="Calibri" pitchFamily="34" charset="0"/>
                <a:ea typeface="Calibri" pitchFamily="34" charset="-122"/>
                <a:cs typeface="Calibri" pitchFamily="34" charset="-120"/>
              </a:rPr>
              <a:t>Navigation during a simulated drive (labelled)</a:t>
            </a:r>
            <a:endParaRPr lang="en-US" sz="1200" dirty="0"/>
          </a:p>
        </p:txBody>
      </p:sp>
      <p:sp>
        <p:nvSpPr>
          <p:cNvPr id="13" name="Shape 7"/>
          <p:cNvSpPr/>
          <p:nvPr/>
        </p:nvSpPr>
        <p:spPr>
          <a:xfrm>
            <a:off x="548640" y="3794760"/>
            <a:ext cx="6766560" cy="2377440"/>
          </a:xfrm>
          <a:prstGeom prst="roundRect">
            <a:avLst>
              <a:gd name="adj" fmla="val 4615"/>
            </a:avLst>
          </a:prstGeom>
          <a:solidFill>
            <a:srgbClr val="E8F0FA"/>
          </a:solidFill>
          <a:ln w="12700">
            <a:solidFill>
              <a:srgbClr val="E8F0FA"/>
            </a:solidFill>
            <a:prstDash val="solid"/>
          </a:ln>
        </p:spPr>
      </p:sp>
      <p:sp>
        <p:nvSpPr>
          <p:cNvPr id="14" name="Text 8"/>
          <p:cNvSpPr txBox="1"/>
          <p:nvPr/>
        </p:nvSpPr>
        <p:spPr>
          <a:xfrm>
            <a:off x="822960" y="3904488"/>
            <a:ext cx="6217920" cy="347472"/>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Added 7 to 11 Oct (tested offscreen, not yet on the vehicle)</a:t>
            </a:r>
            <a:endParaRPr lang="en-US" sz="1600" dirty="0"/>
          </a:p>
        </p:txBody>
      </p:sp>
      <p:sp>
        <p:nvSpPr>
          <p:cNvPr id="15" name="Text 9"/>
          <p:cNvSpPr txBox="1"/>
          <p:nvPr/>
        </p:nvSpPr>
        <p:spPr>
          <a:xfrm>
            <a:off x="822960" y="4297680"/>
            <a:ext cx="6217920" cy="182880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Turn banner and spoken turn-by-turn directions</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Simulated drive in step on every page, clearly marked</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Network-position circle on the map when there is no fix</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Finger scrolling; two-finger page swipe (three on the map)</a:t>
            </a:r>
            <a:endParaRPr lang="en-US" sz="1400" dirty="0"/>
          </a:p>
        </p:txBody>
      </p:sp>
      <p:sp>
        <p:nvSpPr>
          <p:cNvPr id="16" name="Shape 10"/>
          <p:cNvSpPr/>
          <p:nvPr/>
        </p:nvSpPr>
        <p:spPr>
          <a:xfrm>
            <a:off x="7635240" y="1280160"/>
            <a:ext cx="4007815" cy="4892040"/>
          </a:xfrm>
          <a:prstGeom prst="roundRect">
            <a:avLst>
              <a:gd name="adj" fmla="val 2738"/>
            </a:avLst>
          </a:prstGeom>
          <a:solidFill>
            <a:srgbClr val="E8F0FA"/>
          </a:solidFill>
          <a:ln w="12700">
            <a:solidFill>
              <a:srgbClr val="E8F0FA"/>
            </a:solidFill>
            <a:prstDash val="solid"/>
          </a:ln>
        </p:spPr>
      </p:sp>
      <p:sp>
        <p:nvSpPr>
          <p:cNvPr id="17" name="Text 11"/>
          <p:cNvSpPr txBox="1"/>
          <p:nvPr/>
        </p:nvSpPr>
        <p:spPr>
          <a:xfrm>
            <a:off x="7909560" y="1417320"/>
            <a:ext cx="3459175" cy="411480"/>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Running on the dashboard's Pi 5</a:t>
            </a:r>
            <a:endParaRPr lang="en-US" sz="1800" dirty="0"/>
          </a:p>
        </p:txBody>
      </p:sp>
      <p:sp>
        <p:nvSpPr>
          <p:cNvPr id="18" name="Text 12"/>
          <p:cNvSpPr txBox="1"/>
          <p:nvPr/>
        </p:nvSpPr>
        <p:spPr>
          <a:xfrm>
            <a:off x="7909560" y="1920240"/>
            <a:ext cx="3459175" cy="310896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Default dashboard at boot; team's copy untouched</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Live sensor data every 0.5 s</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LIVE / REPLAY / NO DATA / SIMULATED chip</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Camera + distance fusion shown live</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Red banner over any page for immediate hazards</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In progress: Uber-style destination search</a:t>
            </a:r>
            <a:endParaRPr lang="en-US" sz="1500" dirty="0"/>
          </a:p>
        </p:txBody>
      </p:sp>
      <p:sp>
        <p:nvSpPr>
          <p:cNvPr id="19" name="Text 13"/>
          <p:cNvSpPr txBox="1"/>
          <p:nvPr/>
        </p:nvSpPr>
        <p:spPr>
          <a:xfrm>
            <a:off x="7909560" y="5166360"/>
            <a:ext cx="3459175" cy="868680"/>
          </a:xfrm>
          <a:prstGeom prst="rect">
            <a:avLst/>
          </a:prstGeom>
          <a:noFill/>
          <a:ln/>
        </p:spPr>
        <p:txBody>
          <a:bodyPr wrap="square" lIns="0" tIns="0" rIns="0" bIns="0" rtlCol="0" anchor="t"/>
          <a:lstStyle/>
          <a:p>
            <a:pPr indent="0" marL="0">
              <a:buNone/>
            </a:pPr>
            <a:r>
              <a:rPr lang="en-US" sz="1500" b="1" dirty="0">
                <a:solidFill>
                  <a:srgbClr val="D4700C"/>
                </a:solidFill>
                <a:latin typeface="Calibri" pitchFamily="34" charset="0"/>
                <a:ea typeface="Calibri" pitchFamily="34" charset="-122"/>
                <a:cs typeface="Calibri" pitchFamily="34" charset="-120"/>
              </a:rPr>
              <a:t>Still open: </a:t>
            </a:r>
            <a:pPr indent="0" marL="0">
              <a:buNone/>
            </a:pPr>
            <a:r>
              <a:rPr lang="en-US" sz="1500" dirty="0">
                <a:solidFill>
                  <a:srgbClr val="1B1F24"/>
                </a:solidFill>
                <a:latin typeface="Calibri" pitchFamily="34" charset="0"/>
                <a:ea typeface="Calibri" pitchFamily="34" charset="-122"/>
                <a:cs typeface="Calibri" pitchFamily="34" charset="-120"/>
              </a:rPr>
              <a:t>glance time on the vehicle, and a design review against NHTSA and ISO 15008.</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11</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Conclusions and next steps</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12 / 12</a:t>
            </a:r>
            <a:endParaRPr lang="en-US" sz="1100" dirty="0"/>
          </a:p>
        </p:txBody>
      </p:sp>
      <p:sp>
        <p:nvSpPr>
          <p:cNvPr id="9" name="Shape 5"/>
          <p:cNvSpPr/>
          <p:nvPr/>
        </p:nvSpPr>
        <p:spPr>
          <a:xfrm>
            <a:off x="548640" y="1280160"/>
            <a:ext cx="5364328" cy="4069080"/>
          </a:xfrm>
          <a:prstGeom prst="roundRect">
            <a:avLst>
              <a:gd name="adj" fmla="val 2697"/>
            </a:avLst>
          </a:prstGeom>
          <a:solidFill>
            <a:srgbClr val="E8F0FA"/>
          </a:solidFill>
          <a:ln w="12700">
            <a:solidFill>
              <a:srgbClr val="E8F0FA"/>
            </a:solidFill>
            <a:prstDash val="solid"/>
          </a:ln>
        </p:spPr>
      </p:sp>
      <p:sp>
        <p:nvSpPr>
          <p:cNvPr id="10" name="Text 6"/>
          <p:cNvSpPr txBox="1"/>
          <p:nvPr/>
        </p:nvSpPr>
        <p:spPr>
          <a:xfrm>
            <a:off x="868680" y="1463040"/>
            <a:ext cx="4724248" cy="411480"/>
          </a:xfrm>
          <a:prstGeom prst="rect">
            <a:avLst/>
          </a:prstGeom>
          <a:noFill/>
          <a:ln/>
        </p:spPr>
        <p:txBody>
          <a:bodyPr wrap="square" lIns="0" tIns="0" rIns="0" bIns="0" rtlCol="0" anchor="ctr"/>
          <a:lstStyle/>
          <a:p>
            <a:pPr indent="0" marL="0">
              <a:buNone/>
            </a:pPr>
            <a:r>
              <a:rPr lang="en-US" sz="2000" b="1" dirty="0">
                <a:solidFill>
                  <a:srgbClr val="14305C"/>
                </a:solidFill>
                <a:latin typeface="Calibri" pitchFamily="34" charset="0"/>
                <a:ea typeface="Calibri" pitchFamily="34" charset="-122"/>
                <a:cs typeface="Calibri" pitchFamily="34" charset="-120"/>
              </a:rPr>
              <a:t>Done on the bench</a:t>
            </a:r>
            <a:endParaRPr lang="en-US" sz="2000" dirty="0"/>
          </a:p>
        </p:txBody>
      </p:sp>
      <p:sp>
        <p:nvSpPr>
          <p:cNvPr id="11" name="Text 7"/>
          <p:cNvSpPr txBox="1"/>
          <p:nvPr/>
        </p:nvSpPr>
        <p:spPr>
          <a:xfrm>
            <a:off x="868680" y="2057400"/>
            <a:ext cx="4724248" cy="31546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Two IMUs at 200 Hz, no loss, calibrated and fused</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GNSS 2.7 m median; network position indoors; battery over BLE</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Cellular publish with automatic recovery; full local log</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Hazards, navigation and voice on the Pi 5 dashboard</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Each fault found by a test, fixed and re-tested</a:t>
            </a:r>
            <a:endParaRPr lang="en-US" sz="1600" dirty="0"/>
          </a:p>
        </p:txBody>
      </p:sp>
      <p:sp>
        <p:nvSpPr>
          <p:cNvPr id="12" name="Shape 8"/>
          <p:cNvSpPr/>
          <p:nvPr/>
        </p:nvSpPr>
        <p:spPr>
          <a:xfrm>
            <a:off x="6278728" y="1280160"/>
            <a:ext cx="5364328" cy="4069080"/>
          </a:xfrm>
          <a:prstGeom prst="roundRect">
            <a:avLst>
              <a:gd name="adj" fmla="val 2697"/>
            </a:avLst>
          </a:prstGeom>
          <a:solidFill>
            <a:srgbClr val="FFFFFF"/>
          </a:solidFill>
          <a:ln w="25400">
            <a:solidFill>
              <a:srgbClr val="D4700C"/>
            </a:solidFill>
            <a:prstDash val="dash"/>
          </a:ln>
        </p:spPr>
      </p:sp>
      <p:sp>
        <p:nvSpPr>
          <p:cNvPr id="13" name="Text 9"/>
          <p:cNvSpPr txBox="1"/>
          <p:nvPr/>
        </p:nvSpPr>
        <p:spPr>
          <a:xfrm>
            <a:off x="6598768" y="1463040"/>
            <a:ext cx="4724248" cy="411480"/>
          </a:xfrm>
          <a:prstGeom prst="rect">
            <a:avLst/>
          </a:prstGeom>
          <a:noFill/>
          <a:ln/>
        </p:spPr>
        <p:txBody>
          <a:bodyPr wrap="square" lIns="0" tIns="0" rIns="0" bIns="0" rtlCol="0" anchor="ctr"/>
          <a:lstStyle/>
          <a:p>
            <a:pPr indent="0" marL="0">
              <a:buNone/>
            </a:pPr>
            <a:r>
              <a:rPr lang="en-US" sz="2000" b="1" dirty="0">
                <a:solidFill>
                  <a:srgbClr val="D4700C"/>
                </a:solidFill>
                <a:latin typeface="Calibri" pitchFamily="34" charset="0"/>
                <a:ea typeface="Calibri" pitchFamily="34" charset="-122"/>
                <a:cs typeface="Calibri" pitchFamily="34" charset="-120"/>
              </a:rPr>
              <a:t>In progress and next</a:t>
            </a:r>
            <a:endParaRPr lang="en-US" sz="2000" dirty="0"/>
          </a:p>
        </p:txBody>
      </p:sp>
      <p:sp>
        <p:nvSpPr>
          <p:cNvPr id="14" name="Text 10"/>
          <p:cNvSpPr txBox="1"/>
          <p:nvPr/>
        </p:nvSpPr>
        <p:spPr>
          <a:xfrm>
            <a:off x="6598768" y="2057400"/>
            <a:ext cx="4724248" cy="31546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In progress: central database, backlog replay (v0.7.4)</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In progress: pothole model on the Pi 4; destination search</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Road test (planned 14 Oct): mount, recalibrate, RQ3 and RQ4 on the move</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Calibrate and validate the fusion (test C9)</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Fit the VL53L5CX and SEN55 when they arrive</a:t>
            </a:r>
            <a:endParaRPr lang="en-US" sz="1600" dirty="0"/>
          </a:p>
        </p:txBody>
      </p:sp>
      <p:sp>
        <p:nvSpPr>
          <p:cNvPr id="15" name="Text 11"/>
          <p:cNvSpPr txBox="1"/>
          <p:nvPr/>
        </p:nvSpPr>
        <p:spPr>
          <a:xfrm>
            <a:off x="548640" y="5532120"/>
            <a:ext cx="11094415" cy="548640"/>
          </a:xfrm>
          <a:prstGeom prst="rect">
            <a:avLst/>
          </a:prstGeom>
          <a:noFill/>
          <a:ln/>
        </p:spPr>
        <p:txBody>
          <a:bodyPr wrap="square" lIns="0" tIns="0" rIns="0" bIns="0" rtlCol="0" anchor="ctr"/>
          <a:lstStyle/>
          <a:p>
            <a:pPr algn="ctr" indent="0" marL="0">
              <a:buNone/>
            </a:pPr>
            <a:r>
              <a:rPr lang="en-US" sz="2600" b="1" dirty="0">
                <a:solidFill>
                  <a:srgbClr val="14305C"/>
                </a:solidFill>
                <a:latin typeface="Calibri" pitchFamily="34" charset="0"/>
                <a:ea typeface="Calibri" pitchFamily="34" charset="-122"/>
                <a:cs typeface="Calibri" pitchFamily="34" charset="-120"/>
              </a:rPr>
              <a:t>Thank you. Questions?</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SW7: Development of an Embedded HPEC Telemetry Unit and Dashboard Integration for the TUKZIE Rev 0 Platform</dc:title>
  <dc:subject>PptxGenJS Presentation</dc:subject>
  <dc:creator>Samson Okuthe</dc:creator>
  <cp:lastModifiedBy>Samson Okuthe</cp:lastModifiedBy>
  <cp:revision>1</cp:revision>
  <dcterms:created xsi:type="dcterms:W3CDTF">2026-10-11T03:26:28Z</dcterms:created>
  <dcterms:modified xsi:type="dcterms:W3CDTF">2026-10-11T03:26:28Z</dcterms:modified>
</cp:coreProperties>
</file>