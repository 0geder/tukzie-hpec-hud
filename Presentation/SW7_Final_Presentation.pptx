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05C"/>
                </a:solidFill>
                <a:latin typeface="Calibri"/>
              </a:defRPr>
            </a:pPr>
            <a:r>
              <a:rPr sz="1500" b="0" i="0" u="none" strike="noStrike">
                <a:solidFill>
                  <a:srgbClr val="14305C"/>
                </a:solidFill>
                <a:latin typeface="Calibri"/>
              </a:rPr>
              <a:t>Median, sensor readout to detection (ms)</a:t>
            </a:r>
          </a:p>
        </c:rich>
      </c:tx>
      <c:layout/>
      <c:overlay val="0"/>
    </c:title>
    <c:autoTitleDeleted val="0"/>
    <c:plotArea>
      <c:layout/>
      <c:barChart>
        <c:barDir val="bar"/>
        <c:grouping val="clustered"/>
        <c:varyColors val="0"/>
        <c:ser>
          <c:idx val="0"/>
          <c:order val="0"/>
          <c:tx>
            <c:strRef>
              <c:f>Sheet1!$B$1</c:f>
              <c:strCache>
                <c:ptCount val="1"/>
                <c:pt idx="0">
                  <c:v>Median readout to result (ms)</c:v>
                </c:pt>
              </c:strCache>
            </c:strRef>
          </c:tx>
          <c:spPr>
            <a:solidFill>
              <a:srgbClr val="156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 4, whole system: 118 to 122 ms</c:v>
                  </c:pt>
                  <c:pt idx="1">
                    <c:v>Pi 4, detector alone: 102 ms</c:v>
                  </c:pt>
                  <c:pt idx="2">
                    <c:v>Pi 5, with the dashboard: 51 to 54 ms</c:v>
                  </c:pt>
                </c:lvl>
              </c:multiLvlStrCache>
            </c:multiLvlStrRef>
          </c:cat>
          <c:val>
            <c:numRef>
              <c:f>Sheet1!$B$2:$B$4</c:f>
              <c:numCache>
                <c:formatCode>General</c:formatCode>
                <c:ptCount val="3"/>
                <c:pt idx="0">
                  <c:v>120</c:v>
                </c:pt>
                <c:pt idx="1">
                  <c:v>102</c:v>
                </c:pt>
                <c:pt idx="2">
                  <c:v>52.5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b"/>
        <c:majorGridlines>
          <c:spPr>
            <a:ln w="9525" cap="flat">
              <a:solidFill>
                <a:srgbClr val="C9D6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6"/>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It is part of TUKZIE, a 72 volt electric cargo trike for last-mile freight. I built its on-board electronics: a telemetry unit that measures how the trike rides, and safety alerts on the dashboard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trikes make economic sense for freight in African cities: on delivery routes in Dar es Salaam, an electric cargo tricycle cut the operating cost per kilometre by 45.5 percent against a motorcycle. But anything that takes the driver's eyes off the road is a risk; NHTSA guidance limits a single glance to two seconds. So the problem is to combine edge telemetry with short, safety-only alerts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and where each honestly stands. RQ1, how accurately and repeatably a low-cost unit characterises the ride: the instrument is verified, and on the first road session it held its rate, but repeatability is not measured yet. RQ2, alerts on the existing dashboard with the least distraction: this replaced the head-up display with my supervisor's agreement. It is built; glance time is not measured. RQ3, latency, loss and recovery: loss and recovery pass a ten-minute outage test; latency needs GNSS time. RQ4, road against powertrain vibration, needs the second road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fifteenth of October the system has two sides, joined by one Ethernet cable. At the front, a Raspberry Pi 5 behind the dashboard runs its own camera, the detector, a time-of-flight board and the fusion, so a front alert never crosses the network. At the rear, beside the battery, the Pi 4 runs the rear camera and sensors and carries the telemetry unit: an ESP32-S3 with LTE and GNSS, two IMUs at 200 hertz and the battery link. Two findings drove this: the battery's Bluetooth did not reach the front, and the Pi 5 runs the detector more than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two cores. Core 1 holds one task per IMU at the highest priority, on a fixed 5 millisecond period. They never block: each sample is time-stamped into a bounded queue, and if it is full the sample is dropped and counted. Core 0 does the modem, GNSS, MQTT and the flash log, in one task because the modem's serial line has no lock. Version 0.7.4 adds sequence numbers, backlog replay and a 94 hertz filter against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IMUs run at 200 hertz with no dropped samples, counted, not assumed. Flash writes cause one gap of under 45 milliseconds a minute, and the queue holds the samples through it. A gravity factor per sensor brings both to 9.80 or 9.81, but only in that orientation, so it is redone once mounted. Fusion is an equal-weight mean; windows pair only if they end within half a window, and the disagreement is reported. In a 150 second session all 149 windows fused with under a millisecond of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stage was tested before the next, every fault could be traced to one change. Seven needed a real diagnosis; here is the one that mattered most. The Pi 4 kept throttling and rebooting. A logger recorded its power flags every two seconds: clear with nothing attached, then under-voltage fourteen seconds after the telemetry unit's modem came up on its USB port. Moved off, no restarts in four hours. It came back in the closed box: 76.9 degrees and a brown-out restart. So the unit needs its own supply, and the lids gained vents. The Pi 5's restarts while mounting were different: abrupt power loss, not a brown-out.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sync wire gives a median interval of 500.06 milliseconds over 121 edges, with under 0.7 of spread, so camera and IMU clocks line up. On a rooftop, GNSS was a median 2.7 metres from a phone. The outage test: I switched the radio off for ten minutes. The unit reconnected 5.2 seconds after it came back and cleared 60 records in about 40 seconds; the database holds 112 of 112. The public test broker does not queue, so the log read-back is the safety net, and latency needs GNSS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a pretrained 8-bit SSD-MobileNet. On the Pi 4 with the whole system running it takes 118 to 122 milliseconds from sensor readout to result, at 14.6 frames per second. On the Pi 5 beside the dashboard it is 51 to 54 milliseconds at 19.2 frames per second, with no throttling. At 30 kilometres an hour that is about 0.6 metres less travel before an alert. An alert needs three frames to raise and five to clear, and no frame is ever stored. My pothole model works on a test image but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 bands say how near an object is, not whether it is coming closer. For an object closing at constant speed, the inverse of its box width falls in a straight line to zero at contact. So time to contact is the width over its rate of growth, after Lee in 1976, and it needs no focal length or object size. I fit that line robustly over the last 0.6 seconds, and warn below 4 seconds, immediate below 2. In 40 synthetic tests it is within 2 percent, at 0.27 milliseconds a frame. It has not been tested on a real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on the dashboard the team already runs. The Surroundings page now has a Front and Rear switch, which moves the picture, alerts, distances and hazards together, each from that side's own unit. The rear view is mirrored like a reversing camera. The banner shows warnings from both sides, names the side, and puts an approaching object first. It shows only live data, never a simulated value. It is tested offscreen and live on the Pi 5; glance time on the vehicle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enclosures were modelled from scripts in SOLIDWORKS, each checked for interference, fasteners and thin walls: a display mount, a front pod for the Pi 5 and its AI HAT, and a screwless IMU pod. After the Pi 4 reached 76.9 degrees in its closed box, both lids gained an exhaust grille under a rain hood. The power budget is about 20 watts, 0.27 amps from the 72 volt pack, under one percent of the motor's rated input. Only the Pi 5 is measured; the rest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nineteenth of October the whole system was mounted and the first road session run. A recorder on the Pi 5 captured all four sources for 108.6 minutes, about 19.5 of them driving, with no laptop on board. Both IMUs held 200 hertz with no drops, so R1 is met on the vehicle. The battery link held under load: up to 46.9 amps, the pack falling from 74.6 to 72.8 volts. The cameras raised 1,342 front and 741 rear alerts, not yet checked against video. But GNSS had no fix, and there were no raw samples or run markers, so RQ1 and RQ4 are not answered yet. A second, shorter session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now on the vehicle: two IMUs at 200 hertz, fused; a database that lost nothing across an outage; detection in about 50 milliseconds at the front; an approaching-object warning; and both cameras on the existing dashboard. What remains is the second road session with raw data and GNSS for RQ1 and RQ4, the real approach test, glance time for RQ2, and a separate supply for the telemetry unit.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claude\worktrees\agent-ad83ea5807b9a7552\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14</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14</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4305C"/>
          </a:solidFill>
          <a:ln w="19050">
            <a:solidFill>
              <a:srgbClr val="14305C"/>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Rate held on road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Glance untested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FFFFFF"/>
          </a:solidFill>
          <a:ln w="19050">
            <a:solidFill>
              <a:srgbClr val="D4700C"/>
            </a:solidFill>
            <a:prstDash val="dash"/>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Needs session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front and rear, joined by one cable</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14</a:t>
            </a:r>
            <a:endParaRPr lang="en-US" sz="1100" dirty="0"/>
          </a:p>
        </p:txBody>
      </p:sp>
      <p:sp>
        <p:nvSpPr>
          <p:cNvPr id="9" name="Shape 5"/>
          <p:cNvSpPr/>
          <p:nvPr/>
        </p:nvSpPr>
        <p:spPr>
          <a:xfrm>
            <a:off x="548640" y="1325880"/>
            <a:ext cx="4572000" cy="3154680"/>
          </a:xfrm>
          <a:prstGeom prst="roundRect">
            <a:avLst>
              <a:gd name="adj" fmla="val 3478"/>
            </a:avLst>
          </a:prstGeom>
          <a:solidFill>
            <a:srgbClr val="E8F0FA"/>
          </a:solidFill>
          <a:ln w="12700">
            <a:solidFill>
              <a:srgbClr val="E8F0FA"/>
            </a:solidFill>
            <a:prstDash val="solid"/>
          </a:ln>
        </p:spPr>
      </p:sp>
      <p:sp>
        <p:nvSpPr>
          <p:cNvPr id="10" name="Text 6"/>
          <p:cNvSpPr txBox="1"/>
          <p:nvPr/>
        </p:nvSpPr>
        <p:spPr>
          <a:xfrm>
            <a:off x="822960"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Front: Raspberry Pi 5,</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behind the dashboard</a:t>
            </a:r>
            <a:endParaRPr lang="en-US" sz="1900" dirty="0"/>
          </a:p>
        </p:txBody>
      </p:sp>
      <p:sp>
        <p:nvSpPr>
          <p:cNvPr id="11" name="Text 7"/>
          <p:cNvSpPr txBox="1"/>
          <p:nvPr/>
        </p:nvSpPr>
        <p:spPr>
          <a:xfrm>
            <a:off x="822960"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camera and object detector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Time-of-flight board (left, ahead, right) and camera fusion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on the 10.1 in touchscreen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recorder: all four sources at 2 Hz</a:t>
            </a:r>
            <a:endParaRPr lang="en-US" sz="1600" dirty="0"/>
          </a:p>
        </p:txBody>
      </p:sp>
      <p:sp>
        <p:nvSpPr>
          <p:cNvPr id="12" name="Shape 8"/>
          <p:cNvSpPr/>
          <p:nvPr/>
        </p:nvSpPr>
        <p:spPr>
          <a:xfrm>
            <a:off x="7071055" y="1325880"/>
            <a:ext cx="4572000" cy="3154680"/>
          </a:xfrm>
          <a:prstGeom prst="roundRect">
            <a:avLst>
              <a:gd name="adj" fmla="val 3478"/>
            </a:avLst>
          </a:prstGeom>
          <a:solidFill>
            <a:srgbClr val="E8F0FA"/>
          </a:solidFill>
          <a:ln w="12700">
            <a:solidFill>
              <a:srgbClr val="E8F0FA"/>
            </a:solidFill>
            <a:prstDash val="solid"/>
          </a:ln>
        </p:spPr>
      </p:sp>
      <p:sp>
        <p:nvSpPr>
          <p:cNvPr id="13" name="Text 9"/>
          <p:cNvSpPr txBox="1"/>
          <p:nvPr/>
        </p:nvSpPr>
        <p:spPr>
          <a:xfrm>
            <a:off x="7345375"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Rear: Raspberry Pi 4,</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beside the battery</a:t>
            </a:r>
            <a:endParaRPr lang="en-US" sz="1900" dirty="0"/>
          </a:p>
        </p:txBody>
      </p:sp>
      <p:sp>
        <p:nvSpPr>
          <p:cNvPr id="14" name="Text 10"/>
          <p:cNvSpPr txBox="1"/>
          <p:nvPr/>
        </p:nvSpPr>
        <p:spPr>
          <a:xfrm>
            <a:off x="7345375"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Telemetry unit on USB: ESP32-S3 with LTE, GNSS,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battery over Bluetooth; Hall counter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uplink to the central database</a:t>
            </a:r>
            <a:endParaRPr lang="en-US" sz="1600" dirty="0"/>
          </a:p>
        </p:txBody>
      </p:sp>
      <p:sp>
        <p:nvSpPr>
          <p:cNvPr id="15" name="Shape 11"/>
          <p:cNvSpPr/>
          <p:nvPr/>
        </p:nvSpPr>
        <p:spPr>
          <a:xfrm>
            <a:off x="5230368" y="2903220"/>
            <a:ext cx="1730959" cy="0"/>
          </a:xfrm>
          <a:prstGeom prst="line">
            <a:avLst/>
          </a:prstGeom>
          <a:noFill/>
          <a:ln w="38100">
            <a:solidFill>
              <a:srgbClr val="14305C"/>
            </a:solidFill>
            <a:prstDash val="solid"/>
            <a:headEnd type="triangle"/>
            <a:tailEnd type="triangle"/>
          </a:ln>
        </p:spPr>
      </p:sp>
      <p:sp>
        <p:nvSpPr>
          <p:cNvPr id="16" name="Text 12"/>
          <p:cNvSpPr txBox="1"/>
          <p:nvPr/>
        </p:nvSpPr>
        <p:spPr>
          <a:xfrm>
            <a:off x="5230368" y="2400300"/>
            <a:ext cx="1730959" cy="365760"/>
          </a:xfrm>
          <a:prstGeom prst="rect">
            <a:avLst/>
          </a:prstGeom>
          <a:noFill/>
          <a:ln/>
        </p:spPr>
        <p:txBody>
          <a:bodyPr wrap="square" lIns="0" tIns="0" rIns="0" bIns="0" rtlCol="0" anchor="ctr"/>
          <a:lstStyle/>
          <a:p>
            <a:pPr algn="ctr" indent="0" marL="0">
              <a:buNone/>
            </a:pPr>
            <a:r>
              <a:rPr lang="en-US" sz="1600" b="1" dirty="0">
                <a:solidFill>
                  <a:srgbClr val="14305C"/>
                </a:solidFill>
                <a:latin typeface="Calibri" pitchFamily="34" charset="0"/>
                <a:ea typeface="Calibri" pitchFamily="34" charset="-122"/>
                <a:cs typeface="Calibri" pitchFamily="34" charset="-120"/>
              </a:rPr>
              <a:t>Ethernet</a:t>
            </a:r>
            <a:endParaRPr lang="en-US" sz="1600" dirty="0"/>
          </a:p>
        </p:txBody>
      </p:sp>
      <p:sp>
        <p:nvSpPr>
          <p:cNvPr id="17" name="Text 13"/>
          <p:cNvSpPr txBox="1"/>
          <p:nvPr/>
        </p:nvSpPr>
        <p:spPr>
          <a:xfrm>
            <a:off x="5230368" y="3040380"/>
            <a:ext cx="1730959" cy="640080"/>
          </a:xfrm>
          <a:prstGeom prst="rect">
            <a:avLst/>
          </a:prstGeom>
          <a:noFill/>
          <a:ln/>
        </p:spPr>
        <p:txBody>
          <a:bodyPr wrap="square" lIns="0" tIns="0" rIns="0" bIns="0" rtlCol="0" anchor="t"/>
          <a:lstStyle/>
          <a:p>
            <a:pPr algn="ctr" indent="0" marL="0">
              <a:buNone/>
            </a:pPr>
            <a:r>
              <a:rPr lang="en-US" sz="1300" dirty="0">
                <a:solidFill>
                  <a:srgbClr val="4A5566"/>
                </a:solidFill>
                <a:latin typeface="Calibri" pitchFamily="34" charset="0"/>
                <a:ea typeface="Calibri" pitchFamily="34" charset="-122"/>
                <a:cs typeface="Calibri" pitchFamily="34" charset="-120"/>
              </a:rPr>
              <a:t>1000 Mb/s</a:t>
            </a:r>
            <a:endParaRPr lang="en-US" sz="1300" dirty="0"/>
          </a:p>
          <a:p>
            <a:pPr algn="ctr" indent="0" marL="0">
              <a:buNone/>
            </a:pPr>
            <a:r>
              <a:rPr lang="en-US" sz="1300" dirty="0">
                <a:solidFill>
                  <a:srgbClr val="4A5566"/>
                </a:solidFill>
                <a:latin typeface="Calibri" pitchFamily="34" charset="0"/>
                <a:ea typeface="Calibri" pitchFamily="34" charset="-122"/>
                <a:cs typeface="Calibri" pitchFamily="34" charset="-120"/>
              </a:rPr>
              <a:t>0.22 to 0.25 ms</a:t>
            </a:r>
            <a:endParaRPr lang="en-US" sz="1300" dirty="0"/>
          </a:p>
        </p:txBody>
      </p:sp>
      <p:sp>
        <p:nvSpPr>
          <p:cNvPr id="18" name="Shape 14"/>
          <p:cNvSpPr/>
          <p:nvPr/>
        </p:nvSpPr>
        <p:spPr>
          <a:xfrm>
            <a:off x="548640" y="4754880"/>
            <a:ext cx="11094415" cy="1417320"/>
          </a:xfrm>
          <a:prstGeom prst="roundRect">
            <a:avLst>
              <a:gd name="adj" fmla="val 7742"/>
            </a:avLst>
          </a:prstGeom>
          <a:solidFill>
            <a:srgbClr val="FFFFFF"/>
          </a:solidFill>
          <a:ln w="19050">
            <a:solidFill>
              <a:srgbClr val="1565C0"/>
            </a:solidFill>
            <a:prstDash val="solid"/>
          </a:ln>
        </p:spPr>
      </p:sp>
      <p:sp>
        <p:nvSpPr>
          <p:cNvPr id="19" name="Text 15"/>
          <p:cNvSpPr txBox="1"/>
          <p:nvPr/>
        </p:nvSpPr>
        <p:spPr>
          <a:xfrm>
            <a:off x="822960" y="4754880"/>
            <a:ext cx="10545775" cy="141732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two sides (15 Oct): </a:t>
            </a:r>
            <a:pPr indent="0" marL="0">
              <a:buNone/>
            </a:pPr>
            <a:r>
              <a:rPr lang="en-US" sz="1600" dirty="0">
                <a:solidFill>
                  <a:srgbClr val="1B1F24"/>
                </a:solidFill>
                <a:latin typeface="Calibri" pitchFamily="34" charset="0"/>
                <a:ea typeface="Calibri" pitchFamily="34" charset="-122"/>
                <a:cs typeface="Calibri" pitchFamily="34" charset="-120"/>
              </a:rPr>
              <a:t>the battery's Bluetooth link did not reach the telemetry unit at the front, and the Pi 5 runs the detector more than twice as fast as the Pi 4. A front alert no longer crosses the network to reach the screen.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14</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
        <p:nvSpPr>
          <p:cNvPr id="50" name="Text 46"/>
          <p:cNvSpPr txBox="1"/>
          <p:nvPr/>
        </p:nvSpPr>
        <p:spPr>
          <a:xfrm>
            <a:off x="548640" y="5806440"/>
            <a:ext cx="11094415" cy="4114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Method: each stage (bring-up, acquisition, features and fusion, log and uplink, vehicle) was tested against a pass criterion before the next was built on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14</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claude\worktrees\agent-ad83ea5807b9a7552\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Equal-weight mean (equal noise)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Paired if windows end within 500 ms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Disagreement reported; 3 s fallback</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44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Uncalibrated: 8% apart (earlier run)</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Calibration holds in one orientation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14</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It came back (16 to 19 Oct)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Closed rear box, unit still on the Pi's USB: 76.9 °C and a brown-out restart. Fix: own supply for the unit; vented lids. Pi 5 restarts: last readings normal, so abrupt power loss, not a brown-out.</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14</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Spread under 0.7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Video frames placed on the IMU clock within 1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4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 (bench)</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95% within 11 m; fix 105 s after a cold start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Indoors: network position in 0.7 s, 550 m stated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fix at all on the first road session</a:t>
            </a:r>
            <a:endParaRPr lang="en-US" sz="14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60 records built up; reconnected 5.2 s after radio 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An ingest fault found in the test was fixed; 24 records backfilled from the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Latency not yet measured (needs GNSS time)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detection: twice as fast at the front</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14</a:t>
            </a:r>
            <a:endParaRPr lang="en-US" sz="1100" dirty="0"/>
          </a:p>
        </p:txBody>
      </p:sp>
      <p:sp>
        <p:nvSpPr>
          <p:cNvPr id="9" name="Shape 5"/>
          <p:cNvSpPr/>
          <p:nvPr/>
        </p:nvSpPr>
        <p:spPr>
          <a:xfrm>
            <a:off x="548640" y="1280160"/>
            <a:ext cx="5989320" cy="4160520"/>
          </a:xfrm>
          <a:prstGeom prst="roundRect">
            <a:avLst>
              <a:gd name="adj" fmla="val 2637"/>
            </a:avLst>
          </a:prstGeom>
          <a:solidFill>
            <a:srgbClr val="E8F0FA"/>
          </a:solidFill>
          <a:ln w="12700">
            <a:solidFill>
              <a:srgbClr val="E8F0FA"/>
            </a:solidFill>
            <a:prstDash val="solid"/>
          </a:ln>
        </p:spPr>
      </p:sp>
      <p:graphicFrame>
        <p:nvGraphicFramePr>
          <p:cNvPr id="10" name="Chart 0" descr=""/>
          <p:cNvGraphicFramePr/>
          <p:nvPr/>
        </p:nvGraphicFramePr>
        <p:xfrm>
          <a:off x="731520" y="1417320"/>
          <a:ext cx="5623560" cy="38862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5532120"/>
            <a:ext cx="598932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Bench runs: Pi 4 whole system 11 Oct; Pi 5 with the dashboard 15 Oct, 60 s. At 30 km/h the Pi 5 saves about 0.6 m of travel before an alert.</a:t>
            </a:r>
            <a:endParaRPr lang="en-US" sz="1200" dirty="0"/>
          </a:p>
        </p:txBody>
      </p:sp>
      <p:sp>
        <p:nvSpPr>
          <p:cNvPr id="12" name="Shape 7"/>
          <p:cNvSpPr/>
          <p:nvPr/>
        </p:nvSpPr>
        <p:spPr>
          <a:xfrm>
            <a:off x="6858000" y="1280160"/>
            <a:ext cx="4785055" cy="1120140"/>
          </a:xfrm>
          <a:prstGeom prst="roundRect">
            <a:avLst>
              <a:gd name="adj" fmla="val 9796"/>
            </a:avLst>
          </a:prstGeom>
          <a:solidFill>
            <a:srgbClr val="E8F0FA"/>
          </a:solidFill>
          <a:ln w="12700">
            <a:solidFill>
              <a:srgbClr val="E8F0FA"/>
            </a:solidFill>
            <a:prstDash val="solid"/>
          </a:ln>
        </p:spPr>
      </p:sp>
      <p:sp>
        <p:nvSpPr>
          <p:cNvPr id="13" name="Text 8"/>
          <p:cNvSpPr txBox="1"/>
          <p:nvPr/>
        </p:nvSpPr>
        <p:spPr>
          <a:xfrm>
            <a:off x="7086600" y="13716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Front, Raspberry Pi 5 (bench)</a:t>
            </a:r>
            <a:endParaRPr lang="en-US" sz="1600" dirty="0"/>
          </a:p>
        </p:txBody>
      </p:sp>
      <p:sp>
        <p:nvSpPr>
          <p:cNvPr id="14" name="Text 9"/>
          <p:cNvSpPr txBox="1"/>
          <p:nvPr/>
        </p:nvSpPr>
        <p:spPr>
          <a:xfrm>
            <a:off x="7086600" y="17190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19.2 fps; 51 to 54 ms median, 61 to 63 ms 95th percentile; CPU 64 to 73 %, 53 to 54 °C, no throttling.</a:t>
            </a:r>
            <a:endParaRPr lang="en-US" sz="1300" dirty="0"/>
          </a:p>
        </p:txBody>
      </p:sp>
      <p:sp>
        <p:nvSpPr>
          <p:cNvPr id="15" name="Shape 10"/>
          <p:cNvSpPr/>
          <p:nvPr/>
        </p:nvSpPr>
        <p:spPr>
          <a:xfrm>
            <a:off x="6858000" y="2537460"/>
            <a:ext cx="4785055" cy="1120140"/>
          </a:xfrm>
          <a:prstGeom prst="roundRect">
            <a:avLst>
              <a:gd name="adj" fmla="val 9796"/>
            </a:avLst>
          </a:prstGeom>
          <a:solidFill>
            <a:srgbClr val="E8F0FA"/>
          </a:solidFill>
          <a:ln w="12700">
            <a:solidFill>
              <a:srgbClr val="E8F0FA"/>
            </a:solidFill>
            <a:prstDash val="solid"/>
          </a:ln>
        </p:spPr>
      </p:sp>
      <p:sp>
        <p:nvSpPr>
          <p:cNvPr id="16" name="Text 11"/>
          <p:cNvSpPr txBox="1"/>
          <p:nvPr/>
        </p:nvSpPr>
        <p:spPr>
          <a:xfrm>
            <a:off x="7086600" y="26289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Mounted on the vehicle (19 Oct)</a:t>
            </a:r>
            <a:endParaRPr lang="en-US" sz="1600" dirty="0"/>
          </a:p>
        </p:txBody>
      </p:sp>
      <p:sp>
        <p:nvSpPr>
          <p:cNvPr id="17" name="Text 12"/>
          <p:cNvSpPr txBox="1"/>
          <p:nvPr/>
        </p:nvSpPr>
        <p:spPr>
          <a:xfrm>
            <a:off x="7086600" y="29763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Front 17.5 to 22.0 fps, 53 to 102 ms. Rear 14.4 to 14.5 fps, 126 to 151 ms, slower while the Pi 4 was throttled.</a:t>
            </a:r>
            <a:endParaRPr lang="en-US" sz="1300" dirty="0"/>
          </a:p>
        </p:txBody>
      </p:sp>
      <p:sp>
        <p:nvSpPr>
          <p:cNvPr id="18" name="Shape 13"/>
          <p:cNvSpPr/>
          <p:nvPr/>
        </p:nvSpPr>
        <p:spPr>
          <a:xfrm>
            <a:off x="6858000" y="3794760"/>
            <a:ext cx="4785055" cy="1120140"/>
          </a:xfrm>
          <a:prstGeom prst="roundRect">
            <a:avLst>
              <a:gd name="adj" fmla="val 9796"/>
            </a:avLst>
          </a:prstGeom>
          <a:solidFill>
            <a:srgbClr val="E8F0FA"/>
          </a:solidFill>
          <a:ln w="12700">
            <a:solidFill>
              <a:srgbClr val="E8F0FA"/>
            </a:solidFill>
            <a:prstDash val="solid"/>
          </a:ln>
        </p:spPr>
      </p:sp>
      <p:sp>
        <p:nvSpPr>
          <p:cNvPr id="19" name="Text 14"/>
          <p:cNvSpPr txBox="1"/>
          <p:nvPr/>
        </p:nvSpPr>
        <p:spPr>
          <a:xfrm>
            <a:off x="7086600" y="38862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 and privacy</a:t>
            </a:r>
            <a:endParaRPr lang="en-US" sz="1600" dirty="0"/>
          </a:p>
        </p:txBody>
      </p:sp>
      <p:sp>
        <p:nvSpPr>
          <p:cNvPr id="20" name="Text 15"/>
          <p:cNvSpPr txBox="1"/>
          <p:nvPr/>
        </p:nvSpPr>
        <p:spPr>
          <a:xfrm>
            <a:off x="7086600" y="42336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Frames are never stored; five fields per alert.</a:t>
            </a:r>
            <a:endParaRPr lang="en-US" sz="1300" dirty="0"/>
          </a:p>
        </p:txBody>
      </p:sp>
      <p:sp>
        <p:nvSpPr>
          <p:cNvPr id="21" name="Shape 16"/>
          <p:cNvSpPr/>
          <p:nvPr/>
        </p:nvSpPr>
        <p:spPr>
          <a:xfrm>
            <a:off x="6858000" y="5052060"/>
            <a:ext cx="4785055" cy="1120140"/>
          </a:xfrm>
          <a:prstGeom prst="roundRect">
            <a:avLst>
              <a:gd name="adj" fmla="val 9796"/>
            </a:avLst>
          </a:prstGeom>
          <a:solidFill>
            <a:srgbClr val="E8F0FA"/>
          </a:solidFill>
          <a:ln w="12700">
            <a:solidFill>
              <a:srgbClr val="E8F0FA"/>
            </a:solidFill>
            <a:prstDash val="solid"/>
          </a:ln>
        </p:spPr>
      </p:sp>
      <p:sp>
        <p:nvSpPr>
          <p:cNvPr id="22" name="Text 17"/>
          <p:cNvSpPr txBox="1"/>
          <p:nvPr/>
        </p:nvSpPr>
        <p:spPr>
          <a:xfrm>
            <a:off x="7086600" y="51435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model (off by default)</a:t>
            </a:r>
            <a:endParaRPr lang="en-US" sz="1600" dirty="0"/>
          </a:p>
        </p:txBody>
      </p:sp>
      <p:sp>
        <p:nvSpPr>
          <p:cNvPr id="23" name="Text 18"/>
          <p:cNvSpPr txBox="1"/>
          <p:nvPr/>
        </p:nvSpPr>
        <p:spPr>
          <a:xfrm>
            <a:off x="7086600" y="54909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mAP@50 0.714 on validation tiles; found at 0.63 in a test image; too slow beside the detector on the Pi 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Approaching objects: time to contact from box growth</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14</a:t>
            </a:r>
            <a:endParaRPr lang="en-US" sz="1100" dirty="0"/>
          </a:p>
        </p:txBody>
      </p:sp>
      <p:sp>
        <p:nvSpPr>
          <p:cNvPr id="9" name="Shape 5"/>
          <p:cNvSpPr/>
          <p:nvPr/>
        </p:nvSpPr>
        <p:spPr>
          <a:xfrm>
            <a:off x="548640" y="1280160"/>
            <a:ext cx="5760720" cy="4892040"/>
          </a:xfrm>
          <a:prstGeom prst="roundRect">
            <a:avLst>
              <a:gd name="adj" fmla="val 2243"/>
            </a:avLst>
          </a:prstGeom>
          <a:solidFill>
            <a:srgbClr val="E8F0FA"/>
          </a:solidFill>
          <a:ln w="12700">
            <a:solidFill>
              <a:srgbClr val="E8F0FA"/>
            </a:solidFill>
            <a:prstDash val="solid"/>
          </a:ln>
        </p:spPr>
      </p:sp>
      <p:sp>
        <p:nvSpPr>
          <p:cNvPr id="10" name="Shape 6"/>
          <p:cNvSpPr/>
          <p:nvPr/>
        </p:nvSpPr>
        <p:spPr>
          <a:xfrm>
            <a:off x="1165860" y="2862072"/>
            <a:ext cx="502920" cy="384048"/>
          </a:xfrm>
          <a:prstGeom prst="rect">
            <a:avLst/>
          </a:prstGeom>
          <a:solidFill>
            <a:srgbClr val="FFFFFF"/>
          </a:solidFill>
          <a:ln w="25400">
            <a:solidFill>
              <a:srgbClr val="1565C0"/>
            </a:solidFill>
            <a:prstDash val="solid"/>
          </a:ln>
        </p:spPr>
      </p:sp>
      <p:sp>
        <p:nvSpPr>
          <p:cNvPr id="11" name="Shape 7"/>
          <p:cNvSpPr/>
          <p:nvPr/>
        </p:nvSpPr>
        <p:spPr>
          <a:xfrm>
            <a:off x="2857500" y="2587752"/>
            <a:ext cx="868680" cy="658368"/>
          </a:xfrm>
          <a:prstGeom prst="rect">
            <a:avLst/>
          </a:prstGeom>
          <a:solidFill>
            <a:srgbClr val="FFFFFF"/>
          </a:solidFill>
          <a:ln w="25400">
            <a:solidFill>
              <a:srgbClr val="1565C0"/>
            </a:solidFill>
            <a:prstDash val="solid"/>
          </a:ln>
        </p:spPr>
      </p:sp>
      <p:sp>
        <p:nvSpPr>
          <p:cNvPr id="12" name="Shape 8"/>
          <p:cNvSpPr/>
          <p:nvPr/>
        </p:nvSpPr>
        <p:spPr>
          <a:xfrm>
            <a:off x="4457700" y="2167128"/>
            <a:ext cx="1417320" cy="1078992"/>
          </a:xfrm>
          <a:prstGeom prst="rect">
            <a:avLst/>
          </a:prstGeom>
          <a:solidFill>
            <a:srgbClr val="FFFFFF"/>
          </a:solidFill>
          <a:ln w="25400">
            <a:solidFill>
              <a:srgbClr val="D4700C"/>
            </a:solidFill>
            <a:prstDash val="solid"/>
          </a:ln>
        </p:spPr>
      </p:sp>
      <p:sp>
        <p:nvSpPr>
          <p:cNvPr id="13" name="Text 9"/>
          <p:cNvSpPr txBox="1"/>
          <p:nvPr/>
        </p:nvSpPr>
        <p:spPr>
          <a:xfrm>
            <a:off x="68580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− 0.6 s</a:t>
            </a:r>
            <a:endParaRPr lang="en-US" sz="1300" dirty="0"/>
          </a:p>
        </p:txBody>
      </p:sp>
      <p:sp>
        <p:nvSpPr>
          <p:cNvPr id="14" name="Text 10"/>
          <p:cNvSpPr txBox="1"/>
          <p:nvPr/>
        </p:nvSpPr>
        <p:spPr>
          <a:xfrm>
            <a:off x="256032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− 0.3 s</a:t>
            </a:r>
            <a:endParaRPr lang="en-US" sz="1300" dirty="0"/>
          </a:p>
        </p:txBody>
      </p:sp>
      <p:sp>
        <p:nvSpPr>
          <p:cNvPr id="15" name="Text 11"/>
          <p:cNvSpPr txBox="1"/>
          <p:nvPr/>
        </p:nvSpPr>
        <p:spPr>
          <a:xfrm>
            <a:off x="443484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now</a:t>
            </a:r>
            <a:endParaRPr lang="en-US" sz="1300" dirty="0"/>
          </a:p>
        </p:txBody>
      </p:sp>
      <p:sp>
        <p:nvSpPr>
          <p:cNvPr id="16" name="Text 12"/>
          <p:cNvSpPr txBox="1"/>
          <p:nvPr/>
        </p:nvSpPr>
        <p:spPr>
          <a:xfrm>
            <a:off x="822960" y="1444752"/>
            <a:ext cx="5212080" cy="36576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The box width w of a tracked object grows as it closes</a:t>
            </a:r>
            <a:endParaRPr lang="en-US" sz="1600" dirty="0"/>
          </a:p>
        </p:txBody>
      </p:sp>
      <p:sp>
        <p:nvSpPr>
          <p:cNvPr id="17" name="Text 13"/>
          <p:cNvSpPr txBox="1"/>
          <p:nvPr/>
        </p:nvSpPr>
        <p:spPr>
          <a:xfrm>
            <a:off x="822960" y="3703320"/>
            <a:ext cx="5212080"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τ = w / (dw/dt)</a:t>
            </a:r>
            <a:endParaRPr lang="en-US" sz="3400" dirty="0"/>
          </a:p>
        </p:txBody>
      </p:sp>
      <p:sp>
        <p:nvSpPr>
          <p:cNvPr id="18" name="Text 14"/>
          <p:cNvSpPr txBox="1"/>
          <p:nvPr/>
        </p:nvSpPr>
        <p:spPr>
          <a:xfrm>
            <a:off x="822960" y="4480560"/>
            <a:ext cx="5212080" cy="16002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1/w falls in a straight line to zero at contact; a Theil-Sen line is fitted over the last 0.6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focal length or object size needed (Lee 1976; Dagan et al. 2004)</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Used only with 5 frames over 0.25 s, 75 % of slopes agreeing, 5 % growth, box clear of the image edge</a:t>
            </a:r>
            <a:endParaRPr lang="en-US" sz="1400" dirty="0"/>
          </a:p>
        </p:txBody>
      </p:sp>
      <p:sp>
        <p:nvSpPr>
          <p:cNvPr id="19" name="Shape 15"/>
          <p:cNvSpPr/>
          <p:nvPr/>
        </p:nvSpPr>
        <p:spPr>
          <a:xfrm>
            <a:off x="6629400" y="1280160"/>
            <a:ext cx="5013655" cy="1520952"/>
          </a:xfrm>
          <a:prstGeom prst="roundRect">
            <a:avLst>
              <a:gd name="adj" fmla="val 7214"/>
            </a:avLst>
          </a:prstGeom>
          <a:solidFill>
            <a:srgbClr val="E8F0FA"/>
          </a:solidFill>
          <a:ln w="12700">
            <a:solidFill>
              <a:srgbClr val="E8F0FA"/>
            </a:solidFill>
            <a:prstDash val="solid"/>
          </a:ln>
        </p:spPr>
      </p:sp>
      <p:sp>
        <p:nvSpPr>
          <p:cNvPr id="20" name="Text 16"/>
          <p:cNvSpPr txBox="1"/>
          <p:nvPr/>
        </p:nvSpPr>
        <p:spPr>
          <a:xfrm>
            <a:off x="6858000" y="1371600"/>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Warning rule</a:t>
            </a:r>
            <a:endParaRPr lang="en-US" sz="1600" dirty="0"/>
          </a:p>
        </p:txBody>
      </p:sp>
      <p:sp>
        <p:nvSpPr>
          <p:cNvPr id="21" name="Text 17"/>
          <p:cNvSpPr txBox="1"/>
          <p:nvPr/>
        </p:nvSpPr>
        <p:spPr>
          <a:xfrm>
            <a:off x="6858000" y="1719072"/>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Approaching when τ is under 4 s (warning) or 2 s (immediate), after the 3-frame onset; released above 5 s. Inside the time-of-flight range the sensor's own closing rate gives τ.</a:t>
            </a:r>
            <a:endParaRPr lang="en-US" sz="1300" dirty="0"/>
          </a:p>
        </p:txBody>
      </p:sp>
      <p:sp>
        <p:nvSpPr>
          <p:cNvPr id="22" name="Shape 18"/>
          <p:cNvSpPr/>
          <p:nvPr/>
        </p:nvSpPr>
        <p:spPr>
          <a:xfrm>
            <a:off x="6629400" y="2965704"/>
            <a:ext cx="5013655" cy="1520952"/>
          </a:xfrm>
          <a:prstGeom prst="roundRect">
            <a:avLst>
              <a:gd name="adj" fmla="val 7214"/>
            </a:avLst>
          </a:prstGeom>
          <a:solidFill>
            <a:srgbClr val="E8F0FA"/>
          </a:solidFill>
          <a:ln w="12700">
            <a:solidFill>
              <a:srgbClr val="E8F0FA"/>
            </a:solidFill>
            <a:prstDash val="solid"/>
          </a:ln>
        </p:spPr>
      </p:sp>
      <p:sp>
        <p:nvSpPr>
          <p:cNvPr id="23" name="Text 19"/>
          <p:cNvSpPr txBox="1"/>
          <p:nvPr/>
        </p:nvSpPr>
        <p:spPr>
          <a:xfrm>
            <a:off x="6858000" y="3057144"/>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Tested (synthetic, 15 Oct)</a:t>
            </a:r>
            <a:endParaRPr lang="en-US" sz="1600" dirty="0"/>
          </a:p>
        </p:txBody>
      </p:sp>
      <p:sp>
        <p:nvSpPr>
          <p:cNvPr id="24" name="Text 20"/>
          <p:cNvSpPr txBox="1"/>
          <p:nvPr/>
        </p:nvSpPr>
        <p:spPr>
          <a:xfrm>
            <a:off x="6858000" y="3404616"/>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40 tests pass: τ within 2 % at constant speed; no alerts in 5,000 frames of receding, still or jittering boxes. 0.27 ms per frame on a laptop.</a:t>
            </a:r>
            <a:endParaRPr lang="en-US" sz="1300" dirty="0"/>
          </a:p>
        </p:txBody>
      </p:sp>
      <p:sp>
        <p:nvSpPr>
          <p:cNvPr id="25" name="Shape 21"/>
          <p:cNvSpPr/>
          <p:nvPr/>
        </p:nvSpPr>
        <p:spPr>
          <a:xfrm>
            <a:off x="6629400" y="4651248"/>
            <a:ext cx="5013655" cy="1520952"/>
          </a:xfrm>
          <a:prstGeom prst="roundRect">
            <a:avLst>
              <a:gd name="adj" fmla="val 7214"/>
            </a:avLst>
          </a:prstGeom>
          <a:solidFill>
            <a:srgbClr val="FFFFFF"/>
          </a:solidFill>
          <a:ln w="25400">
            <a:solidFill>
              <a:srgbClr val="D4700C"/>
            </a:solidFill>
            <a:prstDash val="dash"/>
          </a:ln>
        </p:spPr>
      </p:sp>
      <p:sp>
        <p:nvSpPr>
          <p:cNvPr id="26" name="Text 22"/>
          <p:cNvSpPr txBox="1"/>
          <p:nvPr/>
        </p:nvSpPr>
        <p:spPr>
          <a:xfrm>
            <a:off x="6858000" y="4742688"/>
            <a:ext cx="4556455" cy="329184"/>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Untested</a:t>
            </a:r>
            <a:endParaRPr lang="en-US" sz="1600" dirty="0"/>
          </a:p>
        </p:txBody>
      </p:sp>
      <p:sp>
        <p:nvSpPr>
          <p:cNvPr id="27" name="Text 23"/>
          <p:cNvSpPr txBox="1"/>
          <p:nvPr/>
        </p:nvSpPr>
        <p:spPr>
          <a:xfrm>
            <a:off x="6858000" y="5090160"/>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No real approach yet (test C11). On the road the front camera marked 261 car alerts as approaching, not yet checked against video. A still object ahead counts while driving: intended.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Both cameras on the existing dashboard</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14</a:t>
            </a:r>
            <a:endParaRPr lang="en-US" sz="1100" dirty="0"/>
          </a:p>
        </p:txBody>
      </p:sp>
      <p:pic>
        <p:nvPicPr>
          <p:cNvPr id="9" name="Image 1" descr="C:\Users\0geda\OneDrive - University of Cape Town\Documents\PlatformIO\Projects\Tukzie-HPEC-HUD\.claude\worktrees\agent-ad83ea5807b9a7552\Report\figures\ui\ui_dualcam_front.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claude\worktrees\agent-ad83ea5807b9a7552\Report\figures\ui\ui_dualcam_rear_approaching.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Pi 5 camera and ToF (test image)</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Rear, mirrored: car approaching at 1.6 s (test)</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cameras, one page (15 Oct)</a:t>
            </a:r>
            <a:endParaRPr lang="en-US" sz="1600" dirty="0"/>
          </a:p>
        </p:txBody>
      </p:sp>
      <p:sp>
        <p:nvSpPr>
          <p:cNvPr id="15" name="Text 9"/>
          <p:cNvSpPr txBox="1"/>
          <p:nvPr/>
        </p:nvSpPr>
        <p:spPr>
          <a:xfrm>
            <a:off x="822960" y="4297680"/>
            <a:ext cx="6217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Front | Rear switch moves picture, alerts, distances and hazards together</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Rear view mirrored like a car's reversing camera</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Banner names the side; an approaching object comes first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Live data only: a lost side shows offline, never zero or the other side</a:t>
            </a:r>
            <a:endParaRPr lang="en-US" sz="1400" dirty="0"/>
          </a:p>
        </p:txBody>
      </p:sp>
      <p:sp>
        <p:nvSpPr>
          <p:cNvPr id="16" name="Shape 10"/>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7" name="Text 11"/>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Live on the Pi 5</a:t>
            </a:r>
            <a:endParaRPr lang="en-US" sz="1800" dirty="0"/>
          </a:p>
        </p:txBody>
      </p:sp>
      <p:pic>
        <p:nvPicPr>
          <p:cNvPr id="18" name="Image 3" descr="C:\Users\0geda\OneDrive - University of Cape Town\Documents\PlatformIO\Projects\Tukzie-HPEC-HUD\.claude\worktrees\agent-ad83ea5807b9a7552\Report\figures\ui\ui_pi5_live_dualcam.png">    </p:cNvPr>
          <p:cNvPicPr>
            <a:picLocks noChangeAspect="1"/>
          </p:cNvPicPr>
          <p:nvPr/>
        </p:nvPicPr>
        <p:blipFill>
          <a:blip r:embed="rId4"/>
          <a:stretch>
            <a:fillRect/>
          </a:stretch>
        </p:blipFill>
        <p:spPr>
          <a:xfrm>
            <a:off x="7909560" y="1828800"/>
            <a:ext cx="3459175" cy="2161985"/>
          </a:xfrm>
          <a:prstGeom prst="rect">
            <a:avLst/>
          </a:prstGeom>
        </p:spPr>
      </p:pic>
      <p:sp>
        <p:nvSpPr>
          <p:cNvPr id="19" name="Text 12"/>
          <p:cNvSpPr txBox="1"/>
          <p:nvPr/>
        </p:nvSpPr>
        <p:spPr>
          <a:xfrm>
            <a:off x="7909560" y="4045649"/>
            <a:ext cx="3459175" cy="45720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15 Oct: live front camera at 23.6 fps, a rear warning in the banner</a:t>
            </a:r>
            <a:endParaRPr lang="en-US" sz="1200" dirty="0"/>
          </a:p>
        </p:txBody>
      </p:sp>
      <p:sp>
        <p:nvSpPr>
          <p:cNvPr id="20" name="Text 13"/>
          <p:cNvSpPr txBox="1"/>
          <p:nvPr/>
        </p:nvSpPr>
        <p:spPr>
          <a:xfrm>
            <a:off x="7909560" y="4539425"/>
            <a:ext cx="3459175" cy="7315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Tested offscreen with four fake servers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Paper theme, one tap colour, status in words</a:t>
            </a:r>
            <a:endParaRPr lang="en-US" sz="1300" dirty="0"/>
          </a:p>
        </p:txBody>
      </p:sp>
      <p:sp>
        <p:nvSpPr>
          <p:cNvPr id="21" name="Text 14"/>
          <p:cNvSpPr txBox="1"/>
          <p:nvPr/>
        </p:nvSpPr>
        <p:spPr>
          <a:xfrm>
            <a:off x="7909560" y="5532120"/>
            <a:ext cx="3459175" cy="54864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on the vehicle, against NHTSA and ISO 15008.</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enclosures, heat and power</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14</a:t>
            </a:r>
            <a:endParaRPr lang="en-US" sz="1100" dirty="0"/>
          </a:p>
        </p:txBody>
      </p:sp>
      <p:sp>
        <p:nvSpPr>
          <p:cNvPr id="9" name="Shape 5"/>
          <p:cNvSpPr/>
          <p:nvPr/>
        </p:nvSpPr>
        <p:spPr>
          <a:xfrm>
            <a:off x="548640" y="1280160"/>
            <a:ext cx="3291840" cy="2514600"/>
          </a:xfrm>
          <a:prstGeom prst="roundRect">
            <a:avLst>
              <a:gd name="adj" fmla="val 4364"/>
            </a:avLst>
          </a:prstGeom>
          <a:solidFill>
            <a:srgbClr val="FFFFFF"/>
          </a:solidFill>
          <a:ln w="12700">
            <a:solidFill>
              <a:srgbClr val="C9D6E8"/>
            </a:solidFill>
            <a:prstDash val="solid"/>
          </a:ln>
        </p:spPr>
      </p:sp>
      <p:pic>
        <p:nvPicPr>
          <p:cNvPr id="10" name="Image 1" descr="C:\Users\0geda\OneDrive - University of Cape Town\Documents\PlatformIO\Projects\Tukzie-HPEC-HUD\.claude\worktrees\agent-ad83ea5807b9a7552\Presentation\source\assets\cad_front_pod.png">    </p:cNvPr>
          <p:cNvPicPr>
            <a:picLocks noChangeAspect="1"/>
          </p:cNvPicPr>
          <p:nvPr/>
        </p:nvPicPr>
        <p:blipFill>
          <a:blip r:embed="rId2"/>
          <a:stretch>
            <a:fillRect/>
          </a:stretch>
        </p:blipFill>
        <p:spPr>
          <a:xfrm>
            <a:off x="698479" y="1371600"/>
            <a:ext cx="2992163" cy="2011680"/>
          </a:xfrm>
          <a:prstGeom prst="rect">
            <a:avLst/>
          </a:prstGeom>
        </p:spPr>
      </p:pic>
      <p:sp>
        <p:nvSpPr>
          <p:cNvPr id="11" name="Text 6"/>
          <p:cNvSpPr txBox="1"/>
          <p:nvPr/>
        </p:nvSpPr>
        <p:spPr>
          <a:xfrm>
            <a:off x="68580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Pi 5 with AI HAT+, camera, ToF</a:t>
            </a:r>
            <a:endParaRPr lang="en-US" sz="1200" dirty="0"/>
          </a:p>
        </p:txBody>
      </p:sp>
      <p:sp>
        <p:nvSpPr>
          <p:cNvPr id="12" name="Shape 7"/>
          <p:cNvSpPr/>
          <p:nvPr/>
        </p:nvSpPr>
        <p:spPr>
          <a:xfrm>
            <a:off x="4023360" y="1280160"/>
            <a:ext cx="3291840" cy="2514600"/>
          </a:xfrm>
          <a:prstGeom prst="roundRect">
            <a:avLst>
              <a:gd name="adj" fmla="val 4364"/>
            </a:avLst>
          </a:prstGeom>
          <a:solidFill>
            <a:srgbClr val="FFFFFF"/>
          </a:solidFill>
          <a:ln w="12700">
            <a:solidFill>
              <a:srgbClr val="C9D6E8"/>
            </a:solidFill>
            <a:prstDash val="solid"/>
          </a:ln>
        </p:spPr>
      </p:sp>
      <p:pic>
        <p:nvPicPr>
          <p:cNvPr id="13" name="Image 2" descr="C:\Users\0geda\OneDrive - University of Cape Town\Documents\PlatformIO\Projects\Tukzie-HPEC-HUD\.claude\worktrees\agent-ad83ea5807b9a7552\Presentation\source\assets\cad_display_mount.png">    </p:cNvPr>
          <p:cNvPicPr>
            <a:picLocks noChangeAspect="1"/>
          </p:cNvPicPr>
          <p:nvPr/>
        </p:nvPicPr>
        <p:blipFill>
          <a:blip r:embed="rId3"/>
          <a:stretch>
            <a:fillRect/>
          </a:stretch>
        </p:blipFill>
        <p:spPr>
          <a:xfrm>
            <a:off x="4230370" y="1371600"/>
            <a:ext cx="2877820" cy="2011680"/>
          </a:xfrm>
          <a:prstGeom prst="rect">
            <a:avLst/>
          </a:prstGeom>
        </p:spPr>
      </p:pic>
      <p:sp>
        <p:nvSpPr>
          <p:cNvPr id="14" name="Text 8"/>
          <p:cNvSpPr txBox="1"/>
          <p:nvPr/>
        </p:nvSpPr>
        <p:spPr>
          <a:xfrm>
            <a:off x="416052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Display mount: bar clamp, dovetail rail</a:t>
            </a:r>
            <a:endParaRPr lang="en-US" sz="1200" dirty="0"/>
          </a:p>
        </p:txBody>
      </p:sp>
      <p:sp>
        <p:nvSpPr>
          <p:cNvPr id="15" name="Shape 9"/>
          <p:cNvSpPr/>
          <p:nvPr/>
        </p:nvSpPr>
        <p:spPr>
          <a:xfrm>
            <a:off x="548640" y="3977640"/>
            <a:ext cx="3291840" cy="1600200"/>
          </a:xfrm>
          <a:prstGeom prst="roundRect">
            <a:avLst>
              <a:gd name="adj" fmla="val 6857"/>
            </a:avLst>
          </a:prstGeom>
          <a:solidFill>
            <a:srgbClr val="FFFFFF"/>
          </a:solidFill>
          <a:ln w="12700">
            <a:solidFill>
              <a:srgbClr val="C9D6E8"/>
            </a:solidFill>
            <a:prstDash val="solid"/>
          </a:ln>
        </p:spPr>
      </p:sp>
      <p:pic>
        <p:nvPicPr>
          <p:cNvPr id="16" name="Image 3" descr="C:\Users\0geda\OneDrive - University of Cape Town\Documents\PlatformIO\Projects\Tukzie-HPEC-HUD\.claude\worktrees\agent-ad83ea5807b9a7552\Presentation\source\assets\cad_vented_lid.png">    </p:cNvPr>
          <p:cNvPicPr>
            <a:picLocks noChangeAspect="1"/>
          </p:cNvPicPr>
          <p:nvPr/>
        </p:nvPicPr>
        <p:blipFill>
          <a:blip r:embed="rId4"/>
          <a:stretch>
            <a:fillRect/>
          </a:stretch>
        </p:blipFill>
        <p:spPr>
          <a:xfrm>
            <a:off x="1259840" y="4069080"/>
            <a:ext cx="1869440" cy="1097280"/>
          </a:xfrm>
          <a:prstGeom prst="rect">
            <a:avLst/>
          </a:prstGeom>
        </p:spPr>
      </p:pic>
      <p:sp>
        <p:nvSpPr>
          <p:cNvPr id="17" name="Text 10"/>
          <p:cNvSpPr txBox="1"/>
          <p:nvPr/>
        </p:nvSpPr>
        <p:spPr>
          <a:xfrm>
            <a:off x="68580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Vented lid: grille under a rain hood</a:t>
            </a:r>
            <a:endParaRPr lang="en-US" sz="1200" dirty="0"/>
          </a:p>
        </p:txBody>
      </p:sp>
      <p:sp>
        <p:nvSpPr>
          <p:cNvPr id="18" name="Shape 11"/>
          <p:cNvSpPr/>
          <p:nvPr/>
        </p:nvSpPr>
        <p:spPr>
          <a:xfrm>
            <a:off x="4023360" y="3977640"/>
            <a:ext cx="3291840" cy="1600200"/>
          </a:xfrm>
          <a:prstGeom prst="roundRect">
            <a:avLst>
              <a:gd name="adj" fmla="val 6857"/>
            </a:avLst>
          </a:prstGeom>
          <a:solidFill>
            <a:srgbClr val="FFFFFF"/>
          </a:solidFill>
          <a:ln w="12700">
            <a:solidFill>
              <a:srgbClr val="C9D6E8"/>
            </a:solidFill>
            <a:prstDash val="solid"/>
          </a:ln>
        </p:spPr>
      </p:sp>
      <p:pic>
        <p:nvPicPr>
          <p:cNvPr id="19" name="Image 4" descr="C:\Users\0geda\OneDrive - University of Cape Town\Documents\PlatformIO\Projects\Tukzie-HPEC-HUD\.claude\worktrees\agent-ad83ea5807b9a7552\Presentation\source\assets\cad_front_pod_inside.png">    </p:cNvPr>
          <p:cNvPicPr>
            <a:picLocks noChangeAspect="1"/>
          </p:cNvPicPr>
          <p:nvPr/>
        </p:nvPicPr>
        <p:blipFill>
          <a:blip r:embed="rId5"/>
          <a:stretch>
            <a:fillRect/>
          </a:stretch>
        </p:blipFill>
        <p:spPr>
          <a:xfrm>
            <a:off x="4242816" y="4069080"/>
            <a:ext cx="2852928" cy="1097280"/>
          </a:xfrm>
          <a:prstGeom prst="rect">
            <a:avLst/>
          </a:prstGeom>
        </p:spPr>
      </p:pic>
      <p:sp>
        <p:nvSpPr>
          <p:cNvPr id="20" name="Text 12"/>
          <p:cNvSpPr txBox="1"/>
          <p:nvPr/>
        </p:nvSpPr>
        <p:spPr>
          <a:xfrm>
            <a:off x="416052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inside: Pi 5, cooler, AI HAT+</a:t>
            </a:r>
            <a:endParaRPr lang="en-US" sz="1200" dirty="0"/>
          </a:p>
        </p:txBody>
      </p:sp>
      <p:sp>
        <p:nvSpPr>
          <p:cNvPr id="21" name="Text 13"/>
          <p:cNvSpPr txBox="1"/>
          <p:nvPr/>
        </p:nvSpPr>
        <p:spPr>
          <a:xfrm>
            <a:off x="548640" y="566928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Also an IMU pod (rev 3, push-fit, no screws). Printed so far: the rear box and a first IMU pod; the rest are checked in CAD only, fit tests outstanding.</a:t>
            </a:r>
            <a:endParaRPr lang="en-US" sz="1200" dirty="0"/>
          </a:p>
        </p:txBody>
      </p:sp>
      <p:sp>
        <p:nvSpPr>
          <p:cNvPr id="22" name="Shape 14"/>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23" name="Text 15"/>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Power budget</a:t>
            </a:r>
            <a:endParaRPr lang="en-US" sz="1800" dirty="0"/>
          </a:p>
        </p:txBody>
      </p:sp>
      <p:sp>
        <p:nvSpPr>
          <p:cNvPr id="24" name="Text 16"/>
          <p:cNvSpPr txBox="1"/>
          <p:nvPr/>
        </p:nvSpPr>
        <p:spPr>
          <a:xfrm>
            <a:off x="7909560" y="1828800"/>
            <a:ext cx="3459175" cy="73152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about 20 W</a:t>
            </a:r>
            <a:endParaRPr lang="en-US" sz="4000" dirty="0"/>
          </a:p>
        </p:txBody>
      </p:sp>
      <p:sp>
        <p:nvSpPr>
          <p:cNvPr id="25" name="Text 17"/>
          <p:cNvSpPr txBox="1"/>
          <p:nvPr/>
        </p:nvSpPr>
        <p:spPr>
          <a:xfrm>
            <a:off x="7909560" y="2578608"/>
            <a:ext cx="3459175"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0.27 A from the 72 V pack while driving; 35 W short peaks</a:t>
            </a:r>
            <a:endParaRPr lang="en-US" sz="1400" dirty="0"/>
          </a:p>
        </p:txBody>
      </p:sp>
      <p:sp>
        <p:nvSpPr>
          <p:cNvPr id="26" name="Text 18"/>
          <p:cNvSpPr txBox="1"/>
          <p:nvPr/>
        </p:nvSpPr>
        <p:spPr>
          <a:xfrm>
            <a:off x="7909560" y="3246120"/>
            <a:ext cx="3459175" cy="28346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About 0.8 % of the motor's 2.5 kW rated input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Pack from the BMS: 24 cells, 150 A, about 60 to 88 V</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Converter: rated to 100 V, 40 W at 5 V, fused, off with the vehicle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Measured: only the Pi 5 (2.2 to 3.0 W on its rails); the rest are estimates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First road session, 19 October</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13 / 14</a:t>
            </a:r>
            <a:endParaRPr lang="en-US" sz="1100" dirty="0"/>
          </a:p>
        </p:txBody>
      </p:sp>
      <p:sp>
        <p:nvSpPr>
          <p:cNvPr id="9" name="Shape 5"/>
          <p:cNvSpPr/>
          <p:nvPr/>
        </p:nvSpPr>
        <p:spPr>
          <a:xfrm>
            <a:off x="548640" y="1280160"/>
            <a:ext cx="3268980" cy="2011680"/>
          </a:xfrm>
          <a:prstGeom prst="roundRect">
            <a:avLst>
              <a:gd name="adj" fmla="val 5455"/>
            </a:avLst>
          </a:prstGeom>
          <a:solidFill>
            <a:srgbClr val="E8F0FA"/>
          </a:solidFill>
          <a:ln w="12700">
            <a:solidFill>
              <a:srgbClr val="E8F0FA"/>
            </a:solidFill>
            <a:prstDash val="solid"/>
          </a:ln>
        </p:spPr>
      </p:sp>
      <p:sp>
        <p:nvSpPr>
          <p:cNvPr id="10" name="Text 6"/>
          <p:cNvSpPr txBox="1"/>
          <p:nvPr/>
        </p:nvSpPr>
        <p:spPr>
          <a:xfrm>
            <a:off x="82296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108.6 min</a:t>
            </a:r>
            <a:endParaRPr lang="en-US" sz="3600" dirty="0"/>
          </a:p>
        </p:txBody>
      </p:sp>
      <p:sp>
        <p:nvSpPr>
          <p:cNvPr id="11" name="Text 7"/>
          <p:cNvSpPr txBox="1"/>
          <p:nvPr/>
        </p:nvSpPr>
        <p:spPr>
          <a:xfrm>
            <a:off x="82296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recorded on the vehicle by the Pi 5, about 19.5 min of it driving</a:t>
            </a:r>
            <a:endParaRPr lang="en-US" sz="1400" dirty="0"/>
          </a:p>
        </p:txBody>
      </p:sp>
      <p:sp>
        <p:nvSpPr>
          <p:cNvPr id="12" name="Shape 8"/>
          <p:cNvSpPr/>
          <p:nvPr/>
        </p:nvSpPr>
        <p:spPr>
          <a:xfrm>
            <a:off x="4046220" y="1280160"/>
            <a:ext cx="3268980" cy="2011680"/>
          </a:xfrm>
          <a:prstGeom prst="roundRect">
            <a:avLst>
              <a:gd name="adj" fmla="val 5455"/>
            </a:avLst>
          </a:prstGeom>
          <a:solidFill>
            <a:srgbClr val="E8F0FA"/>
          </a:solidFill>
          <a:ln w="12700">
            <a:solidFill>
              <a:srgbClr val="E8F0FA"/>
            </a:solidFill>
            <a:prstDash val="solid"/>
          </a:ln>
        </p:spPr>
      </p:sp>
      <p:sp>
        <p:nvSpPr>
          <p:cNvPr id="13" name="Text 9"/>
          <p:cNvSpPr txBox="1"/>
          <p:nvPr/>
        </p:nvSpPr>
        <p:spPr>
          <a:xfrm>
            <a:off x="432054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200 Hz</a:t>
            </a:r>
            <a:endParaRPr lang="en-US" sz="3600" dirty="0"/>
          </a:p>
        </p:txBody>
      </p:sp>
      <p:sp>
        <p:nvSpPr>
          <p:cNvPr id="14" name="Text 10"/>
          <p:cNvSpPr txBox="1"/>
          <p:nvPr/>
        </p:nvSpPr>
        <p:spPr>
          <a:xfrm>
            <a:off x="432054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no drops in 10,287 records: R1 met on the vehicle</a:t>
            </a:r>
            <a:endParaRPr lang="en-US" sz="1400" dirty="0"/>
          </a:p>
        </p:txBody>
      </p:sp>
      <p:sp>
        <p:nvSpPr>
          <p:cNvPr id="15" name="Shape 11"/>
          <p:cNvSpPr/>
          <p:nvPr/>
        </p:nvSpPr>
        <p:spPr>
          <a:xfrm>
            <a:off x="548640" y="3520440"/>
            <a:ext cx="3268980" cy="2011680"/>
          </a:xfrm>
          <a:prstGeom prst="roundRect">
            <a:avLst>
              <a:gd name="adj" fmla="val 5455"/>
            </a:avLst>
          </a:prstGeom>
          <a:solidFill>
            <a:srgbClr val="E8F0FA"/>
          </a:solidFill>
          <a:ln w="12700">
            <a:solidFill>
              <a:srgbClr val="E8F0FA"/>
            </a:solidFill>
            <a:prstDash val="solid"/>
          </a:ln>
        </p:spPr>
      </p:sp>
      <p:sp>
        <p:nvSpPr>
          <p:cNvPr id="16" name="Text 12"/>
          <p:cNvSpPr txBox="1"/>
          <p:nvPr/>
        </p:nvSpPr>
        <p:spPr>
          <a:xfrm>
            <a:off x="82296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46.9 A</a:t>
            </a:r>
            <a:endParaRPr lang="en-US" sz="3600" dirty="0"/>
          </a:p>
        </p:txBody>
      </p:sp>
      <p:sp>
        <p:nvSpPr>
          <p:cNvPr id="17" name="Text 13"/>
          <p:cNvSpPr txBox="1"/>
          <p:nvPr/>
        </p:nvSpPr>
        <p:spPr>
          <a:xfrm>
            <a:off x="82296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peak battery current; 74.6 to 72.8 V, 60 to 58 %: R5 met except the meter check</a:t>
            </a:r>
            <a:endParaRPr lang="en-US" sz="1400" dirty="0"/>
          </a:p>
        </p:txBody>
      </p:sp>
      <p:sp>
        <p:nvSpPr>
          <p:cNvPr id="18" name="Shape 14"/>
          <p:cNvSpPr/>
          <p:nvPr/>
        </p:nvSpPr>
        <p:spPr>
          <a:xfrm>
            <a:off x="4046220" y="3520440"/>
            <a:ext cx="3268980" cy="2011680"/>
          </a:xfrm>
          <a:prstGeom prst="roundRect">
            <a:avLst>
              <a:gd name="adj" fmla="val 5455"/>
            </a:avLst>
          </a:prstGeom>
          <a:solidFill>
            <a:srgbClr val="E8F0FA"/>
          </a:solidFill>
          <a:ln w="12700">
            <a:solidFill>
              <a:srgbClr val="E8F0FA"/>
            </a:solidFill>
            <a:prstDash val="solid"/>
          </a:ln>
        </p:spPr>
      </p:sp>
      <p:sp>
        <p:nvSpPr>
          <p:cNvPr id="19" name="Text 15"/>
          <p:cNvSpPr txBox="1"/>
          <p:nvPr/>
        </p:nvSpPr>
        <p:spPr>
          <a:xfrm>
            <a:off x="432054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1,342 / 741</a:t>
            </a:r>
            <a:endParaRPr lang="en-US" sz="3600" dirty="0"/>
          </a:p>
        </p:txBody>
      </p:sp>
      <p:sp>
        <p:nvSpPr>
          <p:cNvPr id="20" name="Text 16"/>
          <p:cNvSpPr txBox="1"/>
          <p:nvPr/>
        </p:nvSpPr>
        <p:spPr>
          <a:xfrm>
            <a:off x="432054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front and rear camera alerts, not yet checked against video</a:t>
            </a:r>
            <a:endParaRPr lang="en-US" sz="1400" dirty="0"/>
          </a:p>
        </p:txBody>
      </p:sp>
      <p:sp>
        <p:nvSpPr>
          <p:cNvPr id="21" name="Text 17"/>
          <p:cNvSpPr txBox="1"/>
          <p:nvPr/>
        </p:nvSpPr>
        <p:spPr>
          <a:xfrm>
            <a:off x="548640" y="562356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Parked and driving separate clearly: one-second vibration median 0.031 parked; 95th percentile 2.0, maximum 5.09 while driving.</a:t>
            </a:r>
            <a:endParaRPr lang="en-US" sz="1200" dirty="0"/>
          </a:p>
        </p:txBody>
      </p:sp>
      <p:sp>
        <p:nvSpPr>
          <p:cNvPr id="22" name="Shape 18"/>
          <p:cNvSpPr/>
          <p:nvPr/>
        </p:nvSpPr>
        <p:spPr>
          <a:xfrm>
            <a:off x="7635240" y="1280160"/>
            <a:ext cx="4007815" cy="4892040"/>
          </a:xfrm>
          <a:prstGeom prst="roundRect">
            <a:avLst>
              <a:gd name="adj" fmla="val 2738"/>
            </a:avLst>
          </a:prstGeom>
          <a:solidFill>
            <a:srgbClr val="FFFFFF"/>
          </a:solidFill>
          <a:ln w="25400">
            <a:solidFill>
              <a:srgbClr val="D4700C"/>
            </a:solidFill>
            <a:prstDash val="dash"/>
          </a:ln>
        </p:spPr>
      </p:sp>
      <p:sp>
        <p:nvSpPr>
          <p:cNvPr id="23" name="Text 19"/>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Not captured, so still open</a:t>
            </a:r>
            <a:endParaRPr lang="en-US" sz="1800" dirty="0"/>
          </a:p>
        </p:txBody>
      </p:sp>
      <p:sp>
        <p:nvSpPr>
          <p:cNvPr id="24" name="Text 20"/>
          <p:cNvSpPr txBox="1"/>
          <p:nvPr/>
        </p:nvSpPr>
        <p:spPr>
          <a:xfrm>
            <a:off x="7909560" y="1920240"/>
            <a:ext cx="3459175" cy="41148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GNSS fix in any record: R4 not met on the vehicle, and no speed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raw 200 Hz samples (v0.7.4) and no run markers: RQ1 and RQ4 not answered yet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LTE upload down: no latency</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Driving found afterwards from battery current and vibration; no gear or speed signal</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Next: a second, shorter session with the raw stream (v0.7.5), a working GNSS antenna, timed runs and the powertrain baseline on stands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claude\worktrees\agent-ad83ea5807b9a7552\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14 / 14</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and measured</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fused; held on the vehicle (R1)</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detection 51 to 54 ms on the Pi 5 (Pi 4: about 120 ms)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Approaching-object warning: synthetic tests within 2 %</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Both cameras on the existing dashboard, live data only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Battery under load on the vehicle (R5); seven faults fixed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Second road session: raw samples, GNSS, timed runs (RQ1, RQ4)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Real approach test (C11), fusion and focal calibration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Glance time on the vehicle (RQ2); latency with GNSS time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Own supply for the telemetry unit; measure each unit's power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Fit-test the printed enclosures on the vehicle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2026-10-20T08:04:58Z</dcterms:created>
  <dcterms:modified xsi:type="dcterms:W3CDTF">2026-10-20T08:04:58Z</dcterms:modified>
</cp:coreProperties>
</file>