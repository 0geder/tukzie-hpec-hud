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charts/chart1.xml" ContentType="application/vnd.openxmlformats-officedocument.drawingml.chart+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notesMasterIdLst>
    <p:notesMasterId r:id="rId1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notesMaster" Target="notesMasters/notesMaster1.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500" b="0" i="0" u="none" strike="noStrike">
                <a:solidFill>
                  <a:srgbClr val="14305C"/>
                </a:solidFill>
                <a:latin typeface="Calibri"/>
              </a:defRPr>
            </a:pPr>
            <a:r>
              <a:rPr sz="1500" b="0" i="0" u="none" strike="noStrike">
                <a:solidFill>
                  <a:srgbClr val="14305C"/>
                </a:solidFill>
                <a:latin typeface="Calibri"/>
              </a:rPr>
              <a:t>Median, sensor readout to detection (ms)</a:t>
            </a:r>
          </a:p>
        </c:rich>
      </c:tx>
      <c:layout/>
      <c:overlay val="0"/>
    </c:title>
    <c:autoTitleDeleted val="0"/>
    <c:plotArea>
      <c:layout/>
      <c:barChart>
        <c:barDir val="bar"/>
        <c:grouping val="clustered"/>
        <c:varyColors val="0"/>
        <c:ser>
          <c:idx val="0"/>
          <c:order val="0"/>
          <c:tx>
            <c:strRef>
              <c:f>Sheet1!$B$1</c:f>
              <c:strCache>
                <c:ptCount val="1"/>
                <c:pt idx="0">
                  <c:v>Median readout to result (ms)</c:v>
                </c:pt>
              </c:strCache>
            </c:strRef>
          </c:tx>
          <c:spPr>
            <a:solidFill>
              <a:srgbClr val="1565C0"/>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Sheet1!$A$2:$A$4</c:f>
              <c:multiLvlStrCache>
                <c:ptCount val="3"/>
                <c:lvl>
                  <c:pt idx="0">
                    <c:v>Pi 4, whole system: 118 to 122 ms</c:v>
                  </c:pt>
                  <c:pt idx="1">
                    <c:v>Pi 4, detector alone: 102 ms</c:v>
                  </c:pt>
                  <c:pt idx="2">
                    <c:v>Pi 5, with the dashboard: 51 to 54 ms</c:v>
                  </c:pt>
                </c:lvl>
              </c:multiLvlStrCache>
            </c:multiLvlStrRef>
          </c:cat>
          <c:val>
            <c:numRef>
              <c:f>Sheet1!$B$2:$B$4</c:f>
              <c:numCache>
                <c:formatCode>General</c:formatCode>
                <c:ptCount val="3"/>
                <c:pt idx="0">
                  <c:v>120</c:v>
                </c:pt>
                <c:pt idx="1">
                  <c:v>102</c:v>
                </c:pt>
                <c:pt idx="2">
                  <c:v>52.5</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6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300" b="0" i="0" u="none" strike="noStrike">
                <a:solidFill>
                  <a:srgbClr val="1B1F24"/>
                </a:solidFill>
                <a:latin typeface="Calibri"/>
              </a:defRPr>
            </a:pPr>
            <a:endParaRPr lang="en-US"/>
          </a:p>
        </c:txPr>
        <c:crossAx val="2094734552"/>
        <c:crosses val="autoZero"/>
        <c:auto val="1"/>
        <c:lblAlgn val="ctr"/>
        <c:noMultiLvlLbl val="1"/>
      </c:catAx>
      <c:valAx>
        <c:axId val="2094734552"/>
        <c:scaling>
          <c:orientation val="minMax"/>
          <c:max val="140"/>
          <c:min val="0"/>
        </c:scaling>
        <c:delete val="0"/>
        <c:axPos val="b"/>
        <c:majorGridlines>
          <c:spPr>
            <a:ln w="9525" cap="flat">
              <a:solidFill>
                <a:srgbClr val="C9D6E8"/>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100" b="0" i="0" u="none" strike="noStrike">
                <a:solidFill>
                  <a:srgbClr val="4A5566"/>
                </a:solidFill>
                <a:latin typeface="Calibri"/>
              </a:defRPr>
            </a:pPr>
            <a:endParaRPr lang="en-US"/>
          </a:p>
        </c:txPr>
        <c:crossAx val="2094734554"/>
        <c:crosses val="autoZero"/>
        <c:crossBetween val="between"/>
        <c:majorUnit val="20"/>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I'm Samson Okuthe, and my project is SW-7, supervised by Associate Professor Simon Winberg with Sampath Jayalath. It is part of TUKZIE, a 72 volt electric cargo trike for last-mile freight. I built its on-board electronics: a telemetry unit that measures how the trike rides, and safety alerts on the dashboard it already has.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Electric trikes make economic sense for freight in African cities: on delivery routes in Dar es Salaam, an electric cargo tricycle cut the operating cost per kilometre by 45.5 percent against a motorcycle. But anything that takes the driver's eyes off the road is a risk; NHTSA guidance limits a single glance to two seconds. So the problem is to combine edge telemetry with short, safety-only alerts on a low-cost trike, and to measure whether each part works.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research questions, and where each honestly stands. RQ1, how accurately and repeatably a low-cost unit characterises the ride: verified on the bench; road repeatability waits for Monday's run. RQ2, alerts on the existing dashboard with the least distraction: this replaced the head-up display with my supervisor's agreement. It is built and its legibility measured; glance time needs a participant. RQ3, latency, loss and recovery: loss and recovery pass a ten-minute outage test; latency needs GNSS time. RQ4, road against powertrain vibration: the stands found the powertrain's lines; their road share waits for the road run.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Since the fifteenth of October the system has two sides, joined by one Ethernet cable. At the front, a Raspberry Pi 5 behind the dashboard runs its own camera, the detector, a time-of-flight board and the fusion, so a front alert never crosses the network. At the rear, beside the battery, the Pi 4 runs the rear camera and sensors and carries the telemetry unit: an ESP32-S3 with LTE, GNSS, the battery link and one IMU at 200 hertz. A second node with its own IMU now sits at the front, so both ends are measured. Two findings drove this: the battery's Bluetooth did not reach the front, and the Pi 5 runs the detector more than twice as fast.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firmware runs on FreeRTOS across two cores. Core 1 holds one task per IMU at the highest priority, on a fixed 5 millisecond period. They never block: each sample is time-stamped into a bounded queue, and if it is full the sample is dropped and counted. Core 0 does the modem, GNSS, MQTT and the flash log, in one task because the modem's serial line has no lock. Version 0.7.4 adds sequence numbers, backlog replay and a 94 hertz filter against aliasing.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Both IMUs run at 200 hertz with no dropped samples, counted, not assumed. Flash writes cause one gap of under 45 milliseconds a minute, and the queue holds the samples through it. A gravity factor per sensor brings both to 9.80 or 9.81, but only in that orientation: with bench factors the parked vehicle read 10.04 and 10.34, so both were recalibrated mounted, not yet rechecked. In a 150 second session all 149 windows fused with under a millisecond of skew. One limit: the 94 hertz filter only partly suppresses aliasing, so a line at 40 to 70 hertz could be an image of one at 136 to 157. A speed sweep tells them apart: a motor line rises with speed, its image falls.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Because each stage was tested before the next, every fault could be traced to one change. Seven needed a real diagnosis; here is the one that mattered most. The Pi 4 kept throttling and rebooting. A logger recorded its power flags every two seconds: clear with nothing attached, then under-voltage fourteen seconds after the telemetry unit's modem came up on its USB port. Moved off, no restarts in four hours. It came back in the closed box: 76.9 degrees and a brown-out restart. So the unit needs its own supply, and the lids gained vents. The Pi 5's restarts while mounting were different: abrupt power loss, not a brown-out.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sync wire gives a median interval of 500.06 milliseconds over 121 edges, with under 0.7 of spread, so camera and IMU clocks line up. On a rooftop, GNSS was a median 2.7 metres from a phone. On the vehicle it has not fixed yet, so a phone now streams its GNSS over its hotspot as the speed reference. The outage test: I switched the radio off for ten minutes. The unit reconnected 5.2 seconds after it came back and cleared 60 records in about 40 seconds; the database holds 112 of 112. The public test broker does not queue, so the log read-back is the safety net, and latency needs GNSS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detector is a pretrained 8-bit SSD-MobileNet. On the Pi 4 with the whole system running it takes 118 to 122 milliseconds from sensor readout to result, at 14.6 frames per second. On the Pi 5 beside the dashboard it is 51 to 54 milliseconds at 19.2 frames per second, with no throttling. At 30 kilometres an hour that is about 0.6 metres less travel before an alert. An alert needs three frames to raise and five to clear, and no frame is ever stored. My pothole model works on a test image but is off by default.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Distance bands say how near an object is, not whether it is coming closer. For an object closing at constant speed, the inverse of its box width falls in a straight line to zero at contact. So time to contact is the width over its rate of growth, after Lee in 1976, and it needs no focal length or object size. I fit that line robustly over the last 0.6 seconds, and warn below 4 seconds, immediate below 2. A one percent jitter in box width gives about plus or minus 0.3 seconds at 4 seconds. In 40 synthetic tests it is within 2 percent, at 0.27 milliseconds a frame. It has not been tested on a real approach.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where RQ2 lands, on the dashboard the team already runs. A Front and Rear switch moves the picture, alerts and distances together, the rear mirrored; the banner names the side and puts an approaching object first; only live data is shown. Glance time needs a participant, but legibility does not, so I measured it. At 0.70 metres the speed digits subtend 84 arc minutes, far above the 20 ISO 15008 recommends; the alert banner subtends 9, and the labels a median of 9, against 16 acceptable. So the speed is legible at a glance; the warnings are not. Enlarging them comes before any glance study.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enclosures were modelled from scripts in SOLIDWORKS, each checked for interference, fasteners and thin walls: a display mount, a front pod for the Pi 5 and its AI HAT, and a screwless IMU pod. After the Pi 4 reached 76.9 degrees in its closed box, both lids gained an exhaust grille under a rain hood. The power budget is about 20 watts, 0.27 amps from the 72 volt pack, under one percent of the motor's rated input. Only the Pi 5 is measured; the rest are estimates.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 the nineteenth of October the whole system was mounted and the first road session run. A recorder on the Pi 5 ran for 108.6 minutes, about 16 of them driving, with no laptop on board. One IMU stall of about 2 seconds, not in the drop count, means R1 is not met on the vehicle, and 38 percent of the records were lost on USB, now replaced by wires. The battery link held at up to 46.9 amps. With no GNSS antenna and no raw samples, RQ1 and RQ4 stayed open. On the twenty-third, with the drive wheel raised, the rear vibration rose five to seven times, between about 40 and 70 hertz, and the front showed the same lines, so the powertrain reaches the front through the frame. Throttle settings were not recorded, so the lines are not yet assigned to motor orders. Monday's road run answers RQ1 and RQ4; the analysis is ready.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conclude. Every subsystem runs together, now on the vehicle: two nodes at 200 hertz with no counted drops; a database that lost nothing across an outage; detection in about 50 milliseconds at the front; an approaching-object warning; and both cameras on the existing dashboard. On the stands the powertrain showed at 40 to 70 hertz, at both ends; the dashboard's warnings are too small. What remains is Monday's road run for RQ1 and RQ4, larger warnings and then glance time for RQ2, the real approach test, and a separate supply for the telemetry unit. Thank you, I'm happy to take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slideLayout" Target="../slideLayouts/slideLayout1.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2" Type="http://schemas.openxmlformats.org/officeDocument/2006/relationships/chart" Target="/ppt/charts/chart1.xml"/><Relationship Id="rId1" Type="http://schemas.openxmlformats.org/officeDocument/2006/relationships/image" Target="../media/image-9-1.png"/><Relationship Id="rId3" Type="http://schemas.openxmlformats.org/officeDocument/2006/relationships/slideLayout" Target="../slideLayouts/slideLayout1.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slideLayout" Target="../slideLayouts/slideLayout1.xml"/><Relationship Id="rId6"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image" Target="../media/image-12-5.png"/><Relationship Id="rId6" Type="http://schemas.openxmlformats.org/officeDocument/2006/relationships/slideLayout" Target="../slideLayouts/slideLayout1.xml"/><Relationship Id="rId7"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slideLayout" Target="../slideLayouts/slideLayout1.xml"/><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4305C"/>
        </a:solidFill>
      </p:bgPr>
    </p:bg>
    <p:spTree>
      <p:nvGrpSpPr>
        <p:cNvPr id="1" name=""/>
        <p:cNvGrpSpPr/>
        <p:nvPr/>
      </p:nvGrpSpPr>
      <p:grpSpPr>
        <a:xfrm>
          <a:off x="0" y="0"/>
          <a:ext cx="0" cy="0"/>
          <a:chOff x="0" y="0"/>
          <a:chExt cx="0" cy="0"/>
        </a:xfrm>
      </p:grpSpPr>
      <p:pic>
        <p:nvPicPr>
          <p:cNvPr id="2" name="Image 0" descr="C:\Users\0geda\OneDrive - University of Cape Town\Documents\PlatformIO\Projects\Tukzie-HPEC-HUD\Presentation\source\assets\uct_banner.jpg">    </p:cNvPr>
          <p:cNvPicPr>
            <a:picLocks noChangeAspect="1"/>
          </p:cNvPicPr>
          <p:nvPr/>
        </p:nvPicPr>
        <p:blipFill>
          <a:blip r:embed="rId1"/>
          <a:srcRect l="0" r="0" t="0" b="0"/>
          <a:stretch/>
        </p:blipFill>
        <p:spPr>
          <a:xfrm>
            <a:off x="0" y="0"/>
            <a:ext cx="12191695" cy="6858000"/>
          </a:xfrm>
          <a:prstGeom prst="rect">
            <a:avLst/>
          </a:prstGeom>
        </p:spPr>
      </p:pic>
      <p:sp>
        <p:nvSpPr>
          <p:cNvPr id="4" name="Text 0"/>
          <p:cNvSpPr txBox="1"/>
          <p:nvPr/>
        </p:nvSpPr>
        <p:spPr>
          <a:xfrm>
            <a:off x="548640" y="320040"/>
            <a:ext cx="11094415" cy="365760"/>
          </a:xfrm>
          <a:prstGeom prst="rect">
            <a:avLst/>
          </a:prstGeom>
          <a:noFill/>
          <a:ln/>
          <a:effectLst>
            <a:outerShdw sx="100000" sy="100000" kx="0" ky="0" algn="bl" rotWithShape="0" blurRad="76200" dist="25400" dir="2700000">
              <a:srgbClr val="000000">
                <a:alpha val="60000"/>
              </a:srgbClr>
            </a:outerShdw>
          </a:effectLst>
        </p:spPr>
        <p:txBody>
          <a:bodyPr wrap="square" lIns="0" tIns="0" rIns="0" bIns="0" rtlCol="0" anchor="ctr"/>
          <a:lstStyle/>
          <a:p>
            <a:pPr algn="ctr" indent="0" marL="0">
              <a:buNone/>
            </a:pPr>
            <a:r>
              <a:rPr lang="en-US" sz="1500" dirty="0">
                <a:solidFill>
                  <a:srgbClr val="FFFFFF"/>
                </a:solidFill>
                <a:latin typeface="Calibri" pitchFamily="34" charset="0"/>
                <a:ea typeface="Calibri" pitchFamily="34" charset="-122"/>
                <a:cs typeface="Calibri" pitchFamily="34" charset="-120"/>
              </a:rPr>
              <a:t>EEE4022S Final Year Project 2026, Department of Electrical Engineering, University of Cape Town</a:t>
            </a:r>
            <a:endParaRPr lang="en-US" sz="1500" dirty="0"/>
          </a:p>
        </p:txBody>
      </p:sp>
      <p:sp>
        <p:nvSpPr>
          <p:cNvPr id="5" name="Text 1"/>
          <p:cNvSpPr txBox="1"/>
          <p:nvPr/>
        </p:nvSpPr>
        <p:spPr>
          <a:xfrm>
            <a:off x="548640" y="777240"/>
            <a:ext cx="11094415" cy="1463040"/>
          </a:xfrm>
          <a:prstGeom prst="rect">
            <a:avLst/>
          </a:prstGeom>
          <a:noFill/>
          <a:ln/>
          <a:effectLst>
            <a:outerShdw sx="100000" sy="100000" kx="0" ky="0" algn="bl" rotWithShape="0" blurRad="76200" dist="25400" dir="2700000">
              <a:srgbClr val="000000">
                <a:alpha val="60000"/>
              </a:srgbClr>
            </a:outerShdw>
          </a:effectLst>
        </p:spPr>
        <p:txBody>
          <a:bodyPr wrap="square" lIns="0" tIns="0" rIns="0" bIns="0" rtlCol="0" anchor="ctr"/>
          <a:lstStyle/>
          <a:p>
            <a:pPr algn="ctr" indent="0" marL="0">
              <a:buNone/>
            </a:pPr>
            <a:r>
              <a:rPr lang="en-US" sz="3100" b="1" dirty="0">
                <a:solidFill>
                  <a:srgbClr val="FFFFFF"/>
                </a:solidFill>
                <a:latin typeface="Calibri" pitchFamily="34" charset="0"/>
                <a:ea typeface="Calibri" pitchFamily="34" charset="-122"/>
                <a:cs typeface="Calibri" pitchFamily="34" charset="-120"/>
              </a:rPr>
              <a:t>Embedded Telemetry, Road-Surface Characterisation</a:t>
            </a:r>
            <a:endParaRPr lang="en-US" sz="3100" dirty="0"/>
          </a:p>
          <a:p>
            <a:pPr algn="ctr" indent="0" marL="0">
              <a:buNone/>
            </a:pPr>
            <a:r>
              <a:rPr lang="en-US" sz="3100" b="1" dirty="0">
                <a:solidFill>
                  <a:srgbClr val="FFFFFF"/>
                </a:solidFill>
                <a:latin typeface="Calibri" pitchFamily="34" charset="0"/>
                <a:ea typeface="Calibri" pitchFamily="34" charset="-122"/>
                <a:cs typeface="Calibri" pitchFamily="34" charset="-120"/>
              </a:rPr>
              <a:t>and Camera-Based Hazard Detection</a:t>
            </a:r>
            <a:endParaRPr lang="en-US" sz="3100" dirty="0"/>
          </a:p>
          <a:p>
            <a:pPr algn="ctr" indent="0" marL="0">
              <a:buNone/>
            </a:pPr>
            <a:r>
              <a:rPr lang="en-US" sz="3100" b="1" dirty="0">
                <a:solidFill>
                  <a:srgbClr val="FFFFFF"/>
                </a:solidFill>
                <a:latin typeface="Calibri" pitchFamily="34" charset="0"/>
                <a:ea typeface="Calibri" pitchFamily="34" charset="-122"/>
                <a:cs typeface="Calibri" pitchFamily="34" charset="-120"/>
              </a:rPr>
              <a:t>for the TUKZIE Electric Tricycle</a:t>
            </a:r>
            <a:endParaRPr lang="en-US" sz="3100" dirty="0"/>
          </a:p>
        </p:txBody>
      </p:sp>
      <p:sp>
        <p:nvSpPr>
          <p:cNvPr id="6" name="Text 2"/>
          <p:cNvSpPr txBox="1"/>
          <p:nvPr/>
        </p:nvSpPr>
        <p:spPr>
          <a:xfrm>
            <a:off x="548640" y="2286000"/>
            <a:ext cx="11094415" cy="411480"/>
          </a:xfrm>
          <a:prstGeom prst="rect">
            <a:avLst/>
          </a:prstGeom>
          <a:noFill/>
          <a:ln/>
          <a:effectLst>
            <a:outerShdw sx="100000" sy="100000" kx="0" ky="0" algn="bl" rotWithShape="0" blurRad="76200" dist="25400" dir="2700000">
              <a:srgbClr val="000000">
                <a:alpha val="60000"/>
              </a:srgbClr>
            </a:outerShdw>
          </a:effectLst>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Samson Okuthe (OKTSAM001)</a:t>
            </a:r>
            <a:endParaRPr lang="en-US" sz="2000" dirty="0"/>
          </a:p>
        </p:txBody>
      </p:sp>
      <p:sp>
        <p:nvSpPr>
          <p:cNvPr id="7" name="Text 3"/>
          <p:cNvSpPr txBox="1"/>
          <p:nvPr/>
        </p:nvSpPr>
        <p:spPr>
          <a:xfrm>
            <a:off x="548640" y="2697480"/>
            <a:ext cx="11094415" cy="365760"/>
          </a:xfrm>
          <a:prstGeom prst="rect">
            <a:avLst/>
          </a:prstGeom>
          <a:noFill/>
          <a:ln/>
          <a:effectLst>
            <a:outerShdw sx="100000" sy="100000" kx="0" ky="0" algn="bl" rotWithShape="0" blurRad="76200" dist="25400" dir="2700000">
              <a:srgbClr val="000000">
                <a:alpha val="60000"/>
              </a:srgbClr>
            </a:outerShdw>
          </a:effectLst>
        </p:spPr>
        <p:txBody>
          <a:bodyPr wrap="square" lIns="0" tIns="0" rIns="0" bIns="0" rtlCol="0" anchor="ctr"/>
          <a:lstStyle/>
          <a:p>
            <a:pPr algn="ctr" indent="0" marL="0">
              <a:buNone/>
            </a:pPr>
            <a:r>
              <a:rPr lang="en-US" sz="1600" dirty="0">
                <a:solidFill>
                  <a:srgbClr val="FFFFFF"/>
                </a:solidFill>
                <a:latin typeface="Calibri" pitchFamily="34" charset="0"/>
                <a:ea typeface="Calibri" pitchFamily="34" charset="-122"/>
                <a:cs typeface="Calibri" pitchFamily="34" charset="-120"/>
              </a:rPr>
              <a:t>Supervisor: A/Prof. Simon Winberg   |   Co-supervisor: Sampath Jayalath   |   Project SW-7</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384048"/>
            <a:ext cx="566928" cy="566928"/>
          </a:xfrm>
          <a:prstGeom prst="ellipse">
            <a:avLst/>
          </a:prstGeom>
          <a:solidFill>
            <a:srgbClr val="14305C"/>
          </a:solidFill>
          <a:ln w="12700">
            <a:solidFill>
              <a:srgbClr val="14305C"/>
            </a:solidFill>
            <a:prstDash val="solid"/>
          </a:ln>
        </p:spPr>
      </p:sp>
      <p:sp>
        <p:nvSpPr>
          <p:cNvPr id="3" name="Text 1"/>
          <p:cNvSpPr txBox="1"/>
          <p:nvPr/>
        </p:nvSpPr>
        <p:spPr>
          <a:xfrm>
            <a:off x="548640" y="384048"/>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4" name="Text 2"/>
          <p:cNvSpPr txBox="1"/>
          <p:nvPr/>
        </p:nvSpPr>
        <p:spPr>
          <a:xfrm>
            <a:off x="1325880" y="310896"/>
            <a:ext cx="10317175" cy="731520"/>
          </a:xfrm>
          <a:prstGeom prst="rect">
            <a:avLst/>
          </a:prstGeom>
          <a:noFill/>
          <a:ln/>
        </p:spPr>
        <p:txBody>
          <a:bodyPr wrap="square" lIns="0" tIns="0" rIns="0" bIns="0" rtlCol="0" anchor="ctr"/>
          <a:lstStyle/>
          <a:p>
            <a:pPr indent="0" marL="0">
              <a:buNone/>
            </a:pPr>
            <a:r>
              <a:rPr lang="en-US" sz="3200" b="1" dirty="0">
                <a:solidFill>
                  <a:srgbClr val="14305C"/>
                </a:solidFill>
                <a:latin typeface="Calibri" pitchFamily="34" charset="0"/>
                <a:ea typeface="Calibri" pitchFamily="34" charset="-122"/>
                <a:cs typeface="Calibri" pitchFamily="34" charset="-120"/>
              </a:rPr>
              <a:t>Why this matters</a:t>
            </a:r>
            <a:endParaRPr lang="en-US" sz="3200" dirty="0"/>
          </a:p>
        </p:txBody>
      </p:sp>
      <p:pic>
        <p:nvPicPr>
          <p:cNvPr id="5" name="Image 0" descr="C:\Users\0geda\OneDrive - University of Cape Town\Documents\PlatformIO\Projects\Tukzie-HPEC-HUD\Presentation\source\assets\uct_logo.png">    </p:cNvPr>
          <p:cNvPicPr>
            <a:picLocks noChangeAspect="1"/>
          </p:cNvPicPr>
          <p:nvPr/>
        </p:nvPicPr>
        <p:blipFill>
          <a:blip r:embed="rId1"/>
          <a:stretch>
            <a:fillRect/>
          </a:stretch>
        </p:blipFill>
        <p:spPr>
          <a:xfrm>
            <a:off x="11259007" y="6327648"/>
            <a:ext cx="384048" cy="390449"/>
          </a:xfrm>
          <a:prstGeom prst="rect">
            <a:avLst/>
          </a:prstGeom>
        </p:spPr>
      </p:pic>
      <p:sp>
        <p:nvSpPr>
          <p:cNvPr id="6" name="Text 3"/>
          <p:cNvSpPr txBox="1"/>
          <p:nvPr/>
        </p:nvSpPr>
        <p:spPr>
          <a:xfrm>
            <a:off x="548640" y="6382512"/>
            <a:ext cx="5486400" cy="292608"/>
          </a:xfrm>
          <a:prstGeom prst="rect">
            <a:avLst/>
          </a:prstGeom>
          <a:noFill/>
          <a:ln/>
        </p:spPr>
        <p:txBody>
          <a:bodyPr wrap="square" lIns="0" tIns="0" rIns="0" bIns="0" rtlCol="0" anchor="ctr"/>
          <a:lstStyle/>
          <a:p>
            <a:pPr indent="0" marL="0">
              <a:buNone/>
            </a:pPr>
            <a:r>
              <a:rPr lang="en-US" sz="1100" dirty="0">
                <a:solidFill>
                  <a:srgbClr val="4A5566"/>
                </a:solidFill>
                <a:latin typeface="Calibri" pitchFamily="34" charset="0"/>
                <a:ea typeface="Calibri" pitchFamily="34" charset="-122"/>
                <a:cs typeface="Calibri" pitchFamily="34" charset="-120"/>
              </a:rPr>
              <a:t>SW-7   |   Samson Okuthe   |   EEE4022S 2026</a:t>
            </a:r>
            <a:endParaRPr lang="en-US" sz="1100" dirty="0"/>
          </a:p>
        </p:txBody>
      </p:sp>
      <p:sp>
        <p:nvSpPr>
          <p:cNvPr id="7" name="Text 4"/>
          <p:cNvSpPr txBox="1"/>
          <p:nvPr/>
        </p:nvSpPr>
        <p:spPr>
          <a:xfrm>
            <a:off x="10180015" y="6382512"/>
            <a:ext cx="914400" cy="292608"/>
          </a:xfrm>
          <a:prstGeom prst="rect">
            <a:avLst/>
          </a:prstGeom>
          <a:noFill/>
          <a:ln/>
        </p:spPr>
        <p:txBody>
          <a:bodyPr wrap="square" lIns="0" tIns="0" rIns="0" bIns="0" rtlCol="0" anchor="ctr"/>
          <a:lstStyle/>
          <a:p>
            <a:pPr algn="r" indent="0" marL="0">
              <a:buNone/>
            </a:pPr>
            <a:r>
              <a:rPr lang="en-US" sz="1100" dirty="0">
                <a:solidFill>
                  <a:srgbClr val="4A5566"/>
                </a:solidFill>
                <a:latin typeface="Calibri" pitchFamily="34" charset="0"/>
                <a:ea typeface="Calibri" pitchFamily="34" charset="-122"/>
                <a:cs typeface="Calibri" pitchFamily="34" charset="-120"/>
              </a:rPr>
              <a:t>2 / 14</a:t>
            </a:r>
            <a:endParaRPr lang="en-US" sz="1100" dirty="0"/>
          </a:p>
        </p:txBody>
      </p:sp>
      <p:sp>
        <p:nvSpPr>
          <p:cNvPr id="9" name="Shape 5"/>
          <p:cNvSpPr/>
          <p:nvPr/>
        </p:nvSpPr>
        <p:spPr>
          <a:xfrm>
            <a:off x="548640" y="1325880"/>
            <a:ext cx="5318608" cy="3017520"/>
          </a:xfrm>
          <a:prstGeom prst="roundRect">
            <a:avLst>
              <a:gd name="adj" fmla="val 3636"/>
            </a:avLst>
          </a:prstGeom>
          <a:solidFill>
            <a:srgbClr val="E8F0FA"/>
          </a:solidFill>
          <a:ln w="12700">
            <a:solidFill>
              <a:srgbClr val="E8F0FA"/>
            </a:solidFill>
            <a:prstDash val="solid"/>
          </a:ln>
        </p:spPr>
      </p:sp>
      <p:sp>
        <p:nvSpPr>
          <p:cNvPr id="10" name="Text 6"/>
          <p:cNvSpPr txBox="1"/>
          <p:nvPr/>
        </p:nvSpPr>
        <p:spPr>
          <a:xfrm>
            <a:off x="914400" y="1645920"/>
            <a:ext cx="4587088" cy="1097280"/>
          </a:xfrm>
          <a:prstGeom prst="rect">
            <a:avLst/>
          </a:prstGeom>
          <a:noFill/>
          <a:ln/>
        </p:spPr>
        <p:txBody>
          <a:bodyPr wrap="square" lIns="0" tIns="0" rIns="0" bIns="0" rtlCol="0" anchor="ctr"/>
          <a:lstStyle/>
          <a:p>
            <a:pPr indent="0" marL="0">
              <a:buNone/>
            </a:pPr>
            <a:r>
              <a:rPr lang="en-US" sz="6000" b="1" dirty="0">
                <a:solidFill>
                  <a:srgbClr val="14305C"/>
                </a:solidFill>
                <a:latin typeface="Calibri" pitchFamily="34" charset="0"/>
                <a:ea typeface="Calibri" pitchFamily="34" charset="-122"/>
                <a:cs typeface="Calibri" pitchFamily="34" charset="-120"/>
              </a:rPr>
              <a:t>45.5 to 86%</a:t>
            </a:r>
            <a:endParaRPr lang="en-US" sz="6000" dirty="0"/>
          </a:p>
        </p:txBody>
      </p:sp>
      <p:sp>
        <p:nvSpPr>
          <p:cNvPr id="11" name="Text 7"/>
          <p:cNvSpPr txBox="1"/>
          <p:nvPr/>
        </p:nvSpPr>
        <p:spPr>
          <a:xfrm>
            <a:off x="914400" y="2788920"/>
            <a:ext cx="4587088" cy="1005840"/>
          </a:xfrm>
          <a:prstGeom prst="rect">
            <a:avLst/>
          </a:prstGeom>
          <a:noFill/>
          <a:ln/>
        </p:spPr>
        <p:txBody>
          <a:bodyPr wrap="square" lIns="0" tIns="0" rIns="0" bIns="0" rtlCol="0" anchor="t"/>
          <a:lstStyle/>
          <a:p>
            <a:pPr indent="0" marL="0">
              <a:buNone/>
            </a:pPr>
            <a:r>
              <a:rPr lang="en-US" sz="1800" dirty="0">
                <a:solidFill>
                  <a:srgbClr val="1B1F24"/>
                </a:solidFill>
                <a:latin typeface="Calibri" pitchFamily="34" charset="0"/>
                <a:ea typeface="Calibri" pitchFamily="34" charset="-122"/>
                <a:cs typeface="Calibri" pitchFamily="34" charset="-120"/>
              </a:rPr>
              <a:t>lower operating cost per km for an electric cargo tricycle than a motorcycle, petrol tuk-tuk or light car on delivery routes in Dar es Salaam</a:t>
            </a:r>
            <a:endParaRPr lang="en-US" sz="1800" dirty="0"/>
          </a:p>
        </p:txBody>
      </p:sp>
      <p:sp>
        <p:nvSpPr>
          <p:cNvPr id="12" name="Text 8"/>
          <p:cNvSpPr txBox="1"/>
          <p:nvPr/>
        </p:nvSpPr>
        <p:spPr>
          <a:xfrm>
            <a:off x="914400" y="3840480"/>
            <a:ext cx="4587088" cy="320040"/>
          </a:xfrm>
          <a:prstGeom prst="rect">
            <a:avLst/>
          </a:prstGeom>
          <a:noFill/>
          <a:ln/>
        </p:spPr>
        <p:txBody>
          <a:bodyPr wrap="square" lIns="0" tIns="0" rIns="0" bIns="0" rtlCol="0" anchor="ctr"/>
          <a:lstStyle/>
          <a:p>
            <a:pPr indent="0" marL="0">
              <a:buNone/>
            </a:pPr>
            <a:r>
              <a:rPr lang="en-US" sz="1300" i="1" dirty="0">
                <a:solidFill>
                  <a:srgbClr val="4A5566"/>
                </a:solidFill>
                <a:latin typeface="Calibri" pitchFamily="34" charset="0"/>
                <a:ea typeface="Calibri" pitchFamily="34" charset="-122"/>
                <a:cs typeface="Calibri" pitchFamily="34" charset="-120"/>
              </a:rPr>
              <a:t>Sebwa et al., 2025</a:t>
            </a:r>
            <a:endParaRPr lang="en-US" sz="1300" dirty="0"/>
          </a:p>
        </p:txBody>
      </p:sp>
      <p:sp>
        <p:nvSpPr>
          <p:cNvPr id="13" name="Shape 9"/>
          <p:cNvSpPr/>
          <p:nvPr/>
        </p:nvSpPr>
        <p:spPr>
          <a:xfrm>
            <a:off x="6324448" y="1325880"/>
            <a:ext cx="5318608" cy="3017520"/>
          </a:xfrm>
          <a:prstGeom prst="roundRect">
            <a:avLst>
              <a:gd name="adj" fmla="val 3636"/>
            </a:avLst>
          </a:prstGeom>
          <a:solidFill>
            <a:srgbClr val="E8F0FA"/>
          </a:solidFill>
          <a:ln w="12700">
            <a:solidFill>
              <a:srgbClr val="E8F0FA"/>
            </a:solidFill>
            <a:prstDash val="solid"/>
          </a:ln>
        </p:spPr>
      </p:sp>
      <p:sp>
        <p:nvSpPr>
          <p:cNvPr id="14" name="Text 10"/>
          <p:cNvSpPr txBox="1"/>
          <p:nvPr/>
        </p:nvSpPr>
        <p:spPr>
          <a:xfrm>
            <a:off x="6690208" y="1645920"/>
            <a:ext cx="4587088" cy="1097280"/>
          </a:xfrm>
          <a:prstGeom prst="rect">
            <a:avLst/>
          </a:prstGeom>
          <a:noFill/>
          <a:ln/>
        </p:spPr>
        <p:txBody>
          <a:bodyPr wrap="square" lIns="0" tIns="0" rIns="0" bIns="0" rtlCol="0" anchor="ctr"/>
          <a:lstStyle/>
          <a:p>
            <a:pPr indent="0" marL="0">
              <a:buNone/>
            </a:pPr>
            <a:r>
              <a:rPr lang="en-US" sz="6000" b="1" dirty="0">
                <a:solidFill>
                  <a:srgbClr val="14305C"/>
                </a:solidFill>
                <a:latin typeface="Calibri" pitchFamily="34" charset="0"/>
                <a:ea typeface="Calibri" pitchFamily="34" charset="-122"/>
                <a:cs typeface="Calibri" pitchFamily="34" charset="-120"/>
              </a:rPr>
              <a:t>2 s</a:t>
            </a:r>
            <a:endParaRPr lang="en-US" sz="6000" dirty="0"/>
          </a:p>
        </p:txBody>
      </p:sp>
      <p:sp>
        <p:nvSpPr>
          <p:cNvPr id="15" name="Text 11"/>
          <p:cNvSpPr txBox="1"/>
          <p:nvPr/>
        </p:nvSpPr>
        <p:spPr>
          <a:xfrm>
            <a:off x="6690208" y="2788920"/>
            <a:ext cx="4587088" cy="1005840"/>
          </a:xfrm>
          <a:prstGeom prst="rect">
            <a:avLst/>
          </a:prstGeom>
          <a:noFill/>
          <a:ln/>
        </p:spPr>
        <p:txBody>
          <a:bodyPr wrap="square" lIns="0" tIns="0" rIns="0" bIns="0" rtlCol="0" anchor="t"/>
          <a:lstStyle/>
          <a:p>
            <a:pPr indent="0" marL="0">
              <a:buNone/>
            </a:pPr>
            <a:r>
              <a:rPr lang="en-US" sz="1800" dirty="0">
                <a:solidFill>
                  <a:srgbClr val="1B1F24"/>
                </a:solidFill>
                <a:latin typeface="Calibri" pitchFamily="34" charset="0"/>
                <a:ea typeface="Calibri" pitchFamily="34" charset="-122"/>
                <a:cs typeface="Calibri" pitchFamily="34" charset="-120"/>
              </a:rPr>
              <a:t>longest single glance away from the road that NHTSA guidance allows, so driver information must be short and safety-only</a:t>
            </a:r>
            <a:endParaRPr lang="en-US" sz="1800" dirty="0"/>
          </a:p>
        </p:txBody>
      </p:sp>
      <p:sp>
        <p:nvSpPr>
          <p:cNvPr id="16" name="Text 12"/>
          <p:cNvSpPr txBox="1"/>
          <p:nvPr/>
        </p:nvSpPr>
        <p:spPr>
          <a:xfrm>
            <a:off x="6690208" y="3840480"/>
            <a:ext cx="4587088" cy="320040"/>
          </a:xfrm>
          <a:prstGeom prst="rect">
            <a:avLst/>
          </a:prstGeom>
          <a:noFill/>
          <a:ln/>
        </p:spPr>
        <p:txBody>
          <a:bodyPr wrap="square" lIns="0" tIns="0" rIns="0" bIns="0" rtlCol="0" anchor="ctr"/>
          <a:lstStyle/>
          <a:p>
            <a:pPr indent="0" marL="0">
              <a:buNone/>
            </a:pPr>
            <a:r>
              <a:rPr lang="en-US" sz="1300" i="1" dirty="0">
                <a:solidFill>
                  <a:srgbClr val="4A5566"/>
                </a:solidFill>
                <a:latin typeface="Calibri" pitchFamily="34" charset="0"/>
                <a:ea typeface="Calibri" pitchFamily="34" charset="-122"/>
                <a:cs typeface="Calibri" pitchFamily="34" charset="-120"/>
              </a:rPr>
              <a:t>NHTSA, 2013</a:t>
            </a:r>
            <a:endParaRPr lang="en-US" sz="1300" dirty="0"/>
          </a:p>
        </p:txBody>
      </p:sp>
      <p:sp>
        <p:nvSpPr>
          <p:cNvPr id="17" name="Text 13"/>
          <p:cNvSpPr txBox="1"/>
          <p:nvPr/>
        </p:nvSpPr>
        <p:spPr>
          <a:xfrm>
            <a:off x="548640" y="4754880"/>
            <a:ext cx="11094415" cy="914400"/>
          </a:xfrm>
          <a:prstGeom prst="rect">
            <a:avLst/>
          </a:prstGeom>
          <a:noFill/>
          <a:ln/>
        </p:spPr>
        <p:txBody>
          <a:bodyPr wrap="square" lIns="0" tIns="0" rIns="0" bIns="0" rtlCol="0" anchor="ctr"/>
          <a:lstStyle/>
          <a:p>
            <a:pPr indent="0" marL="0">
              <a:buNone/>
            </a:pPr>
            <a:r>
              <a:rPr lang="en-US" sz="2000" b="1" dirty="0">
                <a:solidFill>
                  <a:srgbClr val="14305C"/>
                </a:solidFill>
                <a:latin typeface="Calibri" pitchFamily="34" charset="0"/>
                <a:ea typeface="Calibri" pitchFamily="34" charset="-122"/>
                <a:cs typeface="Calibri" pitchFamily="34" charset="-120"/>
              </a:rPr>
              <a:t>The open problem: </a:t>
            </a:r>
            <a:pPr indent="0" marL="0">
              <a:buNone/>
            </a:pPr>
            <a:r>
              <a:rPr lang="en-US" sz="2000" dirty="0">
                <a:solidFill>
                  <a:srgbClr val="1B1F24"/>
                </a:solidFill>
                <a:latin typeface="Calibri" pitchFamily="34" charset="0"/>
                <a:ea typeface="Calibri" pitchFamily="34" charset="-122"/>
                <a:cs typeface="Calibri" pitchFamily="34" charset="-120"/>
              </a:rPr>
              <a:t>bringing on-board edge telemetry and sparse, safety-only driver alerts together on a low-cost electric trike, and measuring whether each part works.</a:t>
            </a:r>
            <a:endParaRPr lang="en-US" sz="2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384048"/>
            <a:ext cx="566928" cy="566928"/>
          </a:xfrm>
          <a:prstGeom prst="ellipse">
            <a:avLst/>
          </a:prstGeom>
          <a:solidFill>
            <a:srgbClr val="14305C"/>
          </a:solidFill>
          <a:ln w="12700">
            <a:solidFill>
              <a:srgbClr val="14305C"/>
            </a:solidFill>
            <a:prstDash val="solid"/>
          </a:ln>
        </p:spPr>
      </p:sp>
      <p:sp>
        <p:nvSpPr>
          <p:cNvPr id="3" name="Text 1"/>
          <p:cNvSpPr txBox="1"/>
          <p:nvPr/>
        </p:nvSpPr>
        <p:spPr>
          <a:xfrm>
            <a:off x="548640" y="384048"/>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4" name="Text 2"/>
          <p:cNvSpPr txBox="1"/>
          <p:nvPr/>
        </p:nvSpPr>
        <p:spPr>
          <a:xfrm>
            <a:off x="1325880" y="310896"/>
            <a:ext cx="10317175" cy="731520"/>
          </a:xfrm>
          <a:prstGeom prst="rect">
            <a:avLst/>
          </a:prstGeom>
          <a:noFill/>
          <a:ln/>
        </p:spPr>
        <p:txBody>
          <a:bodyPr wrap="square" lIns="0" tIns="0" rIns="0" bIns="0" rtlCol="0" anchor="ctr"/>
          <a:lstStyle/>
          <a:p>
            <a:pPr indent="0" marL="0">
              <a:buNone/>
            </a:pPr>
            <a:r>
              <a:rPr lang="en-US" sz="3200" b="1" dirty="0">
                <a:solidFill>
                  <a:srgbClr val="14305C"/>
                </a:solidFill>
                <a:latin typeface="Calibri" pitchFamily="34" charset="0"/>
                <a:ea typeface="Calibri" pitchFamily="34" charset="-122"/>
                <a:cs typeface="Calibri" pitchFamily="34" charset="-120"/>
              </a:rPr>
              <a:t>Aim and research questions</a:t>
            </a:r>
            <a:endParaRPr lang="en-US" sz="3200" dirty="0"/>
          </a:p>
        </p:txBody>
      </p:sp>
      <p:pic>
        <p:nvPicPr>
          <p:cNvPr id="5" name="Image 0" descr="C:\Users\0geda\OneDrive - University of Cape Town\Documents\PlatformIO\Projects\Tukzie-HPEC-HUD\Presentation\source\assets\uct_logo.png">    </p:cNvPr>
          <p:cNvPicPr>
            <a:picLocks noChangeAspect="1"/>
          </p:cNvPicPr>
          <p:nvPr/>
        </p:nvPicPr>
        <p:blipFill>
          <a:blip r:embed="rId1"/>
          <a:stretch>
            <a:fillRect/>
          </a:stretch>
        </p:blipFill>
        <p:spPr>
          <a:xfrm>
            <a:off x="11259007" y="6327648"/>
            <a:ext cx="384048" cy="390449"/>
          </a:xfrm>
          <a:prstGeom prst="rect">
            <a:avLst/>
          </a:prstGeom>
        </p:spPr>
      </p:pic>
      <p:sp>
        <p:nvSpPr>
          <p:cNvPr id="6" name="Text 3"/>
          <p:cNvSpPr txBox="1"/>
          <p:nvPr/>
        </p:nvSpPr>
        <p:spPr>
          <a:xfrm>
            <a:off x="548640" y="6382512"/>
            <a:ext cx="5486400" cy="292608"/>
          </a:xfrm>
          <a:prstGeom prst="rect">
            <a:avLst/>
          </a:prstGeom>
          <a:noFill/>
          <a:ln/>
        </p:spPr>
        <p:txBody>
          <a:bodyPr wrap="square" lIns="0" tIns="0" rIns="0" bIns="0" rtlCol="0" anchor="ctr"/>
          <a:lstStyle/>
          <a:p>
            <a:pPr indent="0" marL="0">
              <a:buNone/>
            </a:pPr>
            <a:r>
              <a:rPr lang="en-US" sz="1100" dirty="0">
                <a:solidFill>
                  <a:srgbClr val="4A5566"/>
                </a:solidFill>
                <a:latin typeface="Calibri" pitchFamily="34" charset="0"/>
                <a:ea typeface="Calibri" pitchFamily="34" charset="-122"/>
                <a:cs typeface="Calibri" pitchFamily="34" charset="-120"/>
              </a:rPr>
              <a:t>SW-7   |   Samson Okuthe   |   EEE4022S 2026</a:t>
            </a:r>
            <a:endParaRPr lang="en-US" sz="1100" dirty="0"/>
          </a:p>
        </p:txBody>
      </p:sp>
      <p:sp>
        <p:nvSpPr>
          <p:cNvPr id="7" name="Text 4"/>
          <p:cNvSpPr txBox="1"/>
          <p:nvPr/>
        </p:nvSpPr>
        <p:spPr>
          <a:xfrm>
            <a:off x="10180015" y="6382512"/>
            <a:ext cx="914400" cy="292608"/>
          </a:xfrm>
          <a:prstGeom prst="rect">
            <a:avLst/>
          </a:prstGeom>
          <a:noFill/>
          <a:ln/>
        </p:spPr>
        <p:txBody>
          <a:bodyPr wrap="square" lIns="0" tIns="0" rIns="0" bIns="0" rtlCol="0" anchor="ctr"/>
          <a:lstStyle/>
          <a:p>
            <a:pPr algn="r" indent="0" marL="0">
              <a:buNone/>
            </a:pPr>
            <a:r>
              <a:rPr lang="en-US" sz="1100" dirty="0">
                <a:solidFill>
                  <a:srgbClr val="4A5566"/>
                </a:solidFill>
                <a:latin typeface="Calibri" pitchFamily="34" charset="0"/>
                <a:ea typeface="Calibri" pitchFamily="34" charset="-122"/>
                <a:cs typeface="Calibri" pitchFamily="34" charset="-120"/>
              </a:rPr>
              <a:t>3 / 14</a:t>
            </a:r>
            <a:endParaRPr lang="en-US" sz="1100" dirty="0"/>
          </a:p>
        </p:txBody>
      </p:sp>
      <p:sp>
        <p:nvSpPr>
          <p:cNvPr id="9" name="Shape 5"/>
          <p:cNvSpPr/>
          <p:nvPr/>
        </p:nvSpPr>
        <p:spPr>
          <a:xfrm>
            <a:off x="548640" y="1325880"/>
            <a:ext cx="11094415" cy="987552"/>
          </a:xfrm>
          <a:prstGeom prst="roundRect">
            <a:avLst>
              <a:gd name="adj" fmla="val 11111"/>
            </a:avLst>
          </a:prstGeom>
          <a:solidFill>
            <a:srgbClr val="E8F0FA"/>
          </a:solidFill>
          <a:ln w="12700">
            <a:solidFill>
              <a:srgbClr val="E8F0FA"/>
            </a:solidFill>
            <a:prstDash val="solid"/>
          </a:ln>
        </p:spPr>
      </p:sp>
      <p:sp>
        <p:nvSpPr>
          <p:cNvPr id="10" name="Text 6"/>
          <p:cNvSpPr txBox="1"/>
          <p:nvPr/>
        </p:nvSpPr>
        <p:spPr>
          <a:xfrm>
            <a:off x="822960" y="1325880"/>
            <a:ext cx="914400" cy="987552"/>
          </a:xfrm>
          <a:prstGeom prst="rect">
            <a:avLst/>
          </a:prstGeom>
          <a:noFill/>
          <a:ln/>
        </p:spPr>
        <p:txBody>
          <a:bodyPr wrap="square" lIns="0" tIns="0" rIns="0" bIns="0" rtlCol="0" anchor="ctr"/>
          <a:lstStyle/>
          <a:p>
            <a:pPr indent="0" marL="0">
              <a:buNone/>
            </a:pPr>
            <a:r>
              <a:rPr lang="en-US" sz="2400" b="1" dirty="0">
                <a:solidFill>
                  <a:srgbClr val="14305C"/>
                </a:solidFill>
                <a:latin typeface="Calibri" pitchFamily="34" charset="0"/>
                <a:ea typeface="Calibri" pitchFamily="34" charset="-122"/>
                <a:cs typeface="Calibri" pitchFamily="34" charset="-120"/>
              </a:rPr>
              <a:t>RQ1</a:t>
            </a:r>
            <a:endParaRPr lang="en-US" sz="2400" dirty="0"/>
          </a:p>
        </p:txBody>
      </p:sp>
      <p:sp>
        <p:nvSpPr>
          <p:cNvPr id="11" name="Text 7"/>
          <p:cNvSpPr txBox="1"/>
          <p:nvPr/>
        </p:nvSpPr>
        <p:spPr>
          <a:xfrm>
            <a:off x="1783080" y="1325880"/>
            <a:ext cx="7116775" cy="987552"/>
          </a:xfrm>
          <a:prstGeom prst="rect">
            <a:avLst/>
          </a:prstGeom>
          <a:noFill/>
          <a:ln/>
        </p:spPr>
        <p:txBody>
          <a:bodyPr wrap="square" lIns="0" tIns="0" rIns="0" bIns="0" rtlCol="0" anchor="ctr"/>
          <a:lstStyle/>
          <a:p>
            <a:pPr indent="0" marL="0">
              <a:buNone/>
            </a:pPr>
            <a:r>
              <a:rPr lang="en-US" sz="1800" dirty="0">
                <a:solidFill>
                  <a:srgbClr val="1B1F24"/>
                </a:solidFill>
                <a:latin typeface="Calibri" pitchFamily="34" charset="0"/>
                <a:ea typeface="Calibri" pitchFamily="34" charset="-122"/>
                <a:cs typeface="Calibri" pitchFamily="34" charset="-120"/>
              </a:rPr>
              <a:t>How accurately and repeatably can a low-cost edge unit characterise the trike's ride response?</a:t>
            </a:r>
            <a:endParaRPr lang="en-US" sz="1800" dirty="0"/>
          </a:p>
        </p:txBody>
      </p:sp>
      <p:sp>
        <p:nvSpPr>
          <p:cNvPr id="12" name="Shape 8"/>
          <p:cNvSpPr/>
          <p:nvPr/>
        </p:nvSpPr>
        <p:spPr>
          <a:xfrm>
            <a:off x="9128455" y="1591056"/>
            <a:ext cx="2240280" cy="457200"/>
          </a:xfrm>
          <a:prstGeom prst="roundRect">
            <a:avLst>
              <a:gd name="adj" fmla="val 50000"/>
            </a:avLst>
          </a:prstGeom>
          <a:solidFill>
            <a:srgbClr val="FFFFFF"/>
          </a:solidFill>
          <a:ln w="19050">
            <a:solidFill>
              <a:srgbClr val="D4700C"/>
            </a:solidFill>
            <a:prstDash val="dash"/>
          </a:ln>
        </p:spPr>
      </p:sp>
      <p:sp>
        <p:nvSpPr>
          <p:cNvPr id="13" name="Text 9"/>
          <p:cNvSpPr txBox="1"/>
          <p:nvPr/>
        </p:nvSpPr>
        <p:spPr>
          <a:xfrm>
            <a:off x="9128455" y="1591056"/>
            <a:ext cx="2240280" cy="457200"/>
          </a:xfrm>
          <a:prstGeom prst="rect">
            <a:avLst/>
          </a:prstGeom>
          <a:noFill/>
          <a:ln/>
        </p:spPr>
        <p:txBody>
          <a:bodyPr wrap="square" lIns="0" tIns="0" rIns="0" bIns="0" rtlCol="0" anchor="ctr"/>
          <a:lstStyle/>
          <a:p>
            <a:pPr algn="ctr" indent="0" marL="0">
              <a:buNone/>
            </a:pPr>
            <a:r>
              <a:rPr lang="en-US" sz="1500" b="1" dirty="0">
                <a:solidFill>
                  <a:srgbClr val="D4700C"/>
                </a:solidFill>
                <a:latin typeface="Calibri" pitchFamily="34" charset="0"/>
                <a:ea typeface="Calibri" pitchFamily="34" charset="-122"/>
                <a:cs typeface="Calibri" pitchFamily="34" charset="-120"/>
              </a:rPr>
              <a:t>Road run pending</a:t>
            </a:r>
            <a:endParaRPr lang="en-US" sz="1500" dirty="0"/>
          </a:p>
        </p:txBody>
      </p:sp>
      <p:sp>
        <p:nvSpPr>
          <p:cNvPr id="14" name="Shape 10"/>
          <p:cNvSpPr/>
          <p:nvPr/>
        </p:nvSpPr>
        <p:spPr>
          <a:xfrm>
            <a:off x="548640" y="2478024"/>
            <a:ext cx="11094415" cy="987552"/>
          </a:xfrm>
          <a:prstGeom prst="roundRect">
            <a:avLst>
              <a:gd name="adj" fmla="val 11111"/>
            </a:avLst>
          </a:prstGeom>
          <a:solidFill>
            <a:srgbClr val="E8F0FA"/>
          </a:solidFill>
          <a:ln w="12700">
            <a:solidFill>
              <a:srgbClr val="E8F0FA"/>
            </a:solidFill>
            <a:prstDash val="solid"/>
          </a:ln>
        </p:spPr>
      </p:sp>
      <p:sp>
        <p:nvSpPr>
          <p:cNvPr id="15" name="Text 11"/>
          <p:cNvSpPr txBox="1"/>
          <p:nvPr/>
        </p:nvSpPr>
        <p:spPr>
          <a:xfrm>
            <a:off x="822960" y="2478024"/>
            <a:ext cx="914400" cy="987552"/>
          </a:xfrm>
          <a:prstGeom prst="rect">
            <a:avLst/>
          </a:prstGeom>
          <a:noFill/>
          <a:ln/>
        </p:spPr>
        <p:txBody>
          <a:bodyPr wrap="square" lIns="0" tIns="0" rIns="0" bIns="0" rtlCol="0" anchor="ctr"/>
          <a:lstStyle/>
          <a:p>
            <a:pPr indent="0" marL="0">
              <a:buNone/>
            </a:pPr>
            <a:r>
              <a:rPr lang="en-US" sz="2400" b="1" dirty="0">
                <a:solidFill>
                  <a:srgbClr val="14305C"/>
                </a:solidFill>
                <a:latin typeface="Calibri" pitchFamily="34" charset="0"/>
                <a:ea typeface="Calibri" pitchFamily="34" charset="-122"/>
                <a:cs typeface="Calibri" pitchFamily="34" charset="-120"/>
              </a:rPr>
              <a:t>RQ2</a:t>
            </a:r>
            <a:endParaRPr lang="en-US" sz="2400" dirty="0"/>
          </a:p>
        </p:txBody>
      </p:sp>
      <p:sp>
        <p:nvSpPr>
          <p:cNvPr id="16" name="Text 12"/>
          <p:cNvSpPr txBox="1"/>
          <p:nvPr/>
        </p:nvSpPr>
        <p:spPr>
          <a:xfrm>
            <a:off x="1783080" y="2478024"/>
            <a:ext cx="7116775" cy="987552"/>
          </a:xfrm>
          <a:prstGeom prst="rect">
            <a:avLst/>
          </a:prstGeom>
          <a:noFill/>
          <a:ln/>
        </p:spPr>
        <p:txBody>
          <a:bodyPr wrap="square" lIns="0" tIns="0" rIns="0" bIns="0" rtlCol="0" anchor="ctr"/>
          <a:lstStyle/>
          <a:p>
            <a:pPr indent="0" marL="0">
              <a:buNone/>
            </a:pPr>
            <a:r>
              <a:rPr lang="en-US" sz="1800" dirty="0">
                <a:solidFill>
                  <a:srgbClr val="1B1F24"/>
                </a:solidFill>
                <a:latin typeface="Calibri" pitchFamily="34" charset="0"/>
                <a:ea typeface="Calibri" pitchFamily="34" charset="-122"/>
                <a:cs typeface="Calibri" pitchFamily="34" charset="-120"/>
              </a:rPr>
              <a:t>Which layout and update strategy show safety alerts on the existing dashboard with least distraction?</a:t>
            </a:r>
            <a:endParaRPr lang="en-US" sz="1800" dirty="0"/>
          </a:p>
        </p:txBody>
      </p:sp>
      <p:sp>
        <p:nvSpPr>
          <p:cNvPr id="17" name="Shape 13"/>
          <p:cNvSpPr/>
          <p:nvPr/>
        </p:nvSpPr>
        <p:spPr>
          <a:xfrm>
            <a:off x="9128455" y="2743200"/>
            <a:ext cx="2240280" cy="457200"/>
          </a:xfrm>
          <a:prstGeom prst="roundRect">
            <a:avLst>
              <a:gd name="adj" fmla="val 50000"/>
            </a:avLst>
          </a:prstGeom>
          <a:solidFill>
            <a:srgbClr val="14305C"/>
          </a:solidFill>
          <a:ln w="19050">
            <a:solidFill>
              <a:srgbClr val="14305C"/>
            </a:solidFill>
            <a:prstDash val="solid"/>
          </a:ln>
        </p:spPr>
      </p:sp>
      <p:sp>
        <p:nvSpPr>
          <p:cNvPr id="18" name="Text 14"/>
          <p:cNvSpPr txBox="1"/>
          <p:nvPr/>
        </p:nvSpPr>
        <p:spPr>
          <a:xfrm>
            <a:off x="9128455" y="2743200"/>
            <a:ext cx="224028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Legibility measured</a:t>
            </a:r>
            <a:endParaRPr lang="en-US" sz="1500" dirty="0"/>
          </a:p>
        </p:txBody>
      </p:sp>
      <p:sp>
        <p:nvSpPr>
          <p:cNvPr id="19" name="Shape 15"/>
          <p:cNvSpPr/>
          <p:nvPr/>
        </p:nvSpPr>
        <p:spPr>
          <a:xfrm>
            <a:off x="548640" y="3630168"/>
            <a:ext cx="11094415" cy="987552"/>
          </a:xfrm>
          <a:prstGeom prst="roundRect">
            <a:avLst>
              <a:gd name="adj" fmla="val 11111"/>
            </a:avLst>
          </a:prstGeom>
          <a:solidFill>
            <a:srgbClr val="E8F0FA"/>
          </a:solidFill>
          <a:ln w="12700">
            <a:solidFill>
              <a:srgbClr val="E8F0FA"/>
            </a:solidFill>
            <a:prstDash val="solid"/>
          </a:ln>
        </p:spPr>
      </p:sp>
      <p:sp>
        <p:nvSpPr>
          <p:cNvPr id="20" name="Text 16"/>
          <p:cNvSpPr txBox="1"/>
          <p:nvPr/>
        </p:nvSpPr>
        <p:spPr>
          <a:xfrm>
            <a:off x="822960" y="3630168"/>
            <a:ext cx="914400" cy="987552"/>
          </a:xfrm>
          <a:prstGeom prst="rect">
            <a:avLst/>
          </a:prstGeom>
          <a:noFill/>
          <a:ln/>
        </p:spPr>
        <p:txBody>
          <a:bodyPr wrap="square" lIns="0" tIns="0" rIns="0" bIns="0" rtlCol="0" anchor="ctr"/>
          <a:lstStyle/>
          <a:p>
            <a:pPr indent="0" marL="0">
              <a:buNone/>
            </a:pPr>
            <a:r>
              <a:rPr lang="en-US" sz="2400" b="1" dirty="0">
                <a:solidFill>
                  <a:srgbClr val="14305C"/>
                </a:solidFill>
                <a:latin typeface="Calibri" pitchFamily="34" charset="0"/>
                <a:ea typeface="Calibri" pitchFamily="34" charset="-122"/>
                <a:cs typeface="Calibri" pitchFamily="34" charset="-120"/>
              </a:rPr>
              <a:t>RQ3</a:t>
            </a:r>
            <a:endParaRPr lang="en-US" sz="2400" dirty="0"/>
          </a:p>
        </p:txBody>
      </p:sp>
      <p:sp>
        <p:nvSpPr>
          <p:cNvPr id="21" name="Text 17"/>
          <p:cNvSpPr txBox="1"/>
          <p:nvPr/>
        </p:nvSpPr>
        <p:spPr>
          <a:xfrm>
            <a:off x="1783080" y="3630168"/>
            <a:ext cx="7116775" cy="987552"/>
          </a:xfrm>
          <a:prstGeom prst="rect">
            <a:avLst/>
          </a:prstGeom>
          <a:noFill/>
          <a:ln/>
        </p:spPr>
        <p:txBody>
          <a:bodyPr wrap="square" lIns="0" tIns="0" rIns="0" bIns="0" rtlCol="0" anchor="ctr"/>
          <a:lstStyle/>
          <a:p>
            <a:pPr indent="0" marL="0">
              <a:buNone/>
            </a:pPr>
            <a:r>
              <a:rPr lang="en-US" sz="1800" dirty="0">
                <a:solidFill>
                  <a:srgbClr val="1B1F24"/>
                </a:solidFill>
                <a:latin typeface="Calibri" pitchFamily="34" charset="0"/>
                <a:ea typeface="Calibri" pitchFamily="34" charset="-122"/>
                <a:cs typeface="Calibri" pitchFamily="34" charset="-120"/>
              </a:rPr>
              <a:t>What latency, data loss and recovery from sensor through local log to the LTE link?</a:t>
            </a:r>
            <a:endParaRPr lang="en-US" sz="1800" dirty="0"/>
          </a:p>
        </p:txBody>
      </p:sp>
      <p:sp>
        <p:nvSpPr>
          <p:cNvPr id="22" name="Shape 18"/>
          <p:cNvSpPr/>
          <p:nvPr/>
        </p:nvSpPr>
        <p:spPr>
          <a:xfrm>
            <a:off x="9128455" y="3895344"/>
            <a:ext cx="2240280" cy="457200"/>
          </a:xfrm>
          <a:prstGeom prst="roundRect">
            <a:avLst>
              <a:gd name="adj" fmla="val 50000"/>
            </a:avLst>
          </a:prstGeom>
          <a:solidFill>
            <a:srgbClr val="1565C0"/>
          </a:solidFill>
          <a:ln w="19050">
            <a:solidFill>
              <a:srgbClr val="1565C0"/>
            </a:solidFill>
            <a:prstDash val="solid"/>
          </a:ln>
        </p:spPr>
      </p:sp>
      <p:sp>
        <p:nvSpPr>
          <p:cNvPr id="23" name="Text 19"/>
          <p:cNvSpPr txBox="1"/>
          <p:nvPr/>
        </p:nvSpPr>
        <p:spPr>
          <a:xfrm>
            <a:off x="9128455" y="3895344"/>
            <a:ext cx="224028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Loss tested</a:t>
            </a:r>
            <a:endParaRPr lang="en-US" sz="1500" dirty="0"/>
          </a:p>
        </p:txBody>
      </p:sp>
      <p:sp>
        <p:nvSpPr>
          <p:cNvPr id="24" name="Shape 20"/>
          <p:cNvSpPr/>
          <p:nvPr/>
        </p:nvSpPr>
        <p:spPr>
          <a:xfrm>
            <a:off x="548640" y="4782312"/>
            <a:ext cx="11094415" cy="987552"/>
          </a:xfrm>
          <a:prstGeom prst="roundRect">
            <a:avLst>
              <a:gd name="adj" fmla="val 11111"/>
            </a:avLst>
          </a:prstGeom>
          <a:solidFill>
            <a:srgbClr val="E8F0FA"/>
          </a:solidFill>
          <a:ln w="12700">
            <a:solidFill>
              <a:srgbClr val="E8F0FA"/>
            </a:solidFill>
            <a:prstDash val="solid"/>
          </a:ln>
        </p:spPr>
      </p:sp>
      <p:sp>
        <p:nvSpPr>
          <p:cNvPr id="25" name="Text 21"/>
          <p:cNvSpPr txBox="1"/>
          <p:nvPr/>
        </p:nvSpPr>
        <p:spPr>
          <a:xfrm>
            <a:off x="822960" y="4782312"/>
            <a:ext cx="914400" cy="987552"/>
          </a:xfrm>
          <a:prstGeom prst="rect">
            <a:avLst/>
          </a:prstGeom>
          <a:noFill/>
          <a:ln/>
        </p:spPr>
        <p:txBody>
          <a:bodyPr wrap="square" lIns="0" tIns="0" rIns="0" bIns="0" rtlCol="0" anchor="ctr"/>
          <a:lstStyle/>
          <a:p>
            <a:pPr indent="0" marL="0">
              <a:buNone/>
            </a:pPr>
            <a:r>
              <a:rPr lang="en-US" sz="2400" b="1" dirty="0">
                <a:solidFill>
                  <a:srgbClr val="14305C"/>
                </a:solidFill>
                <a:latin typeface="Calibri" pitchFamily="34" charset="0"/>
                <a:ea typeface="Calibri" pitchFamily="34" charset="-122"/>
                <a:cs typeface="Calibri" pitchFamily="34" charset="-120"/>
              </a:rPr>
              <a:t>RQ4</a:t>
            </a:r>
            <a:endParaRPr lang="en-US" sz="2400" dirty="0"/>
          </a:p>
        </p:txBody>
      </p:sp>
      <p:sp>
        <p:nvSpPr>
          <p:cNvPr id="26" name="Text 22"/>
          <p:cNvSpPr txBox="1"/>
          <p:nvPr/>
        </p:nvSpPr>
        <p:spPr>
          <a:xfrm>
            <a:off x="1783080" y="4782312"/>
            <a:ext cx="7116775" cy="987552"/>
          </a:xfrm>
          <a:prstGeom prst="rect">
            <a:avLst/>
          </a:prstGeom>
          <a:noFill/>
          <a:ln/>
        </p:spPr>
        <p:txBody>
          <a:bodyPr wrap="square" lIns="0" tIns="0" rIns="0" bIns="0" rtlCol="0" anchor="ctr"/>
          <a:lstStyle/>
          <a:p>
            <a:pPr indent="0" marL="0">
              <a:buNone/>
            </a:pPr>
            <a:r>
              <a:rPr lang="en-US" sz="1800" dirty="0">
                <a:solidFill>
                  <a:srgbClr val="1B1F24"/>
                </a:solidFill>
                <a:latin typeface="Calibri" pitchFamily="34" charset="0"/>
                <a:ea typeface="Calibri" pitchFamily="34" charset="-122"/>
                <a:cs typeface="Calibri" pitchFamily="34" charset="-120"/>
              </a:rPr>
              <a:t>Which ride features separate road-induced from powertrain vibration?</a:t>
            </a:r>
            <a:endParaRPr lang="en-US" sz="1800" dirty="0"/>
          </a:p>
        </p:txBody>
      </p:sp>
      <p:sp>
        <p:nvSpPr>
          <p:cNvPr id="27" name="Shape 23"/>
          <p:cNvSpPr/>
          <p:nvPr/>
        </p:nvSpPr>
        <p:spPr>
          <a:xfrm>
            <a:off x="9128455" y="5047488"/>
            <a:ext cx="2240280" cy="457200"/>
          </a:xfrm>
          <a:prstGeom prst="roundRect">
            <a:avLst>
              <a:gd name="adj" fmla="val 50000"/>
            </a:avLst>
          </a:prstGeom>
          <a:solidFill>
            <a:srgbClr val="14305C"/>
          </a:solidFill>
          <a:ln w="19050">
            <a:solidFill>
              <a:srgbClr val="14305C"/>
            </a:solidFill>
            <a:prstDash val="solid"/>
          </a:ln>
        </p:spPr>
      </p:sp>
      <p:sp>
        <p:nvSpPr>
          <p:cNvPr id="28" name="Text 24"/>
          <p:cNvSpPr txBox="1"/>
          <p:nvPr/>
        </p:nvSpPr>
        <p:spPr>
          <a:xfrm>
            <a:off x="9128455" y="5047488"/>
            <a:ext cx="224028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Stand lines found</a:t>
            </a:r>
            <a:endParaRPr lang="en-US" sz="15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384048"/>
            <a:ext cx="566928" cy="566928"/>
          </a:xfrm>
          <a:prstGeom prst="ellipse">
            <a:avLst/>
          </a:prstGeom>
          <a:solidFill>
            <a:srgbClr val="14305C"/>
          </a:solidFill>
          <a:ln w="12700">
            <a:solidFill>
              <a:srgbClr val="14305C"/>
            </a:solidFill>
            <a:prstDash val="solid"/>
          </a:ln>
        </p:spPr>
      </p:sp>
      <p:sp>
        <p:nvSpPr>
          <p:cNvPr id="3" name="Text 1"/>
          <p:cNvSpPr txBox="1"/>
          <p:nvPr/>
        </p:nvSpPr>
        <p:spPr>
          <a:xfrm>
            <a:off x="548640" y="384048"/>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4" name="Text 2"/>
          <p:cNvSpPr txBox="1"/>
          <p:nvPr/>
        </p:nvSpPr>
        <p:spPr>
          <a:xfrm>
            <a:off x="1325880" y="310896"/>
            <a:ext cx="10317175" cy="731520"/>
          </a:xfrm>
          <a:prstGeom prst="rect">
            <a:avLst/>
          </a:prstGeom>
          <a:noFill/>
          <a:ln/>
        </p:spPr>
        <p:txBody>
          <a:bodyPr wrap="square" lIns="0" tIns="0" rIns="0" bIns="0" rtlCol="0" anchor="ctr"/>
          <a:lstStyle/>
          <a:p>
            <a:pPr indent="0" marL="0">
              <a:buNone/>
            </a:pPr>
            <a:r>
              <a:rPr lang="en-US" sz="3200" b="1" dirty="0">
                <a:solidFill>
                  <a:srgbClr val="14305C"/>
                </a:solidFill>
                <a:latin typeface="Calibri" pitchFamily="34" charset="0"/>
                <a:ea typeface="Calibri" pitchFamily="34" charset="-122"/>
                <a:cs typeface="Calibri" pitchFamily="34" charset="-120"/>
              </a:rPr>
              <a:t>The system: front and rear, joined by one cable</a:t>
            </a:r>
            <a:endParaRPr lang="en-US" sz="3200" dirty="0"/>
          </a:p>
        </p:txBody>
      </p:sp>
      <p:pic>
        <p:nvPicPr>
          <p:cNvPr id="5" name="Image 0" descr="C:\Users\0geda\OneDrive - University of Cape Town\Documents\PlatformIO\Projects\Tukzie-HPEC-HUD\Presentation\source\assets\uct_logo.png">    </p:cNvPr>
          <p:cNvPicPr>
            <a:picLocks noChangeAspect="1"/>
          </p:cNvPicPr>
          <p:nvPr/>
        </p:nvPicPr>
        <p:blipFill>
          <a:blip r:embed="rId1"/>
          <a:stretch>
            <a:fillRect/>
          </a:stretch>
        </p:blipFill>
        <p:spPr>
          <a:xfrm>
            <a:off x="11259007" y="6327648"/>
            <a:ext cx="384048" cy="390449"/>
          </a:xfrm>
          <a:prstGeom prst="rect">
            <a:avLst/>
          </a:prstGeom>
        </p:spPr>
      </p:pic>
      <p:sp>
        <p:nvSpPr>
          <p:cNvPr id="6" name="Text 3"/>
          <p:cNvSpPr txBox="1"/>
          <p:nvPr/>
        </p:nvSpPr>
        <p:spPr>
          <a:xfrm>
            <a:off x="548640" y="6382512"/>
            <a:ext cx="5486400" cy="292608"/>
          </a:xfrm>
          <a:prstGeom prst="rect">
            <a:avLst/>
          </a:prstGeom>
          <a:noFill/>
          <a:ln/>
        </p:spPr>
        <p:txBody>
          <a:bodyPr wrap="square" lIns="0" tIns="0" rIns="0" bIns="0" rtlCol="0" anchor="ctr"/>
          <a:lstStyle/>
          <a:p>
            <a:pPr indent="0" marL="0">
              <a:buNone/>
            </a:pPr>
            <a:r>
              <a:rPr lang="en-US" sz="1100" dirty="0">
                <a:solidFill>
                  <a:srgbClr val="4A5566"/>
                </a:solidFill>
                <a:latin typeface="Calibri" pitchFamily="34" charset="0"/>
                <a:ea typeface="Calibri" pitchFamily="34" charset="-122"/>
                <a:cs typeface="Calibri" pitchFamily="34" charset="-120"/>
              </a:rPr>
              <a:t>SW-7   |   Samson Okuthe   |   EEE4022S 2026</a:t>
            </a:r>
            <a:endParaRPr lang="en-US" sz="1100" dirty="0"/>
          </a:p>
        </p:txBody>
      </p:sp>
      <p:sp>
        <p:nvSpPr>
          <p:cNvPr id="7" name="Text 4"/>
          <p:cNvSpPr txBox="1"/>
          <p:nvPr/>
        </p:nvSpPr>
        <p:spPr>
          <a:xfrm>
            <a:off x="10180015" y="6382512"/>
            <a:ext cx="914400" cy="292608"/>
          </a:xfrm>
          <a:prstGeom prst="rect">
            <a:avLst/>
          </a:prstGeom>
          <a:noFill/>
          <a:ln/>
        </p:spPr>
        <p:txBody>
          <a:bodyPr wrap="square" lIns="0" tIns="0" rIns="0" bIns="0" rtlCol="0" anchor="ctr"/>
          <a:lstStyle/>
          <a:p>
            <a:pPr algn="r" indent="0" marL="0">
              <a:buNone/>
            </a:pPr>
            <a:r>
              <a:rPr lang="en-US" sz="1100" dirty="0">
                <a:solidFill>
                  <a:srgbClr val="4A5566"/>
                </a:solidFill>
                <a:latin typeface="Calibri" pitchFamily="34" charset="0"/>
                <a:ea typeface="Calibri" pitchFamily="34" charset="-122"/>
                <a:cs typeface="Calibri" pitchFamily="34" charset="-120"/>
              </a:rPr>
              <a:t>4 / 14</a:t>
            </a:r>
            <a:endParaRPr lang="en-US" sz="1100" dirty="0"/>
          </a:p>
        </p:txBody>
      </p:sp>
      <p:sp>
        <p:nvSpPr>
          <p:cNvPr id="9" name="Shape 5"/>
          <p:cNvSpPr/>
          <p:nvPr/>
        </p:nvSpPr>
        <p:spPr>
          <a:xfrm>
            <a:off x="548640" y="1325880"/>
            <a:ext cx="4572000" cy="3154680"/>
          </a:xfrm>
          <a:prstGeom prst="roundRect">
            <a:avLst>
              <a:gd name="adj" fmla="val 3478"/>
            </a:avLst>
          </a:prstGeom>
          <a:solidFill>
            <a:srgbClr val="E8F0FA"/>
          </a:solidFill>
          <a:ln w="12700">
            <a:solidFill>
              <a:srgbClr val="E8F0FA"/>
            </a:solidFill>
            <a:prstDash val="solid"/>
          </a:ln>
        </p:spPr>
      </p:sp>
      <p:sp>
        <p:nvSpPr>
          <p:cNvPr id="10" name="Text 6"/>
          <p:cNvSpPr txBox="1"/>
          <p:nvPr/>
        </p:nvSpPr>
        <p:spPr>
          <a:xfrm>
            <a:off x="822960" y="1490472"/>
            <a:ext cx="4023360" cy="685800"/>
          </a:xfrm>
          <a:prstGeom prst="rect">
            <a:avLst/>
          </a:prstGeom>
          <a:noFill/>
          <a:ln/>
        </p:spPr>
        <p:txBody>
          <a:bodyPr wrap="square" lIns="0" tIns="0" rIns="0" bIns="0" rtlCol="0" anchor="t"/>
          <a:lstStyle/>
          <a:p>
            <a:pPr indent="0" marL="0">
              <a:buNone/>
            </a:pPr>
            <a:r>
              <a:rPr lang="en-US" sz="1900" b="1" dirty="0">
                <a:solidFill>
                  <a:srgbClr val="14305C"/>
                </a:solidFill>
                <a:latin typeface="Calibri" pitchFamily="34" charset="0"/>
                <a:ea typeface="Calibri" pitchFamily="34" charset="-122"/>
                <a:cs typeface="Calibri" pitchFamily="34" charset="-120"/>
              </a:rPr>
              <a:t>Front: Raspberry Pi 5,</a:t>
            </a:r>
            <a:endParaRPr lang="en-US" sz="1900" dirty="0"/>
          </a:p>
          <a:p>
            <a:pPr indent="0" marL="0">
              <a:buNone/>
            </a:pPr>
            <a:r>
              <a:rPr lang="en-US" sz="1900" b="1" dirty="0">
                <a:solidFill>
                  <a:srgbClr val="14305C"/>
                </a:solidFill>
                <a:latin typeface="Calibri" pitchFamily="34" charset="0"/>
                <a:ea typeface="Calibri" pitchFamily="34" charset="-122"/>
                <a:cs typeface="Calibri" pitchFamily="34" charset="-120"/>
              </a:rPr>
              <a:t>behind the dashboard</a:t>
            </a:r>
            <a:endParaRPr lang="en-US" sz="1900" dirty="0"/>
          </a:p>
        </p:txBody>
      </p:sp>
      <p:sp>
        <p:nvSpPr>
          <p:cNvPr id="11" name="Text 7"/>
          <p:cNvSpPr txBox="1"/>
          <p:nvPr/>
        </p:nvSpPr>
        <p:spPr>
          <a:xfrm>
            <a:off x="822960" y="2240280"/>
            <a:ext cx="4023360" cy="2148840"/>
          </a:xfrm>
          <a:prstGeom prst="rect">
            <a:avLst/>
          </a:prstGeom>
          <a:noFill/>
          <a:ln/>
        </p:spPr>
        <p:txBody>
          <a:bodyPr wrap="square" lIns="0" tIns="0" rIns="0" bIns="0" rtlCol="0" anchor="t"/>
          <a:lstStyle/>
          <a:p>
            <a:pPr marL="228600" indent="-228600">
              <a:spcAft>
                <a:spcPts val="800"/>
              </a:spcAft>
              <a:buSzPct val="100000"/>
              <a:buChar char="•"/>
            </a:pPr>
            <a:r>
              <a:rPr lang="en-US" sz="1600" dirty="0">
                <a:solidFill>
                  <a:srgbClr val="1B1F24"/>
                </a:solidFill>
                <a:latin typeface="Calibri" pitchFamily="34" charset="0"/>
                <a:ea typeface="Calibri" pitchFamily="34" charset="-122"/>
                <a:cs typeface="Calibri" pitchFamily="34" charset="-120"/>
              </a:rPr>
              <a:t>Front camera, detector, time-of-flight board</a:t>
            </a:r>
            <a:endParaRPr lang="en-US" sz="1600" dirty="0"/>
          </a:p>
          <a:p>
            <a:pPr marL="228600" indent="-228600">
              <a:spcAft>
                <a:spcPts val="800"/>
              </a:spcAft>
              <a:buSzPct val="100000"/>
              <a:buChar char="•"/>
            </a:pPr>
            <a:r>
              <a:rPr lang="en-US" sz="1600" dirty="0">
                <a:solidFill>
                  <a:srgbClr val="1B1F24"/>
                </a:solidFill>
                <a:latin typeface="Calibri" pitchFamily="34" charset="0"/>
                <a:ea typeface="Calibri" pitchFamily="34" charset="-122"/>
                <a:cs typeface="Calibri" pitchFamily="34" charset="-120"/>
              </a:rPr>
              <a:t>Front node: ESP32-S3 with one IMU at 200 Hz</a:t>
            </a:r>
            <a:endParaRPr lang="en-US" sz="1600" dirty="0"/>
          </a:p>
          <a:p>
            <a:pPr marL="228600" indent="-228600">
              <a:spcAft>
                <a:spcPts val="800"/>
              </a:spcAft>
              <a:buSzPct val="100000"/>
              <a:buChar char="•"/>
            </a:pPr>
            <a:r>
              <a:rPr lang="en-US" sz="1600" dirty="0">
                <a:solidFill>
                  <a:srgbClr val="1B1F24"/>
                </a:solidFill>
                <a:latin typeface="Calibri" pitchFamily="34" charset="0"/>
                <a:ea typeface="Calibri" pitchFamily="34" charset="-122"/>
                <a:cs typeface="Calibri" pitchFamily="34" charset="-120"/>
              </a:rPr>
              <a:t>Dashboard on the 10.1 in touchscreen; phone GNSS for speed</a:t>
            </a:r>
            <a:endParaRPr lang="en-US" sz="1600" dirty="0"/>
          </a:p>
          <a:p>
            <a:pPr marL="228600" indent="-228600">
              <a:spcAft>
                <a:spcPts val="800"/>
              </a:spcAft>
              <a:buSzPct val="100000"/>
              <a:buChar char="•"/>
            </a:pPr>
            <a:r>
              <a:rPr lang="en-US" sz="1600" dirty="0">
                <a:solidFill>
                  <a:srgbClr val="1B1F24"/>
                </a:solidFill>
                <a:latin typeface="Calibri" pitchFamily="34" charset="0"/>
                <a:ea typeface="Calibri" pitchFamily="34" charset="-122"/>
                <a:cs typeface="Calibri" pitchFamily="34" charset="-120"/>
              </a:rPr>
              <a:t>Road recorder for all sources</a:t>
            </a:r>
            <a:endParaRPr lang="en-US" sz="1600" dirty="0"/>
          </a:p>
        </p:txBody>
      </p:sp>
      <p:sp>
        <p:nvSpPr>
          <p:cNvPr id="12" name="Shape 8"/>
          <p:cNvSpPr/>
          <p:nvPr/>
        </p:nvSpPr>
        <p:spPr>
          <a:xfrm>
            <a:off x="7071055" y="1325880"/>
            <a:ext cx="4572000" cy="3154680"/>
          </a:xfrm>
          <a:prstGeom prst="roundRect">
            <a:avLst>
              <a:gd name="adj" fmla="val 3478"/>
            </a:avLst>
          </a:prstGeom>
          <a:solidFill>
            <a:srgbClr val="E8F0FA"/>
          </a:solidFill>
          <a:ln w="12700">
            <a:solidFill>
              <a:srgbClr val="E8F0FA"/>
            </a:solidFill>
            <a:prstDash val="solid"/>
          </a:ln>
        </p:spPr>
      </p:sp>
      <p:sp>
        <p:nvSpPr>
          <p:cNvPr id="13" name="Text 9"/>
          <p:cNvSpPr txBox="1"/>
          <p:nvPr/>
        </p:nvSpPr>
        <p:spPr>
          <a:xfrm>
            <a:off x="7345375" y="1490472"/>
            <a:ext cx="4023360" cy="685800"/>
          </a:xfrm>
          <a:prstGeom prst="rect">
            <a:avLst/>
          </a:prstGeom>
          <a:noFill/>
          <a:ln/>
        </p:spPr>
        <p:txBody>
          <a:bodyPr wrap="square" lIns="0" tIns="0" rIns="0" bIns="0" rtlCol="0" anchor="t"/>
          <a:lstStyle/>
          <a:p>
            <a:pPr indent="0" marL="0">
              <a:buNone/>
            </a:pPr>
            <a:r>
              <a:rPr lang="en-US" sz="1900" b="1" dirty="0">
                <a:solidFill>
                  <a:srgbClr val="14305C"/>
                </a:solidFill>
                <a:latin typeface="Calibri" pitchFamily="34" charset="0"/>
                <a:ea typeface="Calibri" pitchFamily="34" charset="-122"/>
                <a:cs typeface="Calibri" pitchFamily="34" charset="-120"/>
              </a:rPr>
              <a:t>Rear: Raspberry Pi 4,</a:t>
            </a:r>
            <a:endParaRPr lang="en-US" sz="1900" dirty="0"/>
          </a:p>
          <a:p>
            <a:pPr indent="0" marL="0">
              <a:buNone/>
            </a:pPr>
            <a:r>
              <a:rPr lang="en-US" sz="1900" b="1" dirty="0">
                <a:solidFill>
                  <a:srgbClr val="14305C"/>
                </a:solidFill>
                <a:latin typeface="Calibri" pitchFamily="34" charset="0"/>
                <a:ea typeface="Calibri" pitchFamily="34" charset="-122"/>
                <a:cs typeface="Calibri" pitchFamily="34" charset="-120"/>
              </a:rPr>
              <a:t>beside the battery</a:t>
            </a:r>
            <a:endParaRPr lang="en-US" sz="1900" dirty="0"/>
          </a:p>
        </p:txBody>
      </p:sp>
      <p:sp>
        <p:nvSpPr>
          <p:cNvPr id="14" name="Text 10"/>
          <p:cNvSpPr txBox="1"/>
          <p:nvPr/>
        </p:nvSpPr>
        <p:spPr>
          <a:xfrm>
            <a:off x="7345375" y="2240280"/>
            <a:ext cx="4023360" cy="2148840"/>
          </a:xfrm>
          <a:prstGeom prst="rect">
            <a:avLst/>
          </a:prstGeom>
          <a:noFill/>
          <a:ln/>
        </p:spPr>
        <p:txBody>
          <a:bodyPr wrap="square" lIns="0" tIns="0" rIns="0" bIns="0" rtlCol="0" anchor="t"/>
          <a:lstStyle/>
          <a:p>
            <a:pPr marL="228600" indent="-228600">
              <a:spcAft>
                <a:spcPts val="800"/>
              </a:spcAft>
              <a:buSzPct val="100000"/>
              <a:buChar char="•"/>
            </a:pPr>
            <a:r>
              <a:rPr lang="en-US" sz="1600" dirty="0">
                <a:solidFill>
                  <a:srgbClr val="1B1F24"/>
                </a:solidFill>
                <a:latin typeface="Calibri" pitchFamily="34" charset="0"/>
                <a:ea typeface="Calibri" pitchFamily="34" charset="-122"/>
                <a:cs typeface="Calibri" pitchFamily="34" charset="-120"/>
              </a:rPr>
              <a:t>Rear camera, detector, time-of-flight board</a:t>
            </a:r>
            <a:endParaRPr lang="en-US" sz="1600" dirty="0"/>
          </a:p>
          <a:p>
            <a:pPr marL="228600" indent="-228600">
              <a:spcAft>
                <a:spcPts val="800"/>
              </a:spcAft>
              <a:buSzPct val="100000"/>
              <a:buChar char="•"/>
            </a:pPr>
            <a:r>
              <a:rPr lang="en-US" sz="1600" dirty="0">
                <a:solidFill>
                  <a:srgbClr val="1B1F24"/>
                </a:solidFill>
                <a:latin typeface="Calibri" pitchFamily="34" charset="0"/>
                <a:ea typeface="Calibri" pitchFamily="34" charset="-122"/>
                <a:cs typeface="Calibri" pitchFamily="34" charset="-120"/>
              </a:rPr>
              <a:t>Rear node: ESP32-S3 with one IMU at 200 Hz, wired UART</a:t>
            </a:r>
            <a:endParaRPr lang="en-US" sz="1600" dirty="0"/>
          </a:p>
          <a:p>
            <a:pPr marL="228600" indent="-228600">
              <a:spcAft>
                <a:spcPts val="800"/>
              </a:spcAft>
              <a:buSzPct val="100000"/>
              <a:buChar char="•"/>
            </a:pPr>
            <a:r>
              <a:rPr lang="en-US" sz="1600" dirty="0">
                <a:solidFill>
                  <a:srgbClr val="1B1F24"/>
                </a:solidFill>
                <a:latin typeface="Calibri" pitchFamily="34" charset="0"/>
                <a:ea typeface="Calibri" pitchFamily="34" charset="-122"/>
                <a:cs typeface="Calibri" pitchFamily="34" charset="-120"/>
              </a:rPr>
              <a:t>LTE, GNSS, local log; battery over Bluetooth</a:t>
            </a:r>
            <a:endParaRPr lang="en-US" sz="1600" dirty="0"/>
          </a:p>
          <a:p>
            <a:pPr marL="228600" indent="-228600">
              <a:spcAft>
                <a:spcPts val="800"/>
              </a:spcAft>
              <a:buSzPct val="100000"/>
              <a:buChar char="•"/>
            </a:pPr>
            <a:r>
              <a:rPr lang="en-US" sz="1600" dirty="0">
                <a:solidFill>
                  <a:srgbClr val="1B1F24"/>
                </a:solidFill>
                <a:latin typeface="Calibri" pitchFamily="34" charset="0"/>
                <a:ea typeface="Calibri" pitchFamily="34" charset="-122"/>
                <a:cs typeface="Calibri" pitchFamily="34" charset="-120"/>
              </a:rPr>
              <a:t>LTE uplink to the central database</a:t>
            </a:r>
            <a:endParaRPr lang="en-US" sz="1600" dirty="0"/>
          </a:p>
        </p:txBody>
      </p:sp>
      <p:sp>
        <p:nvSpPr>
          <p:cNvPr id="15" name="Shape 11"/>
          <p:cNvSpPr/>
          <p:nvPr/>
        </p:nvSpPr>
        <p:spPr>
          <a:xfrm>
            <a:off x="5230368" y="2903220"/>
            <a:ext cx="1730959" cy="0"/>
          </a:xfrm>
          <a:prstGeom prst="line">
            <a:avLst/>
          </a:prstGeom>
          <a:noFill/>
          <a:ln w="38100">
            <a:solidFill>
              <a:srgbClr val="14305C"/>
            </a:solidFill>
            <a:prstDash val="solid"/>
            <a:headEnd type="triangle"/>
            <a:tailEnd type="triangle"/>
          </a:ln>
        </p:spPr>
      </p:sp>
      <p:sp>
        <p:nvSpPr>
          <p:cNvPr id="16" name="Text 12"/>
          <p:cNvSpPr txBox="1"/>
          <p:nvPr/>
        </p:nvSpPr>
        <p:spPr>
          <a:xfrm>
            <a:off x="5230368" y="2400300"/>
            <a:ext cx="1730959" cy="365760"/>
          </a:xfrm>
          <a:prstGeom prst="rect">
            <a:avLst/>
          </a:prstGeom>
          <a:noFill/>
          <a:ln/>
        </p:spPr>
        <p:txBody>
          <a:bodyPr wrap="square" lIns="0" tIns="0" rIns="0" bIns="0" rtlCol="0" anchor="ctr"/>
          <a:lstStyle/>
          <a:p>
            <a:pPr algn="ctr" indent="0" marL="0">
              <a:buNone/>
            </a:pPr>
            <a:r>
              <a:rPr lang="en-US" sz="1600" b="1" dirty="0">
                <a:solidFill>
                  <a:srgbClr val="14305C"/>
                </a:solidFill>
                <a:latin typeface="Calibri" pitchFamily="34" charset="0"/>
                <a:ea typeface="Calibri" pitchFamily="34" charset="-122"/>
                <a:cs typeface="Calibri" pitchFamily="34" charset="-120"/>
              </a:rPr>
              <a:t>Ethernet</a:t>
            </a:r>
            <a:endParaRPr lang="en-US" sz="1600" dirty="0"/>
          </a:p>
        </p:txBody>
      </p:sp>
      <p:sp>
        <p:nvSpPr>
          <p:cNvPr id="17" name="Text 13"/>
          <p:cNvSpPr txBox="1"/>
          <p:nvPr/>
        </p:nvSpPr>
        <p:spPr>
          <a:xfrm>
            <a:off x="5230368" y="3040380"/>
            <a:ext cx="1730959" cy="640080"/>
          </a:xfrm>
          <a:prstGeom prst="rect">
            <a:avLst/>
          </a:prstGeom>
          <a:noFill/>
          <a:ln/>
        </p:spPr>
        <p:txBody>
          <a:bodyPr wrap="square" lIns="0" tIns="0" rIns="0" bIns="0" rtlCol="0" anchor="t"/>
          <a:lstStyle/>
          <a:p>
            <a:pPr algn="ctr" indent="0" marL="0">
              <a:buNone/>
            </a:pPr>
            <a:r>
              <a:rPr lang="en-US" sz="1300" dirty="0">
                <a:solidFill>
                  <a:srgbClr val="4A5566"/>
                </a:solidFill>
                <a:latin typeface="Calibri" pitchFamily="34" charset="0"/>
                <a:ea typeface="Calibri" pitchFamily="34" charset="-122"/>
                <a:cs typeface="Calibri" pitchFamily="34" charset="-120"/>
              </a:rPr>
              <a:t>1000 Mb/s</a:t>
            </a:r>
            <a:endParaRPr lang="en-US" sz="1300" dirty="0"/>
          </a:p>
          <a:p>
            <a:pPr algn="ctr" indent="0" marL="0">
              <a:buNone/>
            </a:pPr>
            <a:r>
              <a:rPr lang="en-US" sz="1300" dirty="0">
                <a:solidFill>
                  <a:srgbClr val="4A5566"/>
                </a:solidFill>
                <a:latin typeface="Calibri" pitchFamily="34" charset="0"/>
                <a:ea typeface="Calibri" pitchFamily="34" charset="-122"/>
                <a:cs typeface="Calibri" pitchFamily="34" charset="-120"/>
              </a:rPr>
              <a:t>0.22 to 0.25 ms</a:t>
            </a:r>
            <a:endParaRPr lang="en-US" sz="1300" dirty="0"/>
          </a:p>
        </p:txBody>
      </p:sp>
      <p:sp>
        <p:nvSpPr>
          <p:cNvPr id="18" name="Shape 14"/>
          <p:cNvSpPr/>
          <p:nvPr/>
        </p:nvSpPr>
        <p:spPr>
          <a:xfrm>
            <a:off x="548640" y="4754880"/>
            <a:ext cx="11094415" cy="1417320"/>
          </a:xfrm>
          <a:prstGeom prst="roundRect">
            <a:avLst>
              <a:gd name="adj" fmla="val 7742"/>
            </a:avLst>
          </a:prstGeom>
          <a:solidFill>
            <a:srgbClr val="FFFFFF"/>
          </a:solidFill>
          <a:ln w="19050">
            <a:solidFill>
              <a:srgbClr val="1565C0"/>
            </a:solidFill>
            <a:prstDash val="solid"/>
          </a:ln>
        </p:spPr>
      </p:sp>
      <p:sp>
        <p:nvSpPr>
          <p:cNvPr id="19" name="Text 15"/>
          <p:cNvSpPr txBox="1"/>
          <p:nvPr/>
        </p:nvSpPr>
        <p:spPr>
          <a:xfrm>
            <a:off x="822960" y="4754880"/>
            <a:ext cx="10545775" cy="1417320"/>
          </a:xfrm>
          <a:prstGeom prst="rect">
            <a:avLst/>
          </a:prstGeom>
          <a:noFill/>
          <a:ln/>
        </p:spPr>
        <p:txBody>
          <a:bodyPr wrap="square" lIns="0" tIns="0" rIns="0" bIns="0" rtlCol="0" anchor="ctr"/>
          <a:lstStyle/>
          <a:p>
            <a:pPr indent="0" marL="0">
              <a:buNone/>
            </a:pPr>
            <a:r>
              <a:rPr lang="en-US" sz="1600" b="1" dirty="0">
                <a:solidFill>
                  <a:srgbClr val="14305C"/>
                </a:solidFill>
                <a:latin typeface="Calibri" pitchFamily="34" charset="0"/>
                <a:ea typeface="Calibri" pitchFamily="34" charset="-122"/>
                <a:cs typeface="Calibri" pitchFamily="34" charset="-120"/>
              </a:rPr>
              <a:t>Why two sides (15 Oct): </a:t>
            </a:r>
            <a:pPr indent="0" marL="0">
              <a:buNone/>
            </a:pPr>
            <a:r>
              <a:rPr lang="en-US" sz="1600" dirty="0">
                <a:solidFill>
                  <a:srgbClr val="1B1F24"/>
                </a:solidFill>
                <a:latin typeface="Calibri" pitchFamily="34" charset="0"/>
                <a:ea typeface="Calibri" pitchFamily="34" charset="-122"/>
                <a:cs typeface="Calibri" pitchFamily="34" charset="-120"/>
              </a:rPr>
              <a:t>the battery's Bluetooth link did not reach the telemetry unit at the front, and the Pi 5 runs the detector more than twice as fast as the Pi 4. A front alert no longer crosses the network to reach the screen.</a:t>
            </a:r>
            <a:endParaRPr lang="en-US" sz="16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384048"/>
            <a:ext cx="566928" cy="566928"/>
          </a:xfrm>
          <a:prstGeom prst="ellipse">
            <a:avLst/>
          </a:prstGeom>
          <a:solidFill>
            <a:srgbClr val="14305C"/>
          </a:solidFill>
          <a:ln w="12700">
            <a:solidFill>
              <a:srgbClr val="14305C"/>
            </a:solidFill>
            <a:prstDash val="solid"/>
          </a:ln>
        </p:spPr>
      </p:sp>
      <p:sp>
        <p:nvSpPr>
          <p:cNvPr id="3" name="Text 1"/>
          <p:cNvSpPr txBox="1"/>
          <p:nvPr/>
        </p:nvSpPr>
        <p:spPr>
          <a:xfrm>
            <a:off x="548640" y="384048"/>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4" name="Text 2"/>
          <p:cNvSpPr txBox="1"/>
          <p:nvPr/>
        </p:nvSpPr>
        <p:spPr>
          <a:xfrm>
            <a:off x="1325880" y="310896"/>
            <a:ext cx="10317175" cy="731520"/>
          </a:xfrm>
          <a:prstGeom prst="rect">
            <a:avLst/>
          </a:prstGeom>
          <a:noFill/>
          <a:ln/>
        </p:spPr>
        <p:txBody>
          <a:bodyPr wrap="square" lIns="0" tIns="0" rIns="0" bIns="0" rtlCol="0" anchor="ctr"/>
          <a:lstStyle/>
          <a:p>
            <a:pPr indent="0" marL="0">
              <a:buNone/>
            </a:pPr>
            <a:r>
              <a:rPr lang="en-US" sz="3200" b="1" dirty="0">
                <a:solidFill>
                  <a:srgbClr val="14305C"/>
                </a:solidFill>
                <a:latin typeface="Calibri" pitchFamily="34" charset="0"/>
                <a:ea typeface="Calibri" pitchFamily="34" charset="-122"/>
                <a:cs typeface="Calibri" pitchFamily="34" charset="-120"/>
              </a:rPr>
              <a:t>Firmware: deterministic acquisition first</a:t>
            </a:r>
            <a:endParaRPr lang="en-US" sz="3200" dirty="0"/>
          </a:p>
        </p:txBody>
      </p:sp>
      <p:pic>
        <p:nvPicPr>
          <p:cNvPr id="5" name="Image 0" descr="C:\Users\0geda\OneDrive - University of Cape Town\Documents\PlatformIO\Projects\Tukzie-HPEC-HUD\Presentation\source\assets\uct_logo.png">    </p:cNvPr>
          <p:cNvPicPr>
            <a:picLocks noChangeAspect="1"/>
          </p:cNvPicPr>
          <p:nvPr/>
        </p:nvPicPr>
        <p:blipFill>
          <a:blip r:embed="rId1"/>
          <a:stretch>
            <a:fillRect/>
          </a:stretch>
        </p:blipFill>
        <p:spPr>
          <a:xfrm>
            <a:off x="11259007" y="6327648"/>
            <a:ext cx="384048" cy="390449"/>
          </a:xfrm>
          <a:prstGeom prst="rect">
            <a:avLst/>
          </a:prstGeom>
        </p:spPr>
      </p:pic>
      <p:sp>
        <p:nvSpPr>
          <p:cNvPr id="6" name="Text 3"/>
          <p:cNvSpPr txBox="1"/>
          <p:nvPr/>
        </p:nvSpPr>
        <p:spPr>
          <a:xfrm>
            <a:off x="548640" y="6382512"/>
            <a:ext cx="5486400" cy="292608"/>
          </a:xfrm>
          <a:prstGeom prst="rect">
            <a:avLst/>
          </a:prstGeom>
          <a:noFill/>
          <a:ln/>
        </p:spPr>
        <p:txBody>
          <a:bodyPr wrap="square" lIns="0" tIns="0" rIns="0" bIns="0" rtlCol="0" anchor="ctr"/>
          <a:lstStyle/>
          <a:p>
            <a:pPr indent="0" marL="0">
              <a:buNone/>
            </a:pPr>
            <a:r>
              <a:rPr lang="en-US" sz="1100" dirty="0">
                <a:solidFill>
                  <a:srgbClr val="4A5566"/>
                </a:solidFill>
                <a:latin typeface="Calibri" pitchFamily="34" charset="0"/>
                <a:ea typeface="Calibri" pitchFamily="34" charset="-122"/>
                <a:cs typeface="Calibri" pitchFamily="34" charset="-120"/>
              </a:rPr>
              <a:t>SW-7   |   Samson Okuthe   |   EEE4022S 2026</a:t>
            </a:r>
            <a:endParaRPr lang="en-US" sz="1100" dirty="0"/>
          </a:p>
        </p:txBody>
      </p:sp>
      <p:sp>
        <p:nvSpPr>
          <p:cNvPr id="7" name="Text 4"/>
          <p:cNvSpPr txBox="1"/>
          <p:nvPr/>
        </p:nvSpPr>
        <p:spPr>
          <a:xfrm>
            <a:off x="10180015" y="6382512"/>
            <a:ext cx="914400" cy="292608"/>
          </a:xfrm>
          <a:prstGeom prst="rect">
            <a:avLst/>
          </a:prstGeom>
          <a:noFill/>
          <a:ln/>
        </p:spPr>
        <p:txBody>
          <a:bodyPr wrap="square" lIns="0" tIns="0" rIns="0" bIns="0" rtlCol="0" anchor="ctr"/>
          <a:lstStyle/>
          <a:p>
            <a:pPr algn="r" indent="0" marL="0">
              <a:buNone/>
            </a:pPr>
            <a:r>
              <a:rPr lang="en-US" sz="1100" dirty="0">
                <a:solidFill>
                  <a:srgbClr val="4A5566"/>
                </a:solidFill>
                <a:latin typeface="Calibri" pitchFamily="34" charset="0"/>
                <a:ea typeface="Calibri" pitchFamily="34" charset="-122"/>
                <a:cs typeface="Calibri" pitchFamily="34" charset="-120"/>
              </a:rPr>
              <a:t>5 / 14</a:t>
            </a:r>
            <a:endParaRPr lang="en-US" sz="1100" dirty="0"/>
          </a:p>
        </p:txBody>
      </p:sp>
      <p:sp>
        <p:nvSpPr>
          <p:cNvPr id="9" name="Shape 5"/>
          <p:cNvSpPr/>
          <p:nvPr/>
        </p:nvSpPr>
        <p:spPr>
          <a:xfrm>
            <a:off x="548640" y="1325880"/>
            <a:ext cx="7406640" cy="4343400"/>
          </a:xfrm>
          <a:prstGeom prst="roundRect">
            <a:avLst>
              <a:gd name="adj" fmla="val 2526"/>
            </a:avLst>
          </a:prstGeom>
          <a:solidFill>
            <a:srgbClr val="E8F0FA"/>
          </a:solidFill>
          <a:ln w="12700">
            <a:solidFill>
              <a:srgbClr val="E8F0FA"/>
            </a:solidFill>
            <a:prstDash val="solid"/>
          </a:ln>
        </p:spPr>
      </p:sp>
      <p:sp>
        <p:nvSpPr>
          <p:cNvPr id="10" name="Text 6"/>
          <p:cNvSpPr txBox="1"/>
          <p:nvPr/>
        </p:nvSpPr>
        <p:spPr>
          <a:xfrm>
            <a:off x="777240" y="1435608"/>
            <a:ext cx="3657600" cy="365760"/>
          </a:xfrm>
          <a:prstGeom prst="rect">
            <a:avLst/>
          </a:prstGeom>
          <a:noFill/>
          <a:ln/>
        </p:spPr>
        <p:txBody>
          <a:bodyPr wrap="square" lIns="0" tIns="0" rIns="0" bIns="0" rtlCol="0" anchor="ctr"/>
          <a:lstStyle/>
          <a:p>
            <a:pPr indent="0" marL="0">
              <a:buNone/>
            </a:pPr>
            <a:r>
              <a:rPr lang="en-US" sz="1600" b="1" dirty="0">
                <a:solidFill>
                  <a:srgbClr val="1565C0"/>
                </a:solidFill>
                <a:latin typeface="Calibri" pitchFamily="34" charset="0"/>
                <a:ea typeface="Calibri" pitchFamily="34" charset="-122"/>
                <a:cs typeface="Calibri" pitchFamily="34" charset="-120"/>
              </a:rPr>
              <a:t>Core 1: timing-critical</a:t>
            </a:r>
            <a:endParaRPr lang="en-US" sz="1600" dirty="0"/>
          </a:p>
        </p:txBody>
      </p:sp>
      <p:sp>
        <p:nvSpPr>
          <p:cNvPr id="11" name="Shape 7"/>
          <p:cNvSpPr/>
          <p:nvPr/>
        </p:nvSpPr>
        <p:spPr>
          <a:xfrm>
            <a:off x="822960" y="1965960"/>
            <a:ext cx="2011680" cy="914400"/>
          </a:xfrm>
          <a:prstGeom prst="roundRect">
            <a:avLst>
              <a:gd name="adj" fmla="val 10000"/>
            </a:avLst>
          </a:prstGeom>
          <a:solidFill>
            <a:srgbClr val="FFFFFF"/>
          </a:solidFill>
          <a:ln w="19050">
            <a:solidFill>
              <a:srgbClr val="1565C0"/>
            </a:solidFill>
            <a:prstDash val="solid"/>
          </a:ln>
        </p:spPr>
      </p:sp>
      <p:sp>
        <p:nvSpPr>
          <p:cNvPr id="12" name="Text 8"/>
          <p:cNvSpPr txBox="1"/>
          <p:nvPr/>
        </p:nvSpPr>
        <p:spPr>
          <a:xfrm>
            <a:off x="932688" y="2020824"/>
            <a:ext cx="1792224" cy="329184"/>
          </a:xfrm>
          <a:prstGeom prst="rect">
            <a:avLst/>
          </a:prstGeom>
          <a:noFill/>
          <a:ln/>
        </p:spPr>
        <p:txBody>
          <a:bodyPr wrap="square" lIns="0" tIns="0" rIns="0" bIns="0" rtlCol="0" anchor="ctr"/>
          <a:lstStyle/>
          <a:p>
            <a:pPr algn="ctr" indent="0" marL="0">
              <a:buNone/>
            </a:pPr>
            <a:r>
              <a:rPr lang="en-US" sz="1500" b="1" dirty="0">
                <a:solidFill>
                  <a:srgbClr val="14305C"/>
                </a:solidFill>
                <a:latin typeface="Calibri" pitchFamily="34" charset="0"/>
                <a:ea typeface="Calibri" pitchFamily="34" charset="-122"/>
                <a:cs typeface="Calibri" pitchFamily="34" charset="-120"/>
              </a:rPr>
              <a:t>Imu1Task</a:t>
            </a:r>
            <a:endParaRPr lang="en-US" sz="1500" dirty="0"/>
          </a:p>
        </p:txBody>
      </p:sp>
      <p:sp>
        <p:nvSpPr>
          <p:cNvPr id="13" name="Text 9"/>
          <p:cNvSpPr txBox="1"/>
          <p:nvPr/>
        </p:nvSpPr>
        <p:spPr>
          <a:xfrm>
            <a:off x="932688" y="2350008"/>
            <a:ext cx="1792224" cy="475488"/>
          </a:xfrm>
          <a:prstGeom prst="rect">
            <a:avLst/>
          </a:prstGeom>
          <a:noFill/>
          <a:ln/>
        </p:spPr>
        <p:txBody>
          <a:bodyPr wrap="square" lIns="0" tIns="0" rIns="0" bIns="0" rtlCol="0" anchor="t"/>
          <a:lstStyle/>
          <a:p>
            <a:pPr algn="ctr" indent="0" marL="0">
              <a:buNone/>
            </a:pPr>
            <a:r>
              <a:rPr lang="en-US" sz="1200" dirty="0">
                <a:solidFill>
                  <a:srgbClr val="4A5566"/>
                </a:solidFill>
                <a:latin typeface="Calibri" pitchFamily="34" charset="0"/>
                <a:ea typeface="Calibri" pitchFamily="34" charset="-122"/>
                <a:cs typeface="Calibri" pitchFamily="34" charset="-120"/>
              </a:rPr>
              <a:t>200 Hz, priority 3, 94 Hz filter</a:t>
            </a:r>
            <a:endParaRPr lang="en-US" sz="1200" dirty="0"/>
          </a:p>
        </p:txBody>
      </p:sp>
      <p:sp>
        <p:nvSpPr>
          <p:cNvPr id="14" name="Shape 10"/>
          <p:cNvSpPr/>
          <p:nvPr/>
        </p:nvSpPr>
        <p:spPr>
          <a:xfrm>
            <a:off x="822960" y="3200400"/>
            <a:ext cx="2011680" cy="914400"/>
          </a:xfrm>
          <a:prstGeom prst="roundRect">
            <a:avLst>
              <a:gd name="adj" fmla="val 10000"/>
            </a:avLst>
          </a:prstGeom>
          <a:solidFill>
            <a:srgbClr val="FFFFFF"/>
          </a:solidFill>
          <a:ln w="19050">
            <a:solidFill>
              <a:srgbClr val="1565C0"/>
            </a:solidFill>
            <a:prstDash val="solid"/>
          </a:ln>
        </p:spPr>
      </p:sp>
      <p:sp>
        <p:nvSpPr>
          <p:cNvPr id="15" name="Text 11"/>
          <p:cNvSpPr txBox="1"/>
          <p:nvPr/>
        </p:nvSpPr>
        <p:spPr>
          <a:xfrm>
            <a:off x="932688" y="3255264"/>
            <a:ext cx="1792224" cy="329184"/>
          </a:xfrm>
          <a:prstGeom prst="rect">
            <a:avLst/>
          </a:prstGeom>
          <a:noFill/>
          <a:ln/>
        </p:spPr>
        <p:txBody>
          <a:bodyPr wrap="square" lIns="0" tIns="0" rIns="0" bIns="0" rtlCol="0" anchor="ctr"/>
          <a:lstStyle/>
          <a:p>
            <a:pPr algn="ctr" indent="0" marL="0">
              <a:buNone/>
            </a:pPr>
            <a:r>
              <a:rPr lang="en-US" sz="1500" b="1" dirty="0">
                <a:solidFill>
                  <a:srgbClr val="14305C"/>
                </a:solidFill>
                <a:latin typeface="Calibri" pitchFamily="34" charset="0"/>
                <a:ea typeface="Calibri" pitchFamily="34" charset="-122"/>
                <a:cs typeface="Calibri" pitchFamily="34" charset="-120"/>
              </a:rPr>
              <a:t>Imu2Task</a:t>
            </a:r>
            <a:endParaRPr lang="en-US" sz="1500" dirty="0"/>
          </a:p>
        </p:txBody>
      </p:sp>
      <p:sp>
        <p:nvSpPr>
          <p:cNvPr id="16" name="Text 12"/>
          <p:cNvSpPr txBox="1"/>
          <p:nvPr/>
        </p:nvSpPr>
        <p:spPr>
          <a:xfrm>
            <a:off x="932688" y="3584448"/>
            <a:ext cx="1792224" cy="475488"/>
          </a:xfrm>
          <a:prstGeom prst="rect">
            <a:avLst/>
          </a:prstGeom>
          <a:noFill/>
          <a:ln/>
        </p:spPr>
        <p:txBody>
          <a:bodyPr wrap="square" lIns="0" tIns="0" rIns="0" bIns="0" rtlCol="0" anchor="t"/>
          <a:lstStyle/>
          <a:p>
            <a:pPr algn="ctr" indent="0" marL="0">
              <a:buNone/>
            </a:pPr>
            <a:r>
              <a:rPr lang="en-US" sz="1200" dirty="0">
                <a:solidFill>
                  <a:srgbClr val="4A5566"/>
                </a:solidFill>
                <a:latin typeface="Calibri" pitchFamily="34" charset="0"/>
                <a:ea typeface="Calibri" pitchFamily="34" charset="-122"/>
                <a:cs typeface="Calibri" pitchFamily="34" charset="-120"/>
              </a:rPr>
              <a:t>200 Hz, priority 3, 94 Hz filter</a:t>
            </a:r>
            <a:endParaRPr lang="en-US" sz="1200" dirty="0"/>
          </a:p>
        </p:txBody>
      </p:sp>
      <p:sp>
        <p:nvSpPr>
          <p:cNvPr id="17" name="Shape 13"/>
          <p:cNvSpPr/>
          <p:nvPr/>
        </p:nvSpPr>
        <p:spPr>
          <a:xfrm>
            <a:off x="3246120" y="1965960"/>
            <a:ext cx="2011680" cy="914400"/>
          </a:xfrm>
          <a:prstGeom prst="roundRect">
            <a:avLst>
              <a:gd name="adj" fmla="val 10000"/>
            </a:avLst>
          </a:prstGeom>
          <a:solidFill>
            <a:srgbClr val="FFFFFF"/>
          </a:solidFill>
          <a:ln w="19050">
            <a:solidFill>
              <a:srgbClr val="1565C0"/>
            </a:solidFill>
            <a:prstDash val="solid"/>
          </a:ln>
        </p:spPr>
      </p:sp>
      <p:sp>
        <p:nvSpPr>
          <p:cNvPr id="18" name="Text 14"/>
          <p:cNvSpPr txBox="1"/>
          <p:nvPr/>
        </p:nvSpPr>
        <p:spPr>
          <a:xfrm>
            <a:off x="3355848" y="2020824"/>
            <a:ext cx="1792224" cy="329184"/>
          </a:xfrm>
          <a:prstGeom prst="rect">
            <a:avLst/>
          </a:prstGeom>
          <a:noFill/>
          <a:ln/>
        </p:spPr>
        <p:txBody>
          <a:bodyPr wrap="square" lIns="0" tIns="0" rIns="0" bIns="0" rtlCol="0" anchor="ctr"/>
          <a:lstStyle/>
          <a:p>
            <a:pPr algn="ctr" indent="0" marL="0">
              <a:buNone/>
            </a:pPr>
            <a:r>
              <a:rPr lang="en-US" sz="1500" b="1" dirty="0">
                <a:solidFill>
                  <a:srgbClr val="14305C"/>
                </a:solidFill>
                <a:latin typeface="Calibri" pitchFamily="34" charset="0"/>
                <a:ea typeface="Calibri" pitchFamily="34" charset="-122"/>
                <a:cs typeface="Calibri" pitchFamily="34" charset="-120"/>
              </a:rPr>
              <a:t>Queues</a:t>
            </a:r>
            <a:endParaRPr lang="en-US" sz="1500" dirty="0"/>
          </a:p>
        </p:txBody>
      </p:sp>
      <p:sp>
        <p:nvSpPr>
          <p:cNvPr id="19" name="Text 15"/>
          <p:cNvSpPr txBox="1"/>
          <p:nvPr/>
        </p:nvSpPr>
        <p:spPr>
          <a:xfrm>
            <a:off x="3355848" y="2350008"/>
            <a:ext cx="1792224" cy="475488"/>
          </a:xfrm>
          <a:prstGeom prst="rect">
            <a:avLst/>
          </a:prstGeom>
          <a:noFill/>
          <a:ln/>
        </p:spPr>
        <p:txBody>
          <a:bodyPr wrap="square" lIns="0" tIns="0" rIns="0" bIns="0" rtlCol="0" anchor="t"/>
          <a:lstStyle/>
          <a:p>
            <a:pPr algn="ctr" indent="0" marL="0">
              <a:buNone/>
            </a:pPr>
            <a:r>
              <a:rPr lang="en-US" sz="1200" dirty="0">
                <a:solidFill>
                  <a:srgbClr val="4A5566"/>
                </a:solidFill>
                <a:latin typeface="Calibri" pitchFamily="34" charset="0"/>
                <a:ea typeface="Calibri" pitchFamily="34" charset="-122"/>
                <a:cs typeface="Calibri" pitchFamily="34" charset="-120"/>
              </a:rPr>
              <a:t>bounded; drop and count, never block</a:t>
            </a:r>
            <a:endParaRPr lang="en-US" sz="1200" dirty="0"/>
          </a:p>
        </p:txBody>
      </p:sp>
      <p:sp>
        <p:nvSpPr>
          <p:cNvPr id="20" name="Shape 16"/>
          <p:cNvSpPr/>
          <p:nvPr/>
        </p:nvSpPr>
        <p:spPr>
          <a:xfrm>
            <a:off x="3246120" y="3200400"/>
            <a:ext cx="2011680" cy="914400"/>
          </a:xfrm>
          <a:prstGeom prst="roundRect">
            <a:avLst>
              <a:gd name="adj" fmla="val 10000"/>
            </a:avLst>
          </a:prstGeom>
          <a:solidFill>
            <a:srgbClr val="FFFFFF"/>
          </a:solidFill>
          <a:ln w="19050">
            <a:solidFill>
              <a:srgbClr val="1565C0"/>
            </a:solidFill>
            <a:prstDash val="solid"/>
          </a:ln>
        </p:spPr>
      </p:sp>
      <p:sp>
        <p:nvSpPr>
          <p:cNvPr id="21" name="Text 17"/>
          <p:cNvSpPr txBox="1"/>
          <p:nvPr/>
        </p:nvSpPr>
        <p:spPr>
          <a:xfrm>
            <a:off x="3355848" y="3255264"/>
            <a:ext cx="1792224" cy="329184"/>
          </a:xfrm>
          <a:prstGeom prst="rect">
            <a:avLst/>
          </a:prstGeom>
          <a:noFill/>
          <a:ln/>
        </p:spPr>
        <p:txBody>
          <a:bodyPr wrap="square" lIns="0" tIns="0" rIns="0" bIns="0" rtlCol="0" anchor="ctr"/>
          <a:lstStyle/>
          <a:p>
            <a:pPr algn="ctr" indent="0" marL="0">
              <a:buNone/>
            </a:pPr>
            <a:r>
              <a:rPr lang="en-US" sz="1500" b="1" dirty="0">
                <a:solidFill>
                  <a:srgbClr val="14305C"/>
                </a:solidFill>
                <a:latin typeface="Calibri" pitchFamily="34" charset="0"/>
                <a:ea typeface="Calibri" pitchFamily="34" charset="-122"/>
                <a:cs typeface="Calibri" pitchFamily="34" charset="-120"/>
              </a:rPr>
              <a:t>StatsTask</a:t>
            </a:r>
            <a:endParaRPr lang="en-US" sz="1500" dirty="0"/>
          </a:p>
        </p:txBody>
      </p:sp>
      <p:sp>
        <p:nvSpPr>
          <p:cNvPr id="22" name="Text 18"/>
          <p:cNvSpPr txBox="1"/>
          <p:nvPr/>
        </p:nvSpPr>
        <p:spPr>
          <a:xfrm>
            <a:off x="3355848" y="3584448"/>
            <a:ext cx="1792224" cy="475488"/>
          </a:xfrm>
          <a:prstGeom prst="rect">
            <a:avLst/>
          </a:prstGeom>
          <a:noFill/>
          <a:ln/>
        </p:spPr>
        <p:txBody>
          <a:bodyPr wrap="square" lIns="0" tIns="0" rIns="0" bIns="0" rtlCol="0" anchor="t"/>
          <a:lstStyle/>
          <a:p>
            <a:pPr algn="ctr" indent="0" marL="0">
              <a:buNone/>
            </a:pPr>
            <a:r>
              <a:rPr lang="en-US" sz="1200" dirty="0">
                <a:solidFill>
                  <a:srgbClr val="4A5566"/>
                </a:solidFill>
                <a:latin typeface="Calibri" pitchFamily="34" charset="0"/>
                <a:ea typeface="Calibri" pitchFamily="34" charset="-122"/>
                <a:cs typeface="Calibri" pitchFamily="34" charset="-120"/>
              </a:rPr>
              <a:t>rate, jitter, drops every 2 s</a:t>
            </a:r>
            <a:endParaRPr lang="en-US" sz="1200" dirty="0"/>
          </a:p>
        </p:txBody>
      </p:sp>
      <p:sp>
        <p:nvSpPr>
          <p:cNvPr id="23" name="Shape 19"/>
          <p:cNvSpPr/>
          <p:nvPr/>
        </p:nvSpPr>
        <p:spPr>
          <a:xfrm>
            <a:off x="5669280" y="1965960"/>
            <a:ext cx="2011680" cy="914400"/>
          </a:xfrm>
          <a:prstGeom prst="roundRect">
            <a:avLst>
              <a:gd name="adj" fmla="val 10000"/>
            </a:avLst>
          </a:prstGeom>
          <a:solidFill>
            <a:srgbClr val="FFFFFF"/>
          </a:solidFill>
          <a:ln w="19050">
            <a:solidFill>
              <a:srgbClr val="1565C0"/>
            </a:solidFill>
            <a:prstDash val="solid"/>
          </a:ln>
        </p:spPr>
      </p:sp>
      <p:sp>
        <p:nvSpPr>
          <p:cNvPr id="24" name="Text 20"/>
          <p:cNvSpPr txBox="1"/>
          <p:nvPr/>
        </p:nvSpPr>
        <p:spPr>
          <a:xfrm>
            <a:off x="5779008" y="2020824"/>
            <a:ext cx="1792224" cy="329184"/>
          </a:xfrm>
          <a:prstGeom prst="rect">
            <a:avLst/>
          </a:prstGeom>
          <a:noFill/>
          <a:ln/>
        </p:spPr>
        <p:txBody>
          <a:bodyPr wrap="square" lIns="0" tIns="0" rIns="0" bIns="0" rtlCol="0" anchor="ctr"/>
          <a:lstStyle/>
          <a:p>
            <a:pPr algn="ctr" indent="0" marL="0">
              <a:buNone/>
            </a:pPr>
            <a:r>
              <a:rPr lang="en-US" sz="1500" b="1" dirty="0">
                <a:solidFill>
                  <a:srgbClr val="14305C"/>
                </a:solidFill>
                <a:latin typeface="Calibri" pitchFamily="34" charset="0"/>
                <a:ea typeface="Calibri" pitchFamily="34" charset="-122"/>
                <a:cs typeface="Calibri" pitchFamily="34" charset="-120"/>
              </a:rPr>
              <a:t>RideChar x2</a:t>
            </a:r>
            <a:endParaRPr lang="en-US" sz="1500" dirty="0"/>
          </a:p>
        </p:txBody>
      </p:sp>
      <p:sp>
        <p:nvSpPr>
          <p:cNvPr id="25" name="Text 21"/>
          <p:cNvSpPr txBox="1"/>
          <p:nvPr/>
        </p:nvSpPr>
        <p:spPr>
          <a:xfrm>
            <a:off x="5779008" y="2350008"/>
            <a:ext cx="1792224" cy="475488"/>
          </a:xfrm>
          <a:prstGeom prst="rect">
            <a:avLst/>
          </a:prstGeom>
          <a:noFill/>
          <a:ln/>
        </p:spPr>
        <p:txBody>
          <a:bodyPr wrap="square" lIns="0" tIns="0" rIns="0" bIns="0" rtlCol="0" anchor="t"/>
          <a:lstStyle/>
          <a:p>
            <a:pPr algn="ctr" indent="0" marL="0">
              <a:buNone/>
            </a:pPr>
            <a:r>
              <a:rPr lang="en-US" sz="1200" dirty="0">
                <a:solidFill>
                  <a:srgbClr val="4A5566"/>
                </a:solidFill>
                <a:latin typeface="Calibri" pitchFamily="34" charset="0"/>
                <a:ea typeface="Calibri" pitchFamily="34" charset="-122"/>
                <a:cs typeface="Calibri" pitchFamily="34" charset="-120"/>
              </a:rPr>
              <a:t>1 s windows: RMS, std, peak-to-peak, jerk</a:t>
            </a:r>
            <a:endParaRPr lang="en-US" sz="1200" dirty="0"/>
          </a:p>
        </p:txBody>
      </p:sp>
      <p:sp>
        <p:nvSpPr>
          <p:cNvPr id="26" name="Shape 22"/>
          <p:cNvSpPr/>
          <p:nvPr/>
        </p:nvSpPr>
        <p:spPr>
          <a:xfrm>
            <a:off x="5669280" y="3200400"/>
            <a:ext cx="2011680" cy="914400"/>
          </a:xfrm>
          <a:prstGeom prst="roundRect">
            <a:avLst>
              <a:gd name="adj" fmla="val 10000"/>
            </a:avLst>
          </a:prstGeom>
          <a:solidFill>
            <a:srgbClr val="FFFFFF"/>
          </a:solidFill>
          <a:ln w="19050">
            <a:solidFill>
              <a:srgbClr val="D4700C"/>
            </a:solidFill>
            <a:prstDash val="solid"/>
          </a:ln>
        </p:spPr>
      </p:sp>
      <p:sp>
        <p:nvSpPr>
          <p:cNvPr id="27" name="Text 23"/>
          <p:cNvSpPr txBox="1"/>
          <p:nvPr/>
        </p:nvSpPr>
        <p:spPr>
          <a:xfrm>
            <a:off x="5779008" y="3255264"/>
            <a:ext cx="1792224" cy="329184"/>
          </a:xfrm>
          <a:prstGeom prst="rect">
            <a:avLst/>
          </a:prstGeom>
          <a:noFill/>
          <a:ln/>
        </p:spPr>
        <p:txBody>
          <a:bodyPr wrap="square" lIns="0" tIns="0" rIns="0" bIns="0" rtlCol="0" anchor="ctr"/>
          <a:lstStyle/>
          <a:p>
            <a:pPr algn="ctr" indent="0" marL="0">
              <a:buNone/>
            </a:pPr>
            <a:r>
              <a:rPr lang="en-US" sz="1500" b="1" dirty="0">
                <a:solidFill>
                  <a:srgbClr val="14305C"/>
                </a:solidFill>
                <a:latin typeface="Calibri" pitchFamily="34" charset="0"/>
                <a:ea typeface="Calibri" pitchFamily="34" charset="-122"/>
                <a:cs typeface="Calibri" pitchFamily="34" charset="-120"/>
              </a:rPr>
              <a:t>Fusion</a:t>
            </a:r>
            <a:endParaRPr lang="en-US" sz="1500" dirty="0"/>
          </a:p>
        </p:txBody>
      </p:sp>
      <p:sp>
        <p:nvSpPr>
          <p:cNvPr id="28" name="Text 24"/>
          <p:cNvSpPr txBox="1"/>
          <p:nvPr/>
        </p:nvSpPr>
        <p:spPr>
          <a:xfrm>
            <a:off x="5779008" y="3584448"/>
            <a:ext cx="1792224" cy="475488"/>
          </a:xfrm>
          <a:prstGeom prst="rect">
            <a:avLst/>
          </a:prstGeom>
          <a:noFill/>
          <a:ln/>
        </p:spPr>
        <p:txBody>
          <a:bodyPr wrap="square" lIns="0" tIns="0" rIns="0" bIns="0" rtlCol="0" anchor="t"/>
          <a:lstStyle/>
          <a:p>
            <a:pPr algn="ctr" indent="0" marL="0">
              <a:buNone/>
            </a:pPr>
            <a:r>
              <a:rPr lang="en-US" sz="1200" dirty="0">
                <a:solidFill>
                  <a:srgbClr val="4A5566"/>
                </a:solidFill>
                <a:latin typeface="Calibri" pitchFamily="34" charset="0"/>
                <a:ea typeface="Calibri" pitchFamily="34" charset="-122"/>
                <a:cs typeface="Calibri" pitchFamily="34" charset="-120"/>
              </a:rPr>
              <a:t>pairs windows, reports disagreement</a:t>
            </a:r>
            <a:endParaRPr lang="en-US" sz="1200" dirty="0"/>
          </a:p>
        </p:txBody>
      </p:sp>
      <p:sp>
        <p:nvSpPr>
          <p:cNvPr id="29" name="Shape 25"/>
          <p:cNvSpPr/>
          <p:nvPr/>
        </p:nvSpPr>
        <p:spPr>
          <a:xfrm>
            <a:off x="2834640" y="2423160"/>
            <a:ext cx="411480" cy="0"/>
          </a:xfrm>
          <a:prstGeom prst="line">
            <a:avLst/>
          </a:prstGeom>
          <a:noFill/>
          <a:ln w="19050">
            <a:solidFill>
              <a:srgbClr val="14305C"/>
            </a:solidFill>
            <a:prstDash val="solid"/>
            <a:tailEnd type="triangle"/>
          </a:ln>
        </p:spPr>
      </p:sp>
      <p:sp>
        <p:nvSpPr>
          <p:cNvPr id="30" name="Shape 26"/>
          <p:cNvSpPr/>
          <p:nvPr/>
        </p:nvSpPr>
        <p:spPr>
          <a:xfrm flipV="1">
            <a:off x="2834640" y="2651760"/>
            <a:ext cx="411480" cy="1005840"/>
          </a:xfrm>
          <a:prstGeom prst="line">
            <a:avLst/>
          </a:prstGeom>
          <a:noFill/>
          <a:ln w="19050">
            <a:solidFill>
              <a:srgbClr val="14305C"/>
            </a:solidFill>
            <a:prstDash val="solid"/>
            <a:tailEnd type="triangle"/>
          </a:ln>
        </p:spPr>
      </p:sp>
      <p:sp>
        <p:nvSpPr>
          <p:cNvPr id="31" name="Shape 27"/>
          <p:cNvSpPr/>
          <p:nvPr/>
        </p:nvSpPr>
        <p:spPr>
          <a:xfrm>
            <a:off x="5257800" y="2423160"/>
            <a:ext cx="411480" cy="0"/>
          </a:xfrm>
          <a:prstGeom prst="line">
            <a:avLst/>
          </a:prstGeom>
          <a:noFill/>
          <a:ln w="19050">
            <a:solidFill>
              <a:srgbClr val="14305C"/>
            </a:solidFill>
            <a:prstDash val="solid"/>
            <a:tailEnd type="triangle"/>
          </a:ln>
        </p:spPr>
      </p:sp>
      <p:sp>
        <p:nvSpPr>
          <p:cNvPr id="32" name="Shape 28"/>
          <p:cNvSpPr/>
          <p:nvPr/>
        </p:nvSpPr>
        <p:spPr>
          <a:xfrm>
            <a:off x="4251960" y="2880360"/>
            <a:ext cx="0" cy="320040"/>
          </a:xfrm>
          <a:prstGeom prst="line">
            <a:avLst/>
          </a:prstGeom>
          <a:noFill/>
          <a:ln w="19050">
            <a:solidFill>
              <a:srgbClr val="14305C"/>
            </a:solidFill>
            <a:prstDash val="solid"/>
            <a:tailEnd type="triangle"/>
          </a:ln>
        </p:spPr>
      </p:sp>
      <p:sp>
        <p:nvSpPr>
          <p:cNvPr id="33" name="Shape 29"/>
          <p:cNvSpPr/>
          <p:nvPr/>
        </p:nvSpPr>
        <p:spPr>
          <a:xfrm>
            <a:off x="6675120" y="2880360"/>
            <a:ext cx="0" cy="320040"/>
          </a:xfrm>
          <a:prstGeom prst="line">
            <a:avLst/>
          </a:prstGeom>
          <a:noFill/>
          <a:ln w="19050">
            <a:solidFill>
              <a:srgbClr val="14305C"/>
            </a:solidFill>
            <a:prstDash val="solid"/>
            <a:tailEnd type="triangle"/>
          </a:ln>
        </p:spPr>
      </p:sp>
      <p:sp>
        <p:nvSpPr>
          <p:cNvPr id="34" name="Shape 30"/>
          <p:cNvSpPr/>
          <p:nvPr/>
        </p:nvSpPr>
        <p:spPr>
          <a:xfrm>
            <a:off x="822960" y="4434840"/>
            <a:ext cx="2011680" cy="914400"/>
          </a:xfrm>
          <a:prstGeom prst="roundRect">
            <a:avLst>
              <a:gd name="adj" fmla="val 10000"/>
            </a:avLst>
          </a:prstGeom>
          <a:solidFill>
            <a:srgbClr val="FFFFFF"/>
          </a:solidFill>
          <a:ln w="19050">
            <a:solidFill>
              <a:srgbClr val="1565C0"/>
            </a:solidFill>
            <a:prstDash val="solid"/>
          </a:ln>
        </p:spPr>
      </p:sp>
      <p:sp>
        <p:nvSpPr>
          <p:cNvPr id="35" name="Text 31"/>
          <p:cNvSpPr txBox="1"/>
          <p:nvPr/>
        </p:nvSpPr>
        <p:spPr>
          <a:xfrm>
            <a:off x="932688" y="4489704"/>
            <a:ext cx="1792224" cy="329184"/>
          </a:xfrm>
          <a:prstGeom prst="rect">
            <a:avLst/>
          </a:prstGeom>
          <a:noFill/>
          <a:ln/>
        </p:spPr>
        <p:txBody>
          <a:bodyPr wrap="square" lIns="0" tIns="0" rIns="0" bIns="0" rtlCol="0" anchor="ctr"/>
          <a:lstStyle/>
          <a:p>
            <a:pPr algn="ctr" indent="0" marL="0">
              <a:buNone/>
            </a:pPr>
            <a:r>
              <a:rPr lang="en-US" sz="1500" b="1" dirty="0">
                <a:solidFill>
                  <a:srgbClr val="14305C"/>
                </a:solidFill>
                <a:latin typeface="Calibri" pitchFamily="34" charset="0"/>
                <a:ea typeface="Calibri" pitchFamily="34" charset="-122"/>
                <a:cs typeface="Calibri" pitchFamily="34" charset="-120"/>
              </a:rPr>
              <a:t>SyncTask</a:t>
            </a:r>
            <a:endParaRPr lang="en-US" sz="1500" dirty="0"/>
          </a:p>
        </p:txBody>
      </p:sp>
      <p:sp>
        <p:nvSpPr>
          <p:cNvPr id="36" name="Text 32"/>
          <p:cNvSpPr txBox="1"/>
          <p:nvPr/>
        </p:nvSpPr>
        <p:spPr>
          <a:xfrm>
            <a:off x="932688" y="4818888"/>
            <a:ext cx="1792224" cy="475488"/>
          </a:xfrm>
          <a:prstGeom prst="rect">
            <a:avLst/>
          </a:prstGeom>
          <a:noFill/>
          <a:ln/>
        </p:spPr>
        <p:txBody>
          <a:bodyPr wrap="square" lIns="0" tIns="0" rIns="0" bIns="0" rtlCol="0" anchor="t"/>
          <a:lstStyle/>
          <a:p>
            <a:pPr algn="ctr" indent="0" marL="0">
              <a:buNone/>
            </a:pPr>
            <a:r>
              <a:rPr lang="en-US" sz="1200" dirty="0">
                <a:solidFill>
                  <a:srgbClr val="4A5566"/>
                </a:solidFill>
                <a:latin typeface="Calibri" pitchFamily="34" charset="0"/>
                <a:ea typeface="Calibri" pitchFamily="34" charset="-122"/>
                <a:cs typeface="Calibri" pitchFamily="34" charset="-120"/>
              </a:rPr>
              <a:t>pulse to the Pi every 500 ms</a:t>
            </a:r>
            <a:endParaRPr lang="en-US" sz="1200" dirty="0"/>
          </a:p>
        </p:txBody>
      </p:sp>
      <p:sp>
        <p:nvSpPr>
          <p:cNvPr id="37" name="Text 33"/>
          <p:cNvSpPr txBox="1"/>
          <p:nvPr/>
        </p:nvSpPr>
        <p:spPr>
          <a:xfrm>
            <a:off x="3246120" y="4480560"/>
            <a:ext cx="4434840" cy="822960"/>
          </a:xfrm>
          <a:prstGeom prst="rect">
            <a:avLst/>
          </a:prstGeom>
          <a:noFill/>
          <a:ln/>
        </p:spPr>
        <p:txBody>
          <a:bodyPr wrap="square" lIns="0" tIns="0" rIns="0" bIns="0" rtlCol="0" anchor="ctr"/>
          <a:lstStyle/>
          <a:p>
            <a:pPr indent="0" marL="0">
              <a:buNone/>
            </a:pPr>
            <a:r>
              <a:rPr lang="en-US" sz="1400" i="1" dirty="0">
                <a:solidFill>
                  <a:srgbClr val="4A5566"/>
                </a:solidFill>
                <a:latin typeface="Calibri" pitchFamily="34" charset="0"/>
                <a:ea typeface="Calibri" pitchFamily="34" charset="-122"/>
                <a:cs typeface="Calibri" pitchFamily="34" charset="-120"/>
              </a:rPr>
              <a:t>Each sample carries a sensor ID, a sequence number and a microsecond timestamp from esp_timer.</a:t>
            </a:r>
            <a:endParaRPr lang="en-US" sz="1400" dirty="0"/>
          </a:p>
        </p:txBody>
      </p:sp>
      <p:sp>
        <p:nvSpPr>
          <p:cNvPr id="38" name="Shape 34"/>
          <p:cNvSpPr/>
          <p:nvPr/>
        </p:nvSpPr>
        <p:spPr>
          <a:xfrm>
            <a:off x="8275320" y="1325880"/>
            <a:ext cx="3367735" cy="4343400"/>
          </a:xfrm>
          <a:prstGeom prst="roundRect">
            <a:avLst>
              <a:gd name="adj" fmla="val 3258"/>
            </a:avLst>
          </a:prstGeom>
          <a:solidFill>
            <a:srgbClr val="E8F0FA"/>
          </a:solidFill>
          <a:ln w="12700">
            <a:solidFill>
              <a:srgbClr val="E8F0FA"/>
            </a:solidFill>
            <a:prstDash val="solid"/>
          </a:ln>
        </p:spPr>
      </p:sp>
      <p:sp>
        <p:nvSpPr>
          <p:cNvPr id="39" name="Text 35"/>
          <p:cNvSpPr txBox="1"/>
          <p:nvPr/>
        </p:nvSpPr>
        <p:spPr>
          <a:xfrm>
            <a:off x="8503920" y="1435608"/>
            <a:ext cx="2910535" cy="365760"/>
          </a:xfrm>
          <a:prstGeom prst="rect">
            <a:avLst/>
          </a:prstGeom>
          <a:noFill/>
          <a:ln/>
        </p:spPr>
        <p:txBody>
          <a:bodyPr wrap="square" lIns="0" tIns="0" rIns="0" bIns="0" rtlCol="0" anchor="ctr"/>
          <a:lstStyle/>
          <a:p>
            <a:pPr indent="0" marL="0">
              <a:buNone/>
            </a:pPr>
            <a:r>
              <a:rPr lang="en-US" sz="1600" b="1" dirty="0">
                <a:solidFill>
                  <a:srgbClr val="1565C0"/>
                </a:solidFill>
                <a:latin typeface="Calibri" pitchFamily="34" charset="0"/>
                <a:ea typeface="Calibri" pitchFamily="34" charset="-122"/>
                <a:cs typeface="Calibri" pitchFamily="34" charset="-120"/>
              </a:rPr>
              <a:t>Core 0: blocking I/O</a:t>
            </a:r>
            <a:endParaRPr lang="en-US" sz="1600" dirty="0"/>
          </a:p>
        </p:txBody>
      </p:sp>
      <p:sp>
        <p:nvSpPr>
          <p:cNvPr id="40" name="Shape 36"/>
          <p:cNvSpPr/>
          <p:nvPr/>
        </p:nvSpPr>
        <p:spPr>
          <a:xfrm>
            <a:off x="8549640" y="1920240"/>
            <a:ext cx="2819095" cy="1188720"/>
          </a:xfrm>
          <a:prstGeom prst="roundRect">
            <a:avLst>
              <a:gd name="adj" fmla="val 7692"/>
            </a:avLst>
          </a:prstGeom>
          <a:solidFill>
            <a:srgbClr val="FFFFFF"/>
          </a:solidFill>
          <a:ln w="19050">
            <a:solidFill>
              <a:srgbClr val="1565C0"/>
            </a:solidFill>
            <a:prstDash val="solid"/>
          </a:ln>
        </p:spPr>
      </p:sp>
      <p:sp>
        <p:nvSpPr>
          <p:cNvPr id="41" name="Text 37"/>
          <p:cNvSpPr txBox="1"/>
          <p:nvPr/>
        </p:nvSpPr>
        <p:spPr>
          <a:xfrm>
            <a:off x="8659368" y="1975104"/>
            <a:ext cx="2599639" cy="329184"/>
          </a:xfrm>
          <a:prstGeom prst="rect">
            <a:avLst/>
          </a:prstGeom>
          <a:noFill/>
          <a:ln/>
        </p:spPr>
        <p:txBody>
          <a:bodyPr wrap="square" lIns="0" tIns="0" rIns="0" bIns="0" rtlCol="0" anchor="ctr"/>
          <a:lstStyle/>
          <a:p>
            <a:pPr algn="ctr" indent="0" marL="0">
              <a:buNone/>
            </a:pPr>
            <a:r>
              <a:rPr lang="en-US" sz="1500" b="1" dirty="0">
                <a:solidFill>
                  <a:srgbClr val="14305C"/>
                </a:solidFill>
                <a:latin typeface="Calibri" pitchFamily="34" charset="0"/>
                <a:ea typeface="Calibri" pitchFamily="34" charset="-122"/>
                <a:cs typeface="Calibri" pitchFamily="34" charset="-120"/>
              </a:rPr>
              <a:t>ModemTask</a:t>
            </a:r>
            <a:endParaRPr lang="en-US" sz="1500" dirty="0"/>
          </a:p>
        </p:txBody>
      </p:sp>
      <p:sp>
        <p:nvSpPr>
          <p:cNvPr id="42" name="Text 38"/>
          <p:cNvSpPr txBox="1"/>
          <p:nvPr/>
        </p:nvSpPr>
        <p:spPr>
          <a:xfrm>
            <a:off x="8659368" y="2304288"/>
            <a:ext cx="2599639" cy="749808"/>
          </a:xfrm>
          <a:prstGeom prst="rect">
            <a:avLst/>
          </a:prstGeom>
          <a:noFill/>
          <a:ln/>
        </p:spPr>
        <p:txBody>
          <a:bodyPr wrap="square" lIns="0" tIns="0" rIns="0" bIns="0" rtlCol="0" anchor="t"/>
          <a:lstStyle/>
          <a:p>
            <a:pPr algn="ctr" indent="0" marL="0">
              <a:buNone/>
            </a:pPr>
            <a:r>
              <a:rPr lang="en-US" sz="1200" dirty="0">
                <a:solidFill>
                  <a:srgbClr val="4A5566"/>
                </a:solidFill>
                <a:latin typeface="Calibri" pitchFamily="34" charset="0"/>
                <a:ea typeface="Calibri" pitchFamily="34" charset="-122"/>
                <a:cs typeface="Calibri" pitchFamily="34" charset="-120"/>
              </a:rPr>
              <a:t>GNSS, MQTT with sequence numbers and backlog replay (v0.7.4), flash log once a minute</a:t>
            </a:r>
            <a:endParaRPr lang="en-US" sz="1200" dirty="0"/>
          </a:p>
        </p:txBody>
      </p:sp>
      <p:sp>
        <p:nvSpPr>
          <p:cNvPr id="43" name="Shape 39"/>
          <p:cNvSpPr/>
          <p:nvPr/>
        </p:nvSpPr>
        <p:spPr>
          <a:xfrm>
            <a:off x="8549640" y="3246120"/>
            <a:ext cx="2819095" cy="731520"/>
          </a:xfrm>
          <a:prstGeom prst="roundRect">
            <a:avLst>
              <a:gd name="adj" fmla="val 12500"/>
            </a:avLst>
          </a:prstGeom>
          <a:solidFill>
            <a:srgbClr val="FFFFFF"/>
          </a:solidFill>
          <a:ln w="19050">
            <a:solidFill>
              <a:srgbClr val="1565C0"/>
            </a:solidFill>
            <a:prstDash val="solid"/>
          </a:ln>
        </p:spPr>
      </p:sp>
      <p:sp>
        <p:nvSpPr>
          <p:cNvPr id="44" name="Text 40"/>
          <p:cNvSpPr txBox="1"/>
          <p:nvPr/>
        </p:nvSpPr>
        <p:spPr>
          <a:xfrm>
            <a:off x="8659368" y="3300984"/>
            <a:ext cx="2599639" cy="329184"/>
          </a:xfrm>
          <a:prstGeom prst="rect">
            <a:avLst/>
          </a:prstGeom>
          <a:noFill/>
          <a:ln/>
        </p:spPr>
        <p:txBody>
          <a:bodyPr wrap="square" lIns="0" tIns="0" rIns="0" bIns="0" rtlCol="0" anchor="ctr"/>
          <a:lstStyle/>
          <a:p>
            <a:pPr algn="ctr" indent="0" marL="0">
              <a:buNone/>
            </a:pPr>
            <a:r>
              <a:rPr lang="en-US" sz="1500" b="1" dirty="0">
                <a:solidFill>
                  <a:srgbClr val="14305C"/>
                </a:solidFill>
                <a:latin typeface="Calibri" pitchFamily="34" charset="0"/>
                <a:ea typeface="Calibri" pitchFamily="34" charset="-122"/>
                <a:cs typeface="Calibri" pitchFamily="34" charset="-120"/>
              </a:rPr>
              <a:t>BmsTask</a:t>
            </a:r>
            <a:endParaRPr lang="en-US" sz="1500" dirty="0"/>
          </a:p>
        </p:txBody>
      </p:sp>
      <p:sp>
        <p:nvSpPr>
          <p:cNvPr id="45" name="Text 41"/>
          <p:cNvSpPr txBox="1"/>
          <p:nvPr/>
        </p:nvSpPr>
        <p:spPr>
          <a:xfrm>
            <a:off x="8659368" y="3630168"/>
            <a:ext cx="2599639" cy="292608"/>
          </a:xfrm>
          <a:prstGeom prst="rect">
            <a:avLst/>
          </a:prstGeom>
          <a:noFill/>
          <a:ln/>
        </p:spPr>
        <p:txBody>
          <a:bodyPr wrap="square" lIns="0" tIns="0" rIns="0" bIns="0" rtlCol="0" anchor="t"/>
          <a:lstStyle/>
          <a:p>
            <a:pPr algn="ctr" indent="0" marL="0">
              <a:buNone/>
            </a:pPr>
            <a:r>
              <a:rPr lang="en-US" sz="1200" dirty="0">
                <a:solidFill>
                  <a:srgbClr val="4A5566"/>
                </a:solidFill>
                <a:latin typeface="Calibri" pitchFamily="34" charset="0"/>
                <a:ea typeface="Calibri" pitchFamily="34" charset="-122"/>
                <a:cs typeface="Calibri" pitchFamily="34" charset="-120"/>
              </a:rPr>
              <a:t>battery over BLE</a:t>
            </a:r>
            <a:endParaRPr lang="en-US" sz="1200" dirty="0"/>
          </a:p>
        </p:txBody>
      </p:sp>
      <p:sp>
        <p:nvSpPr>
          <p:cNvPr id="46" name="Shape 42"/>
          <p:cNvSpPr/>
          <p:nvPr/>
        </p:nvSpPr>
        <p:spPr>
          <a:xfrm>
            <a:off x="8549640" y="4114800"/>
            <a:ext cx="2819095" cy="731520"/>
          </a:xfrm>
          <a:prstGeom prst="roundRect">
            <a:avLst>
              <a:gd name="adj" fmla="val 12500"/>
            </a:avLst>
          </a:prstGeom>
          <a:solidFill>
            <a:srgbClr val="FFFFFF"/>
          </a:solidFill>
          <a:ln w="19050">
            <a:solidFill>
              <a:srgbClr val="1565C0"/>
            </a:solidFill>
            <a:prstDash val="solid"/>
          </a:ln>
        </p:spPr>
      </p:sp>
      <p:sp>
        <p:nvSpPr>
          <p:cNvPr id="47" name="Text 43"/>
          <p:cNvSpPr txBox="1"/>
          <p:nvPr/>
        </p:nvSpPr>
        <p:spPr>
          <a:xfrm>
            <a:off x="8659368" y="4169664"/>
            <a:ext cx="2599639" cy="329184"/>
          </a:xfrm>
          <a:prstGeom prst="rect">
            <a:avLst/>
          </a:prstGeom>
          <a:noFill/>
          <a:ln/>
        </p:spPr>
        <p:txBody>
          <a:bodyPr wrap="square" lIns="0" tIns="0" rIns="0" bIns="0" rtlCol="0" anchor="ctr"/>
          <a:lstStyle/>
          <a:p>
            <a:pPr algn="ctr" indent="0" marL="0">
              <a:buNone/>
            </a:pPr>
            <a:r>
              <a:rPr lang="en-US" sz="1500" b="1" dirty="0">
                <a:solidFill>
                  <a:srgbClr val="14305C"/>
                </a:solidFill>
                <a:latin typeface="Calibri" pitchFamily="34" charset="0"/>
                <a:ea typeface="Calibri" pitchFamily="34" charset="-122"/>
                <a:cs typeface="Calibri" pitchFamily="34" charset="-120"/>
              </a:rPr>
              <a:t>HallTask</a:t>
            </a:r>
            <a:endParaRPr lang="en-US" sz="1500" dirty="0"/>
          </a:p>
        </p:txBody>
      </p:sp>
      <p:sp>
        <p:nvSpPr>
          <p:cNvPr id="48" name="Text 44"/>
          <p:cNvSpPr txBox="1"/>
          <p:nvPr/>
        </p:nvSpPr>
        <p:spPr>
          <a:xfrm>
            <a:off x="8659368" y="4498848"/>
            <a:ext cx="2599639" cy="292608"/>
          </a:xfrm>
          <a:prstGeom prst="rect">
            <a:avLst/>
          </a:prstGeom>
          <a:noFill/>
          <a:ln/>
        </p:spPr>
        <p:txBody>
          <a:bodyPr wrap="square" lIns="0" tIns="0" rIns="0" bIns="0" rtlCol="0" anchor="t"/>
          <a:lstStyle/>
          <a:p>
            <a:pPr algn="ctr" indent="0" marL="0">
              <a:buNone/>
            </a:pPr>
            <a:r>
              <a:rPr lang="en-US" sz="1200" dirty="0">
                <a:solidFill>
                  <a:srgbClr val="4A5566"/>
                </a:solidFill>
                <a:latin typeface="Calibri" pitchFamily="34" charset="0"/>
                <a:ea typeface="Calibri" pitchFamily="34" charset="-122"/>
                <a:cs typeface="Calibri" pitchFamily="34" charset="-120"/>
              </a:rPr>
              <a:t>hardware pulse counter</a:t>
            </a:r>
            <a:endParaRPr lang="en-US" sz="1200" dirty="0"/>
          </a:p>
        </p:txBody>
      </p:sp>
      <p:sp>
        <p:nvSpPr>
          <p:cNvPr id="49" name="Text 45"/>
          <p:cNvSpPr txBox="1"/>
          <p:nvPr/>
        </p:nvSpPr>
        <p:spPr>
          <a:xfrm>
            <a:off x="8549640" y="4937760"/>
            <a:ext cx="2819095" cy="640080"/>
          </a:xfrm>
          <a:prstGeom prst="rect">
            <a:avLst/>
          </a:prstGeom>
          <a:noFill/>
          <a:ln/>
        </p:spPr>
        <p:txBody>
          <a:bodyPr wrap="square" lIns="0" tIns="0" rIns="0" bIns="0" rtlCol="0" anchor="t"/>
          <a:lstStyle/>
          <a:p>
            <a:pPr indent="0" marL="0">
              <a:buNone/>
            </a:pPr>
            <a:r>
              <a:rPr lang="en-US" sz="1200" i="1" dirty="0">
                <a:solidFill>
                  <a:srgbClr val="4A5566"/>
                </a:solidFill>
                <a:latin typeface="Calibri" pitchFamily="34" charset="0"/>
                <a:ea typeface="Calibri" pitchFamily="34" charset="-122"/>
                <a:cs typeface="Calibri" pitchFamily="34" charset="-120"/>
              </a:rPr>
              <a:t>The modem UART has no lock, so all modem traffic stays in one task.</a:t>
            </a:r>
            <a:endParaRPr lang="en-US" sz="1200" dirty="0"/>
          </a:p>
        </p:txBody>
      </p:sp>
      <p:sp>
        <p:nvSpPr>
          <p:cNvPr id="50" name="Text 46"/>
          <p:cNvSpPr txBox="1"/>
          <p:nvPr/>
        </p:nvSpPr>
        <p:spPr>
          <a:xfrm>
            <a:off x="548640" y="5806440"/>
            <a:ext cx="11094415" cy="411480"/>
          </a:xfrm>
          <a:prstGeom prst="rect">
            <a:avLst/>
          </a:prstGeom>
          <a:noFill/>
          <a:ln/>
        </p:spPr>
        <p:txBody>
          <a:bodyPr wrap="square" lIns="0" tIns="0" rIns="0" bIns="0" rtlCol="0" anchor="t"/>
          <a:lstStyle/>
          <a:p>
            <a:pPr indent="0" marL="0">
              <a:buNone/>
            </a:pPr>
            <a:r>
              <a:rPr lang="en-US" sz="1400" i="1" dirty="0">
                <a:solidFill>
                  <a:srgbClr val="4A5566"/>
                </a:solidFill>
                <a:latin typeface="Calibri" pitchFamily="34" charset="0"/>
                <a:ea typeface="Calibri" pitchFamily="34" charset="-122"/>
                <a:cs typeface="Calibri" pitchFamily="34" charset="-120"/>
              </a:rPr>
              <a:t>Method: each stage (bring-up, acquisition, features and fusion, log and uplink, vehicle) was tested against a pass criterion before the next was built on it.</a:t>
            </a:r>
            <a:endParaRPr lang="en-US" sz="14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384048"/>
            <a:ext cx="566928" cy="566928"/>
          </a:xfrm>
          <a:prstGeom prst="ellipse">
            <a:avLst/>
          </a:prstGeom>
          <a:solidFill>
            <a:srgbClr val="14305C"/>
          </a:solidFill>
          <a:ln w="12700">
            <a:solidFill>
              <a:srgbClr val="14305C"/>
            </a:solidFill>
            <a:prstDash val="solid"/>
          </a:ln>
        </p:spPr>
      </p:sp>
      <p:sp>
        <p:nvSpPr>
          <p:cNvPr id="3" name="Text 1"/>
          <p:cNvSpPr txBox="1"/>
          <p:nvPr/>
        </p:nvSpPr>
        <p:spPr>
          <a:xfrm>
            <a:off x="548640" y="384048"/>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5</a:t>
            </a:r>
            <a:endParaRPr lang="en-US" sz="2000" dirty="0"/>
          </a:p>
        </p:txBody>
      </p:sp>
      <p:sp>
        <p:nvSpPr>
          <p:cNvPr id="4" name="Text 2"/>
          <p:cNvSpPr txBox="1"/>
          <p:nvPr/>
        </p:nvSpPr>
        <p:spPr>
          <a:xfrm>
            <a:off x="1325880" y="310896"/>
            <a:ext cx="10317175" cy="731520"/>
          </a:xfrm>
          <a:prstGeom prst="rect">
            <a:avLst/>
          </a:prstGeom>
          <a:noFill/>
          <a:ln/>
        </p:spPr>
        <p:txBody>
          <a:bodyPr wrap="square" lIns="0" tIns="0" rIns="0" bIns="0" rtlCol="0" anchor="ctr"/>
          <a:lstStyle/>
          <a:p>
            <a:pPr indent="0" marL="0">
              <a:buNone/>
            </a:pPr>
            <a:r>
              <a:rPr lang="en-US" sz="3200" b="1" dirty="0">
                <a:solidFill>
                  <a:srgbClr val="14305C"/>
                </a:solidFill>
                <a:latin typeface="Calibri" pitchFamily="34" charset="0"/>
                <a:ea typeface="Calibri" pitchFamily="34" charset="-122"/>
                <a:cs typeface="Calibri" pitchFamily="34" charset="-120"/>
              </a:rPr>
              <a:t>Result: 200 Hz acquisition and dual-IMU fusion</a:t>
            </a:r>
            <a:endParaRPr lang="en-US" sz="3200" dirty="0"/>
          </a:p>
        </p:txBody>
      </p:sp>
      <p:pic>
        <p:nvPicPr>
          <p:cNvPr id="5" name="Image 0" descr="C:\Users\0geda\OneDrive - University of Cape Town\Documents\PlatformIO\Projects\Tukzie-HPEC-HUD\Presentation\source\assets\uct_logo.png">    </p:cNvPr>
          <p:cNvPicPr>
            <a:picLocks noChangeAspect="1"/>
          </p:cNvPicPr>
          <p:nvPr/>
        </p:nvPicPr>
        <p:blipFill>
          <a:blip r:embed="rId1"/>
          <a:stretch>
            <a:fillRect/>
          </a:stretch>
        </p:blipFill>
        <p:spPr>
          <a:xfrm>
            <a:off x="11259007" y="6327648"/>
            <a:ext cx="384048" cy="390449"/>
          </a:xfrm>
          <a:prstGeom prst="rect">
            <a:avLst/>
          </a:prstGeom>
        </p:spPr>
      </p:pic>
      <p:sp>
        <p:nvSpPr>
          <p:cNvPr id="6" name="Text 3"/>
          <p:cNvSpPr txBox="1"/>
          <p:nvPr/>
        </p:nvSpPr>
        <p:spPr>
          <a:xfrm>
            <a:off x="548640" y="6382512"/>
            <a:ext cx="5486400" cy="292608"/>
          </a:xfrm>
          <a:prstGeom prst="rect">
            <a:avLst/>
          </a:prstGeom>
          <a:noFill/>
          <a:ln/>
        </p:spPr>
        <p:txBody>
          <a:bodyPr wrap="square" lIns="0" tIns="0" rIns="0" bIns="0" rtlCol="0" anchor="ctr"/>
          <a:lstStyle/>
          <a:p>
            <a:pPr indent="0" marL="0">
              <a:buNone/>
            </a:pPr>
            <a:r>
              <a:rPr lang="en-US" sz="1100" dirty="0">
                <a:solidFill>
                  <a:srgbClr val="4A5566"/>
                </a:solidFill>
                <a:latin typeface="Calibri" pitchFamily="34" charset="0"/>
                <a:ea typeface="Calibri" pitchFamily="34" charset="-122"/>
                <a:cs typeface="Calibri" pitchFamily="34" charset="-120"/>
              </a:rPr>
              <a:t>SW-7   |   Samson Okuthe   |   EEE4022S 2026</a:t>
            </a:r>
            <a:endParaRPr lang="en-US" sz="1100" dirty="0"/>
          </a:p>
        </p:txBody>
      </p:sp>
      <p:sp>
        <p:nvSpPr>
          <p:cNvPr id="7" name="Text 4"/>
          <p:cNvSpPr txBox="1"/>
          <p:nvPr/>
        </p:nvSpPr>
        <p:spPr>
          <a:xfrm>
            <a:off x="10180015" y="6382512"/>
            <a:ext cx="914400" cy="292608"/>
          </a:xfrm>
          <a:prstGeom prst="rect">
            <a:avLst/>
          </a:prstGeom>
          <a:noFill/>
          <a:ln/>
        </p:spPr>
        <p:txBody>
          <a:bodyPr wrap="square" lIns="0" tIns="0" rIns="0" bIns="0" rtlCol="0" anchor="ctr"/>
          <a:lstStyle/>
          <a:p>
            <a:pPr algn="r" indent="0" marL="0">
              <a:buNone/>
            </a:pPr>
            <a:r>
              <a:rPr lang="en-US" sz="1100" dirty="0">
                <a:solidFill>
                  <a:srgbClr val="4A5566"/>
                </a:solidFill>
                <a:latin typeface="Calibri" pitchFamily="34" charset="0"/>
                <a:ea typeface="Calibri" pitchFamily="34" charset="-122"/>
                <a:cs typeface="Calibri" pitchFamily="34" charset="-120"/>
              </a:rPr>
              <a:t>6 / 14</a:t>
            </a:r>
            <a:endParaRPr lang="en-US" sz="1100" dirty="0"/>
          </a:p>
        </p:txBody>
      </p:sp>
      <p:sp>
        <p:nvSpPr>
          <p:cNvPr id="9" name="Shape 5"/>
          <p:cNvSpPr/>
          <p:nvPr/>
        </p:nvSpPr>
        <p:spPr>
          <a:xfrm>
            <a:off x="548640" y="1280160"/>
            <a:ext cx="2567864" cy="1463040"/>
          </a:xfrm>
          <a:prstGeom prst="roundRect">
            <a:avLst>
              <a:gd name="adj" fmla="val 7500"/>
            </a:avLst>
          </a:prstGeom>
          <a:solidFill>
            <a:srgbClr val="E8F0FA"/>
          </a:solidFill>
          <a:ln w="12700">
            <a:solidFill>
              <a:srgbClr val="E8F0FA"/>
            </a:solidFill>
            <a:prstDash val="solid"/>
          </a:ln>
        </p:spPr>
      </p:sp>
      <p:sp>
        <p:nvSpPr>
          <p:cNvPr id="10" name="Text 6"/>
          <p:cNvSpPr txBox="1"/>
          <p:nvPr/>
        </p:nvSpPr>
        <p:spPr>
          <a:xfrm>
            <a:off x="777240" y="1389888"/>
            <a:ext cx="2110664" cy="685800"/>
          </a:xfrm>
          <a:prstGeom prst="rect">
            <a:avLst/>
          </a:prstGeom>
          <a:noFill/>
          <a:ln/>
        </p:spPr>
        <p:txBody>
          <a:bodyPr wrap="square" lIns="0" tIns="0" rIns="0" bIns="0" rtlCol="0" anchor="ctr"/>
          <a:lstStyle/>
          <a:p>
            <a:pPr indent="0" marL="0">
              <a:buNone/>
            </a:pPr>
            <a:r>
              <a:rPr lang="en-US" sz="3400" b="1" dirty="0">
                <a:solidFill>
                  <a:srgbClr val="14305C"/>
                </a:solidFill>
                <a:latin typeface="Calibri" pitchFamily="34" charset="0"/>
                <a:ea typeface="Calibri" pitchFamily="34" charset="-122"/>
                <a:cs typeface="Calibri" pitchFamily="34" charset="-120"/>
              </a:rPr>
              <a:t>200 Hz</a:t>
            </a:r>
            <a:endParaRPr lang="en-US" sz="3400" dirty="0"/>
          </a:p>
        </p:txBody>
      </p:sp>
      <p:sp>
        <p:nvSpPr>
          <p:cNvPr id="11" name="Text 7"/>
          <p:cNvSpPr txBox="1"/>
          <p:nvPr/>
        </p:nvSpPr>
        <p:spPr>
          <a:xfrm>
            <a:off x="777240" y="2103120"/>
            <a:ext cx="2110664" cy="566928"/>
          </a:xfrm>
          <a:prstGeom prst="rect">
            <a:avLst/>
          </a:prstGeom>
          <a:noFill/>
          <a:ln/>
        </p:spPr>
        <p:txBody>
          <a:bodyPr wrap="square" lIns="0" tIns="0" rIns="0" bIns="0" rtlCol="0" anchor="t"/>
          <a:lstStyle/>
          <a:p>
            <a:pPr indent="0" marL="0">
              <a:buNone/>
            </a:pPr>
            <a:r>
              <a:rPr lang="en-US" sz="1400" dirty="0">
                <a:solidFill>
                  <a:srgbClr val="1B1F24"/>
                </a:solidFill>
                <a:latin typeface="Calibri" pitchFamily="34" charset="0"/>
                <a:ea typeface="Calibri" pitchFamily="34" charset="-122"/>
                <a:cs typeface="Calibri" pitchFamily="34" charset="-120"/>
              </a:rPr>
              <a:t>on both IMUs, no samples dropped</a:t>
            </a:r>
            <a:endParaRPr lang="en-US" sz="1400" dirty="0"/>
          </a:p>
        </p:txBody>
      </p:sp>
      <p:sp>
        <p:nvSpPr>
          <p:cNvPr id="12" name="Shape 8"/>
          <p:cNvSpPr/>
          <p:nvPr/>
        </p:nvSpPr>
        <p:spPr>
          <a:xfrm>
            <a:off x="3390824" y="1280160"/>
            <a:ext cx="2567864" cy="1463040"/>
          </a:xfrm>
          <a:prstGeom prst="roundRect">
            <a:avLst>
              <a:gd name="adj" fmla="val 7500"/>
            </a:avLst>
          </a:prstGeom>
          <a:solidFill>
            <a:srgbClr val="E8F0FA"/>
          </a:solidFill>
          <a:ln w="12700">
            <a:solidFill>
              <a:srgbClr val="E8F0FA"/>
            </a:solidFill>
            <a:prstDash val="solid"/>
          </a:ln>
        </p:spPr>
      </p:sp>
      <p:sp>
        <p:nvSpPr>
          <p:cNvPr id="13" name="Text 9"/>
          <p:cNvSpPr txBox="1"/>
          <p:nvPr/>
        </p:nvSpPr>
        <p:spPr>
          <a:xfrm>
            <a:off x="3619424" y="1389888"/>
            <a:ext cx="2110664" cy="685800"/>
          </a:xfrm>
          <a:prstGeom prst="rect">
            <a:avLst/>
          </a:prstGeom>
          <a:noFill/>
          <a:ln/>
        </p:spPr>
        <p:txBody>
          <a:bodyPr wrap="square" lIns="0" tIns="0" rIns="0" bIns="0" rtlCol="0" anchor="ctr"/>
          <a:lstStyle/>
          <a:p>
            <a:pPr indent="0" marL="0">
              <a:buNone/>
            </a:pPr>
            <a:r>
              <a:rPr lang="en-US" sz="3400" b="1" dirty="0">
                <a:solidFill>
                  <a:srgbClr val="14305C"/>
                </a:solidFill>
                <a:latin typeface="Calibri" pitchFamily="34" charset="0"/>
                <a:ea typeface="Calibri" pitchFamily="34" charset="-122"/>
                <a:cs typeface="Calibri" pitchFamily="34" charset="-120"/>
              </a:rPr>
              <a:t>9.8 m/s²</a:t>
            </a:r>
            <a:endParaRPr lang="en-US" sz="3400" dirty="0"/>
          </a:p>
        </p:txBody>
      </p:sp>
      <p:sp>
        <p:nvSpPr>
          <p:cNvPr id="14" name="Text 10"/>
          <p:cNvSpPr txBox="1"/>
          <p:nvPr/>
        </p:nvSpPr>
        <p:spPr>
          <a:xfrm>
            <a:off x="3619424" y="2103120"/>
            <a:ext cx="2110664" cy="566928"/>
          </a:xfrm>
          <a:prstGeom prst="rect">
            <a:avLst/>
          </a:prstGeom>
          <a:noFill/>
          <a:ln/>
        </p:spPr>
        <p:txBody>
          <a:bodyPr wrap="square" lIns="0" tIns="0" rIns="0" bIns="0" rtlCol="0" anchor="t"/>
          <a:lstStyle/>
          <a:p>
            <a:pPr indent="0" marL="0">
              <a:buNone/>
            </a:pPr>
            <a:r>
              <a:rPr lang="en-US" sz="1400" dirty="0">
                <a:solidFill>
                  <a:srgbClr val="1B1F24"/>
                </a:solidFill>
                <a:latin typeface="Calibri" pitchFamily="34" charset="0"/>
                <a:ea typeface="Calibri" pitchFamily="34" charset="-122"/>
                <a:cs typeface="Calibri" pitchFamily="34" charset="-120"/>
              </a:rPr>
              <a:t>both IMUs at rest just after calibration (9.80, 9.81)</a:t>
            </a:r>
            <a:endParaRPr lang="en-US" sz="1400" dirty="0"/>
          </a:p>
        </p:txBody>
      </p:sp>
      <p:sp>
        <p:nvSpPr>
          <p:cNvPr id="15" name="Shape 11"/>
          <p:cNvSpPr/>
          <p:nvPr/>
        </p:nvSpPr>
        <p:spPr>
          <a:xfrm>
            <a:off x="6233008" y="1280160"/>
            <a:ext cx="2567864" cy="1463040"/>
          </a:xfrm>
          <a:prstGeom prst="roundRect">
            <a:avLst>
              <a:gd name="adj" fmla="val 7500"/>
            </a:avLst>
          </a:prstGeom>
          <a:solidFill>
            <a:srgbClr val="E8F0FA"/>
          </a:solidFill>
          <a:ln w="12700">
            <a:solidFill>
              <a:srgbClr val="E8F0FA"/>
            </a:solidFill>
            <a:prstDash val="solid"/>
          </a:ln>
        </p:spPr>
      </p:sp>
      <p:sp>
        <p:nvSpPr>
          <p:cNvPr id="16" name="Text 12"/>
          <p:cNvSpPr txBox="1"/>
          <p:nvPr/>
        </p:nvSpPr>
        <p:spPr>
          <a:xfrm>
            <a:off x="6461608" y="1389888"/>
            <a:ext cx="2110664" cy="685800"/>
          </a:xfrm>
          <a:prstGeom prst="rect">
            <a:avLst/>
          </a:prstGeom>
          <a:noFill/>
          <a:ln/>
        </p:spPr>
        <p:txBody>
          <a:bodyPr wrap="square" lIns="0" tIns="0" rIns="0" bIns="0" rtlCol="0" anchor="ctr"/>
          <a:lstStyle/>
          <a:p>
            <a:pPr indent="0" marL="0">
              <a:buNone/>
            </a:pPr>
            <a:r>
              <a:rPr lang="en-US" sz="3400" b="1" dirty="0">
                <a:solidFill>
                  <a:srgbClr val="14305C"/>
                </a:solidFill>
                <a:latin typeface="Calibri" pitchFamily="34" charset="0"/>
                <a:ea typeface="Calibri" pitchFamily="34" charset="-122"/>
                <a:cs typeface="Calibri" pitchFamily="34" charset="-120"/>
              </a:rPr>
              <a:t>149 / 149</a:t>
            </a:r>
            <a:endParaRPr lang="en-US" sz="3400" dirty="0"/>
          </a:p>
        </p:txBody>
      </p:sp>
      <p:sp>
        <p:nvSpPr>
          <p:cNvPr id="17" name="Text 13"/>
          <p:cNvSpPr txBox="1"/>
          <p:nvPr/>
        </p:nvSpPr>
        <p:spPr>
          <a:xfrm>
            <a:off x="6461608" y="2103120"/>
            <a:ext cx="2110664" cy="566928"/>
          </a:xfrm>
          <a:prstGeom prst="rect">
            <a:avLst/>
          </a:prstGeom>
          <a:noFill/>
          <a:ln/>
        </p:spPr>
        <p:txBody>
          <a:bodyPr wrap="square" lIns="0" tIns="0" rIns="0" bIns="0" rtlCol="0" anchor="t"/>
          <a:lstStyle/>
          <a:p>
            <a:pPr indent="0" marL="0">
              <a:buNone/>
            </a:pPr>
            <a:r>
              <a:rPr lang="en-US" sz="1400" dirty="0">
                <a:solidFill>
                  <a:srgbClr val="1B1F24"/>
                </a:solidFill>
                <a:latin typeface="Calibri" pitchFamily="34" charset="0"/>
                <a:ea typeface="Calibri" pitchFamily="34" charset="-122"/>
                <a:cs typeface="Calibri" pitchFamily="34" charset="-120"/>
              </a:rPr>
              <a:t>windows fused from both IMUs</a:t>
            </a:r>
            <a:endParaRPr lang="en-US" sz="1400" dirty="0"/>
          </a:p>
        </p:txBody>
      </p:sp>
      <p:sp>
        <p:nvSpPr>
          <p:cNvPr id="18" name="Shape 14"/>
          <p:cNvSpPr/>
          <p:nvPr/>
        </p:nvSpPr>
        <p:spPr>
          <a:xfrm>
            <a:off x="9075191" y="1280160"/>
            <a:ext cx="2567864" cy="1463040"/>
          </a:xfrm>
          <a:prstGeom prst="roundRect">
            <a:avLst>
              <a:gd name="adj" fmla="val 7500"/>
            </a:avLst>
          </a:prstGeom>
          <a:solidFill>
            <a:srgbClr val="E8F0FA"/>
          </a:solidFill>
          <a:ln w="12700">
            <a:solidFill>
              <a:srgbClr val="E8F0FA"/>
            </a:solidFill>
            <a:prstDash val="solid"/>
          </a:ln>
        </p:spPr>
      </p:sp>
      <p:sp>
        <p:nvSpPr>
          <p:cNvPr id="19" name="Text 15"/>
          <p:cNvSpPr txBox="1"/>
          <p:nvPr/>
        </p:nvSpPr>
        <p:spPr>
          <a:xfrm>
            <a:off x="9303791" y="1389888"/>
            <a:ext cx="2110664" cy="685800"/>
          </a:xfrm>
          <a:prstGeom prst="rect">
            <a:avLst/>
          </a:prstGeom>
          <a:noFill/>
          <a:ln/>
        </p:spPr>
        <p:txBody>
          <a:bodyPr wrap="square" lIns="0" tIns="0" rIns="0" bIns="0" rtlCol="0" anchor="ctr"/>
          <a:lstStyle/>
          <a:p>
            <a:pPr indent="0" marL="0">
              <a:buNone/>
            </a:pPr>
            <a:r>
              <a:rPr lang="en-US" sz="3400" b="1" dirty="0">
                <a:solidFill>
                  <a:srgbClr val="14305C"/>
                </a:solidFill>
                <a:latin typeface="Calibri" pitchFamily="34" charset="0"/>
                <a:ea typeface="Calibri" pitchFamily="34" charset="-122"/>
                <a:cs typeface="Calibri" pitchFamily="34" charset="-120"/>
              </a:rPr>
              <a:t>&lt; 1 ms</a:t>
            </a:r>
            <a:endParaRPr lang="en-US" sz="3400" dirty="0"/>
          </a:p>
        </p:txBody>
      </p:sp>
      <p:sp>
        <p:nvSpPr>
          <p:cNvPr id="20" name="Text 16"/>
          <p:cNvSpPr txBox="1"/>
          <p:nvPr/>
        </p:nvSpPr>
        <p:spPr>
          <a:xfrm>
            <a:off x="9303791" y="2103120"/>
            <a:ext cx="2110664" cy="566928"/>
          </a:xfrm>
          <a:prstGeom prst="rect">
            <a:avLst/>
          </a:prstGeom>
          <a:noFill/>
          <a:ln/>
        </p:spPr>
        <p:txBody>
          <a:bodyPr wrap="square" lIns="0" tIns="0" rIns="0" bIns="0" rtlCol="0" anchor="t"/>
          <a:lstStyle/>
          <a:p>
            <a:pPr indent="0" marL="0">
              <a:buNone/>
            </a:pPr>
            <a:r>
              <a:rPr lang="en-US" sz="1400" dirty="0">
                <a:solidFill>
                  <a:srgbClr val="1B1F24"/>
                </a:solidFill>
                <a:latin typeface="Calibri" pitchFamily="34" charset="0"/>
                <a:ea typeface="Calibri" pitchFamily="34" charset="-122"/>
                <a:cs typeface="Calibri" pitchFamily="34" charset="-120"/>
              </a:rPr>
              <a:t>skew between paired windows</a:t>
            </a:r>
            <a:endParaRPr lang="en-US" sz="1400" dirty="0"/>
          </a:p>
        </p:txBody>
      </p:sp>
      <p:pic>
        <p:nvPicPr>
          <p:cNvPr id="21" name="Image 1" descr="C:\Users\0geda\OneDrive - University of Cape Town\Documents\PlatformIO\Projects\Tukzie-HPEC-HUD\Presentation\source\assets\vibration_chart.png">    </p:cNvPr>
          <p:cNvPicPr>
            <a:picLocks noChangeAspect="1"/>
          </p:cNvPicPr>
          <p:nvPr/>
        </p:nvPicPr>
        <p:blipFill>
          <a:blip r:embed="rId2"/>
          <a:stretch>
            <a:fillRect/>
          </a:stretch>
        </p:blipFill>
        <p:spPr>
          <a:xfrm>
            <a:off x="548640" y="3017520"/>
            <a:ext cx="6949440" cy="2369855"/>
          </a:xfrm>
          <a:prstGeom prst="rect">
            <a:avLst/>
          </a:prstGeom>
        </p:spPr>
      </p:pic>
      <p:sp>
        <p:nvSpPr>
          <p:cNvPr id="22" name="Text 17"/>
          <p:cNvSpPr txBox="1"/>
          <p:nvPr/>
        </p:nvSpPr>
        <p:spPr>
          <a:xfrm>
            <a:off x="548640" y="5433095"/>
            <a:ext cx="6949440" cy="457200"/>
          </a:xfrm>
          <a:prstGeom prst="rect">
            <a:avLst/>
          </a:prstGeom>
          <a:noFill/>
          <a:ln/>
        </p:spPr>
        <p:txBody>
          <a:bodyPr wrap="square" lIns="0" tIns="0" rIns="0" bIns="0" rtlCol="0" anchor="ctr"/>
          <a:lstStyle/>
          <a:p>
            <a:pPr indent="0" marL="0">
              <a:buNone/>
            </a:pPr>
            <a:r>
              <a:rPr lang="en-US" sz="1300" i="1" dirty="0">
                <a:solidFill>
                  <a:srgbClr val="4A5566"/>
                </a:solidFill>
                <a:latin typeface="Calibri" pitchFamily="34" charset="0"/>
                <a:ea typeface="Calibri" pitchFamily="34" charset="-122"/>
                <a:cs typeface="Calibri" pitchFamily="34" charset="-120"/>
              </a:rPr>
              <a:t>Recorded 150 s session: still, then disturbed by hand from about 75 s. Fused (green) sits between IMU1 and IMU2.</a:t>
            </a:r>
            <a:endParaRPr lang="en-US" sz="1300" dirty="0"/>
          </a:p>
        </p:txBody>
      </p:sp>
      <p:sp>
        <p:nvSpPr>
          <p:cNvPr id="23" name="Shape 18"/>
          <p:cNvSpPr/>
          <p:nvPr/>
        </p:nvSpPr>
        <p:spPr>
          <a:xfrm>
            <a:off x="7818120" y="3017520"/>
            <a:ext cx="3824935" cy="3154680"/>
          </a:xfrm>
          <a:prstGeom prst="roundRect">
            <a:avLst>
              <a:gd name="adj" fmla="val 3478"/>
            </a:avLst>
          </a:prstGeom>
          <a:solidFill>
            <a:srgbClr val="E8F0FA"/>
          </a:solidFill>
          <a:ln w="12700">
            <a:solidFill>
              <a:srgbClr val="E8F0FA"/>
            </a:solidFill>
            <a:prstDash val="solid"/>
          </a:ln>
        </p:spPr>
      </p:sp>
      <p:sp>
        <p:nvSpPr>
          <p:cNvPr id="24" name="Text 19"/>
          <p:cNvSpPr txBox="1"/>
          <p:nvPr/>
        </p:nvSpPr>
        <p:spPr>
          <a:xfrm>
            <a:off x="8092440" y="3154680"/>
            <a:ext cx="3276295" cy="365760"/>
          </a:xfrm>
          <a:prstGeom prst="rect">
            <a:avLst/>
          </a:prstGeom>
          <a:noFill/>
          <a:ln/>
        </p:spPr>
        <p:txBody>
          <a:bodyPr wrap="square" lIns="0" tIns="0" rIns="0" bIns="0" rtlCol="0" anchor="ctr"/>
          <a:lstStyle/>
          <a:p>
            <a:pPr indent="0" marL="0">
              <a:buNone/>
            </a:pPr>
            <a:r>
              <a:rPr lang="en-US" sz="1800" b="1" dirty="0">
                <a:solidFill>
                  <a:srgbClr val="14305C"/>
                </a:solidFill>
                <a:latin typeface="Calibri" pitchFamily="34" charset="0"/>
                <a:ea typeface="Calibri" pitchFamily="34" charset="-122"/>
                <a:cs typeface="Calibri" pitchFamily="34" charset="-120"/>
              </a:rPr>
              <a:t>Calibration and limits</a:t>
            </a:r>
            <a:endParaRPr lang="en-US" sz="1800" dirty="0"/>
          </a:p>
        </p:txBody>
      </p:sp>
      <p:sp>
        <p:nvSpPr>
          <p:cNvPr id="25" name="Text 20"/>
          <p:cNvSpPr txBox="1"/>
          <p:nvPr/>
        </p:nvSpPr>
        <p:spPr>
          <a:xfrm>
            <a:off x="8092440" y="3584448"/>
            <a:ext cx="3276295" cy="2468880"/>
          </a:xfrm>
          <a:prstGeom prst="rect">
            <a:avLst/>
          </a:prstGeom>
          <a:noFill/>
          <a:ln/>
        </p:spPr>
        <p:txBody>
          <a:bodyPr wrap="square" lIns="0" tIns="0" rIns="0" bIns="0" rtlCol="0" anchor="t"/>
          <a:lstStyle/>
          <a:p>
            <a:pPr marL="228600" indent="-228600">
              <a:spcAft>
                <a:spcPts val="800"/>
              </a:spcAft>
              <a:buSzPct val="100000"/>
              <a:buChar char="•"/>
            </a:pPr>
            <a:r>
              <a:rPr lang="en-US" sz="1300" dirty="0">
                <a:solidFill>
                  <a:srgbClr val="1B1F24"/>
                </a:solidFill>
                <a:latin typeface="Calibri" pitchFamily="34" charset="0"/>
                <a:ea typeface="Calibri" pitchFamily="34" charset="-122"/>
                <a:cs typeface="Calibri" pitchFamily="34" charset="-120"/>
              </a:rPr>
              <a:t>Bench factors on the parked vehicle: 10.04 and 10.34 m/s²</a:t>
            </a:r>
            <a:endParaRPr lang="en-US" sz="1300" dirty="0"/>
          </a:p>
          <a:p>
            <a:pPr marL="228600" indent="-228600">
              <a:spcAft>
                <a:spcPts val="800"/>
              </a:spcAft>
              <a:buSzPct val="100000"/>
              <a:buChar char="•"/>
            </a:pPr>
            <a:r>
              <a:rPr lang="en-US" sz="1300" dirty="0">
                <a:solidFill>
                  <a:srgbClr val="1B1F24"/>
                </a:solidFill>
                <a:latin typeface="Calibri" pitchFamily="34" charset="0"/>
                <a:ea typeface="Calibri" pitchFamily="34" charset="-122"/>
                <a:cs typeface="Calibri" pitchFamily="34" charset="-120"/>
              </a:rPr>
              <a:t>Mounted (23 Oct): front 0.9919, rear 1.0094; not yet rechecked</a:t>
            </a:r>
            <a:endParaRPr lang="en-US" sz="1300" dirty="0"/>
          </a:p>
          <a:p>
            <a:pPr marL="228600" indent="-228600">
              <a:spcAft>
                <a:spcPts val="800"/>
              </a:spcAft>
              <a:buSzPct val="100000"/>
              <a:buChar char="•"/>
            </a:pPr>
            <a:r>
              <a:rPr lang="en-US" sz="1300" dirty="0">
                <a:solidFill>
                  <a:srgbClr val="1B1F24"/>
                </a:solidFill>
                <a:latin typeface="Calibri" pitchFamily="34" charset="0"/>
                <a:ea typeface="Calibri" pitchFamily="34" charset="-122"/>
                <a:cs typeface="Calibri" pitchFamily="34" charset="-120"/>
              </a:rPr>
              <a:t>Flash gaps 33 to 44 ms, once a minute</a:t>
            </a:r>
            <a:endParaRPr lang="en-US" sz="1300" dirty="0"/>
          </a:p>
          <a:p>
            <a:pPr marL="228600" indent="-228600">
              <a:spcAft>
                <a:spcPts val="800"/>
              </a:spcAft>
              <a:buSzPct val="100000"/>
              <a:buChar char="•"/>
            </a:pPr>
            <a:r>
              <a:rPr lang="en-US" sz="1300" dirty="0">
                <a:solidFill>
                  <a:srgbClr val="1B1F24"/>
                </a:solidFill>
                <a:latin typeface="Calibri" pitchFamily="34" charset="0"/>
                <a:ea typeface="Calibri" pitchFamily="34" charset="-122"/>
                <a:cs typeface="Calibri" pitchFamily="34" charset="-120"/>
              </a:rPr>
              <a:t>94 Hz filter: lines at 40 to 70 Hz could be images of 136 to 157 Hz; a speed sweep tells them apart</a:t>
            </a:r>
            <a:endParaRPr lang="en-US" sz="13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384048"/>
            <a:ext cx="566928" cy="566928"/>
          </a:xfrm>
          <a:prstGeom prst="ellipse">
            <a:avLst/>
          </a:prstGeom>
          <a:solidFill>
            <a:srgbClr val="14305C"/>
          </a:solidFill>
          <a:ln w="12700">
            <a:solidFill>
              <a:srgbClr val="14305C"/>
            </a:solidFill>
            <a:prstDash val="solid"/>
          </a:ln>
        </p:spPr>
      </p:sp>
      <p:sp>
        <p:nvSpPr>
          <p:cNvPr id="3" name="Text 1"/>
          <p:cNvSpPr txBox="1"/>
          <p:nvPr/>
        </p:nvSpPr>
        <p:spPr>
          <a:xfrm>
            <a:off x="548640" y="384048"/>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6</a:t>
            </a:r>
            <a:endParaRPr lang="en-US" sz="2000" dirty="0"/>
          </a:p>
        </p:txBody>
      </p:sp>
      <p:sp>
        <p:nvSpPr>
          <p:cNvPr id="4" name="Text 2"/>
          <p:cNvSpPr txBox="1"/>
          <p:nvPr/>
        </p:nvSpPr>
        <p:spPr>
          <a:xfrm>
            <a:off x="1325880" y="310896"/>
            <a:ext cx="10317175" cy="731520"/>
          </a:xfrm>
          <a:prstGeom prst="rect">
            <a:avLst/>
          </a:prstGeom>
          <a:noFill/>
          <a:ln/>
        </p:spPr>
        <p:txBody>
          <a:bodyPr wrap="square" lIns="0" tIns="0" rIns="0" bIns="0" rtlCol="0" anchor="ctr"/>
          <a:lstStyle/>
          <a:p>
            <a:pPr indent="0" marL="0">
              <a:buNone/>
            </a:pPr>
            <a:r>
              <a:rPr lang="en-US" sz="3200" b="1" dirty="0">
                <a:solidFill>
                  <a:srgbClr val="14305C"/>
                </a:solidFill>
                <a:latin typeface="Calibri" pitchFamily="34" charset="0"/>
                <a:ea typeface="Calibri" pitchFamily="34" charset="-122"/>
                <a:cs typeface="Calibri" pitchFamily="34" charset="-120"/>
              </a:rPr>
              <a:t>Seven fault investigations: symptom, test, cause, fix</a:t>
            </a:r>
            <a:endParaRPr lang="en-US" sz="3200" dirty="0"/>
          </a:p>
        </p:txBody>
      </p:sp>
      <p:pic>
        <p:nvPicPr>
          <p:cNvPr id="5" name="Image 0" descr="C:\Users\0geda\OneDrive - University of Cape Town\Documents\PlatformIO\Projects\Tukzie-HPEC-HUD\Presentation\source\assets\uct_logo.png">    </p:cNvPr>
          <p:cNvPicPr>
            <a:picLocks noChangeAspect="1"/>
          </p:cNvPicPr>
          <p:nvPr/>
        </p:nvPicPr>
        <p:blipFill>
          <a:blip r:embed="rId1"/>
          <a:stretch>
            <a:fillRect/>
          </a:stretch>
        </p:blipFill>
        <p:spPr>
          <a:xfrm>
            <a:off x="11259007" y="6327648"/>
            <a:ext cx="384048" cy="390449"/>
          </a:xfrm>
          <a:prstGeom prst="rect">
            <a:avLst/>
          </a:prstGeom>
        </p:spPr>
      </p:pic>
      <p:sp>
        <p:nvSpPr>
          <p:cNvPr id="6" name="Text 3"/>
          <p:cNvSpPr txBox="1"/>
          <p:nvPr/>
        </p:nvSpPr>
        <p:spPr>
          <a:xfrm>
            <a:off x="548640" y="6382512"/>
            <a:ext cx="5486400" cy="292608"/>
          </a:xfrm>
          <a:prstGeom prst="rect">
            <a:avLst/>
          </a:prstGeom>
          <a:noFill/>
          <a:ln/>
        </p:spPr>
        <p:txBody>
          <a:bodyPr wrap="square" lIns="0" tIns="0" rIns="0" bIns="0" rtlCol="0" anchor="ctr"/>
          <a:lstStyle/>
          <a:p>
            <a:pPr indent="0" marL="0">
              <a:buNone/>
            </a:pPr>
            <a:r>
              <a:rPr lang="en-US" sz="1100" dirty="0">
                <a:solidFill>
                  <a:srgbClr val="4A5566"/>
                </a:solidFill>
                <a:latin typeface="Calibri" pitchFamily="34" charset="0"/>
                <a:ea typeface="Calibri" pitchFamily="34" charset="-122"/>
                <a:cs typeface="Calibri" pitchFamily="34" charset="-120"/>
              </a:rPr>
              <a:t>SW-7   |   Samson Okuthe   |   EEE4022S 2026</a:t>
            </a:r>
            <a:endParaRPr lang="en-US" sz="1100" dirty="0"/>
          </a:p>
        </p:txBody>
      </p:sp>
      <p:sp>
        <p:nvSpPr>
          <p:cNvPr id="7" name="Text 4"/>
          <p:cNvSpPr txBox="1"/>
          <p:nvPr/>
        </p:nvSpPr>
        <p:spPr>
          <a:xfrm>
            <a:off x="10180015" y="6382512"/>
            <a:ext cx="914400" cy="292608"/>
          </a:xfrm>
          <a:prstGeom prst="rect">
            <a:avLst/>
          </a:prstGeom>
          <a:noFill/>
          <a:ln/>
        </p:spPr>
        <p:txBody>
          <a:bodyPr wrap="square" lIns="0" tIns="0" rIns="0" bIns="0" rtlCol="0" anchor="ctr"/>
          <a:lstStyle/>
          <a:p>
            <a:pPr algn="r" indent="0" marL="0">
              <a:buNone/>
            </a:pPr>
            <a:r>
              <a:rPr lang="en-US" sz="1100" dirty="0">
                <a:solidFill>
                  <a:srgbClr val="4A5566"/>
                </a:solidFill>
                <a:latin typeface="Calibri" pitchFamily="34" charset="0"/>
                <a:ea typeface="Calibri" pitchFamily="34" charset="-122"/>
                <a:cs typeface="Calibri" pitchFamily="34" charset="-120"/>
              </a:rPr>
              <a:t>7 / 14</a:t>
            </a:r>
            <a:endParaRPr lang="en-US" sz="1100" dirty="0"/>
          </a:p>
        </p:txBody>
      </p:sp>
      <p:sp>
        <p:nvSpPr>
          <p:cNvPr id="9" name="Shape 5"/>
          <p:cNvSpPr/>
          <p:nvPr/>
        </p:nvSpPr>
        <p:spPr>
          <a:xfrm>
            <a:off x="548640" y="1234440"/>
            <a:ext cx="2622728" cy="2194560"/>
          </a:xfrm>
          <a:prstGeom prst="roundRect">
            <a:avLst>
              <a:gd name="adj" fmla="val 5000"/>
            </a:avLst>
          </a:prstGeom>
          <a:solidFill>
            <a:srgbClr val="E8F0FA"/>
          </a:solidFill>
          <a:ln w="12700">
            <a:solidFill>
              <a:srgbClr val="E8F0FA"/>
            </a:solidFill>
            <a:prstDash val="solid"/>
          </a:ln>
        </p:spPr>
      </p:sp>
      <p:sp>
        <p:nvSpPr>
          <p:cNvPr id="10" name="Text 6"/>
          <p:cNvSpPr txBox="1"/>
          <p:nvPr/>
        </p:nvSpPr>
        <p:spPr>
          <a:xfrm>
            <a:off x="731520" y="1344168"/>
            <a:ext cx="2256968" cy="347472"/>
          </a:xfrm>
          <a:prstGeom prst="rect">
            <a:avLst/>
          </a:prstGeom>
          <a:noFill/>
          <a:ln/>
        </p:spPr>
        <p:txBody>
          <a:bodyPr wrap="square" lIns="0" tIns="0" rIns="0" bIns="0" rtlCol="0" anchor="ctr"/>
          <a:lstStyle/>
          <a:p>
            <a:pPr indent="0" marL="0">
              <a:buNone/>
            </a:pPr>
            <a:r>
              <a:rPr lang="en-US" sz="1500" b="1" dirty="0">
                <a:solidFill>
                  <a:srgbClr val="14305C"/>
                </a:solidFill>
                <a:latin typeface="Calibri" pitchFamily="34" charset="0"/>
                <a:ea typeface="Calibri" pitchFamily="34" charset="-122"/>
                <a:cs typeface="Calibri" pitchFamily="34" charset="-120"/>
              </a:rPr>
              <a:t>Boot loop, full flash</a:t>
            </a:r>
            <a:endParaRPr lang="en-US" sz="1500" dirty="0"/>
          </a:p>
        </p:txBody>
      </p:sp>
      <p:sp>
        <p:nvSpPr>
          <p:cNvPr id="11" name="Text 7"/>
          <p:cNvSpPr txBox="1"/>
          <p:nvPr/>
        </p:nvSpPr>
        <p:spPr>
          <a:xfrm>
            <a:off x="731520" y="1709928"/>
            <a:ext cx="2256968" cy="1645920"/>
          </a:xfrm>
          <a:prstGeom prst="rect">
            <a:avLst/>
          </a:prstGeom>
          <a:noFill/>
          <a:ln/>
        </p:spPr>
        <p:txBody>
          <a:bodyPr wrap="square" lIns="0" tIns="0" rIns="0" bIns="0" rtlCol="0" anchor="t"/>
          <a:lstStyle/>
          <a:p>
            <a:pPr indent="0" marL="0">
              <a:buNone/>
            </a:pPr>
            <a:r>
              <a:rPr lang="en-US" sz="1200" dirty="0">
                <a:solidFill>
                  <a:srgbClr val="1B1F24"/>
                </a:solidFill>
                <a:latin typeface="Calibri" pitchFamily="34" charset="0"/>
                <a:ea typeface="Calibri" pitchFamily="34" charset="-122"/>
                <a:cs typeface="Calibri" pitchFamily="34" charset="-120"/>
              </a:rPr>
              <a:t>Seen: reset once a second at one address. Tests: PSRAM setting, all overrides off, ROM banner. Cause: quad mode asked, chip runs dual (DIO). Fix: size, mode and table set together.</a:t>
            </a:r>
            <a:endParaRPr lang="en-US" sz="1200" dirty="0"/>
          </a:p>
        </p:txBody>
      </p:sp>
      <p:sp>
        <p:nvSpPr>
          <p:cNvPr id="12" name="Shape 8"/>
          <p:cNvSpPr/>
          <p:nvPr/>
        </p:nvSpPr>
        <p:spPr>
          <a:xfrm>
            <a:off x="3372536" y="1234440"/>
            <a:ext cx="2622728" cy="2194560"/>
          </a:xfrm>
          <a:prstGeom prst="roundRect">
            <a:avLst>
              <a:gd name="adj" fmla="val 5000"/>
            </a:avLst>
          </a:prstGeom>
          <a:solidFill>
            <a:srgbClr val="E8F0FA"/>
          </a:solidFill>
          <a:ln w="12700">
            <a:solidFill>
              <a:srgbClr val="E8F0FA"/>
            </a:solidFill>
            <a:prstDash val="solid"/>
          </a:ln>
        </p:spPr>
      </p:sp>
      <p:sp>
        <p:nvSpPr>
          <p:cNvPr id="13" name="Text 9"/>
          <p:cNvSpPr txBox="1"/>
          <p:nvPr/>
        </p:nvSpPr>
        <p:spPr>
          <a:xfrm>
            <a:off x="3555416" y="1344168"/>
            <a:ext cx="2256968" cy="347472"/>
          </a:xfrm>
          <a:prstGeom prst="rect">
            <a:avLst/>
          </a:prstGeom>
          <a:noFill/>
          <a:ln/>
        </p:spPr>
        <p:txBody>
          <a:bodyPr wrap="square" lIns="0" tIns="0" rIns="0" bIns="0" rtlCol="0" anchor="ctr"/>
          <a:lstStyle/>
          <a:p>
            <a:pPr indent="0" marL="0">
              <a:buNone/>
            </a:pPr>
            <a:r>
              <a:rPr lang="en-US" sz="1500" b="1" dirty="0">
                <a:solidFill>
                  <a:srgbClr val="14305C"/>
                </a:solidFill>
                <a:latin typeface="Calibri" pitchFamily="34" charset="0"/>
                <a:ea typeface="Calibri" pitchFamily="34" charset="-122"/>
                <a:cs typeface="Calibri" pitchFamily="34" charset="-120"/>
              </a:rPr>
              <a:t>GNSS reply layout</a:t>
            </a:r>
            <a:endParaRPr lang="en-US" sz="1500" dirty="0"/>
          </a:p>
        </p:txBody>
      </p:sp>
      <p:sp>
        <p:nvSpPr>
          <p:cNvPr id="14" name="Text 10"/>
          <p:cNvSpPr txBox="1"/>
          <p:nvPr/>
        </p:nvSpPr>
        <p:spPr>
          <a:xfrm>
            <a:off x="3555416" y="1709928"/>
            <a:ext cx="2256968" cy="1645920"/>
          </a:xfrm>
          <a:prstGeom prst="rect">
            <a:avLst/>
          </a:prstGeom>
          <a:noFill/>
          <a:ln/>
        </p:spPr>
        <p:txBody>
          <a:bodyPr wrap="square" lIns="0" tIns="0" rIns="0" bIns="0" rtlCol="0" anchor="t"/>
          <a:lstStyle/>
          <a:p>
            <a:pPr indent="0" marL="0">
              <a:buNone/>
            </a:pPr>
            <a:r>
              <a:rPr lang="en-US" sz="1200" dirty="0">
                <a:solidFill>
                  <a:srgbClr val="1B1F24"/>
                </a:solidFill>
                <a:latin typeface="Calibri" pitchFamily="34" charset="0"/>
                <a:ea typeface="Calibri" pitchFamily="34" charset="-122"/>
                <a:cs typeface="Calibri" pitchFamily="34" charset="-120"/>
              </a:rPr>
              <a:t>Seen: first fix near 0, 0. Test: raw replies logged: 17 fields in decimal degrees, not 13 as assumed. Fix: parser anchors on the hemisphere letter; median 2.7 m.</a:t>
            </a:r>
            <a:endParaRPr lang="en-US" sz="1200" dirty="0"/>
          </a:p>
        </p:txBody>
      </p:sp>
      <p:sp>
        <p:nvSpPr>
          <p:cNvPr id="15" name="Shape 11"/>
          <p:cNvSpPr/>
          <p:nvPr/>
        </p:nvSpPr>
        <p:spPr>
          <a:xfrm>
            <a:off x="6196432" y="1234440"/>
            <a:ext cx="2622728" cy="2194560"/>
          </a:xfrm>
          <a:prstGeom prst="roundRect">
            <a:avLst>
              <a:gd name="adj" fmla="val 5000"/>
            </a:avLst>
          </a:prstGeom>
          <a:solidFill>
            <a:srgbClr val="E8F0FA"/>
          </a:solidFill>
          <a:ln w="12700">
            <a:solidFill>
              <a:srgbClr val="E8F0FA"/>
            </a:solidFill>
            <a:prstDash val="solid"/>
          </a:ln>
        </p:spPr>
      </p:sp>
      <p:sp>
        <p:nvSpPr>
          <p:cNvPr id="16" name="Text 12"/>
          <p:cNvSpPr txBox="1"/>
          <p:nvPr/>
        </p:nvSpPr>
        <p:spPr>
          <a:xfrm>
            <a:off x="6379312" y="1344168"/>
            <a:ext cx="2256968" cy="347472"/>
          </a:xfrm>
          <a:prstGeom prst="rect">
            <a:avLst/>
          </a:prstGeom>
          <a:noFill/>
          <a:ln/>
        </p:spPr>
        <p:txBody>
          <a:bodyPr wrap="square" lIns="0" tIns="0" rIns="0" bIns="0" rtlCol="0" anchor="ctr"/>
          <a:lstStyle/>
          <a:p>
            <a:pPr indent="0" marL="0">
              <a:buNone/>
            </a:pPr>
            <a:r>
              <a:rPr lang="en-US" sz="1500" b="1" dirty="0">
                <a:solidFill>
                  <a:srgbClr val="14305C"/>
                </a:solidFill>
                <a:latin typeface="Calibri" pitchFamily="34" charset="0"/>
                <a:ea typeface="Calibri" pitchFamily="34" charset="-122"/>
                <a:cs typeface="Calibri" pitchFamily="34" charset="-120"/>
              </a:rPr>
              <a:t>Battery checksum</a:t>
            </a:r>
            <a:endParaRPr lang="en-US" sz="1500" dirty="0"/>
          </a:p>
        </p:txBody>
      </p:sp>
      <p:sp>
        <p:nvSpPr>
          <p:cNvPr id="17" name="Text 13"/>
          <p:cNvSpPr txBox="1"/>
          <p:nvPr/>
        </p:nvSpPr>
        <p:spPr>
          <a:xfrm>
            <a:off x="6379312" y="1709928"/>
            <a:ext cx="2256968" cy="1645920"/>
          </a:xfrm>
          <a:prstGeom prst="rect">
            <a:avLst/>
          </a:prstGeom>
          <a:noFill/>
          <a:ln/>
        </p:spPr>
        <p:txBody>
          <a:bodyPr wrap="square" lIns="0" tIns="0" rIns="0" bIns="0" rtlCol="0" anchor="t"/>
          <a:lstStyle/>
          <a:p>
            <a:pPr indent="0" marL="0">
              <a:buNone/>
            </a:pPr>
            <a:r>
              <a:rPr lang="en-US" sz="1200" dirty="0">
                <a:solidFill>
                  <a:srgbClr val="1B1F24"/>
                </a:solidFill>
                <a:latin typeface="Calibri" pitchFamily="34" charset="0"/>
                <a:ea typeface="Calibri" pitchFamily="34" charset="-122"/>
                <a:cs typeface="Calibri" pitchFamily="34" charset="-120"/>
              </a:rPr>
              <a:t>Seen: every frame rejected. Test: the firmware's own query frame shows the rule. Cause: register byte summed too, so each reply failed by 3. Fix: 14 valid records, 74.78 V.</a:t>
            </a:r>
            <a:endParaRPr lang="en-US" sz="1200" dirty="0"/>
          </a:p>
        </p:txBody>
      </p:sp>
      <p:sp>
        <p:nvSpPr>
          <p:cNvPr id="18" name="Shape 14"/>
          <p:cNvSpPr/>
          <p:nvPr/>
        </p:nvSpPr>
        <p:spPr>
          <a:xfrm>
            <a:off x="9020327" y="1234440"/>
            <a:ext cx="2622728" cy="2194560"/>
          </a:xfrm>
          <a:prstGeom prst="roundRect">
            <a:avLst>
              <a:gd name="adj" fmla="val 5000"/>
            </a:avLst>
          </a:prstGeom>
          <a:solidFill>
            <a:srgbClr val="E8F0FA"/>
          </a:solidFill>
          <a:ln w="12700">
            <a:solidFill>
              <a:srgbClr val="E8F0FA"/>
            </a:solidFill>
            <a:prstDash val="solid"/>
          </a:ln>
        </p:spPr>
      </p:sp>
      <p:sp>
        <p:nvSpPr>
          <p:cNvPr id="19" name="Text 15"/>
          <p:cNvSpPr txBox="1"/>
          <p:nvPr/>
        </p:nvSpPr>
        <p:spPr>
          <a:xfrm>
            <a:off x="9203207" y="1344168"/>
            <a:ext cx="2256968" cy="347472"/>
          </a:xfrm>
          <a:prstGeom prst="rect">
            <a:avLst/>
          </a:prstGeom>
          <a:noFill/>
          <a:ln/>
        </p:spPr>
        <p:txBody>
          <a:bodyPr wrap="square" lIns="0" tIns="0" rIns="0" bIns="0" rtlCol="0" anchor="ctr"/>
          <a:lstStyle/>
          <a:p>
            <a:pPr indent="0" marL="0">
              <a:buNone/>
            </a:pPr>
            <a:r>
              <a:rPr lang="en-US" sz="1500" b="1" dirty="0">
                <a:solidFill>
                  <a:srgbClr val="14305C"/>
                </a:solidFill>
                <a:latin typeface="Calibri" pitchFamily="34" charset="0"/>
                <a:ea typeface="Calibri" pitchFamily="34" charset="-122"/>
                <a:cs typeface="Calibri" pitchFamily="34" charset="-120"/>
              </a:rPr>
              <a:t>Invalid JSON in the log</a:t>
            </a:r>
            <a:endParaRPr lang="en-US" sz="1500" dirty="0"/>
          </a:p>
        </p:txBody>
      </p:sp>
      <p:sp>
        <p:nvSpPr>
          <p:cNvPr id="20" name="Text 16"/>
          <p:cNvSpPr txBox="1"/>
          <p:nvPr/>
        </p:nvSpPr>
        <p:spPr>
          <a:xfrm>
            <a:off x="9203207" y="1709928"/>
            <a:ext cx="2256968" cy="1645920"/>
          </a:xfrm>
          <a:prstGeom prst="rect">
            <a:avLst/>
          </a:prstGeom>
          <a:noFill/>
          <a:ln/>
        </p:spPr>
        <p:txBody>
          <a:bodyPr wrap="square" lIns="0" tIns="0" rIns="0" bIns="0" rtlCol="0" anchor="t"/>
          <a:lstStyle/>
          <a:p>
            <a:pPr indent="0" marL="0">
              <a:buNone/>
            </a:pPr>
            <a:r>
              <a:rPr lang="en-US" sz="1200" dirty="0">
                <a:solidFill>
                  <a:srgbClr val="1B1F24"/>
                </a:solidFill>
                <a:latin typeface="Calibri" pitchFamily="34" charset="0"/>
                <a:ea typeface="Calibri" pitchFamily="34" charset="-122"/>
                <a:cs typeface="Calibri" pitchFamily="34" charset="-120"/>
              </a:rPr>
              <a:t>Seen: 5,545 of 6,020 records failed to parse. Test: indexed, length-checked read-back: all intact, so not transfer. Cause: nan for missing values. Fix: null; all parse.</a:t>
            </a:r>
            <a:endParaRPr lang="en-US" sz="1200" dirty="0"/>
          </a:p>
        </p:txBody>
      </p:sp>
      <p:sp>
        <p:nvSpPr>
          <p:cNvPr id="21" name="Shape 17"/>
          <p:cNvSpPr/>
          <p:nvPr/>
        </p:nvSpPr>
        <p:spPr>
          <a:xfrm>
            <a:off x="548640" y="3593592"/>
            <a:ext cx="2622728" cy="2194560"/>
          </a:xfrm>
          <a:prstGeom prst="roundRect">
            <a:avLst>
              <a:gd name="adj" fmla="val 5000"/>
            </a:avLst>
          </a:prstGeom>
          <a:solidFill>
            <a:srgbClr val="E8F0FA"/>
          </a:solidFill>
          <a:ln w="12700">
            <a:solidFill>
              <a:srgbClr val="E8F0FA"/>
            </a:solidFill>
            <a:prstDash val="solid"/>
          </a:ln>
        </p:spPr>
      </p:sp>
      <p:sp>
        <p:nvSpPr>
          <p:cNvPr id="22" name="Text 18"/>
          <p:cNvSpPr txBox="1"/>
          <p:nvPr/>
        </p:nvSpPr>
        <p:spPr>
          <a:xfrm>
            <a:off x="731520" y="3703320"/>
            <a:ext cx="2256968" cy="347472"/>
          </a:xfrm>
          <a:prstGeom prst="rect">
            <a:avLst/>
          </a:prstGeom>
          <a:noFill/>
          <a:ln/>
        </p:spPr>
        <p:txBody>
          <a:bodyPr wrap="square" lIns="0" tIns="0" rIns="0" bIns="0" rtlCol="0" anchor="ctr"/>
          <a:lstStyle/>
          <a:p>
            <a:pPr indent="0" marL="0">
              <a:buNone/>
            </a:pPr>
            <a:r>
              <a:rPr lang="en-US" sz="1500" b="1" dirty="0">
                <a:solidFill>
                  <a:srgbClr val="14305C"/>
                </a:solidFill>
                <a:latin typeface="Calibri" pitchFamily="34" charset="0"/>
                <a:ea typeface="Calibri" pitchFamily="34" charset="-122"/>
                <a:cs typeface="Calibri" pitchFamily="34" charset="-120"/>
              </a:rPr>
              <a:t>Camera colour cast</a:t>
            </a:r>
            <a:endParaRPr lang="en-US" sz="1500" dirty="0"/>
          </a:p>
        </p:txBody>
      </p:sp>
      <p:sp>
        <p:nvSpPr>
          <p:cNvPr id="23" name="Text 19"/>
          <p:cNvSpPr txBox="1"/>
          <p:nvPr/>
        </p:nvSpPr>
        <p:spPr>
          <a:xfrm>
            <a:off x="731520" y="4069080"/>
            <a:ext cx="2256968" cy="1645920"/>
          </a:xfrm>
          <a:prstGeom prst="rect">
            <a:avLst/>
          </a:prstGeom>
          <a:noFill/>
          <a:ln/>
        </p:spPr>
        <p:txBody>
          <a:bodyPr wrap="square" lIns="0" tIns="0" rIns="0" bIns="0" rtlCol="0" anchor="t"/>
          <a:lstStyle/>
          <a:p>
            <a:pPr indent="0" marL="0">
              <a:buNone/>
            </a:pPr>
            <a:r>
              <a:rPr lang="en-US" sz="1200" dirty="0">
                <a:solidFill>
                  <a:srgbClr val="1B1F24"/>
                </a:solidFill>
                <a:latin typeface="Calibri" pitchFamily="34" charset="0"/>
                <a:ea typeface="Calibri" pitchFamily="34" charset="-122"/>
                <a:cs typeface="Calibri" pitchFamily="34" charset="-120"/>
              </a:rPr>
              <a:t>Seen: pink image. Tests: stills with the standard and the NoIR tuning. Cause: no infrared-cut filter, not channel order. Fix: NoIR tuning plus saturation 1.8.</a:t>
            </a:r>
            <a:endParaRPr lang="en-US" sz="1200" dirty="0"/>
          </a:p>
        </p:txBody>
      </p:sp>
      <p:sp>
        <p:nvSpPr>
          <p:cNvPr id="24" name="Shape 20"/>
          <p:cNvSpPr/>
          <p:nvPr/>
        </p:nvSpPr>
        <p:spPr>
          <a:xfrm>
            <a:off x="3372536" y="3593592"/>
            <a:ext cx="2622728" cy="2194560"/>
          </a:xfrm>
          <a:prstGeom prst="roundRect">
            <a:avLst>
              <a:gd name="adj" fmla="val 5000"/>
            </a:avLst>
          </a:prstGeom>
          <a:solidFill>
            <a:srgbClr val="E8F0FA"/>
          </a:solidFill>
          <a:ln w="12700">
            <a:solidFill>
              <a:srgbClr val="E8F0FA"/>
            </a:solidFill>
            <a:prstDash val="solid"/>
          </a:ln>
        </p:spPr>
      </p:sp>
      <p:sp>
        <p:nvSpPr>
          <p:cNvPr id="25" name="Text 21"/>
          <p:cNvSpPr txBox="1"/>
          <p:nvPr/>
        </p:nvSpPr>
        <p:spPr>
          <a:xfrm>
            <a:off x="3555416" y="3703320"/>
            <a:ext cx="2256968" cy="347472"/>
          </a:xfrm>
          <a:prstGeom prst="rect">
            <a:avLst/>
          </a:prstGeom>
          <a:noFill/>
          <a:ln/>
        </p:spPr>
        <p:txBody>
          <a:bodyPr wrap="square" lIns="0" tIns="0" rIns="0" bIns="0" rtlCol="0" anchor="ctr"/>
          <a:lstStyle/>
          <a:p>
            <a:pPr indent="0" marL="0">
              <a:buNone/>
            </a:pPr>
            <a:r>
              <a:rPr lang="en-US" sz="1500" b="1" dirty="0">
                <a:solidFill>
                  <a:srgbClr val="14305C"/>
                </a:solidFill>
                <a:latin typeface="Calibri" pitchFamily="34" charset="0"/>
                <a:ea typeface="Calibri" pitchFamily="34" charset="-122"/>
                <a:cs typeface="Calibri" pitchFamily="34" charset="-120"/>
              </a:rPr>
              <a:t>Distance-sensor hang</a:t>
            </a:r>
            <a:endParaRPr lang="en-US" sz="1500" dirty="0"/>
          </a:p>
        </p:txBody>
      </p:sp>
      <p:sp>
        <p:nvSpPr>
          <p:cNvPr id="26" name="Text 22"/>
          <p:cNvSpPr txBox="1"/>
          <p:nvPr/>
        </p:nvSpPr>
        <p:spPr>
          <a:xfrm>
            <a:off x="3555416" y="4069080"/>
            <a:ext cx="2256968" cy="1645920"/>
          </a:xfrm>
          <a:prstGeom prst="rect">
            <a:avLst/>
          </a:prstGeom>
          <a:noFill/>
          <a:ln/>
        </p:spPr>
        <p:txBody>
          <a:bodyPr wrap="square" lIns="0" tIns="0" rIns="0" bIns="0" rtlCol="0" anchor="t"/>
          <a:lstStyle/>
          <a:p>
            <a:pPr indent="0" marL="0">
              <a:buNone/>
            </a:pPr>
            <a:r>
              <a:rPr lang="en-US" sz="1200" dirty="0">
                <a:solidFill>
                  <a:srgbClr val="1B1F24"/>
                </a:solidFill>
                <a:latin typeface="Calibri" pitchFamily="34" charset="0"/>
                <a:ea typeface="Calibri" pitchFamily="34" charset="-122"/>
                <a:cs typeface="Calibri" pitchFamily="34" charset="-120"/>
              </a:rPr>
              <a:t>Seen: nulls, then a frozen reader. Test: bus scan; driver timeout found to be zero, wait for ever. Fix: 0.5 s timeout, wiring re-seated; all three read again.</a:t>
            </a:r>
            <a:endParaRPr lang="en-US" sz="1200" dirty="0"/>
          </a:p>
        </p:txBody>
      </p:sp>
      <p:sp>
        <p:nvSpPr>
          <p:cNvPr id="27" name="Shape 23"/>
          <p:cNvSpPr/>
          <p:nvPr/>
        </p:nvSpPr>
        <p:spPr>
          <a:xfrm>
            <a:off x="6196432" y="3593592"/>
            <a:ext cx="2622728" cy="2194560"/>
          </a:xfrm>
          <a:prstGeom prst="roundRect">
            <a:avLst>
              <a:gd name="adj" fmla="val 5000"/>
            </a:avLst>
          </a:prstGeom>
          <a:solidFill>
            <a:srgbClr val="E8F0FA"/>
          </a:solidFill>
          <a:ln w="12700">
            <a:solidFill>
              <a:srgbClr val="E8F0FA"/>
            </a:solidFill>
            <a:prstDash val="solid"/>
          </a:ln>
        </p:spPr>
      </p:sp>
      <p:sp>
        <p:nvSpPr>
          <p:cNvPr id="28" name="Text 24"/>
          <p:cNvSpPr txBox="1"/>
          <p:nvPr/>
        </p:nvSpPr>
        <p:spPr>
          <a:xfrm>
            <a:off x="6379312" y="3703320"/>
            <a:ext cx="2256968" cy="347472"/>
          </a:xfrm>
          <a:prstGeom prst="rect">
            <a:avLst/>
          </a:prstGeom>
          <a:noFill/>
          <a:ln/>
        </p:spPr>
        <p:txBody>
          <a:bodyPr wrap="square" lIns="0" tIns="0" rIns="0" bIns="0" rtlCol="0" anchor="ctr"/>
          <a:lstStyle/>
          <a:p>
            <a:pPr indent="0" marL="0">
              <a:buNone/>
            </a:pPr>
            <a:r>
              <a:rPr lang="en-US" sz="1500" b="1" dirty="0">
                <a:solidFill>
                  <a:srgbClr val="14305C"/>
                </a:solidFill>
                <a:latin typeface="Calibri" pitchFamily="34" charset="0"/>
                <a:ea typeface="Calibri" pitchFamily="34" charset="-122"/>
                <a:cs typeface="Calibri" pitchFamily="34" charset="-120"/>
              </a:rPr>
              <a:t>Pi 4 under-voltage, reboots</a:t>
            </a:r>
            <a:endParaRPr lang="en-US" sz="1500" dirty="0"/>
          </a:p>
        </p:txBody>
      </p:sp>
      <p:sp>
        <p:nvSpPr>
          <p:cNvPr id="29" name="Text 25"/>
          <p:cNvSpPr txBox="1"/>
          <p:nvPr/>
        </p:nvSpPr>
        <p:spPr>
          <a:xfrm>
            <a:off x="6379312" y="4069080"/>
            <a:ext cx="2256968" cy="1645920"/>
          </a:xfrm>
          <a:prstGeom prst="rect">
            <a:avLst/>
          </a:prstGeom>
          <a:noFill/>
          <a:ln/>
        </p:spPr>
        <p:txBody>
          <a:bodyPr wrap="square" lIns="0" tIns="0" rIns="0" bIns="0" rtlCol="0" anchor="t"/>
          <a:lstStyle/>
          <a:p>
            <a:pPr indent="0" marL="0">
              <a:buNone/>
            </a:pPr>
            <a:r>
              <a:rPr lang="en-US" sz="1200" dirty="0">
                <a:solidFill>
                  <a:srgbClr val="1B1F24"/>
                </a:solidFill>
                <a:latin typeface="Calibri" pitchFamily="34" charset="0"/>
                <a:ea typeface="Calibri" pitchFamily="34" charset="-122"/>
                <a:cs typeface="Calibri" pitchFamily="34" charset="-120"/>
              </a:rPr>
              <a:t>Candidates: supply, sensor board, telemetry unit on USB, heat. Test: power flags every 2 s: under-voltage 14 s after the modem came up. Unit moved off: 3 restarts in 20 min, then none in 4 h.</a:t>
            </a:r>
            <a:endParaRPr lang="en-US" sz="1200" dirty="0"/>
          </a:p>
        </p:txBody>
      </p:sp>
      <p:sp>
        <p:nvSpPr>
          <p:cNvPr id="30" name="Shape 26"/>
          <p:cNvSpPr/>
          <p:nvPr/>
        </p:nvSpPr>
        <p:spPr>
          <a:xfrm>
            <a:off x="9020327" y="3593592"/>
            <a:ext cx="2622728" cy="2194560"/>
          </a:xfrm>
          <a:prstGeom prst="roundRect">
            <a:avLst>
              <a:gd name="adj" fmla="val 5000"/>
            </a:avLst>
          </a:prstGeom>
          <a:solidFill>
            <a:srgbClr val="FFFFFF"/>
          </a:solidFill>
          <a:ln w="25400">
            <a:solidFill>
              <a:srgbClr val="D4700C"/>
            </a:solidFill>
            <a:prstDash val="dash"/>
          </a:ln>
        </p:spPr>
      </p:sp>
      <p:sp>
        <p:nvSpPr>
          <p:cNvPr id="31" name="Text 27"/>
          <p:cNvSpPr txBox="1"/>
          <p:nvPr/>
        </p:nvSpPr>
        <p:spPr>
          <a:xfrm>
            <a:off x="9203207" y="3703320"/>
            <a:ext cx="2256968" cy="347472"/>
          </a:xfrm>
          <a:prstGeom prst="rect">
            <a:avLst/>
          </a:prstGeom>
          <a:noFill/>
          <a:ln/>
        </p:spPr>
        <p:txBody>
          <a:bodyPr wrap="square" lIns="0" tIns="0" rIns="0" bIns="0" rtlCol="0" anchor="ctr"/>
          <a:lstStyle/>
          <a:p>
            <a:pPr indent="0" marL="0">
              <a:buNone/>
            </a:pPr>
            <a:r>
              <a:rPr lang="en-US" sz="1500" b="1" dirty="0">
                <a:solidFill>
                  <a:srgbClr val="D4700C"/>
                </a:solidFill>
                <a:latin typeface="Calibri" pitchFamily="34" charset="0"/>
                <a:ea typeface="Calibri" pitchFamily="34" charset="-122"/>
                <a:cs typeface="Calibri" pitchFamily="34" charset="-120"/>
              </a:rPr>
              <a:t>It came back (16 to 19 Oct)</a:t>
            </a:r>
            <a:endParaRPr lang="en-US" sz="1500" dirty="0"/>
          </a:p>
        </p:txBody>
      </p:sp>
      <p:sp>
        <p:nvSpPr>
          <p:cNvPr id="32" name="Text 28"/>
          <p:cNvSpPr txBox="1"/>
          <p:nvPr/>
        </p:nvSpPr>
        <p:spPr>
          <a:xfrm>
            <a:off x="9203207" y="4069080"/>
            <a:ext cx="2256968" cy="1645920"/>
          </a:xfrm>
          <a:prstGeom prst="rect">
            <a:avLst/>
          </a:prstGeom>
          <a:noFill/>
          <a:ln/>
        </p:spPr>
        <p:txBody>
          <a:bodyPr wrap="square" lIns="0" tIns="0" rIns="0" bIns="0" rtlCol="0" anchor="t"/>
          <a:lstStyle/>
          <a:p>
            <a:pPr indent="0" marL="0">
              <a:buNone/>
            </a:pPr>
            <a:r>
              <a:rPr lang="en-US" sz="1200" dirty="0">
                <a:solidFill>
                  <a:srgbClr val="1B1F24"/>
                </a:solidFill>
                <a:latin typeface="Calibri" pitchFamily="34" charset="0"/>
                <a:ea typeface="Calibri" pitchFamily="34" charset="-122"/>
                <a:cs typeface="Calibri" pitchFamily="34" charset="-120"/>
              </a:rPr>
              <a:t>Closed rear box, unit still on the Pi's USB: 76.9 °C and a brown-out restart. Fix: own supply for the unit; vented lids. Pi 5 restarts: last readings normal, so abrupt power loss, not a brown-out.</a:t>
            </a:r>
            <a:endParaRPr lang="en-US" sz="1200" dirty="0"/>
          </a:p>
        </p:txBody>
      </p:sp>
      <p:sp>
        <p:nvSpPr>
          <p:cNvPr id="33" name="Text 29"/>
          <p:cNvSpPr txBox="1"/>
          <p:nvPr/>
        </p:nvSpPr>
        <p:spPr>
          <a:xfrm>
            <a:off x="548640" y="5943600"/>
            <a:ext cx="11094415" cy="320040"/>
          </a:xfrm>
          <a:prstGeom prst="rect">
            <a:avLst/>
          </a:prstGeom>
          <a:noFill/>
          <a:ln/>
        </p:spPr>
        <p:txBody>
          <a:bodyPr wrap="square" lIns="0" tIns="0" rIns="0" bIns="0" rtlCol="0" anchor="ctr"/>
          <a:lstStyle/>
          <a:p>
            <a:pPr algn="ctr" indent="0" marL="0">
              <a:buNone/>
            </a:pPr>
            <a:r>
              <a:rPr lang="en-US" sz="1400" i="1" dirty="0">
                <a:solidFill>
                  <a:srgbClr val="4A5566"/>
                </a:solidFill>
                <a:latin typeface="Calibri" pitchFamily="34" charset="0"/>
                <a:ea typeface="Calibri" pitchFamily="34" charset="-122"/>
                <a:cs typeface="Calibri" pitchFamily="34" charset="-120"/>
              </a:rPr>
              <a:t>Each is told in the report as symptom, candidate causes, deciding test, cause and fix, consequence; each test was run again after the fix.</a:t>
            </a:r>
            <a:endParaRPr lang="en-US" sz="14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384048"/>
            <a:ext cx="566928" cy="566928"/>
          </a:xfrm>
          <a:prstGeom prst="ellipse">
            <a:avLst/>
          </a:prstGeom>
          <a:solidFill>
            <a:srgbClr val="14305C"/>
          </a:solidFill>
          <a:ln w="12700">
            <a:solidFill>
              <a:srgbClr val="14305C"/>
            </a:solidFill>
            <a:prstDash val="solid"/>
          </a:ln>
        </p:spPr>
      </p:sp>
      <p:sp>
        <p:nvSpPr>
          <p:cNvPr id="3" name="Text 1"/>
          <p:cNvSpPr txBox="1"/>
          <p:nvPr/>
        </p:nvSpPr>
        <p:spPr>
          <a:xfrm>
            <a:off x="548640" y="384048"/>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7</a:t>
            </a:r>
            <a:endParaRPr lang="en-US" sz="2000" dirty="0"/>
          </a:p>
        </p:txBody>
      </p:sp>
      <p:sp>
        <p:nvSpPr>
          <p:cNvPr id="4" name="Text 2"/>
          <p:cNvSpPr txBox="1"/>
          <p:nvPr/>
        </p:nvSpPr>
        <p:spPr>
          <a:xfrm>
            <a:off x="1325880" y="310896"/>
            <a:ext cx="10317175" cy="731520"/>
          </a:xfrm>
          <a:prstGeom prst="rect">
            <a:avLst/>
          </a:prstGeom>
          <a:noFill/>
          <a:ln/>
        </p:spPr>
        <p:txBody>
          <a:bodyPr wrap="square" lIns="0" tIns="0" rIns="0" bIns="0" rtlCol="0" anchor="ctr"/>
          <a:lstStyle/>
          <a:p>
            <a:pPr indent="0" marL="0">
              <a:buNone/>
            </a:pPr>
            <a:r>
              <a:rPr lang="en-US" sz="3200" b="1" dirty="0">
                <a:solidFill>
                  <a:srgbClr val="14305C"/>
                </a:solidFill>
                <a:latin typeface="Calibri" pitchFamily="34" charset="0"/>
                <a:ea typeface="Calibri" pitchFamily="34" charset="-122"/>
                <a:cs typeface="Calibri" pitchFamily="34" charset="-120"/>
              </a:rPr>
              <a:t>Result: timing, position, and no data lost in an outage</a:t>
            </a:r>
            <a:endParaRPr lang="en-US" sz="3200" dirty="0"/>
          </a:p>
        </p:txBody>
      </p:sp>
      <p:pic>
        <p:nvPicPr>
          <p:cNvPr id="5" name="Image 0" descr="C:\Users\0geda\OneDrive - University of Cape Town\Documents\PlatformIO\Projects\Tukzie-HPEC-HUD\Presentation\source\assets\uct_logo.png">    </p:cNvPr>
          <p:cNvPicPr>
            <a:picLocks noChangeAspect="1"/>
          </p:cNvPicPr>
          <p:nvPr/>
        </p:nvPicPr>
        <p:blipFill>
          <a:blip r:embed="rId1"/>
          <a:stretch>
            <a:fillRect/>
          </a:stretch>
        </p:blipFill>
        <p:spPr>
          <a:xfrm>
            <a:off x="11259007" y="6327648"/>
            <a:ext cx="384048" cy="390449"/>
          </a:xfrm>
          <a:prstGeom prst="rect">
            <a:avLst/>
          </a:prstGeom>
        </p:spPr>
      </p:pic>
      <p:sp>
        <p:nvSpPr>
          <p:cNvPr id="6" name="Text 3"/>
          <p:cNvSpPr txBox="1"/>
          <p:nvPr/>
        </p:nvSpPr>
        <p:spPr>
          <a:xfrm>
            <a:off x="548640" y="6382512"/>
            <a:ext cx="5486400" cy="292608"/>
          </a:xfrm>
          <a:prstGeom prst="rect">
            <a:avLst/>
          </a:prstGeom>
          <a:noFill/>
          <a:ln/>
        </p:spPr>
        <p:txBody>
          <a:bodyPr wrap="square" lIns="0" tIns="0" rIns="0" bIns="0" rtlCol="0" anchor="ctr"/>
          <a:lstStyle/>
          <a:p>
            <a:pPr indent="0" marL="0">
              <a:buNone/>
            </a:pPr>
            <a:r>
              <a:rPr lang="en-US" sz="1100" dirty="0">
                <a:solidFill>
                  <a:srgbClr val="4A5566"/>
                </a:solidFill>
                <a:latin typeface="Calibri" pitchFamily="34" charset="0"/>
                <a:ea typeface="Calibri" pitchFamily="34" charset="-122"/>
                <a:cs typeface="Calibri" pitchFamily="34" charset="-120"/>
              </a:rPr>
              <a:t>SW-7   |   Samson Okuthe   |   EEE4022S 2026</a:t>
            </a:r>
            <a:endParaRPr lang="en-US" sz="1100" dirty="0"/>
          </a:p>
        </p:txBody>
      </p:sp>
      <p:sp>
        <p:nvSpPr>
          <p:cNvPr id="7" name="Text 4"/>
          <p:cNvSpPr txBox="1"/>
          <p:nvPr/>
        </p:nvSpPr>
        <p:spPr>
          <a:xfrm>
            <a:off x="10180015" y="6382512"/>
            <a:ext cx="914400" cy="292608"/>
          </a:xfrm>
          <a:prstGeom prst="rect">
            <a:avLst/>
          </a:prstGeom>
          <a:noFill/>
          <a:ln/>
        </p:spPr>
        <p:txBody>
          <a:bodyPr wrap="square" lIns="0" tIns="0" rIns="0" bIns="0" rtlCol="0" anchor="ctr"/>
          <a:lstStyle/>
          <a:p>
            <a:pPr algn="r" indent="0" marL="0">
              <a:buNone/>
            </a:pPr>
            <a:r>
              <a:rPr lang="en-US" sz="1100" dirty="0">
                <a:solidFill>
                  <a:srgbClr val="4A5566"/>
                </a:solidFill>
                <a:latin typeface="Calibri" pitchFamily="34" charset="0"/>
                <a:ea typeface="Calibri" pitchFamily="34" charset="-122"/>
                <a:cs typeface="Calibri" pitchFamily="34" charset="-120"/>
              </a:rPr>
              <a:t>8 / 14</a:t>
            </a:r>
            <a:endParaRPr lang="en-US" sz="1100" dirty="0"/>
          </a:p>
        </p:txBody>
      </p:sp>
      <p:sp>
        <p:nvSpPr>
          <p:cNvPr id="9" name="Shape 5"/>
          <p:cNvSpPr/>
          <p:nvPr/>
        </p:nvSpPr>
        <p:spPr>
          <a:xfrm>
            <a:off x="548640" y="1280160"/>
            <a:ext cx="3484778" cy="4892040"/>
          </a:xfrm>
          <a:prstGeom prst="roundRect">
            <a:avLst>
              <a:gd name="adj" fmla="val 3149"/>
            </a:avLst>
          </a:prstGeom>
          <a:solidFill>
            <a:srgbClr val="E8F0FA"/>
          </a:solidFill>
          <a:ln w="12700">
            <a:solidFill>
              <a:srgbClr val="E8F0FA"/>
            </a:solidFill>
            <a:prstDash val="solid"/>
          </a:ln>
        </p:spPr>
      </p:sp>
      <p:sp>
        <p:nvSpPr>
          <p:cNvPr id="10" name="Text 6"/>
          <p:cNvSpPr txBox="1"/>
          <p:nvPr/>
        </p:nvSpPr>
        <p:spPr>
          <a:xfrm>
            <a:off x="822960" y="1463040"/>
            <a:ext cx="2936138" cy="411480"/>
          </a:xfrm>
          <a:prstGeom prst="rect">
            <a:avLst/>
          </a:prstGeom>
          <a:noFill/>
          <a:ln/>
        </p:spPr>
        <p:txBody>
          <a:bodyPr wrap="square" lIns="0" tIns="0" rIns="0" bIns="0" rtlCol="0" anchor="ctr"/>
          <a:lstStyle/>
          <a:p>
            <a:pPr indent="0" marL="0">
              <a:buNone/>
            </a:pPr>
            <a:r>
              <a:rPr lang="en-US" sz="1900" b="1" dirty="0">
                <a:solidFill>
                  <a:srgbClr val="14305C"/>
                </a:solidFill>
                <a:latin typeface="Calibri" pitchFamily="34" charset="0"/>
                <a:ea typeface="Calibri" pitchFamily="34" charset="-122"/>
                <a:cs typeface="Calibri" pitchFamily="34" charset="-120"/>
              </a:rPr>
              <a:t>Camera to IMU timing</a:t>
            </a:r>
            <a:endParaRPr lang="en-US" sz="1900" dirty="0"/>
          </a:p>
        </p:txBody>
      </p:sp>
      <p:sp>
        <p:nvSpPr>
          <p:cNvPr id="11" name="Text 7"/>
          <p:cNvSpPr txBox="1"/>
          <p:nvPr/>
        </p:nvSpPr>
        <p:spPr>
          <a:xfrm>
            <a:off x="822960" y="1920240"/>
            <a:ext cx="2936138" cy="822960"/>
          </a:xfrm>
          <a:prstGeom prst="rect">
            <a:avLst/>
          </a:prstGeom>
          <a:noFill/>
          <a:ln/>
        </p:spPr>
        <p:txBody>
          <a:bodyPr wrap="square" lIns="0" tIns="0" rIns="0" bIns="0" rtlCol="0" anchor="ctr"/>
          <a:lstStyle/>
          <a:p>
            <a:pPr indent="0" marL="0">
              <a:buNone/>
            </a:pPr>
            <a:r>
              <a:rPr lang="en-US" sz="4000" b="1" dirty="0">
                <a:solidFill>
                  <a:srgbClr val="1565C0"/>
                </a:solidFill>
                <a:latin typeface="Calibri" pitchFamily="34" charset="0"/>
                <a:ea typeface="Calibri" pitchFamily="34" charset="-122"/>
                <a:cs typeface="Calibri" pitchFamily="34" charset="-120"/>
              </a:rPr>
              <a:t>500.06 ms</a:t>
            </a:r>
            <a:endParaRPr lang="en-US" sz="4000" dirty="0"/>
          </a:p>
        </p:txBody>
      </p:sp>
      <p:sp>
        <p:nvSpPr>
          <p:cNvPr id="12" name="Text 8"/>
          <p:cNvSpPr txBox="1"/>
          <p:nvPr/>
        </p:nvSpPr>
        <p:spPr>
          <a:xfrm>
            <a:off x="822960" y="2743200"/>
            <a:ext cx="2936138" cy="548640"/>
          </a:xfrm>
          <a:prstGeom prst="rect">
            <a:avLst/>
          </a:prstGeom>
          <a:noFill/>
          <a:ln/>
        </p:spPr>
        <p:txBody>
          <a:bodyPr wrap="square" lIns="0" tIns="0" rIns="0" bIns="0" rtlCol="0" anchor="t"/>
          <a:lstStyle/>
          <a:p>
            <a:pPr indent="0" marL="0">
              <a:buNone/>
            </a:pPr>
            <a:r>
              <a:rPr lang="en-US" sz="1400" dirty="0">
                <a:solidFill>
                  <a:srgbClr val="4A5566"/>
                </a:solidFill>
                <a:latin typeface="Calibri" pitchFamily="34" charset="0"/>
                <a:ea typeface="Calibri" pitchFamily="34" charset="-122"/>
                <a:cs typeface="Calibri" pitchFamily="34" charset="-120"/>
              </a:rPr>
              <a:t>median sync interval over 121 edges, kernel timestamps</a:t>
            </a:r>
            <a:endParaRPr lang="en-US" sz="1400" dirty="0"/>
          </a:p>
        </p:txBody>
      </p:sp>
      <p:sp>
        <p:nvSpPr>
          <p:cNvPr id="13" name="Text 9"/>
          <p:cNvSpPr txBox="1"/>
          <p:nvPr/>
        </p:nvSpPr>
        <p:spPr>
          <a:xfrm>
            <a:off x="822960" y="3429000"/>
            <a:ext cx="2936138" cy="2606040"/>
          </a:xfrm>
          <a:prstGeom prst="rect">
            <a:avLst/>
          </a:prstGeom>
          <a:noFill/>
          <a:ln/>
        </p:spPr>
        <p:txBody>
          <a:bodyPr wrap="square" lIns="0" tIns="0" rIns="0" bIns="0" rtlCol="0" anchor="t"/>
          <a:lstStyle/>
          <a:p>
            <a:pPr marL="228600" indent="-228600">
              <a:spcAft>
                <a:spcPts val="800"/>
              </a:spcAft>
              <a:buSzPct val="100000"/>
              <a:buChar char="•"/>
            </a:pPr>
            <a:r>
              <a:rPr lang="en-US" sz="1400" dirty="0">
                <a:solidFill>
                  <a:srgbClr val="1B1F24"/>
                </a:solidFill>
                <a:latin typeface="Calibri" pitchFamily="34" charset="0"/>
                <a:ea typeface="Calibri" pitchFamily="34" charset="-122"/>
                <a:cs typeface="Calibri" pitchFamily="34" charset="-120"/>
              </a:rPr>
              <a:t>Spread under 0.7 ms</a:t>
            </a:r>
            <a:endParaRPr lang="en-US" sz="1400" dirty="0"/>
          </a:p>
          <a:p>
            <a:pPr marL="228600" indent="-228600">
              <a:spcAft>
                <a:spcPts val="800"/>
              </a:spcAft>
              <a:buSzPct val="100000"/>
              <a:buChar char="•"/>
            </a:pPr>
            <a:r>
              <a:rPr lang="en-US" sz="1400" dirty="0">
                <a:solidFill>
                  <a:srgbClr val="1B1F24"/>
                </a:solidFill>
                <a:latin typeface="Calibri" pitchFamily="34" charset="0"/>
                <a:ea typeface="Calibri" pitchFamily="34" charset="-122"/>
                <a:cs typeface="Calibri" pitchFamily="34" charset="-120"/>
              </a:rPr>
              <a:t>Video frames placed on the IMU clock within 1 s</a:t>
            </a:r>
            <a:endParaRPr lang="en-US" sz="1400" dirty="0"/>
          </a:p>
          <a:p>
            <a:pPr marL="228600" indent="-228600">
              <a:spcAft>
                <a:spcPts val="800"/>
              </a:spcAft>
              <a:buSzPct val="100000"/>
              <a:buChar char="•"/>
            </a:pPr>
            <a:r>
              <a:rPr lang="en-US" sz="1400" dirty="0">
                <a:solidFill>
                  <a:srgbClr val="1B1F24"/>
                </a:solidFill>
                <a:latin typeface="Calibri" pitchFamily="34" charset="0"/>
                <a:ea typeface="Calibri" pitchFamily="34" charset="-122"/>
                <a:cs typeface="Calibri" pitchFamily="34" charset="-120"/>
              </a:rPr>
              <a:t>A loose jumper twice gave false edges: a latched connector is needed</a:t>
            </a:r>
            <a:endParaRPr lang="en-US" sz="1400" dirty="0"/>
          </a:p>
        </p:txBody>
      </p:sp>
      <p:sp>
        <p:nvSpPr>
          <p:cNvPr id="14" name="Shape 10"/>
          <p:cNvSpPr/>
          <p:nvPr/>
        </p:nvSpPr>
        <p:spPr>
          <a:xfrm>
            <a:off x="4353458" y="1280160"/>
            <a:ext cx="3484778" cy="4892040"/>
          </a:xfrm>
          <a:prstGeom prst="roundRect">
            <a:avLst>
              <a:gd name="adj" fmla="val 3149"/>
            </a:avLst>
          </a:prstGeom>
          <a:solidFill>
            <a:srgbClr val="E8F0FA"/>
          </a:solidFill>
          <a:ln w="12700">
            <a:solidFill>
              <a:srgbClr val="E8F0FA"/>
            </a:solidFill>
            <a:prstDash val="solid"/>
          </a:ln>
        </p:spPr>
      </p:sp>
      <p:sp>
        <p:nvSpPr>
          <p:cNvPr id="15" name="Text 11"/>
          <p:cNvSpPr txBox="1"/>
          <p:nvPr/>
        </p:nvSpPr>
        <p:spPr>
          <a:xfrm>
            <a:off x="4627778" y="1463040"/>
            <a:ext cx="2936138" cy="411480"/>
          </a:xfrm>
          <a:prstGeom prst="rect">
            <a:avLst/>
          </a:prstGeom>
          <a:noFill/>
          <a:ln/>
        </p:spPr>
        <p:txBody>
          <a:bodyPr wrap="square" lIns="0" tIns="0" rIns="0" bIns="0" rtlCol="0" anchor="ctr"/>
          <a:lstStyle/>
          <a:p>
            <a:pPr indent="0" marL="0">
              <a:buNone/>
            </a:pPr>
            <a:r>
              <a:rPr lang="en-US" sz="1900" b="1" dirty="0">
                <a:solidFill>
                  <a:srgbClr val="14305C"/>
                </a:solidFill>
                <a:latin typeface="Calibri" pitchFamily="34" charset="0"/>
                <a:ea typeface="Calibri" pitchFamily="34" charset="-122"/>
                <a:cs typeface="Calibri" pitchFamily="34" charset="-120"/>
              </a:rPr>
              <a:t>GNSS outdoors (bench)</a:t>
            </a:r>
            <a:endParaRPr lang="en-US" sz="1900" dirty="0"/>
          </a:p>
        </p:txBody>
      </p:sp>
      <p:sp>
        <p:nvSpPr>
          <p:cNvPr id="16" name="Text 12"/>
          <p:cNvSpPr txBox="1"/>
          <p:nvPr/>
        </p:nvSpPr>
        <p:spPr>
          <a:xfrm>
            <a:off x="4627778" y="1920240"/>
            <a:ext cx="2936138" cy="822960"/>
          </a:xfrm>
          <a:prstGeom prst="rect">
            <a:avLst/>
          </a:prstGeom>
          <a:noFill/>
          <a:ln/>
        </p:spPr>
        <p:txBody>
          <a:bodyPr wrap="square" lIns="0" tIns="0" rIns="0" bIns="0" rtlCol="0" anchor="ctr"/>
          <a:lstStyle/>
          <a:p>
            <a:pPr indent="0" marL="0">
              <a:buNone/>
            </a:pPr>
            <a:r>
              <a:rPr lang="en-US" sz="4000" b="1" dirty="0">
                <a:solidFill>
                  <a:srgbClr val="1565C0"/>
                </a:solidFill>
                <a:latin typeface="Calibri" pitchFamily="34" charset="0"/>
                <a:ea typeface="Calibri" pitchFamily="34" charset="-122"/>
                <a:cs typeface="Calibri" pitchFamily="34" charset="-120"/>
              </a:rPr>
              <a:t>2.7 m</a:t>
            </a:r>
            <a:endParaRPr lang="en-US" sz="4000" dirty="0"/>
          </a:p>
        </p:txBody>
      </p:sp>
      <p:sp>
        <p:nvSpPr>
          <p:cNvPr id="17" name="Text 13"/>
          <p:cNvSpPr txBox="1"/>
          <p:nvPr/>
        </p:nvSpPr>
        <p:spPr>
          <a:xfrm>
            <a:off x="4627778" y="2743200"/>
            <a:ext cx="2936138" cy="548640"/>
          </a:xfrm>
          <a:prstGeom prst="rect">
            <a:avLst/>
          </a:prstGeom>
          <a:noFill/>
          <a:ln/>
        </p:spPr>
        <p:txBody>
          <a:bodyPr wrap="square" lIns="0" tIns="0" rIns="0" bIns="0" rtlCol="0" anchor="t"/>
          <a:lstStyle/>
          <a:p>
            <a:pPr indent="0" marL="0">
              <a:buNone/>
            </a:pPr>
            <a:r>
              <a:rPr lang="en-US" sz="1400" dirty="0">
                <a:solidFill>
                  <a:srgbClr val="4A5566"/>
                </a:solidFill>
                <a:latin typeface="Calibri" pitchFamily="34" charset="0"/>
                <a:ea typeface="Calibri" pitchFamily="34" charset="-122"/>
                <a:cs typeface="Calibri" pitchFamily="34" charset="-120"/>
              </a:rPr>
              <a:t>median from a phone's position over 104 fixes</a:t>
            </a:r>
            <a:endParaRPr lang="en-US" sz="1400" dirty="0"/>
          </a:p>
        </p:txBody>
      </p:sp>
      <p:sp>
        <p:nvSpPr>
          <p:cNvPr id="18" name="Text 14"/>
          <p:cNvSpPr txBox="1"/>
          <p:nvPr/>
        </p:nvSpPr>
        <p:spPr>
          <a:xfrm>
            <a:off x="4627778" y="3429000"/>
            <a:ext cx="2936138" cy="2606040"/>
          </a:xfrm>
          <a:prstGeom prst="rect">
            <a:avLst/>
          </a:prstGeom>
          <a:noFill/>
          <a:ln/>
        </p:spPr>
        <p:txBody>
          <a:bodyPr wrap="square" lIns="0" tIns="0" rIns="0" bIns="0" rtlCol="0" anchor="t"/>
          <a:lstStyle/>
          <a:p>
            <a:pPr marL="228600" indent="-228600">
              <a:spcAft>
                <a:spcPts val="800"/>
              </a:spcAft>
              <a:buSzPct val="100000"/>
              <a:buChar char="•"/>
            </a:pPr>
            <a:r>
              <a:rPr lang="en-US" sz="1400" dirty="0">
                <a:solidFill>
                  <a:srgbClr val="1B1F24"/>
                </a:solidFill>
                <a:latin typeface="Calibri" pitchFamily="34" charset="0"/>
                <a:ea typeface="Calibri" pitchFamily="34" charset="-122"/>
                <a:cs typeface="Calibri" pitchFamily="34" charset="-120"/>
              </a:rPr>
              <a:t>95% within 11 m; fix 105 s after a cold start</a:t>
            </a:r>
            <a:endParaRPr lang="en-US" sz="1400" dirty="0"/>
          </a:p>
          <a:p>
            <a:pPr marL="228600" indent="-228600">
              <a:spcAft>
                <a:spcPts val="800"/>
              </a:spcAft>
              <a:buSzPct val="100000"/>
              <a:buChar char="•"/>
            </a:pPr>
            <a:r>
              <a:rPr lang="en-US" sz="1400" dirty="0">
                <a:solidFill>
                  <a:srgbClr val="1B1F24"/>
                </a:solidFill>
                <a:latin typeface="Calibri" pitchFamily="34" charset="0"/>
                <a:ea typeface="Calibri" pitchFamily="34" charset="-122"/>
                <a:cs typeface="Calibri" pitchFamily="34" charset="-120"/>
              </a:rPr>
              <a:t>No fix on the road (19 Oct, no antenna) or in 45 min in the lab (23 Oct)</a:t>
            </a:r>
            <a:endParaRPr lang="en-US" sz="1400" dirty="0"/>
          </a:p>
          <a:p>
            <a:pPr marL="228600" indent="-228600">
              <a:spcAft>
                <a:spcPts val="800"/>
              </a:spcAft>
              <a:buSzPct val="100000"/>
              <a:buChar char="•"/>
            </a:pPr>
            <a:r>
              <a:rPr lang="en-US" sz="1400" dirty="0">
                <a:solidFill>
                  <a:srgbClr val="1B1F24"/>
                </a:solidFill>
                <a:latin typeface="Calibri" pitchFamily="34" charset="0"/>
                <a:ea typeface="Calibri" pitchFamily="34" charset="-122"/>
                <a:cs typeface="Calibri" pitchFamily="34" charset="-120"/>
              </a:rPr>
              <a:t>Speed now from a phone's GNSS over its hotspot: a simulated 20 km/h showed as 20 km/h</a:t>
            </a:r>
            <a:endParaRPr lang="en-US" sz="1400" dirty="0"/>
          </a:p>
        </p:txBody>
      </p:sp>
      <p:sp>
        <p:nvSpPr>
          <p:cNvPr id="19" name="Shape 15"/>
          <p:cNvSpPr/>
          <p:nvPr/>
        </p:nvSpPr>
        <p:spPr>
          <a:xfrm>
            <a:off x="8158277" y="1280160"/>
            <a:ext cx="3484778" cy="4892040"/>
          </a:xfrm>
          <a:prstGeom prst="roundRect">
            <a:avLst>
              <a:gd name="adj" fmla="val 3149"/>
            </a:avLst>
          </a:prstGeom>
          <a:solidFill>
            <a:srgbClr val="E8F0FA"/>
          </a:solidFill>
          <a:ln w="12700">
            <a:solidFill>
              <a:srgbClr val="E8F0FA"/>
            </a:solidFill>
            <a:prstDash val="solid"/>
          </a:ln>
        </p:spPr>
      </p:sp>
      <p:sp>
        <p:nvSpPr>
          <p:cNvPr id="20" name="Text 16"/>
          <p:cNvSpPr txBox="1"/>
          <p:nvPr/>
        </p:nvSpPr>
        <p:spPr>
          <a:xfrm>
            <a:off x="8432597" y="1463040"/>
            <a:ext cx="2936138" cy="411480"/>
          </a:xfrm>
          <a:prstGeom prst="rect">
            <a:avLst/>
          </a:prstGeom>
          <a:noFill/>
          <a:ln/>
        </p:spPr>
        <p:txBody>
          <a:bodyPr wrap="square" lIns="0" tIns="0" rIns="0" bIns="0" rtlCol="0" anchor="ctr"/>
          <a:lstStyle/>
          <a:p>
            <a:pPr indent="0" marL="0">
              <a:buNone/>
            </a:pPr>
            <a:r>
              <a:rPr lang="en-US" sz="1900" b="1" dirty="0">
                <a:solidFill>
                  <a:srgbClr val="14305C"/>
                </a:solidFill>
                <a:latin typeface="Calibri" pitchFamily="34" charset="0"/>
                <a:ea typeface="Calibri" pitchFamily="34" charset="-122"/>
                <a:cs typeface="Calibri" pitchFamily="34" charset="-120"/>
              </a:rPr>
              <a:t>10-minute LTE outage (T15)</a:t>
            </a:r>
            <a:endParaRPr lang="en-US" sz="1900" dirty="0"/>
          </a:p>
        </p:txBody>
      </p:sp>
      <p:sp>
        <p:nvSpPr>
          <p:cNvPr id="21" name="Text 17"/>
          <p:cNvSpPr txBox="1"/>
          <p:nvPr/>
        </p:nvSpPr>
        <p:spPr>
          <a:xfrm>
            <a:off x="8432597" y="1920240"/>
            <a:ext cx="2936138" cy="822960"/>
          </a:xfrm>
          <a:prstGeom prst="rect">
            <a:avLst/>
          </a:prstGeom>
          <a:noFill/>
          <a:ln/>
        </p:spPr>
        <p:txBody>
          <a:bodyPr wrap="square" lIns="0" tIns="0" rIns="0" bIns="0" rtlCol="0" anchor="ctr"/>
          <a:lstStyle/>
          <a:p>
            <a:pPr indent="0" marL="0">
              <a:buNone/>
            </a:pPr>
            <a:r>
              <a:rPr lang="en-US" sz="4000" b="1" dirty="0">
                <a:solidFill>
                  <a:srgbClr val="1565C0"/>
                </a:solidFill>
                <a:latin typeface="Calibri" pitchFamily="34" charset="0"/>
                <a:ea typeface="Calibri" pitchFamily="34" charset="-122"/>
                <a:cs typeface="Calibri" pitchFamily="34" charset="-120"/>
              </a:rPr>
              <a:t>112 / 112</a:t>
            </a:r>
            <a:endParaRPr lang="en-US" sz="4000" dirty="0"/>
          </a:p>
        </p:txBody>
      </p:sp>
      <p:sp>
        <p:nvSpPr>
          <p:cNvPr id="22" name="Text 18"/>
          <p:cNvSpPr txBox="1"/>
          <p:nvPr/>
        </p:nvSpPr>
        <p:spPr>
          <a:xfrm>
            <a:off x="8432597" y="2743200"/>
            <a:ext cx="2936138" cy="548640"/>
          </a:xfrm>
          <a:prstGeom prst="rect">
            <a:avLst/>
          </a:prstGeom>
          <a:noFill/>
          <a:ln/>
        </p:spPr>
        <p:txBody>
          <a:bodyPr wrap="square" lIns="0" tIns="0" rIns="0" bIns="0" rtlCol="0" anchor="t"/>
          <a:lstStyle/>
          <a:p>
            <a:pPr indent="0" marL="0">
              <a:buNone/>
            </a:pPr>
            <a:r>
              <a:rPr lang="en-US" sz="1400" dirty="0">
                <a:solidFill>
                  <a:srgbClr val="4A5566"/>
                </a:solidFill>
                <a:latin typeface="Calibri" pitchFamily="34" charset="0"/>
                <a:ea typeface="Calibri" pitchFamily="34" charset="-122"/>
                <a:cs typeface="Calibri" pitchFamily="34" charset="-120"/>
              </a:rPr>
              <a:t>records stored in the Pi 5 database, none missing or doubled</a:t>
            </a:r>
            <a:endParaRPr lang="en-US" sz="1400" dirty="0"/>
          </a:p>
        </p:txBody>
      </p:sp>
      <p:sp>
        <p:nvSpPr>
          <p:cNvPr id="23" name="Text 19"/>
          <p:cNvSpPr txBox="1"/>
          <p:nvPr/>
        </p:nvSpPr>
        <p:spPr>
          <a:xfrm>
            <a:off x="8432597" y="3429000"/>
            <a:ext cx="2936138" cy="2606040"/>
          </a:xfrm>
          <a:prstGeom prst="rect">
            <a:avLst/>
          </a:prstGeom>
          <a:noFill/>
          <a:ln/>
        </p:spPr>
        <p:txBody>
          <a:bodyPr wrap="square" lIns="0" tIns="0" rIns="0" bIns="0" rtlCol="0" anchor="t"/>
          <a:lstStyle/>
          <a:p>
            <a:pPr marL="228600" indent="-228600">
              <a:spcAft>
                <a:spcPts val="800"/>
              </a:spcAft>
              <a:buSzPct val="100000"/>
              <a:buChar char="•"/>
            </a:pPr>
            <a:r>
              <a:rPr lang="en-US" sz="1400" dirty="0">
                <a:solidFill>
                  <a:srgbClr val="1B1F24"/>
                </a:solidFill>
                <a:latin typeface="Calibri" pitchFamily="34" charset="0"/>
                <a:ea typeface="Calibri" pitchFamily="34" charset="-122"/>
                <a:cs typeface="Calibri" pitchFamily="34" charset="-120"/>
              </a:rPr>
              <a:t>60 records built up; reconnected 5.2 s after radio on</a:t>
            </a:r>
            <a:endParaRPr lang="en-US" sz="1400" dirty="0"/>
          </a:p>
          <a:p>
            <a:pPr marL="228600" indent="-228600">
              <a:spcAft>
                <a:spcPts val="800"/>
              </a:spcAft>
              <a:buSzPct val="100000"/>
              <a:buChar char="•"/>
            </a:pPr>
            <a:r>
              <a:rPr lang="en-US" sz="1400" dirty="0">
                <a:solidFill>
                  <a:srgbClr val="1B1F24"/>
                </a:solidFill>
                <a:latin typeface="Calibri" pitchFamily="34" charset="0"/>
                <a:ea typeface="Calibri" pitchFamily="34" charset="-122"/>
                <a:cs typeface="Calibri" pitchFamily="34" charset="-120"/>
              </a:rPr>
              <a:t>Backlog cleared in 37 to 43 s; 111 of 111 against the unit's log</a:t>
            </a:r>
            <a:endParaRPr lang="en-US" sz="1400" dirty="0"/>
          </a:p>
          <a:p>
            <a:pPr marL="228600" indent="-228600">
              <a:spcAft>
                <a:spcPts val="800"/>
              </a:spcAft>
              <a:buSzPct val="100000"/>
              <a:buChar char="•"/>
            </a:pPr>
            <a:r>
              <a:rPr lang="en-US" sz="1400" dirty="0">
                <a:solidFill>
                  <a:srgbClr val="1B1F24"/>
                </a:solidFill>
                <a:latin typeface="Calibri" pitchFamily="34" charset="0"/>
                <a:ea typeface="Calibri" pitchFamily="34" charset="-122"/>
                <a:cs typeface="Calibri" pitchFamily="34" charset="-120"/>
              </a:rPr>
              <a:t>An ingest fault found in the test was fixed; 24 records backfilled from the log</a:t>
            </a:r>
            <a:endParaRPr lang="en-US" sz="1400" dirty="0"/>
          </a:p>
          <a:p>
            <a:pPr marL="228600" indent="-228600">
              <a:spcAft>
                <a:spcPts val="800"/>
              </a:spcAft>
              <a:buSzPct val="100000"/>
              <a:buChar char="•"/>
            </a:pPr>
            <a:r>
              <a:rPr lang="en-US" sz="1400" dirty="0">
                <a:solidFill>
                  <a:srgbClr val="1B1F24"/>
                </a:solidFill>
                <a:latin typeface="Calibri" pitchFamily="34" charset="0"/>
                <a:ea typeface="Calibri" pitchFamily="34" charset="-122"/>
                <a:cs typeface="Calibri" pitchFamily="34" charset="-120"/>
              </a:rPr>
              <a:t>Latency not yet measured (needs GNSS time)</a:t>
            </a:r>
            <a:endParaRPr lang="en-US" sz="14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384048"/>
            <a:ext cx="566928" cy="566928"/>
          </a:xfrm>
          <a:prstGeom prst="ellipse">
            <a:avLst/>
          </a:prstGeom>
          <a:solidFill>
            <a:srgbClr val="14305C"/>
          </a:solidFill>
          <a:ln w="12700">
            <a:solidFill>
              <a:srgbClr val="14305C"/>
            </a:solidFill>
            <a:prstDash val="solid"/>
          </a:ln>
        </p:spPr>
      </p:sp>
      <p:sp>
        <p:nvSpPr>
          <p:cNvPr id="3" name="Text 1"/>
          <p:cNvSpPr txBox="1"/>
          <p:nvPr/>
        </p:nvSpPr>
        <p:spPr>
          <a:xfrm>
            <a:off x="548640" y="384048"/>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8</a:t>
            </a:r>
            <a:endParaRPr lang="en-US" sz="2000" dirty="0"/>
          </a:p>
        </p:txBody>
      </p:sp>
      <p:sp>
        <p:nvSpPr>
          <p:cNvPr id="4" name="Text 2"/>
          <p:cNvSpPr txBox="1"/>
          <p:nvPr/>
        </p:nvSpPr>
        <p:spPr>
          <a:xfrm>
            <a:off x="1325880" y="310896"/>
            <a:ext cx="10317175" cy="731520"/>
          </a:xfrm>
          <a:prstGeom prst="rect">
            <a:avLst/>
          </a:prstGeom>
          <a:noFill/>
          <a:ln/>
        </p:spPr>
        <p:txBody>
          <a:bodyPr wrap="square" lIns="0" tIns="0" rIns="0" bIns="0" rtlCol="0" anchor="ctr"/>
          <a:lstStyle/>
          <a:p>
            <a:pPr indent="0" marL="0">
              <a:buNone/>
            </a:pPr>
            <a:r>
              <a:rPr lang="en-US" sz="3200" b="1" dirty="0">
                <a:solidFill>
                  <a:srgbClr val="14305C"/>
                </a:solidFill>
                <a:latin typeface="Calibri" pitchFamily="34" charset="0"/>
                <a:ea typeface="Calibri" pitchFamily="34" charset="-122"/>
                <a:cs typeface="Calibri" pitchFamily="34" charset="-120"/>
              </a:rPr>
              <a:t>Hazard detection: twice as fast at the front</a:t>
            </a:r>
            <a:endParaRPr lang="en-US" sz="3200" dirty="0"/>
          </a:p>
        </p:txBody>
      </p:sp>
      <p:pic>
        <p:nvPicPr>
          <p:cNvPr id="5" name="Image 0" descr="C:\Users\0geda\OneDrive - University of Cape Town\Documents\PlatformIO\Projects\Tukzie-HPEC-HUD\Presentation\source\assets\uct_logo.png">    </p:cNvPr>
          <p:cNvPicPr>
            <a:picLocks noChangeAspect="1"/>
          </p:cNvPicPr>
          <p:nvPr/>
        </p:nvPicPr>
        <p:blipFill>
          <a:blip r:embed="rId1"/>
          <a:stretch>
            <a:fillRect/>
          </a:stretch>
        </p:blipFill>
        <p:spPr>
          <a:xfrm>
            <a:off x="11259007" y="6327648"/>
            <a:ext cx="384048" cy="390449"/>
          </a:xfrm>
          <a:prstGeom prst="rect">
            <a:avLst/>
          </a:prstGeom>
        </p:spPr>
      </p:pic>
      <p:sp>
        <p:nvSpPr>
          <p:cNvPr id="6" name="Text 3"/>
          <p:cNvSpPr txBox="1"/>
          <p:nvPr/>
        </p:nvSpPr>
        <p:spPr>
          <a:xfrm>
            <a:off x="548640" y="6382512"/>
            <a:ext cx="5486400" cy="292608"/>
          </a:xfrm>
          <a:prstGeom prst="rect">
            <a:avLst/>
          </a:prstGeom>
          <a:noFill/>
          <a:ln/>
        </p:spPr>
        <p:txBody>
          <a:bodyPr wrap="square" lIns="0" tIns="0" rIns="0" bIns="0" rtlCol="0" anchor="ctr"/>
          <a:lstStyle/>
          <a:p>
            <a:pPr indent="0" marL="0">
              <a:buNone/>
            </a:pPr>
            <a:r>
              <a:rPr lang="en-US" sz="1100" dirty="0">
                <a:solidFill>
                  <a:srgbClr val="4A5566"/>
                </a:solidFill>
                <a:latin typeface="Calibri" pitchFamily="34" charset="0"/>
                <a:ea typeface="Calibri" pitchFamily="34" charset="-122"/>
                <a:cs typeface="Calibri" pitchFamily="34" charset="-120"/>
              </a:rPr>
              <a:t>SW-7   |   Samson Okuthe   |   EEE4022S 2026</a:t>
            </a:r>
            <a:endParaRPr lang="en-US" sz="1100" dirty="0"/>
          </a:p>
        </p:txBody>
      </p:sp>
      <p:sp>
        <p:nvSpPr>
          <p:cNvPr id="7" name="Text 4"/>
          <p:cNvSpPr txBox="1"/>
          <p:nvPr/>
        </p:nvSpPr>
        <p:spPr>
          <a:xfrm>
            <a:off x="10180015" y="6382512"/>
            <a:ext cx="914400" cy="292608"/>
          </a:xfrm>
          <a:prstGeom prst="rect">
            <a:avLst/>
          </a:prstGeom>
          <a:noFill/>
          <a:ln/>
        </p:spPr>
        <p:txBody>
          <a:bodyPr wrap="square" lIns="0" tIns="0" rIns="0" bIns="0" rtlCol="0" anchor="ctr"/>
          <a:lstStyle/>
          <a:p>
            <a:pPr algn="r" indent="0" marL="0">
              <a:buNone/>
            </a:pPr>
            <a:r>
              <a:rPr lang="en-US" sz="1100" dirty="0">
                <a:solidFill>
                  <a:srgbClr val="4A5566"/>
                </a:solidFill>
                <a:latin typeface="Calibri" pitchFamily="34" charset="0"/>
                <a:ea typeface="Calibri" pitchFamily="34" charset="-122"/>
                <a:cs typeface="Calibri" pitchFamily="34" charset="-120"/>
              </a:rPr>
              <a:t>9 / 14</a:t>
            </a:r>
            <a:endParaRPr lang="en-US" sz="1100" dirty="0"/>
          </a:p>
        </p:txBody>
      </p:sp>
      <p:sp>
        <p:nvSpPr>
          <p:cNvPr id="9" name="Shape 5"/>
          <p:cNvSpPr/>
          <p:nvPr/>
        </p:nvSpPr>
        <p:spPr>
          <a:xfrm>
            <a:off x="548640" y="1280160"/>
            <a:ext cx="5989320" cy="4160520"/>
          </a:xfrm>
          <a:prstGeom prst="roundRect">
            <a:avLst>
              <a:gd name="adj" fmla="val 2637"/>
            </a:avLst>
          </a:prstGeom>
          <a:solidFill>
            <a:srgbClr val="E8F0FA"/>
          </a:solidFill>
          <a:ln w="12700">
            <a:solidFill>
              <a:srgbClr val="E8F0FA"/>
            </a:solidFill>
            <a:prstDash val="solid"/>
          </a:ln>
        </p:spPr>
      </p:sp>
      <p:graphicFrame>
        <p:nvGraphicFramePr>
          <p:cNvPr id="10" name="Chart 0" descr=""/>
          <p:cNvGraphicFramePr/>
          <p:nvPr/>
        </p:nvGraphicFramePr>
        <p:xfrm>
          <a:off x="731520" y="1417320"/>
          <a:ext cx="5623560" cy="3886200"/>
        </p:xfrm>
        <a:graphic xmlns:a="http://schemas.openxmlformats.org/drawingml/2006/main">
          <a:graphicData uri="http://schemas.openxmlformats.org/drawingml/2006/chart">
            <c:chart xmlns:c="http://schemas.openxmlformats.org/drawingml/2006/chart" r:id="rId2"/>
          </a:graphicData>
        </a:graphic>
      </p:graphicFrame>
      <p:sp>
        <p:nvSpPr>
          <p:cNvPr id="11" name="Text 6"/>
          <p:cNvSpPr txBox="1"/>
          <p:nvPr/>
        </p:nvSpPr>
        <p:spPr>
          <a:xfrm>
            <a:off x="548640" y="5532120"/>
            <a:ext cx="5989320" cy="548640"/>
          </a:xfrm>
          <a:prstGeom prst="rect">
            <a:avLst/>
          </a:prstGeom>
          <a:noFill/>
          <a:ln/>
        </p:spPr>
        <p:txBody>
          <a:bodyPr wrap="square" lIns="0" tIns="0" rIns="0" bIns="0" rtlCol="0" anchor="t"/>
          <a:lstStyle/>
          <a:p>
            <a:pPr indent="0" marL="0">
              <a:buNone/>
            </a:pPr>
            <a:r>
              <a:rPr lang="en-US" sz="1200" i="1" dirty="0">
                <a:solidFill>
                  <a:srgbClr val="4A5566"/>
                </a:solidFill>
                <a:latin typeface="Calibri" pitchFamily="34" charset="0"/>
                <a:ea typeface="Calibri" pitchFamily="34" charset="-122"/>
                <a:cs typeface="Calibri" pitchFamily="34" charset="-120"/>
              </a:rPr>
              <a:t>Bench runs: Pi 4 whole system 11 Oct; Pi 5 with the dashboard 15 Oct, 60 s. At 30 km/h the Pi 5 saves about 0.6 m of travel before an alert.</a:t>
            </a:r>
            <a:endParaRPr lang="en-US" sz="1200" dirty="0"/>
          </a:p>
        </p:txBody>
      </p:sp>
      <p:sp>
        <p:nvSpPr>
          <p:cNvPr id="12" name="Shape 7"/>
          <p:cNvSpPr/>
          <p:nvPr/>
        </p:nvSpPr>
        <p:spPr>
          <a:xfrm>
            <a:off x="6858000" y="1280160"/>
            <a:ext cx="4785055" cy="1120140"/>
          </a:xfrm>
          <a:prstGeom prst="roundRect">
            <a:avLst>
              <a:gd name="adj" fmla="val 9796"/>
            </a:avLst>
          </a:prstGeom>
          <a:solidFill>
            <a:srgbClr val="E8F0FA"/>
          </a:solidFill>
          <a:ln w="12700">
            <a:solidFill>
              <a:srgbClr val="E8F0FA"/>
            </a:solidFill>
            <a:prstDash val="solid"/>
          </a:ln>
        </p:spPr>
      </p:sp>
      <p:sp>
        <p:nvSpPr>
          <p:cNvPr id="13" name="Text 8"/>
          <p:cNvSpPr txBox="1"/>
          <p:nvPr/>
        </p:nvSpPr>
        <p:spPr>
          <a:xfrm>
            <a:off x="7086600" y="1371600"/>
            <a:ext cx="4327855" cy="329184"/>
          </a:xfrm>
          <a:prstGeom prst="rect">
            <a:avLst/>
          </a:prstGeom>
          <a:noFill/>
          <a:ln/>
        </p:spPr>
        <p:txBody>
          <a:bodyPr wrap="square" lIns="0" tIns="0" rIns="0" bIns="0" rtlCol="0" anchor="ctr"/>
          <a:lstStyle/>
          <a:p>
            <a:pPr indent="0" marL="0">
              <a:buNone/>
            </a:pPr>
            <a:r>
              <a:rPr lang="en-US" sz="1600" b="1" dirty="0">
                <a:solidFill>
                  <a:srgbClr val="14305C"/>
                </a:solidFill>
                <a:latin typeface="Calibri" pitchFamily="34" charset="0"/>
                <a:ea typeface="Calibri" pitchFamily="34" charset="-122"/>
                <a:cs typeface="Calibri" pitchFamily="34" charset="-120"/>
              </a:rPr>
              <a:t>Front, Raspberry Pi 5 (bench)</a:t>
            </a:r>
            <a:endParaRPr lang="en-US" sz="1600" dirty="0"/>
          </a:p>
        </p:txBody>
      </p:sp>
      <p:sp>
        <p:nvSpPr>
          <p:cNvPr id="14" name="Text 9"/>
          <p:cNvSpPr txBox="1"/>
          <p:nvPr/>
        </p:nvSpPr>
        <p:spPr>
          <a:xfrm>
            <a:off x="7086600" y="1719072"/>
            <a:ext cx="4327855" cy="617220"/>
          </a:xfrm>
          <a:prstGeom prst="rect">
            <a:avLst/>
          </a:prstGeom>
          <a:noFill/>
          <a:ln/>
        </p:spPr>
        <p:txBody>
          <a:bodyPr wrap="square" lIns="0" tIns="0" rIns="0" bIns="0" rtlCol="0" anchor="t"/>
          <a:lstStyle/>
          <a:p>
            <a:pPr indent="0" marL="0">
              <a:buNone/>
            </a:pPr>
            <a:r>
              <a:rPr lang="en-US" sz="1300" dirty="0">
                <a:solidFill>
                  <a:srgbClr val="1B1F24"/>
                </a:solidFill>
                <a:latin typeface="Calibri" pitchFamily="34" charset="0"/>
                <a:ea typeface="Calibri" pitchFamily="34" charset="-122"/>
                <a:cs typeface="Calibri" pitchFamily="34" charset="-120"/>
              </a:rPr>
              <a:t>19.2 fps; 51 to 54 ms median, 61 to 63 ms 95th percentile; CPU 64 to 73 %, 53 to 54 °C, no throttling.</a:t>
            </a:r>
            <a:endParaRPr lang="en-US" sz="1300" dirty="0"/>
          </a:p>
        </p:txBody>
      </p:sp>
      <p:sp>
        <p:nvSpPr>
          <p:cNvPr id="15" name="Shape 10"/>
          <p:cNvSpPr/>
          <p:nvPr/>
        </p:nvSpPr>
        <p:spPr>
          <a:xfrm>
            <a:off x="6858000" y="2537460"/>
            <a:ext cx="4785055" cy="1120140"/>
          </a:xfrm>
          <a:prstGeom prst="roundRect">
            <a:avLst>
              <a:gd name="adj" fmla="val 9796"/>
            </a:avLst>
          </a:prstGeom>
          <a:solidFill>
            <a:srgbClr val="E8F0FA"/>
          </a:solidFill>
          <a:ln w="12700">
            <a:solidFill>
              <a:srgbClr val="E8F0FA"/>
            </a:solidFill>
            <a:prstDash val="solid"/>
          </a:ln>
        </p:spPr>
      </p:sp>
      <p:sp>
        <p:nvSpPr>
          <p:cNvPr id="16" name="Text 11"/>
          <p:cNvSpPr txBox="1"/>
          <p:nvPr/>
        </p:nvSpPr>
        <p:spPr>
          <a:xfrm>
            <a:off x="7086600" y="2628900"/>
            <a:ext cx="4327855" cy="329184"/>
          </a:xfrm>
          <a:prstGeom prst="rect">
            <a:avLst/>
          </a:prstGeom>
          <a:noFill/>
          <a:ln/>
        </p:spPr>
        <p:txBody>
          <a:bodyPr wrap="square" lIns="0" tIns="0" rIns="0" bIns="0" rtlCol="0" anchor="ctr"/>
          <a:lstStyle/>
          <a:p>
            <a:pPr indent="0" marL="0">
              <a:buNone/>
            </a:pPr>
            <a:r>
              <a:rPr lang="en-US" sz="1600" b="1" dirty="0">
                <a:solidFill>
                  <a:srgbClr val="14305C"/>
                </a:solidFill>
                <a:latin typeface="Calibri" pitchFamily="34" charset="0"/>
                <a:ea typeface="Calibri" pitchFamily="34" charset="-122"/>
                <a:cs typeface="Calibri" pitchFamily="34" charset="-120"/>
              </a:rPr>
              <a:t>Mounted on the vehicle (19 Oct)</a:t>
            </a:r>
            <a:endParaRPr lang="en-US" sz="1600" dirty="0"/>
          </a:p>
        </p:txBody>
      </p:sp>
      <p:sp>
        <p:nvSpPr>
          <p:cNvPr id="17" name="Text 12"/>
          <p:cNvSpPr txBox="1"/>
          <p:nvPr/>
        </p:nvSpPr>
        <p:spPr>
          <a:xfrm>
            <a:off x="7086600" y="2976372"/>
            <a:ext cx="4327855" cy="617220"/>
          </a:xfrm>
          <a:prstGeom prst="rect">
            <a:avLst/>
          </a:prstGeom>
          <a:noFill/>
          <a:ln/>
        </p:spPr>
        <p:txBody>
          <a:bodyPr wrap="square" lIns="0" tIns="0" rIns="0" bIns="0" rtlCol="0" anchor="t"/>
          <a:lstStyle/>
          <a:p>
            <a:pPr indent="0" marL="0">
              <a:buNone/>
            </a:pPr>
            <a:r>
              <a:rPr lang="en-US" sz="1300" dirty="0">
                <a:solidFill>
                  <a:srgbClr val="1B1F24"/>
                </a:solidFill>
                <a:latin typeface="Calibri" pitchFamily="34" charset="0"/>
                <a:ea typeface="Calibri" pitchFamily="34" charset="-122"/>
                <a:cs typeface="Calibri" pitchFamily="34" charset="-120"/>
              </a:rPr>
              <a:t>Front 17.5 to 22.0 fps, 53 to 102 ms. Rear 14.4 to 14.5 fps, 126 to 151 ms, slower while the Pi 4 was throttled.</a:t>
            </a:r>
            <a:endParaRPr lang="en-US" sz="1300" dirty="0"/>
          </a:p>
        </p:txBody>
      </p:sp>
      <p:sp>
        <p:nvSpPr>
          <p:cNvPr id="18" name="Shape 13"/>
          <p:cNvSpPr/>
          <p:nvPr/>
        </p:nvSpPr>
        <p:spPr>
          <a:xfrm>
            <a:off x="6858000" y="3794760"/>
            <a:ext cx="4785055" cy="1120140"/>
          </a:xfrm>
          <a:prstGeom prst="roundRect">
            <a:avLst>
              <a:gd name="adj" fmla="val 9796"/>
            </a:avLst>
          </a:prstGeom>
          <a:solidFill>
            <a:srgbClr val="E8F0FA"/>
          </a:solidFill>
          <a:ln w="12700">
            <a:solidFill>
              <a:srgbClr val="E8F0FA"/>
            </a:solidFill>
            <a:prstDash val="solid"/>
          </a:ln>
        </p:spPr>
      </p:sp>
      <p:sp>
        <p:nvSpPr>
          <p:cNvPr id="19" name="Text 14"/>
          <p:cNvSpPr txBox="1"/>
          <p:nvPr/>
        </p:nvSpPr>
        <p:spPr>
          <a:xfrm>
            <a:off x="7086600" y="3886200"/>
            <a:ext cx="4327855" cy="329184"/>
          </a:xfrm>
          <a:prstGeom prst="rect">
            <a:avLst/>
          </a:prstGeom>
          <a:noFill/>
          <a:ln/>
        </p:spPr>
        <p:txBody>
          <a:bodyPr wrap="square" lIns="0" tIns="0" rIns="0" bIns="0" rtlCol="0" anchor="ctr"/>
          <a:lstStyle/>
          <a:p>
            <a:pPr indent="0" marL="0">
              <a:buNone/>
            </a:pPr>
            <a:r>
              <a:rPr lang="en-US" sz="1600" b="1" dirty="0">
                <a:solidFill>
                  <a:srgbClr val="14305C"/>
                </a:solidFill>
                <a:latin typeface="Calibri" pitchFamily="34" charset="0"/>
                <a:ea typeface="Calibri" pitchFamily="34" charset="-122"/>
                <a:cs typeface="Calibri" pitchFamily="34" charset="-120"/>
              </a:rPr>
              <a:t>Alert logic and privacy</a:t>
            </a:r>
            <a:endParaRPr lang="en-US" sz="1600" dirty="0"/>
          </a:p>
        </p:txBody>
      </p:sp>
      <p:sp>
        <p:nvSpPr>
          <p:cNvPr id="20" name="Text 15"/>
          <p:cNvSpPr txBox="1"/>
          <p:nvPr/>
        </p:nvSpPr>
        <p:spPr>
          <a:xfrm>
            <a:off x="7086600" y="4233672"/>
            <a:ext cx="4327855" cy="617220"/>
          </a:xfrm>
          <a:prstGeom prst="rect">
            <a:avLst/>
          </a:prstGeom>
          <a:noFill/>
          <a:ln/>
        </p:spPr>
        <p:txBody>
          <a:bodyPr wrap="square" lIns="0" tIns="0" rIns="0" bIns="0" rtlCol="0" anchor="t"/>
          <a:lstStyle/>
          <a:p>
            <a:pPr indent="0" marL="0">
              <a:buNone/>
            </a:pPr>
            <a:r>
              <a:rPr lang="en-US" sz="1300" dirty="0">
                <a:solidFill>
                  <a:srgbClr val="1B1F24"/>
                </a:solidFill>
                <a:latin typeface="Calibri" pitchFamily="34" charset="0"/>
                <a:ea typeface="Calibri" pitchFamily="34" charset="-122"/>
                <a:cs typeface="Calibri" pitchFamily="34" charset="-120"/>
              </a:rPr>
              <a:t>Raised after 3 frames, cleared after 5 empty frames. Frames are never stored; five fields per alert.</a:t>
            </a:r>
            <a:endParaRPr lang="en-US" sz="1300" dirty="0"/>
          </a:p>
        </p:txBody>
      </p:sp>
      <p:sp>
        <p:nvSpPr>
          <p:cNvPr id="21" name="Shape 16"/>
          <p:cNvSpPr/>
          <p:nvPr/>
        </p:nvSpPr>
        <p:spPr>
          <a:xfrm>
            <a:off x="6858000" y="5052060"/>
            <a:ext cx="4785055" cy="1120140"/>
          </a:xfrm>
          <a:prstGeom prst="roundRect">
            <a:avLst>
              <a:gd name="adj" fmla="val 9796"/>
            </a:avLst>
          </a:prstGeom>
          <a:solidFill>
            <a:srgbClr val="E8F0FA"/>
          </a:solidFill>
          <a:ln w="12700">
            <a:solidFill>
              <a:srgbClr val="E8F0FA"/>
            </a:solidFill>
            <a:prstDash val="solid"/>
          </a:ln>
        </p:spPr>
      </p:sp>
      <p:sp>
        <p:nvSpPr>
          <p:cNvPr id="22" name="Text 17"/>
          <p:cNvSpPr txBox="1"/>
          <p:nvPr/>
        </p:nvSpPr>
        <p:spPr>
          <a:xfrm>
            <a:off x="7086600" y="5143500"/>
            <a:ext cx="4327855" cy="329184"/>
          </a:xfrm>
          <a:prstGeom prst="rect">
            <a:avLst/>
          </a:prstGeom>
          <a:noFill/>
          <a:ln/>
        </p:spPr>
        <p:txBody>
          <a:bodyPr wrap="square" lIns="0" tIns="0" rIns="0" bIns="0" rtlCol="0" anchor="ctr"/>
          <a:lstStyle/>
          <a:p>
            <a:pPr indent="0" marL="0">
              <a:buNone/>
            </a:pPr>
            <a:r>
              <a:rPr lang="en-US" sz="1600" b="1" dirty="0">
                <a:solidFill>
                  <a:srgbClr val="14305C"/>
                </a:solidFill>
                <a:latin typeface="Calibri" pitchFamily="34" charset="0"/>
                <a:ea typeface="Calibri" pitchFamily="34" charset="-122"/>
                <a:cs typeface="Calibri" pitchFamily="34" charset="-120"/>
              </a:rPr>
              <a:t>Pothole model (off by default)</a:t>
            </a:r>
            <a:endParaRPr lang="en-US" sz="1600" dirty="0"/>
          </a:p>
        </p:txBody>
      </p:sp>
      <p:sp>
        <p:nvSpPr>
          <p:cNvPr id="23" name="Text 18"/>
          <p:cNvSpPr txBox="1"/>
          <p:nvPr/>
        </p:nvSpPr>
        <p:spPr>
          <a:xfrm>
            <a:off x="7086600" y="5490972"/>
            <a:ext cx="4327855" cy="617220"/>
          </a:xfrm>
          <a:prstGeom prst="rect">
            <a:avLst/>
          </a:prstGeom>
          <a:noFill/>
          <a:ln/>
        </p:spPr>
        <p:txBody>
          <a:bodyPr wrap="square" lIns="0" tIns="0" rIns="0" bIns="0" rtlCol="0" anchor="t"/>
          <a:lstStyle/>
          <a:p>
            <a:pPr indent="0" marL="0">
              <a:buNone/>
            </a:pPr>
            <a:r>
              <a:rPr lang="en-US" sz="1300" dirty="0">
                <a:solidFill>
                  <a:srgbClr val="1B1F24"/>
                </a:solidFill>
                <a:latin typeface="Calibri" pitchFamily="34" charset="0"/>
                <a:ea typeface="Calibri" pitchFamily="34" charset="-122"/>
                <a:cs typeface="Calibri" pitchFamily="34" charset="-120"/>
              </a:rPr>
              <a:t>mAP@50 0.714 on validation tiles; found at 0.63 in a test image; too slow beside the detector on the Pi 4.</a:t>
            </a:r>
            <a:endParaRPr lang="en-US" sz="13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384048"/>
            <a:ext cx="566928" cy="566928"/>
          </a:xfrm>
          <a:prstGeom prst="ellipse">
            <a:avLst/>
          </a:prstGeom>
          <a:solidFill>
            <a:srgbClr val="14305C"/>
          </a:solidFill>
          <a:ln w="12700">
            <a:solidFill>
              <a:srgbClr val="14305C"/>
            </a:solidFill>
            <a:prstDash val="solid"/>
          </a:ln>
        </p:spPr>
      </p:sp>
      <p:sp>
        <p:nvSpPr>
          <p:cNvPr id="3" name="Text 1"/>
          <p:cNvSpPr txBox="1"/>
          <p:nvPr/>
        </p:nvSpPr>
        <p:spPr>
          <a:xfrm>
            <a:off x="548640" y="384048"/>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9</a:t>
            </a:r>
            <a:endParaRPr lang="en-US" sz="2000" dirty="0"/>
          </a:p>
        </p:txBody>
      </p:sp>
      <p:sp>
        <p:nvSpPr>
          <p:cNvPr id="4" name="Text 2"/>
          <p:cNvSpPr txBox="1"/>
          <p:nvPr/>
        </p:nvSpPr>
        <p:spPr>
          <a:xfrm>
            <a:off x="1325880" y="310896"/>
            <a:ext cx="10317175" cy="731520"/>
          </a:xfrm>
          <a:prstGeom prst="rect">
            <a:avLst/>
          </a:prstGeom>
          <a:noFill/>
          <a:ln/>
        </p:spPr>
        <p:txBody>
          <a:bodyPr wrap="square" lIns="0" tIns="0" rIns="0" bIns="0" rtlCol="0" anchor="ctr"/>
          <a:lstStyle/>
          <a:p>
            <a:pPr indent="0" marL="0">
              <a:buNone/>
            </a:pPr>
            <a:r>
              <a:rPr lang="en-US" sz="3200" b="1" dirty="0">
                <a:solidFill>
                  <a:srgbClr val="14305C"/>
                </a:solidFill>
                <a:latin typeface="Calibri" pitchFamily="34" charset="0"/>
                <a:ea typeface="Calibri" pitchFamily="34" charset="-122"/>
                <a:cs typeface="Calibri" pitchFamily="34" charset="-120"/>
              </a:rPr>
              <a:t>Approaching objects: time to contact from box growth</a:t>
            </a:r>
            <a:endParaRPr lang="en-US" sz="3200" dirty="0"/>
          </a:p>
        </p:txBody>
      </p:sp>
      <p:pic>
        <p:nvPicPr>
          <p:cNvPr id="5" name="Image 0" descr="C:\Users\0geda\OneDrive - University of Cape Town\Documents\PlatformIO\Projects\Tukzie-HPEC-HUD\Presentation\source\assets\uct_logo.png">    </p:cNvPr>
          <p:cNvPicPr>
            <a:picLocks noChangeAspect="1"/>
          </p:cNvPicPr>
          <p:nvPr/>
        </p:nvPicPr>
        <p:blipFill>
          <a:blip r:embed="rId1"/>
          <a:stretch>
            <a:fillRect/>
          </a:stretch>
        </p:blipFill>
        <p:spPr>
          <a:xfrm>
            <a:off x="11259007" y="6327648"/>
            <a:ext cx="384048" cy="390449"/>
          </a:xfrm>
          <a:prstGeom prst="rect">
            <a:avLst/>
          </a:prstGeom>
        </p:spPr>
      </p:pic>
      <p:sp>
        <p:nvSpPr>
          <p:cNvPr id="6" name="Text 3"/>
          <p:cNvSpPr txBox="1"/>
          <p:nvPr/>
        </p:nvSpPr>
        <p:spPr>
          <a:xfrm>
            <a:off x="548640" y="6382512"/>
            <a:ext cx="5486400" cy="292608"/>
          </a:xfrm>
          <a:prstGeom prst="rect">
            <a:avLst/>
          </a:prstGeom>
          <a:noFill/>
          <a:ln/>
        </p:spPr>
        <p:txBody>
          <a:bodyPr wrap="square" lIns="0" tIns="0" rIns="0" bIns="0" rtlCol="0" anchor="ctr"/>
          <a:lstStyle/>
          <a:p>
            <a:pPr indent="0" marL="0">
              <a:buNone/>
            </a:pPr>
            <a:r>
              <a:rPr lang="en-US" sz="1100" dirty="0">
                <a:solidFill>
                  <a:srgbClr val="4A5566"/>
                </a:solidFill>
                <a:latin typeface="Calibri" pitchFamily="34" charset="0"/>
                <a:ea typeface="Calibri" pitchFamily="34" charset="-122"/>
                <a:cs typeface="Calibri" pitchFamily="34" charset="-120"/>
              </a:rPr>
              <a:t>SW-7   |   Samson Okuthe   |   EEE4022S 2026</a:t>
            </a:r>
            <a:endParaRPr lang="en-US" sz="1100" dirty="0"/>
          </a:p>
        </p:txBody>
      </p:sp>
      <p:sp>
        <p:nvSpPr>
          <p:cNvPr id="7" name="Text 4"/>
          <p:cNvSpPr txBox="1"/>
          <p:nvPr/>
        </p:nvSpPr>
        <p:spPr>
          <a:xfrm>
            <a:off x="10180015" y="6382512"/>
            <a:ext cx="914400" cy="292608"/>
          </a:xfrm>
          <a:prstGeom prst="rect">
            <a:avLst/>
          </a:prstGeom>
          <a:noFill/>
          <a:ln/>
        </p:spPr>
        <p:txBody>
          <a:bodyPr wrap="square" lIns="0" tIns="0" rIns="0" bIns="0" rtlCol="0" anchor="ctr"/>
          <a:lstStyle/>
          <a:p>
            <a:pPr algn="r" indent="0" marL="0">
              <a:buNone/>
            </a:pPr>
            <a:r>
              <a:rPr lang="en-US" sz="1100" dirty="0">
                <a:solidFill>
                  <a:srgbClr val="4A5566"/>
                </a:solidFill>
                <a:latin typeface="Calibri" pitchFamily="34" charset="0"/>
                <a:ea typeface="Calibri" pitchFamily="34" charset="-122"/>
                <a:cs typeface="Calibri" pitchFamily="34" charset="-120"/>
              </a:rPr>
              <a:t>10 / 14</a:t>
            </a:r>
            <a:endParaRPr lang="en-US" sz="1100" dirty="0"/>
          </a:p>
        </p:txBody>
      </p:sp>
      <p:sp>
        <p:nvSpPr>
          <p:cNvPr id="9" name="Shape 5"/>
          <p:cNvSpPr/>
          <p:nvPr/>
        </p:nvSpPr>
        <p:spPr>
          <a:xfrm>
            <a:off x="548640" y="1280160"/>
            <a:ext cx="5760720" cy="4892040"/>
          </a:xfrm>
          <a:prstGeom prst="roundRect">
            <a:avLst>
              <a:gd name="adj" fmla="val 2243"/>
            </a:avLst>
          </a:prstGeom>
          <a:solidFill>
            <a:srgbClr val="E8F0FA"/>
          </a:solidFill>
          <a:ln w="12700">
            <a:solidFill>
              <a:srgbClr val="E8F0FA"/>
            </a:solidFill>
            <a:prstDash val="solid"/>
          </a:ln>
        </p:spPr>
      </p:sp>
      <p:sp>
        <p:nvSpPr>
          <p:cNvPr id="10" name="Shape 6"/>
          <p:cNvSpPr/>
          <p:nvPr/>
        </p:nvSpPr>
        <p:spPr>
          <a:xfrm>
            <a:off x="1165860" y="2724912"/>
            <a:ext cx="502920" cy="384048"/>
          </a:xfrm>
          <a:prstGeom prst="rect">
            <a:avLst/>
          </a:prstGeom>
          <a:solidFill>
            <a:srgbClr val="FFFFFF"/>
          </a:solidFill>
          <a:ln w="25400">
            <a:solidFill>
              <a:srgbClr val="1565C0"/>
            </a:solidFill>
            <a:prstDash val="solid"/>
          </a:ln>
        </p:spPr>
      </p:sp>
      <p:sp>
        <p:nvSpPr>
          <p:cNvPr id="11" name="Shape 7"/>
          <p:cNvSpPr/>
          <p:nvPr/>
        </p:nvSpPr>
        <p:spPr>
          <a:xfrm>
            <a:off x="2857500" y="2450592"/>
            <a:ext cx="868680" cy="658368"/>
          </a:xfrm>
          <a:prstGeom prst="rect">
            <a:avLst/>
          </a:prstGeom>
          <a:solidFill>
            <a:srgbClr val="FFFFFF"/>
          </a:solidFill>
          <a:ln w="25400">
            <a:solidFill>
              <a:srgbClr val="1565C0"/>
            </a:solidFill>
            <a:prstDash val="solid"/>
          </a:ln>
        </p:spPr>
      </p:sp>
      <p:sp>
        <p:nvSpPr>
          <p:cNvPr id="12" name="Shape 8"/>
          <p:cNvSpPr/>
          <p:nvPr/>
        </p:nvSpPr>
        <p:spPr>
          <a:xfrm>
            <a:off x="4457700" y="2029968"/>
            <a:ext cx="1417320" cy="1078992"/>
          </a:xfrm>
          <a:prstGeom prst="rect">
            <a:avLst/>
          </a:prstGeom>
          <a:solidFill>
            <a:srgbClr val="FFFFFF"/>
          </a:solidFill>
          <a:ln w="25400">
            <a:solidFill>
              <a:srgbClr val="D4700C"/>
            </a:solidFill>
            <a:prstDash val="solid"/>
          </a:ln>
        </p:spPr>
      </p:sp>
      <p:sp>
        <p:nvSpPr>
          <p:cNvPr id="13" name="Text 9"/>
          <p:cNvSpPr txBox="1"/>
          <p:nvPr/>
        </p:nvSpPr>
        <p:spPr>
          <a:xfrm>
            <a:off x="685800" y="3182112"/>
            <a:ext cx="1463040" cy="274320"/>
          </a:xfrm>
          <a:prstGeom prst="rect">
            <a:avLst/>
          </a:prstGeom>
          <a:noFill/>
          <a:ln/>
        </p:spPr>
        <p:txBody>
          <a:bodyPr wrap="square" lIns="0" tIns="0" rIns="0" bIns="0" rtlCol="0" anchor="ctr"/>
          <a:lstStyle/>
          <a:p>
            <a:pPr algn="ctr" indent="0" marL="0">
              <a:buNone/>
            </a:pPr>
            <a:r>
              <a:rPr lang="en-US" sz="1300" dirty="0">
                <a:solidFill>
                  <a:srgbClr val="4A5566"/>
                </a:solidFill>
                <a:latin typeface="Calibri" pitchFamily="34" charset="0"/>
                <a:ea typeface="Calibri" pitchFamily="34" charset="-122"/>
                <a:cs typeface="Calibri" pitchFamily="34" charset="-120"/>
              </a:rPr>
              <a:t>t − 0.6 s</a:t>
            </a:r>
            <a:endParaRPr lang="en-US" sz="1300" dirty="0"/>
          </a:p>
        </p:txBody>
      </p:sp>
      <p:sp>
        <p:nvSpPr>
          <p:cNvPr id="14" name="Text 10"/>
          <p:cNvSpPr txBox="1"/>
          <p:nvPr/>
        </p:nvSpPr>
        <p:spPr>
          <a:xfrm>
            <a:off x="2560320" y="3182112"/>
            <a:ext cx="1463040" cy="274320"/>
          </a:xfrm>
          <a:prstGeom prst="rect">
            <a:avLst/>
          </a:prstGeom>
          <a:noFill/>
          <a:ln/>
        </p:spPr>
        <p:txBody>
          <a:bodyPr wrap="square" lIns="0" tIns="0" rIns="0" bIns="0" rtlCol="0" anchor="ctr"/>
          <a:lstStyle/>
          <a:p>
            <a:pPr algn="ctr" indent="0" marL="0">
              <a:buNone/>
            </a:pPr>
            <a:r>
              <a:rPr lang="en-US" sz="1300" dirty="0">
                <a:solidFill>
                  <a:srgbClr val="4A5566"/>
                </a:solidFill>
                <a:latin typeface="Calibri" pitchFamily="34" charset="0"/>
                <a:ea typeface="Calibri" pitchFamily="34" charset="-122"/>
                <a:cs typeface="Calibri" pitchFamily="34" charset="-120"/>
              </a:rPr>
              <a:t>t − 0.3 s</a:t>
            </a:r>
            <a:endParaRPr lang="en-US" sz="1300" dirty="0"/>
          </a:p>
        </p:txBody>
      </p:sp>
      <p:sp>
        <p:nvSpPr>
          <p:cNvPr id="15" name="Text 11"/>
          <p:cNvSpPr txBox="1"/>
          <p:nvPr/>
        </p:nvSpPr>
        <p:spPr>
          <a:xfrm>
            <a:off x="4434840" y="3182112"/>
            <a:ext cx="1463040" cy="274320"/>
          </a:xfrm>
          <a:prstGeom prst="rect">
            <a:avLst/>
          </a:prstGeom>
          <a:noFill/>
          <a:ln/>
        </p:spPr>
        <p:txBody>
          <a:bodyPr wrap="square" lIns="0" tIns="0" rIns="0" bIns="0" rtlCol="0" anchor="ctr"/>
          <a:lstStyle/>
          <a:p>
            <a:pPr algn="ctr" indent="0" marL="0">
              <a:buNone/>
            </a:pPr>
            <a:r>
              <a:rPr lang="en-US" sz="1300" dirty="0">
                <a:solidFill>
                  <a:srgbClr val="4A5566"/>
                </a:solidFill>
                <a:latin typeface="Calibri" pitchFamily="34" charset="0"/>
                <a:ea typeface="Calibri" pitchFamily="34" charset="-122"/>
                <a:cs typeface="Calibri" pitchFamily="34" charset="-120"/>
              </a:rPr>
              <a:t>now</a:t>
            </a:r>
            <a:endParaRPr lang="en-US" sz="1300" dirty="0"/>
          </a:p>
        </p:txBody>
      </p:sp>
      <p:sp>
        <p:nvSpPr>
          <p:cNvPr id="16" name="Text 12"/>
          <p:cNvSpPr txBox="1"/>
          <p:nvPr/>
        </p:nvSpPr>
        <p:spPr>
          <a:xfrm>
            <a:off x="822960" y="1444752"/>
            <a:ext cx="5212080" cy="365760"/>
          </a:xfrm>
          <a:prstGeom prst="rect">
            <a:avLst/>
          </a:prstGeom>
          <a:noFill/>
          <a:ln/>
        </p:spPr>
        <p:txBody>
          <a:bodyPr wrap="square" lIns="0" tIns="0" rIns="0" bIns="0" rtlCol="0" anchor="ctr"/>
          <a:lstStyle/>
          <a:p>
            <a:pPr indent="0" marL="0">
              <a:buNone/>
            </a:pPr>
            <a:r>
              <a:rPr lang="en-US" sz="1600" b="1" dirty="0">
                <a:solidFill>
                  <a:srgbClr val="14305C"/>
                </a:solidFill>
                <a:latin typeface="Calibri" pitchFamily="34" charset="0"/>
                <a:ea typeface="Calibri" pitchFamily="34" charset="-122"/>
                <a:cs typeface="Calibri" pitchFamily="34" charset="-120"/>
              </a:rPr>
              <a:t>The box width w of a tracked object grows as it closes</a:t>
            </a:r>
            <a:endParaRPr lang="en-US" sz="1600" dirty="0"/>
          </a:p>
        </p:txBody>
      </p:sp>
      <p:sp>
        <p:nvSpPr>
          <p:cNvPr id="17" name="Text 13"/>
          <p:cNvSpPr txBox="1"/>
          <p:nvPr/>
        </p:nvSpPr>
        <p:spPr>
          <a:xfrm>
            <a:off x="822960" y="3566160"/>
            <a:ext cx="5212080" cy="685800"/>
          </a:xfrm>
          <a:prstGeom prst="rect">
            <a:avLst/>
          </a:prstGeom>
          <a:noFill/>
          <a:ln/>
        </p:spPr>
        <p:txBody>
          <a:bodyPr wrap="square" lIns="0" tIns="0" rIns="0" bIns="0" rtlCol="0" anchor="ctr"/>
          <a:lstStyle/>
          <a:p>
            <a:pPr indent="0" marL="0">
              <a:buNone/>
            </a:pPr>
            <a:r>
              <a:rPr lang="en-US" sz="3400" b="1" dirty="0">
                <a:solidFill>
                  <a:srgbClr val="14305C"/>
                </a:solidFill>
                <a:latin typeface="Calibri" pitchFamily="34" charset="0"/>
                <a:ea typeface="Calibri" pitchFamily="34" charset="-122"/>
                <a:cs typeface="Calibri" pitchFamily="34" charset="-120"/>
              </a:rPr>
              <a:t>τ = w / (dw/dt)</a:t>
            </a:r>
            <a:endParaRPr lang="en-US" sz="3400" dirty="0"/>
          </a:p>
        </p:txBody>
      </p:sp>
      <p:sp>
        <p:nvSpPr>
          <p:cNvPr id="18" name="Text 14"/>
          <p:cNvSpPr txBox="1"/>
          <p:nvPr/>
        </p:nvSpPr>
        <p:spPr>
          <a:xfrm>
            <a:off x="822960" y="4297680"/>
            <a:ext cx="5212080" cy="1828800"/>
          </a:xfrm>
          <a:prstGeom prst="rect">
            <a:avLst/>
          </a:prstGeom>
          <a:noFill/>
          <a:ln/>
        </p:spPr>
        <p:txBody>
          <a:bodyPr wrap="square" lIns="0" tIns="0" rIns="0" bIns="0" rtlCol="0" anchor="t"/>
          <a:lstStyle/>
          <a:p>
            <a:pPr marL="228600" indent="-228600">
              <a:spcAft>
                <a:spcPts val="800"/>
              </a:spcAft>
              <a:buSzPct val="100000"/>
              <a:buChar char="•"/>
            </a:pPr>
            <a:r>
              <a:rPr lang="en-US" sz="1300" dirty="0">
                <a:solidFill>
                  <a:srgbClr val="1B1F24"/>
                </a:solidFill>
                <a:latin typeface="Calibri" pitchFamily="34" charset="0"/>
                <a:ea typeface="Calibri" pitchFamily="34" charset="-122"/>
                <a:cs typeface="Calibri" pitchFamily="34" charset="-120"/>
              </a:rPr>
              <a:t>1/w falls in a straight line to zero at contact; a Theil-Sen line is fitted over the last 0.6 s</a:t>
            </a:r>
            <a:endParaRPr lang="en-US" sz="1300" dirty="0"/>
          </a:p>
          <a:p>
            <a:pPr marL="228600" indent="-228600">
              <a:spcAft>
                <a:spcPts val="800"/>
              </a:spcAft>
              <a:buSzPct val="100000"/>
              <a:buChar char="•"/>
            </a:pPr>
            <a:r>
              <a:rPr lang="en-US" sz="1300" dirty="0">
                <a:solidFill>
                  <a:srgbClr val="1B1F24"/>
                </a:solidFill>
                <a:latin typeface="Calibri" pitchFamily="34" charset="0"/>
                <a:ea typeface="Calibri" pitchFamily="34" charset="-122"/>
                <a:cs typeface="Calibri" pitchFamily="34" charset="-120"/>
              </a:rPr>
              <a:t>No focal length or object size needed (Lee 1976; Dagan et al. 2004)</a:t>
            </a:r>
            <a:endParaRPr lang="en-US" sz="1300" dirty="0"/>
          </a:p>
          <a:p>
            <a:pPr marL="228600" indent="-228600">
              <a:spcAft>
                <a:spcPts val="800"/>
              </a:spcAft>
              <a:buSzPct val="100000"/>
              <a:buChar char="•"/>
            </a:pPr>
            <a:r>
              <a:rPr lang="en-US" sz="1300" dirty="0">
                <a:solidFill>
                  <a:srgbClr val="1B1F24"/>
                </a:solidFill>
                <a:latin typeface="Calibri" pitchFamily="34" charset="0"/>
                <a:ea typeface="Calibri" pitchFamily="34" charset="-122"/>
                <a:cs typeface="Calibri" pitchFamily="34" charset="-120"/>
              </a:rPr>
              <a:t>Used only with 5 frames over 0.25 s, 75 % of slopes agreeing, 5 % growth, box clear of the image edge</a:t>
            </a:r>
            <a:endParaRPr lang="en-US" sz="1300" dirty="0"/>
          </a:p>
          <a:p>
            <a:pPr marL="228600" indent="-228600">
              <a:spcAft>
                <a:spcPts val="800"/>
              </a:spcAft>
              <a:buSzPct val="100000"/>
              <a:buChar char="•"/>
            </a:pPr>
            <a:r>
              <a:rPr lang="en-US" sz="1300" dirty="0">
                <a:solidFill>
                  <a:srgbClr val="1B1F24"/>
                </a:solidFill>
                <a:latin typeface="Calibri" pitchFamily="34" charset="0"/>
                <a:ea typeface="Calibri" pitchFamily="34" charset="-122"/>
                <a:cs typeface="Calibri" pitchFamily="34" charset="-120"/>
              </a:rPr>
              <a:t>Relative error ≈ ε (τ/T) √(12/n) for box jitter ε over n frames: 1 % jitter gives about ±0.3 s at 4 s</a:t>
            </a:r>
            <a:endParaRPr lang="en-US" sz="1300" dirty="0"/>
          </a:p>
        </p:txBody>
      </p:sp>
      <p:sp>
        <p:nvSpPr>
          <p:cNvPr id="19" name="Shape 15"/>
          <p:cNvSpPr/>
          <p:nvPr/>
        </p:nvSpPr>
        <p:spPr>
          <a:xfrm>
            <a:off x="6629400" y="1280160"/>
            <a:ext cx="5013655" cy="1520952"/>
          </a:xfrm>
          <a:prstGeom prst="roundRect">
            <a:avLst>
              <a:gd name="adj" fmla="val 7214"/>
            </a:avLst>
          </a:prstGeom>
          <a:solidFill>
            <a:srgbClr val="E8F0FA"/>
          </a:solidFill>
          <a:ln w="12700">
            <a:solidFill>
              <a:srgbClr val="E8F0FA"/>
            </a:solidFill>
            <a:prstDash val="solid"/>
          </a:ln>
        </p:spPr>
      </p:sp>
      <p:sp>
        <p:nvSpPr>
          <p:cNvPr id="20" name="Text 16"/>
          <p:cNvSpPr txBox="1"/>
          <p:nvPr/>
        </p:nvSpPr>
        <p:spPr>
          <a:xfrm>
            <a:off x="6858000" y="1371600"/>
            <a:ext cx="4556455" cy="329184"/>
          </a:xfrm>
          <a:prstGeom prst="rect">
            <a:avLst/>
          </a:prstGeom>
          <a:noFill/>
          <a:ln/>
        </p:spPr>
        <p:txBody>
          <a:bodyPr wrap="square" lIns="0" tIns="0" rIns="0" bIns="0" rtlCol="0" anchor="ctr"/>
          <a:lstStyle/>
          <a:p>
            <a:pPr indent="0" marL="0">
              <a:buNone/>
            </a:pPr>
            <a:r>
              <a:rPr lang="en-US" sz="1600" b="1" dirty="0">
                <a:solidFill>
                  <a:srgbClr val="14305C"/>
                </a:solidFill>
                <a:latin typeface="Calibri" pitchFamily="34" charset="0"/>
                <a:ea typeface="Calibri" pitchFamily="34" charset="-122"/>
                <a:cs typeface="Calibri" pitchFamily="34" charset="-120"/>
              </a:rPr>
              <a:t>Warning rule</a:t>
            </a:r>
            <a:endParaRPr lang="en-US" sz="1600" dirty="0"/>
          </a:p>
        </p:txBody>
      </p:sp>
      <p:sp>
        <p:nvSpPr>
          <p:cNvPr id="21" name="Text 17"/>
          <p:cNvSpPr txBox="1"/>
          <p:nvPr/>
        </p:nvSpPr>
        <p:spPr>
          <a:xfrm>
            <a:off x="6858000" y="1719072"/>
            <a:ext cx="4556455" cy="1018032"/>
          </a:xfrm>
          <a:prstGeom prst="rect">
            <a:avLst/>
          </a:prstGeom>
          <a:noFill/>
          <a:ln/>
        </p:spPr>
        <p:txBody>
          <a:bodyPr wrap="square" lIns="0" tIns="0" rIns="0" bIns="0" rtlCol="0" anchor="t"/>
          <a:lstStyle/>
          <a:p>
            <a:pPr indent="0" marL="0">
              <a:buNone/>
            </a:pPr>
            <a:r>
              <a:rPr lang="en-US" sz="1300" dirty="0">
                <a:solidFill>
                  <a:srgbClr val="1B1F24"/>
                </a:solidFill>
                <a:latin typeface="Calibri" pitchFamily="34" charset="0"/>
                <a:ea typeface="Calibri" pitchFamily="34" charset="-122"/>
                <a:cs typeface="Calibri" pitchFamily="34" charset="-120"/>
              </a:rPr>
              <a:t>Approaching when τ is under 4 s (warning) or 2 s (immediate), after the 3-frame onset; released above 5 s. Inside the time-of-flight range the sensor's own closing rate gives τ.</a:t>
            </a:r>
            <a:endParaRPr lang="en-US" sz="1300" dirty="0"/>
          </a:p>
        </p:txBody>
      </p:sp>
      <p:sp>
        <p:nvSpPr>
          <p:cNvPr id="22" name="Shape 18"/>
          <p:cNvSpPr/>
          <p:nvPr/>
        </p:nvSpPr>
        <p:spPr>
          <a:xfrm>
            <a:off x="6629400" y="2965704"/>
            <a:ext cx="5013655" cy="1520952"/>
          </a:xfrm>
          <a:prstGeom prst="roundRect">
            <a:avLst>
              <a:gd name="adj" fmla="val 7214"/>
            </a:avLst>
          </a:prstGeom>
          <a:solidFill>
            <a:srgbClr val="E8F0FA"/>
          </a:solidFill>
          <a:ln w="12700">
            <a:solidFill>
              <a:srgbClr val="E8F0FA"/>
            </a:solidFill>
            <a:prstDash val="solid"/>
          </a:ln>
        </p:spPr>
      </p:sp>
      <p:sp>
        <p:nvSpPr>
          <p:cNvPr id="23" name="Text 19"/>
          <p:cNvSpPr txBox="1"/>
          <p:nvPr/>
        </p:nvSpPr>
        <p:spPr>
          <a:xfrm>
            <a:off x="6858000" y="3057144"/>
            <a:ext cx="4556455" cy="329184"/>
          </a:xfrm>
          <a:prstGeom prst="rect">
            <a:avLst/>
          </a:prstGeom>
          <a:noFill/>
          <a:ln/>
        </p:spPr>
        <p:txBody>
          <a:bodyPr wrap="square" lIns="0" tIns="0" rIns="0" bIns="0" rtlCol="0" anchor="ctr"/>
          <a:lstStyle/>
          <a:p>
            <a:pPr indent="0" marL="0">
              <a:buNone/>
            </a:pPr>
            <a:r>
              <a:rPr lang="en-US" sz="1600" b="1" dirty="0">
                <a:solidFill>
                  <a:srgbClr val="14305C"/>
                </a:solidFill>
                <a:latin typeface="Calibri" pitchFamily="34" charset="0"/>
                <a:ea typeface="Calibri" pitchFamily="34" charset="-122"/>
                <a:cs typeface="Calibri" pitchFamily="34" charset="-120"/>
              </a:rPr>
              <a:t>Tested (synthetic, 15 Oct)</a:t>
            </a:r>
            <a:endParaRPr lang="en-US" sz="1600" dirty="0"/>
          </a:p>
        </p:txBody>
      </p:sp>
      <p:sp>
        <p:nvSpPr>
          <p:cNvPr id="24" name="Text 20"/>
          <p:cNvSpPr txBox="1"/>
          <p:nvPr/>
        </p:nvSpPr>
        <p:spPr>
          <a:xfrm>
            <a:off x="6858000" y="3404616"/>
            <a:ext cx="4556455" cy="1018032"/>
          </a:xfrm>
          <a:prstGeom prst="rect">
            <a:avLst/>
          </a:prstGeom>
          <a:noFill/>
          <a:ln/>
        </p:spPr>
        <p:txBody>
          <a:bodyPr wrap="square" lIns="0" tIns="0" rIns="0" bIns="0" rtlCol="0" anchor="t"/>
          <a:lstStyle/>
          <a:p>
            <a:pPr indent="0" marL="0">
              <a:buNone/>
            </a:pPr>
            <a:r>
              <a:rPr lang="en-US" sz="1300" dirty="0">
                <a:solidFill>
                  <a:srgbClr val="1B1F24"/>
                </a:solidFill>
                <a:latin typeface="Calibri" pitchFamily="34" charset="0"/>
                <a:ea typeface="Calibri" pitchFamily="34" charset="-122"/>
                <a:cs typeface="Calibri" pitchFamily="34" charset="-120"/>
              </a:rPr>
              <a:t>40 tests pass: τ within 2 % at constant speed; no alerts in 5,000 frames of receding, still or jittering boxes. 0.27 ms per frame on a laptop.</a:t>
            </a:r>
            <a:endParaRPr lang="en-US" sz="1300" dirty="0"/>
          </a:p>
        </p:txBody>
      </p:sp>
      <p:sp>
        <p:nvSpPr>
          <p:cNvPr id="25" name="Shape 21"/>
          <p:cNvSpPr/>
          <p:nvPr/>
        </p:nvSpPr>
        <p:spPr>
          <a:xfrm>
            <a:off x="6629400" y="4651248"/>
            <a:ext cx="5013655" cy="1520952"/>
          </a:xfrm>
          <a:prstGeom prst="roundRect">
            <a:avLst>
              <a:gd name="adj" fmla="val 7214"/>
            </a:avLst>
          </a:prstGeom>
          <a:solidFill>
            <a:srgbClr val="FFFFFF"/>
          </a:solidFill>
          <a:ln w="25400">
            <a:solidFill>
              <a:srgbClr val="D4700C"/>
            </a:solidFill>
            <a:prstDash val="dash"/>
          </a:ln>
        </p:spPr>
      </p:sp>
      <p:sp>
        <p:nvSpPr>
          <p:cNvPr id="26" name="Text 22"/>
          <p:cNvSpPr txBox="1"/>
          <p:nvPr/>
        </p:nvSpPr>
        <p:spPr>
          <a:xfrm>
            <a:off x="6858000" y="4742688"/>
            <a:ext cx="4556455" cy="329184"/>
          </a:xfrm>
          <a:prstGeom prst="rect">
            <a:avLst/>
          </a:prstGeom>
          <a:noFill/>
          <a:ln/>
        </p:spPr>
        <p:txBody>
          <a:bodyPr wrap="square" lIns="0" tIns="0" rIns="0" bIns="0" rtlCol="0" anchor="ctr"/>
          <a:lstStyle/>
          <a:p>
            <a:pPr indent="0" marL="0">
              <a:buNone/>
            </a:pPr>
            <a:r>
              <a:rPr lang="en-US" sz="1600" b="1" dirty="0">
                <a:solidFill>
                  <a:srgbClr val="D4700C"/>
                </a:solidFill>
                <a:latin typeface="Calibri" pitchFamily="34" charset="0"/>
                <a:ea typeface="Calibri" pitchFamily="34" charset="-122"/>
                <a:cs typeface="Calibri" pitchFamily="34" charset="-120"/>
              </a:rPr>
              <a:t>Untested</a:t>
            </a:r>
            <a:endParaRPr lang="en-US" sz="1600" dirty="0"/>
          </a:p>
        </p:txBody>
      </p:sp>
      <p:sp>
        <p:nvSpPr>
          <p:cNvPr id="27" name="Text 23"/>
          <p:cNvSpPr txBox="1"/>
          <p:nvPr/>
        </p:nvSpPr>
        <p:spPr>
          <a:xfrm>
            <a:off x="6858000" y="5090160"/>
            <a:ext cx="4556455" cy="1018032"/>
          </a:xfrm>
          <a:prstGeom prst="rect">
            <a:avLst/>
          </a:prstGeom>
          <a:noFill/>
          <a:ln/>
        </p:spPr>
        <p:txBody>
          <a:bodyPr wrap="square" lIns="0" tIns="0" rIns="0" bIns="0" rtlCol="0" anchor="t"/>
          <a:lstStyle/>
          <a:p>
            <a:pPr indent="0" marL="0">
              <a:buNone/>
            </a:pPr>
            <a:r>
              <a:rPr lang="en-US" sz="1300" dirty="0">
                <a:solidFill>
                  <a:srgbClr val="1B1F24"/>
                </a:solidFill>
                <a:latin typeface="Calibri" pitchFamily="34" charset="0"/>
                <a:ea typeface="Calibri" pitchFamily="34" charset="-122"/>
                <a:cs typeface="Calibri" pitchFamily="34" charset="-120"/>
              </a:rPr>
              <a:t>No real approach yet (test C11). On the road the front camera marked 261 car alerts as approaching, not yet checked against video. A still object ahead counts while driving: intended.</a:t>
            </a:r>
            <a:endParaRPr lang="en-US" sz="13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384048"/>
            <a:ext cx="566928" cy="566928"/>
          </a:xfrm>
          <a:prstGeom prst="ellipse">
            <a:avLst/>
          </a:prstGeom>
          <a:solidFill>
            <a:srgbClr val="14305C"/>
          </a:solidFill>
          <a:ln w="12700">
            <a:solidFill>
              <a:srgbClr val="14305C"/>
            </a:solidFill>
            <a:prstDash val="solid"/>
          </a:ln>
        </p:spPr>
      </p:sp>
      <p:sp>
        <p:nvSpPr>
          <p:cNvPr id="3" name="Text 1"/>
          <p:cNvSpPr txBox="1"/>
          <p:nvPr/>
        </p:nvSpPr>
        <p:spPr>
          <a:xfrm>
            <a:off x="548640" y="384048"/>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10</a:t>
            </a:r>
            <a:endParaRPr lang="en-US" sz="2000" dirty="0"/>
          </a:p>
        </p:txBody>
      </p:sp>
      <p:sp>
        <p:nvSpPr>
          <p:cNvPr id="4" name="Text 2"/>
          <p:cNvSpPr txBox="1"/>
          <p:nvPr/>
        </p:nvSpPr>
        <p:spPr>
          <a:xfrm>
            <a:off x="1325880" y="310896"/>
            <a:ext cx="10317175" cy="731520"/>
          </a:xfrm>
          <a:prstGeom prst="rect">
            <a:avLst/>
          </a:prstGeom>
          <a:noFill/>
          <a:ln/>
        </p:spPr>
        <p:txBody>
          <a:bodyPr wrap="square" lIns="0" tIns="0" rIns="0" bIns="0" rtlCol="0" anchor="ctr"/>
          <a:lstStyle/>
          <a:p>
            <a:pPr indent="0" marL="0">
              <a:buNone/>
            </a:pPr>
            <a:r>
              <a:rPr lang="en-US" sz="3200" b="1" dirty="0">
                <a:solidFill>
                  <a:srgbClr val="14305C"/>
                </a:solidFill>
                <a:latin typeface="Calibri" pitchFamily="34" charset="0"/>
                <a:ea typeface="Calibri" pitchFamily="34" charset="-122"/>
                <a:cs typeface="Calibri" pitchFamily="34" charset="-120"/>
              </a:rPr>
              <a:t>The existing dashboard: both cameras, and legibility</a:t>
            </a:r>
            <a:endParaRPr lang="en-US" sz="3200" dirty="0"/>
          </a:p>
        </p:txBody>
      </p:sp>
      <p:pic>
        <p:nvPicPr>
          <p:cNvPr id="5" name="Image 0" descr="C:\Users\0geda\OneDrive - University of Cape Town\Documents\PlatformIO\Projects\Tukzie-HPEC-HUD\Presentation\source\assets\uct_logo.png">    </p:cNvPr>
          <p:cNvPicPr>
            <a:picLocks noChangeAspect="1"/>
          </p:cNvPicPr>
          <p:nvPr/>
        </p:nvPicPr>
        <p:blipFill>
          <a:blip r:embed="rId1"/>
          <a:stretch>
            <a:fillRect/>
          </a:stretch>
        </p:blipFill>
        <p:spPr>
          <a:xfrm>
            <a:off x="11259007" y="6327648"/>
            <a:ext cx="384048" cy="390449"/>
          </a:xfrm>
          <a:prstGeom prst="rect">
            <a:avLst/>
          </a:prstGeom>
        </p:spPr>
      </p:pic>
      <p:sp>
        <p:nvSpPr>
          <p:cNvPr id="6" name="Text 3"/>
          <p:cNvSpPr txBox="1"/>
          <p:nvPr/>
        </p:nvSpPr>
        <p:spPr>
          <a:xfrm>
            <a:off x="548640" y="6382512"/>
            <a:ext cx="5486400" cy="292608"/>
          </a:xfrm>
          <a:prstGeom prst="rect">
            <a:avLst/>
          </a:prstGeom>
          <a:noFill/>
          <a:ln/>
        </p:spPr>
        <p:txBody>
          <a:bodyPr wrap="square" lIns="0" tIns="0" rIns="0" bIns="0" rtlCol="0" anchor="ctr"/>
          <a:lstStyle/>
          <a:p>
            <a:pPr indent="0" marL="0">
              <a:buNone/>
            </a:pPr>
            <a:r>
              <a:rPr lang="en-US" sz="1100" dirty="0">
                <a:solidFill>
                  <a:srgbClr val="4A5566"/>
                </a:solidFill>
                <a:latin typeface="Calibri" pitchFamily="34" charset="0"/>
                <a:ea typeface="Calibri" pitchFamily="34" charset="-122"/>
                <a:cs typeface="Calibri" pitchFamily="34" charset="-120"/>
              </a:rPr>
              <a:t>SW-7   |   Samson Okuthe   |   EEE4022S 2026</a:t>
            </a:r>
            <a:endParaRPr lang="en-US" sz="1100" dirty="0"/>
          </a:p>
        </p:txBody>
      </p:sp>
      <p:sp>
        <p:nvSpPr>
          <p:cNvPr id="7" name="Text 4"/>
          <p:cNvSpPr txBox="1"/>
          <p:nvPr/>
        </p:nvSpPr>
        <p:spPr>
          <a:xfrm>
            <a:off x="10180015" y="6382512"/>
            <a:ext cx="914400" cy="292608"/>
          </a:xfrm>
          <a:prstGeom prst="rect">
            <a:avLst/>
          </a:prstGeom>
          <a:noFill/>
          <a:ln/>
        </p:spPr>
        <p:txBody>
          <a:bodyPr wrap="square" lIns="0" tIns="0" rIns="0" bIns="0" rtlCol="0" anchor="ctr"/>
          <a:lstStyle/>
          <a:p>
            <a:pPr algn="r" indent="0" marL="0">
              <a:buNone/>
            </a:pPr>
            <a:r>
              <a:rPr lang="en-US" sz="1100" dirty="0">
                <a:solidFill>
                  <a:srgbClr val="4A5566"/>
                </a:solidFill>
                <a:latin typeface="Calibri" pitchFamily="34" charset="0"/>
                <a:ea typeface="Calibri" pitchFamily="34" charset="-122"/>
                <a:cs typeface="Calibri" pitchFamily="34" charset="-120"/>
              </a:rPr>
              <a:t>11 / 14</a:t>
            </a:r>
            <a:endParaRPr lang="en-US" sz="1100" dirty="0"/>
          </a:p>
        </p:txBody>
      </p:sp>
      <p:pic>
        <p:nvPicPr>
          <p:cNvPr id="9" name="Image 1" descr="C:\Users\0geda\OneDrive - University of Cape Town\Documents\PlatformIO\Projects\Tukzie-HPEC-HUD\Report\figures\ui\ui_dualcam_front.png">    </p:cNvPr>
          <p:cNvPicPr>
            <a:picLocks noChangeAspect="1"/>
          </p:cNvPicPr>
          <p:nvPr/>
        </p:nvPicPr>
        <p:blipFill>
          <a:blip r:embed="rId2"/>
          <a:stretch>
            <a:fillRect/>
          </a:stretch>
        </p:blipFill>
        <p:spPr>
          <a:xfrm>
            <a:off x="548640" y="1280160"/>
            <a:ext cx="3291840" cy="2057400"/>
          </a:xfrm>
          <a:prstGeom prst="rect">
            <a:avLst/>
          </a:prstGeom>
        </p:spPr>
      </p:pic>
      <p:pic>
        <p:nvPicPr>
          <p:cNvPr id="10" name="Image 2" descr="C:\Users\0geda\OneDrive - University of Cape Town\Documents\PlatformIO\Projects\Tukzie-HPEC-HUD\Report\figures\ui\ui_dualcam_rear_approaching.png">    </p:cNvPr>
          <p:cNvPicPr>
            <a:picLocks noChangeAspect="1"/>
          </p:cNvPicPr>
          <p:nvPr/>
        </p:nvPicPr>
        <p:blipFill>
          <a:blip r:embed="rId3"/>
          <a:stretch>
            <a:fillRect/>
          </a:stretch>
        </p:blipFill>
        <p:spPr>
          <a:xfrm>
            <a:off x="4023360" y="1280160"/>
            <a:ext cx="3291840" cy="2057400"/>
          </a:xfrm>
          <a:prstGeom prst="rect">
            <a:avLst/>
          </a:prstGeom>
        </p:spPr>
      </p:pic>
      <p:sp>
        <p:nvSpPr>
          <p:cNvPr id="11" name="Text 5"/>
          <p:cNvSpPr txBox="1"/>
          <p:nvPr/>
        </p:nvSpPr>
        <p:spPr>
          <a:xfrm>
            <a:off x="548640" y="3392424"/>
            <a:ext cx="3291840" cy="274320"/>
          </a:xfrm>
          <a:prstGeom prst="rect">
            <a:avLst/>
          </a:prstGeom>
          <a:noFill/>
          <a:ln/>
        </p:spPr>
        <p:txBody>
          <a:bodyPr wrap="square" lIns="0" tIns="0" rIns="0" bIns="0" rtlCol="0" anchor="t"/>
          <a:lstStyle/>
          <a:p>
            <a:pPr indent="0" marL="0">
              <a:buNone/>
            </a:pPr>
            <a:r>
              <a:rPr lang="en-US" sz="1200" i="1" dirty="0">
                <a:solidFill>
                  <a:srgbClr val="4A5566"/>
                </a:solidFill>
                <a:latin typeface="Calibri" pitchFamily="34" charset="0"/>
                <a:ea typeface="Calibri" pitchFamily="34" charset="-122"/>
                <a:cs typeface="Calibri" pitchFamily="34" charset="-120"/>
              </a:rPr>
              <a:t>Front: Pi 5 camera and ToF (test image)</a:t>
            </a:r>
            <a:endParaRPr lang="en-US" sz="1200" dirty="0"/>
          </a:p>
        </p:txBody>
      </p:sp>
      <p:sp>
        <p:nvSpPr>
          <p:cNvPr id="12" name="Text 6"/>
          <p:cNvSpPr txBox="1"/>
          <p:nvPr/>
        </p:nvSpPr>
        <p:spPr>
          <a:xfrm>
            <a:off x="4023360" y="3392424"/>
            <a:ext cx="3291840" cy="274320"/>
          </a:xfrm>
          <a:prstGeom prst="rect">
            <a:avLst/>
          </a:prstGeom>
          <a:noFill/>
          <a:ln/>
        </p:spPr>
        <p:txBody>
          <a:bodyPr wrap="square" lIns="0" tIns="0" rIns="0" bIns="0" rtlCol="0" anchor="t"/>
          <a:lstStyle/>
          <a:p>
            <a:pPr indent="0" marL="0">
              <a:buNone/>
            </a:pPr>
            <a:r>
              <a:rPr lang="en-US" sz="1200" i="1" dirty="0">
                <a:solidFill>
                  <a:srgbClr val="4A5566"/>
                </a:solidFill>
                <a:latin typeface="Calibri" pitchFamily="34" charset="0"/>
                <a:ea typeface="Calibri" pitchFamily="34" charset="-122"/>
                <a:cs typeface="Calibri" pitchFamily="34" charset="-120"/>
              </a:rPr>
              <a:t>Rear, mirrored: car approaching at 1.6 s (test)</a:t>
            </a:r>
            <a:endParaRPr lang="en-US" sz="1200" dirty="0"/>
          </a:p>
        </p:txBody>
      </p:sp>
      <p:sp>
        <p:nvSpPr>
          <p:cNvPr id="13" name="Shape 7"/>
          <p:cNvSpPr/>
          <p:nvPr/>
        </p:nvSpPr>
        <p:spPr>
          <a:xfrm>
            <a:off x="548640" y="3794760"/>
            <a:ext cx="6766560" cy="2377440"/>
          </a:xfrm>
          <a:prstGeom prst="roundRect">
            <a:avLst>
              <a:gd name="adj" fmla="val 4615"/>
            </a:avLst>
          </a:prstGeom>
          <a:solidFill>
            <a:srgbClr val="E8F0FA"/>
          </a:solidFill>
          <a:ln w="12700">
            <a:solidFill>
              <a:srgbClr val="E8F0FA"/>
            </a:solidFill>
            <a:prstDash val="solid"/>
          </a:ln>
        </p:spPr>
      </p:sp>
      <p:sp>
        <p:nvSpPr>
          <p:cNvPr id="14" name="Text 8"/>
          <p:cNvSpPr txBox="1"/>
          <p:nvPr/>
        </p:nvSpPr>
        <p:spPr>
          <a:xfrm>
            <a:off x="822960" y="3904488"/>
            <a:ext cx="6217920" cy="347472"/>
          </a:xfrm>
          <a:prstGeom prst="rect">
            <a:avLst/>
          </a:prstGeom>
          <a:noFill/>
          <a:ln/>
        </p:spPr>
        <p:txBody>
          <a:bodyPr wrap="square" lIns="0" tIns="0" rIns="0" bIns="0" rtlCol="0" anchor="ctr"/>
          <a:lstStyle/>
          <a:p>
            <a:pPr indent="0" marL="0">
              <a:buNone/>
            </a:pPr>
            <a:r>
              <a:rPr lang="en-US" sz="1600" b="1" dirty="0">
                <a:solidFill>
                  <a:srgbClr val="14305C"/>
                </a:solidFill>
                <a:latin typeface="Calibri" pitchFamily="34" charset="0"/>
                <a:ea typeface="Calibri" pitchFamily="34" charset="-122"/>
                <a:cs typeface="Calibri" pitchFamily="34" charset="-120"/>
              </a:rPr>
              <a:t>Legibility at 0.70 m, measured without a participant (24 Oct)</a:t>
            </a:r>
            <a:endParaRPr lang="en-US" sz="1600" dirty="0"/>
          </a:p>
        </p:txBody>
      </p:sp>
      <p:sp>
        <p:nvSpPr>
          <p:cNvPr id="15" name="Text 9"/>
          <p:cNvSpPr txBox="1"/>
          <p:nvPr/>
        </p:nvSpPr>
        <p:spPr>
          <a:xfrm>
            <a:off x="822960" y="4297680"/>
            <a:ext cx="6217920" cy="1325880"/>
          </a:xfrm>
          <a:prstGeom prst="rect">
            <a:avLst/>
          </a:prstGeom>
          <a:noFill/>
          <a:ln/>
        </p:spPr>
        <p:txBody>
          <a:bodyPr wrap="square" lIns="0" tIns="0" rIns="0" bIns="0" rtlCol="0" anchor="t"/>
          <a:lstStyle/>
          <a:p>
            <a:pPr marL="228600" indent="-228600">
              <a:spcAft>
                <a:spcPts val="800"/>
              </a:spcAft>
              <a:buSzPct val="100000"/>
              <a:buChar char="•"/>
            </a:pPr>
            <a:r>
              <a:rPr lang="en-US" sz="1400" dirty="0">
                <a:solidFill>
                  <a:srgbClr val="1B1F24"/>
                </a:solidFill>
                <a:latin typeface="Calibri" pitchFamily="34" charset="0"/>
                <a:ea typeface="Calibri" pitchFamily="34" charset="-122"/>
                <a:cs typeface="Calibri" pitchFamily="34" charset="-120"/>
              </a:rPr>
              <a:t>Speed digits: 84 arc minutes (ISO 15008: 16 acceptable, 20 recommended)</a:t>
            </a:r>
            <a:endParaRPr lang="en-US" sz="1400" dirty="0"/>
          </a:p>
          <a:p>
            <a:pPr marL="228600" indent="-228600">
              <a:spcAft>
                <a:spcPts val="800"/>
              </a:spcAft>
              <a:buSzPct val="100000"/>
              <a:buChar char="•"/>
            </a:pPr>
            <a:r>
              <a:rPr lang="en-US" sz="1400" dirty="0">
                <a:solidFill>
                  <a:srgbClr val="1B1F24"/>
                </a:solidFill>
                <a:latin typeface="Calibri" pitchFamily="34" charset="0"/>
                <a:ea typeface="Calibri" pitchFamily="34" charset="-122"/>
                <a:cs typeface="Calibri" pitchFamily="34" charset="-120"/>
              </a:rPr>
              <a:t>Alert banner capitals: 9 arc minutes; labels a median of 9</a:t>
            </a:r>
            <a:endParaRPr lang="en-US" sz="1400" dirty="0"/>
          </a:p>
          <a:p>
            <a:pPr marL="228600" indent="-228600">
              <a:spcAft>
                <a:spcPts val="800"/>
              </a:spcAft>
              <a:buSzPct val="100000"/>
              <a:buChar char="•"/>
            </a:pPr>
            <a:r>
              <a:rPr lang="en-US" sz="1400" dirty="0">
                <a:solidFill>
                  <a:srgbClr val="1B1F24"/>
                </a:solidFill>
                <a:latin typeface="Calibri" pitchFamily="34" charset="0"/>
                <a:ea typeface="Calibri" pitchFamily="34" charset="-122"/>
                <a:cs typeface="Calibri" pitchFamily="34" charset="-120"/>
              </a:rPr>
              <a:t>Touch targets: median 10.9 mm; 5 of 26 at 17.5 mm</a:t>
            </a:r>
            <a:endParaRPr lang="en-US" sz="1400" dirty="0"/>
          </a:p>
          <a:p>
            <a:pPr marL="228600" indent="-228600">
              <a:spcAft>
                <a:spcPts val="800"/>
              </a:spcAft>
              <a:buSzPct val="100000"/>
              <a:buChar char="•"/>
            </a:pPr>
            <a:r>
              <a:rPr lang="en-US" sz="1400" dirty="0">
                <a:solidFill>
                  <a:srgbClr val="1B1F24"/>
                </a:solidFill>
                <a:latin typeface="Calibri" pitchFamily="34" charset="0"/>
                <a:ea typeface="Calibri" pitchFamily="34" charset="-122"/>
                <a:cs typeface="Calibri" pitchFamily="34" charset="-120"/>
              </a:rPr>
              <a:t>First change: enlarge the banner to about 24 px capitals, then a glance study</a:t>
            </a:r>
            <a:endParaRPr lang="en-US" sz="1400" dirty="0"/>
          </a:p>
        </p:txBody>
      </p:sp>
      <p:sp>
        <p:nvSpPr>
          <p:cNvPr id="16" name="Text 10"/>
          <p:cNvSpPr txBox="1"/>
          <p:nvPr/>
        </p:nvSpPr>
        <p:spPr>
          <a:xfrm>
            <a:off x="822960" y="5669280"/>
            <a:ext cx="6217920" cy="365760"/>
          </a:xfrm>
          <a:prstGeom prst="rect">
            <a:avLst/>
          </a:prstGeom>
          <a:noFill/>
          <a:ln/>
        </p:spPr>
        <p:txBody>
          <a:bodyPr wrap="square" lIns="0" tIns="0" rIns="0" bIns="0" rtlCol="0" anchor="ctr"/>
          <a:lstStyle/>
          <a:p>
            <a:pPr indent="0" marL="0">
              <a:buNone/>
            </a:pPr>
            <a:r>
              <a:rPr lang="en-US" sz="1500" b="1" dirty="0">
                <a:solidFill>
                  <a:srgbClr val="D4700C"/>
                </a:solidFill>
                <a:latin typeface="Calibri" pitchFamily="34" charset="0"/>
                <a:ea typeface="Calibri" pitchFamily="34" charset="-122"/>
                <a:cs typeface="Calibri" pitchFamily="34" charset="-120"/>
              </a:rPr>
              <a:t>The speed is legible at a glance; the warnings are not.</a:t>
            </a:r>
            <a:endParaRPr lang="en-US" sz="1500" dirty="0"/>
          </a:p>
        </p:txBody>
      </p:sp>
      <p:sp>
        <p:nvSpPr>
          <p:cNvPr id="17" name="Shape 11"/>
          <p:cNvSpPr/>
          <p:nvPr/>
        </p:nvSpPr>
        <p:spPr>
          <a:xfrm>
            <a:off x="7635240" y="1280160"/>
            <a:ext cx="4007815" cy="4892040"/>
          </a:xfrm>
          <a:prstGeom prst="roundRect">
            <a:avLst>
              <a:gd name="adj" fmla="val 2738"/>
            </a:avLst>
          </a:prstGeom>
          <a:solidFill>
            <a:srgbClr val="E8F0FA"/>
          </a:solidFill>
          <a:ln w="12700">
            <a:solidFill>
              <a:srgbClr val="E8F0FA"/>
            </a:solidFill>
            <a:prstDash val="solid"/>
          </a:ln>
        </p:spPr>
      </p:sp>
      <p:sp>
        <p:nvSpPr>
          <p:cNvPr id="18" name="Text 12"/>
          <p:cNvSpPr txBox="1"/>
          <p:nvPr/>
        </p:nvSpPr>
        <p:spPr>
          <a:xfrm>
            <a:off x="7909560" y="1389888"/>
            <a:ext cx="3459175" cy="384048"/>
          </a:xfrm>
          <a:prstGeom prst="rect">
            <a:avLst/>
          </a:prstGeom>
          <a:noFill/>
          <a:ln/>
        </p:spPr>
        <p:txBody>
          <a:bodyPr wrap="square" lIns="0" tIns="0" rIns="0" bIns="0" rtlCol="0" anchor="ctr"/>
          <a:lstStyle/>
          <a:p>
            <a:pPr indent="0" marL="0">
              <a:buNone/>
            </a:pPr>
            <a:r>
              <a:rPr lang="en-US" sz="1800" b="1" dirty="0">
                <a:solidFill>
                  <a:srgbClr val="14305C"/>
                </a:solidFill>
                <a:latin typeface="Calibri" pitchFamily="34" charset="0"/>
                <a:ea typeface="Calibri" pitchFamily="34" charset="-122"/>
                <a:cs typeface="Calibri" pitchFamily="34" charset="-120"/>
              </a:rPr>
              <a:t>Live on the Pi 5</a:t>
            </a:r>
            <a:endParaRPr lang="en-US" sz="1800" dirty="0"/>
          </a:p>
        </p:txBody>
      </p:sp>
      <p:pic>
        <p:nvPicPr>
          <p:cNvPr id="19" name="Image 3" descr="C:\Users\0geda\OneDrive - University of Cape Town\Documents\PlatformIO\Projects\Tukzie-HPEC-HUD\Report\figures\ui\ui_pi5_live_dualcam.png">    </p:cNvPr>
          <p:cNvPicPr>
            <a:picLocks noChangeAspect="1"/>
          </p:cNvPicPr>
          <p:nvPr/>
        </p:nvPicPr>
        <p:blipFill>
          <a:blip r:embed="rId4"/>
          <a:stretch>
            <a:fillRect/>
          </a:stretch>
        </p:blipFill>
        <p:spPr>
          <a:xfrm>
            <a:off x="7909560" y="1828800"/>
            <a:ext cx="3459175" cy="2161985"/>
          </a:xfrm>
          <a:prstGeom prst="rect">
            <a:avLst/>
          </a:prstGeom>
        </p:spPr>
      </p:pic>
      <p:sp>
        <p:nvSpPr>
          <p:cNvPr id="20" name="Text 13"/>
          <p:cNvSpPr txBox="1"/>
          <p:nvPr/>
        </p:nvSpPr>
        <p:spPr>
          <a:xfrm>
            <a:off x="7909560" y="4045649"/>
            <a:ext cx="3459175" cy="457200"/>
          </a:xfrm>
          <a:prstGeom prst="rect">
            <a:avLst/>
          </a:prstGeom>
          <a:noFill/>
          <a:ln/>
        </p:spPr>
        <p:txBody>
          <a:bodyPr wrap="square" lIns="0" tIns="0" rIns="0" bIns="0" rtlCol="0" anchor="t"/>
          <a:lstStyle/>
          <a:p>
            <a:pPr indent="0" marL="0">
              <a:buNone/>
            </a:pPr>
            <a:r>
              <a:rPr lang="en-US" sz="1200" i="1" dirty="0">
                <a:solidFill>
                  <a:srgbClr val="4A5566"/>
                </a:solidFill>
                <a:latin typeface="Calibri" pitchFamily="34" charset="0"/>
                <a:ea typeface="Calibri" pitchFamily="34" charset="-122"/>
                <a:cs typeface="Calibri" pitchFamily="34" charset="-120"/>
              </a:rPr>
              <a:t>15 Oct: live front camera at 23.6 fps, a rear warning in the banner</a:t>
            </a:r>
            <a:endParaRPr lang="en-US" sz="1200" dirty="0"/>
          </a:p>
        </p:txBody>
      </p:sp>
      <p:sp>
        <p:nvSpPr>
          <p:cNvPr id="21" name="Text 14"/>
          <p:cNvSpPr txBox="1"/>
          <p:nvPr/>
        </p:nvSpPr>
        <p:spPr>
          <a:xfrm>
            <a:off x="7909560" y="4539425"/>
            <a:ext cx="3459175" cy="1005840"/>
          </a:xfrm>
          <a:prstGeom prst="rect">
            <a:avLst/>
          </a:prstGeom>
          <a:noFill/>
          <a:ln/>
        </p:spPr>
        <p:txBody>
          <a:bodyPr wrap="square" lIns="0" tIns="0" rIns="0" bIns="0" rtlCol="0" anchor="t"/>
          <a:lstStyle/>
          <a:p>
            <a:pPr marL="228600" indent="-228600">
              <a:spcAft>
                <a:spcPts val="800"/>
              </a:spcAft>
              <a:buSzPct val="100000"/>
              <a:buChar char="•"/>
            </a:pPr>
            <a:r>
              <a:rPr lang="en-US" sz="1300" dirty="0">
                <a:solidFill>
                  <a:srgbClr val="1B1F24"/>
                </a:solidFill>
                <a:latin typeface="Calibri" pitchFamily="34" charset="0"/>
                <a:ea typeface="Calibri" pitchFamily="34" charset="-122"/>
                <a:cs typeface="Calibri" pitchFamily="34" charset="-120"/>
              </a:rPr>
              <a:t>Front | Rear switch; rear view mirrored</a:t>
            </a:r>
            <a:endParaRPr lang="en-US" sz="1300" dirty="0"/>
          </a:p>
          <a:p>
            <a:pPr marL="228600" indent="-228600">
              <a:spcAft>
                <a:spcPts val="800"/>
              </a:spcAft>
              <a:buSzPct val="100000"/>
              <a:buChar char="•"/>
            </a:pPr>
            <a:r>
              <a:rPr lang="en-US" sz="1300" dirty="0">
                <a:solidFill>
                  <a:srgbClr val="1B1F24"/>
                </a:solidFill>
                <a:latin typeface="Calibri" pitchFamily="34" charset="0"/>
                <a:ea typeface="Calibri" pitchFamily="34" charset="-122"/>
                <a:cs typeface="Calibri" pitchFamily="34" charset="-120"/>
              </a:rPr>
              <a:t>Banner names the side; approaching first</a:t>
            </a:r>
            <a:endParaRPr lang="en-US" sz="1300" dirty="0"/>
          </a:p>
          <a:p>
            <a:pPr marL="228600" indent="-228600">
              <a:spcAft>
                <a:spcPts val="800"/>
              </a:spcAft>
              <a:buSzPct val="100000"/>
              <a:buChar char="•"/>
            </a:pPr>
            <a:r>
              <a:rPr lang="en-US" sz="1300" dirty="0">
                <a:solidFill>
                  <a:srgbClr val="1B1F24"/>
                </a:solidFill>
                <a:latin typeface="Calibri" pitchFamily="34" charset="0"/>
                <a:ea typeface="Calibri" pitchFamily="34" charset="-122"/>
                <a:cs typeface="Calibri" pitchFamily="34" charset="-120"/>
              </a:rPr>
              <a:t>Live data only, never simulated</a:t>
            </a:r>
            <a:endParaRPr lang="en-US" sz="1300" dirty="0"/>
          </a:p>
        </p:txBody>
      </p:sp>
      <p:sp>
        <p:nvSpPr>
          <p:cNvPr id="22" name="Text 15"/>
          <p:cNvSpPr txBox="1"/>
          <p:nvPr/>
        </p:nvSpPr>
        <p:spPr>
          <a:xfrm>
            <a:off x="7909560" y="5623560"/>
            <a:ext cx="3459175" cy="457200"/>
          </a:xfrm>
          <a:prstGeom prst="rect">
            <a:avLst/>
          </a:prstGeom>
          <a:noFill/>
          <a:ln/>
        </p:spPr>
        <p:txBody>
          <a:bodyPr wrap="square" lIns="0" tIns="0" rIns="0" bIns="0" rtlCol="0" anchor="t"/>
          <a:lstStyle/>
          <a:p>
            <a:pPr indent="0" marL="0">
              <a:buNone/>
            </a:pPr>
            <a:r>
              <a:rPr lang="en-US" sz="1400" b="1" dirty="0">
                <a:solidFill>
                  <a:srgbClr val="D4700C"/>
                </a:solidFill>
                <a:latin typeface="Calibri" pitchFamily="34" charset="0"/>
                <a:ea typeface="Calibri" pitchFamily="34" charset="-122"/>
                <a:cs typeface="Calibri" pitchFamily="34" charset="-120"/>
              </a:rPr>
              <a:t>Still open: </a:t>
            </a:r>
            <a:pPr indent="0" marL="0">
              <a:buNone/>
            </a:pPr>
            <a:r>
              <a:rPr lang="en-US" sz="1400" dirty="0">
                <a:solidFill>
                  <a:srgbClr val="1B1F24"/>
                </a:solidFill>
                <a:latin typeface="Calibri" pitchFamily="34" charset="0"/>
                <a:ea typeface="Calibri" pitchFamily="34" charset="-122"/>
                <a:cs typeface="Calibri" pitchFamily="34" charset="-120"/>
              </a:rPr>
              <a:t>glance time, which needs a participant.</a:t>
            </a:r>
            <a:endParaRPr lang="en-US" sz="14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384048"/>
            <a:ext cx="566928" cy="566928"/>
          </a:xfrm>
          <a:prstGeom prst="ellipse">
            <a:avLst/>
          </a:prstGeom>
          <a:solidFill>
            <a:srgbClr val="14305C"/>
          </a:solidFill>
          <a:ln w="12700">
            <a:solidFill>
              <a:srgbClr val="14305C"/>
            </a:solidFill>
            <a:prstDash val="solid"/>
          </a:ln>
        </p:spPr>
      </p:sp>
      <p:sp>
        <p:nvSpPr>
          <p:cNvPr id="3" name="Text 1"/>
          <p:cNvSpPr txBox="1"/>
          <p:nvPr/>
        </p:nvSpPr>
        <p:spPr>
          <a:xfrm>
            <a:off x="548640" y="384048"/>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11</a:t>
            </a:r>
            <a:endParaRPr lang="en-US" sz="2000" dirty="0"/>
          </a:p>
        </p:txBody>
      </p:sp>
      <p:sp>
        <p:nvSpPr>
          <p:cNvPr id="4" name="Text 2"/>
          <p:cNvSpPr txBox="1"/>
          <p:nvPr/>
        </p:nvSpPr>
        <p:spPr>
          <a:xfrm>
            <a:off x="1325880" y="310896"/>
            <a:ext cx="10317175" cy="731520"/>
          </a:xfrm>
          <a:prstGeom prst="rect">
            <a:avLst/>
          </a:prstGeom>
          <a:noFill/>
          <a:ln/>
        </p:spPr>
        <p:txBody>
          <a:bodyPr wrap="square" lIns="0" tIns="0" rIns="0" bIns="0" rtlCol="0" anchor="ctr"/>
          <a:lstStyle/>
          <a:p>
            <a:pPr indent="0" marL="0">
              <a:buNone/>
            </a:pPr>
            <a:r>
              <a:rPr lang="en-US" sz="3200" b="1" dirty="0">
                <a:solidFill>
                  <a:srgbClr val="14305C"/>
                </a:solidFill>
                <a:latin typeface="Calibri" pitchFamily="34" charset="0"/>
                <a:ea typeface="Calibri" pitchFamily="34" charset="-122"/>
                <a:cs typeface="Calibri" pitchFamily="34" charset="-120"/>
              </a:rPr>
              <a:t>On the vehicle: enclosures, heat and power</a:t>
            </a:r>
            <a:endParaRPr lang="en-US" sz="3200" dirty="0"/>
          </a:p>
        </p:txBody>
      </p:sp>
      <p:pic>
        <p:nvPicPr>
          <p:cNvPr id="5" name="Image 0" descr="C:\Users\0geda\OneDrive - University of Cape Town\Documents\PlatformIO\Projects\Tukzie-HPEC-HUD\Presentation\source\assets\uct_logo.png">    </p:cNvPr>
          <p:cNvPicPr>
            <a:picLocks noChangeAspect="1"/>
          </p:cNvPicPr>
          <p:nvPr/>
        </p:nvPicPr>
        <p:blipFill>
          <a:blip r:embed="rId1"/>
          <a:stretch>
            <a:fillRect/>
          </a:stretch>
        </p:blipFill>
        <p:spPr>
          <a:xfrm>
            <a:off x="11259007" y="6327648"/>
            <a:ext cx="384048" cy="390449"/>
          </a:xfrm>
          <a:prstGeom prst="rect">
            <a:avLst/>
          </a:prstGeom>
        </p:spPr>
      </p:pic>
      <p:sp>
        <p:nvSpPr>
          <p:cNvPr id="6" name="Text 3"/>
          <p:cNvSpPr txBox="1"/>
          <p:nvPr/>
        </p:nvSpPr>
        <p:spPr>
          <a:xfrm>
            <a:off x="548640" y="6382512"/>
            <a:ext cx="5486400" cy="292608"/>
          </a:xfrm>
          <a:prstGeom prst="rect">
            <a:avLst/>
          </a:prstGeom>
          <a:noFill/>
          <a:ln/>
        </p:spPr>
        <p:txBody>
          <a:bodyPr wrap="square" lIns="0" tIns="0" rIns="0" bIns="0" rtlCol="0" anchor="ctr"/>
          <a:lstStyle/>
          <a:p>
            <a:pPr indent="0" marL="0">
              <a:buNone/>
            </a:pPr>
            <a:r>
              <a:rPr lang="en-US" sz="1100" dirty="0">
                <a:solidFill>
                  <a:srgbClr val="4A5566"/>
                </a:solidFill>
                <a:latin typeface="Calibri" pitchFamily="34" charset="0"/>
                <a:ea typeface="Calibri" pitchFamily="34" charset="-122"/>
                <a:cs typeface="Calibri" pitchFamily="34" charset="-120"/>
              </a:rPr>
              <a:t>SW-7   |   Samson Okuthe   |   EEE4022S 2026</a:t>
            </a:r>
            <a:endParaRPr lang="en-US" sz="1100" dirty="0"/>
          </a:p>
        </p:txBody>
      </p:sp>
      <p:sp>
        <p:nvSpPr>
          <p:cNvPr id="7" name="Text 4"/>
          <p:cNvSpPr txBox="1"/>
          <p:nvPr/>
        </p:nvSpPr>
        <p:spPr>
          <a:xfrm>
            <a:off x="10180015" y="6382512"/>
            <a:ext cx="914400" cy="292608"/>
          </a:xfrm>
          <a:prstGeom prst="rect">
            <a:avLst/>
          </a:prstGeom>
          <a:noFill/>
          <a:ln/>
        </p:spPr>
        <p:txBody>
          <a:bodyPr wrap="square" lIns="0" tIns="0" rIns="0" bIns="0" rtlCol="0" anchor="ctr"/>
          <a:lstStyle/>
          <a:p>
            <a:pPr algn="r" indent="0" marL="0">
              <a:buNone/>
            </a:pPr>
            <a:r>
              <a:rPr lang="en-US" sz="1100" dirty="0">
                <a:solidFill>
                  <a:srgbClr val="4A5566"/>
                </a:solidFill>
                <a:latin typeface="Calibri" pitchFamily="34" charset="0"/>
                <a:ea typeface="Calibri" pitchFamily="34" charset="-122"/>
                <a:cs typeface="Calibri" pitchFamily="34" charset="-120"/>
              </a:rPr>
              <a:t>12 / 14</a:t>
            </a:r>
            <a:endParaRPr lang="en-US" sz="1100" dirty="0"/>
          </a:p>
        </p:txBody>
      </p:sp>
      <p:sp>
        <p:nvSpPr>
          <p:cNvPr id="9" name="Shape 5"/>
          <p:cNvSpPr/>
          <p:nvPr/>
        </p:nvSpPr>
        <p:spPr>
          <a:xfrm>
            <a:off x="548640" y="1280160"/>
            <a:ext cx="3291840" cy="2514600"/>
          </a:xfrm>
          <a:prstGeom prst="roundRect">
            <a:avLst>
              <a:gd name="adj" fmla="val 4364"/>
            </a:avLst>
          </a:prstGeom>
          <a:solidFill>
            <a:srgbClr val="FFFFFF"/>
          </a:solidFill>
          <a:ln w="12700">
            <a:solidFill>
              <a:srgbClr val="C9D6E8"/>
            </a:solidFill>
            <a:prstDash val="solid"/>
          </a:ln>
        </p:spPr>
      </p:sp>
      <p:pic>
        <p:nvPicPr>
          <p:cNvPr id="10" name="Image 1" descr="C:\Users\0geda\OneDrive - University of Cape Town\Documents\PlatformIO\Projects\Tukzie-HPEC-HUD\Presentation\source\assets\cad_front_pod.png">    </p:cNvPr>
          <p:cNvPicPr>
            <a:picLocks noChangeAspect="1"/>
          </p:cNvPicPr>
          <p:nvPr/>
        </p:nvPicPr>
        <p:blipFill>
          <a:blip r:embed="rId2"/>
          <a:stretch>
            <a:fillRect/>
          </a:stretch>
        </p:blipFill>
        <p:spPr>
          <a:xfrm>
            <a:off x="698479" y="1371600"/>
            <a:ext cx="2992163" cy="2011680"/>
          </a:xfrm>
          <a:prstGeom prst="rect">
            <a:avLst/>
          </a:prstGeom>
        </p:spPr>
      </p:pic>
      <p:sp>
        <p:nvSpPr>
          <p:cNvPr id="11" name="Text 6"/>
          <p:cNvSpPr txBox="1"/>
          <p:nvPr/>
        </p:nvSpPr>
        <p:spPr>
          <a:xfrm>
            <a:off x="685800" y="3410712"/>
            <a:ext cx="3017520" cy="329184"/>
          </a:xfrm>
          <a:prstGeom prst="rect">
            <a:avLst/>
          </a:prstGeom>
          <a:noFill/>
          <a:ln/>
        </p:spPr>
        <p:txBody>
          <a:bodyPr wrap="square" lIns="0" tIns="0" rIns="0" bIns="0" rtlCol="0" anchor="t"/>
          <a:lstStyle/>
          <a:p>
            <a:pPr indent="0" marL="0">
              <a:buNone/>
            </a:pPr>
            <a:r>
              <a:rPr lang="en-US" sz="1200" i="1" dirty="0">
                <a:solidFill>
                  <a:srgbClr val="4A5566"/>
                </a:solidFill>
                <a:latin typeface="Calibri" pitchFamily="34" charset="0"/>
                <a:ea typeface="Calibri" pitchFamily="34" charset="-122"/>
                <a:cs typeface="Calibri" pitchFamily="34" charset="-120"/>
              </a:rPr>
              <a:t>Front pod: Pi 5 with AI HAT+, camera, ToF</a:t>
            </a:r>
            <a:endParaRPr lang="en-US" sz="1200" dirty="0"/>
          </a:p>
        </p:txBody>
      </p:sp>
      <p:sp>
        <p:nvSpPr>
          <p:cNvPr id="12" name="Shape 7"/>
          <p:cNvSpPr/>
          <p:nvPr/>
        </p:nvSpPr>
        <p:spPr>
          <a:xfrm>
            <a:off x="4023360" y="1280160"/>
            <a:ext cx="3291840" cy="2514600"/>
          </a:xfrm>
          <a:prstGeom prst="roundRect">
            <a:avLst>
              <a:gd name="adj" fmla="val 4364"/>
            </a:avLst>
          </a:prstGeom>
          <a:solidFill>
            <a:srgbClr val="FFFFFF"/>
          </a:solidFill>
          <a:ln w="12700">
            <a:solidFill>
              <a:srgbClr val="C9D6E8"/>
            </a:solidFill>
            <a:prstDash val="solid"/>
          </a:ln>
        </p:spPr>
      </p:sp>
      <p:pic>
        <p:nvPicPr>
          <p:cNvPr id="13" name="Image 2" descr="C:\Users\0geda\OneDrive - University of Cape Town\Documents\PlatformIO\Projects\Tukzie-HPEC-HUD\Presentation\source\assets\cad_display_mount.png">    </p:cNvPr>
          <p:cNvPicPr>
            <a:picLocks noChangeAspect="1"/>
          </p:cNvPicPr>
          <p:nvPr/>
        </p:nvPicPr>
        <p:blipFill>
          <a:blip r:embed="rId3"/>
          <a:stretch>
            <a:fillRect/>
          </a:stretch>
        </p:blipFill>
        <p:spPr>
          <a:xfrm>
            <a:off x="4230370" y="1371600"/>
            <a:ext cx="2877820" cy="2011680"/>
          </a:xfrm>
          <a:prstGeom prst="rect">
            <a:avLst/>
          </a:prstGeom>
        </p:spPr>
      </p:pic>
      <p:sp>
        <p:nvSpPr>
          <p:cNvPr id="14" name="Text 8"/>
          <p:cNvSpPr txBox="1"/>
          <p:nvPr/>
        </p:nvSpPr>
        <p:spPr>
          <a:xfrm>
            <a:off x="4160520" y="3410712"/>
            <a:ext cx="3017520" cy="329184"/>
          </a:xfrm>
          <a:prstGeom prst="rect">
            <a:avLst/>
          </a:prstGeom>
          <a:noFill/>
          <a:ln/>
        </p:spPr>
        <p:txBody>
          <a:bodyPr wrap="square" lIns="0" tIns="0" rIns="0" bIns="0" rtlCol="0" anchor="t"/>
          <a:lstStyle/>
          <a:p>
            <a:pPr indent="0" marL="0">
              <a:buNone/>
            </a:pPr>
            <a:r>
              <a:rPr lang="en-US" sz="1200" i="1" dirty="0">
                <a:solidFill>
                  <a:srgbClr val="4A5566"/>
                </a:solidFill>
                <a:latin typeface="Calibri" pitchFamily="34" charset="0"/>
                <a:ea typeface="Calibri" pitchFamily="34" charset="-122"/>
                <a:cs typeface="Calibri" pitchFamily="34" charset="-120"/>
              </a:rPr>
              <a:t>Display mount: bar clamp, dovetail rail</a:t>
            </a:r>
            <a:endParaRPr lang="en-US" sz="1200" dirty="0"/>
          </a:p>
        </p:txBody>
      </p:sp>
      <p:sp>
        <p:nvSpPr>
          <p:cNvPr id="15" name="Shape 9"/>
          <p:cNvSpPr/>
          <p:nvPr/>
        </p:nvSpPr>
        <p:spPr>
          <a:xfrm>
            <a:off x="548640" y="3977640"/>
            <a:ext cx="3291840" cy="1600200"/>
          </a:xfrm>
          <a:prstGeom prst="roundRect">
            <a:avLst>
              <a:gd name="adj" fmla="val 6857"/>
            </a:avLst>
          </a:prstGeom>
          <a:solidFill>
            <a:srgbClr val="FFFFFF"/>
          </a:solidFill>
          <a:ln w="12700">
            <a:solidFill>
              <a:srgbClr val="C9D6E8"/>
            </a:solidFill>
            <a:prstDash val="solid"/>
          </a:ln>
        </p:spPr>
      </p:sp>
      <p:pic>
        <p:nvPicPr>
          <p:cNvPr id="16" name="Image 3" descr="C:\Users\0geda\OneDrive - University of Cape Town\Documents\PlatformIO\Projects\Tukzie-HPEC-HUD\Presentation\source\assets\cad_vented_lid.png">    </p:cNvPr>
          <p:cNvPicPr>
            <a:picLocks noChangeAspect="1"/>
          </p:cNvPicPr>
          <p:nvPr/>
        </p:nvPicPr>
        <p:blipFill>
          <a:blip r:embed="rId4"/>
          <a:stretch>
            <a:fillRect/>
          </a:stretch>
        </p:blipFill>
        <p:spPr>
          <a:xfrm>
            <a:off x="1259840" y="4069080"/>
            <a:ext cx="1869440" cy="1097280"/>
          </a:xfrm>
          <a:prstGeom prst="rect">
            <a:avLst/>
          </a:prstGeom>
        </p:spPr>
      </p:pic>
      <p:sp>
        <p:nvSpPr>
          <p:cNvPr id="17" name="Text 10"/>
          <p:cNvSpPr txBox="1"/>
          <p:nvPr/>
        </p:nvSpPr>
        <p:spPr>
          <a:xfrm>
            <a:off x="685800" y="5193792"/>
            <a:ext cx="3017520" cy="329184"/>
          </a:xfrm>
          <a:prstGeom prst="rect">
            <a:avLst/>
          </a:prstGeom>
          <a:noFill/>
          <a:ln/>
        </p:spPr>
        <p:txBody>
          <a:bodyPr wrap="square" lIns="0" tIns="0" rIns="0" bIns="0" rtlCol="0" anchor="t"/>
          <a:lstStyle/>
          <a:p>
            <a:pPr indent="0" marL="0">
              <a:buNone/>
            </a:pPr>
            <a:r>
              <a:rPr lang="en-US" sz="1200" i="1" dirty="0">
                <a:solidFill>
                  <a:srgbClr val="4A5566"/>
                </a:solidFill>
                <a:latin typeface="Calibri" pitchFamily="34" charset="0"/>
                <a:ea typeface="Calibri" pitchFamily="34" charset="-122"/>
                <a:cs typeface="Calibri" pitchFamily="34" charset="-120"/>
              </a:rPr>
              <a:t>Vented lid: grille under a rain hood</a:t>
            </a:r>
            <a:endParaRPr lang="en-US" sz="1200" dirty="0"/>
          </a:p>
        </p:txBody>
      </p:sp>
      <p:sp>
        <p:nvSpPr>
          <p:cNvPr id="18" name="Shape 11"/>
          <p:cNvSpPr/>
          <p:nvPr/>
        </p:nvSpPr>
        <p:spPr>
          <a:xfrm>
            <a:off x="4023360" y="3977640"/>
            <a:ext cx="3291840" cy="1600200"/>
          </a:xfrm>
          <a:prstGeom prst="roundRect">
            <a:avLst>
              <a:gd name="adj" fmla="val 6857"/>
            </a:avLst>
          </a:prstGeom>
          <a:solidFill>
            <a:srgbClr val="FFFFFF"/>
          </a:solidFill>
          <a:ln w="12700">
            <a:solidFill>
              <a:srgbClr val="C9D6E8"/>
            </a:solidFill>
            <a:prstDash val="solid"/>
          </a:ln>
        </p:spPr>
      </p:sp>
      <p:pic>
        <p:nvPicPr>
          <p:cNvPr id="19" name="Image 4" descr="C:\Users\0geda\OneDrive - University of Cape Town\Documents\PlatformIO\Projects\Tukzie-HPEC-HUD\Presentation\source\assets\cad_front_pod_inside.png">    </p:cNvPr>
          <p:cNvPicPr>
            <a:picLocks noChangeAspect="1"/>
          </p:cNvPicPr>
          <p:nvPr/>
        </p:nvPicPr>
        <p:blipFill>
          <a:blip r:embed="rId5"/>
          <a:stretch>
            <a:fillRect/>
          </a:stretch>
        </p:blipFill>
        <p:spPr>
          <a:xfrm>
            <a:off x="4242816" y="4069080"/>
            <a:ext cx="2852928" cy="1097280"/>
          </a:xfrm>
          <a:prstGeom prst="rect">
            <a:avLst/>
          </a:prstGeom>
        </p:spPr>
      </p:pic>
      <p:sp>
        <p:nvSpPr>
          <p:cNvPr id="20" name="Text 12"/>
          <p:cNvSpPr txBox="1"/>
          <p:nvPr/>
        </p:nvSpPr>
        <p:spPr>
          <a:xfrm>
            <a:off x="4160520" y="5193792"/>
            <a:ext cx="3017520" cy="329184"/>
          </a:xfrm>
          <a:prstGeom prst="rect">
            <a:avLst/>
          </a:prstGeom>
          <a:noFill/>
          <a:ln/>
        </p:spPr>
        <p:txBody>
          <a:bodyPr wrap="square" lIns="0" tIns="0" rIns="0" bIns="0" rtlCol="0" anchor="t"/>
          <a:lstStyle/>
          <a:p>
            <a:pPr indent="0" marL="0">
              <a:buNone/>
            </a:pPr>
            <a:r>
              <a:rPr lang="en-US" sz="1200" i="1" dirty="0">
                <a:solidFill>
                  <a:srgbClr val="4A5566"/>
                </a:solidFill>
                <a:latin typeface="Calibri" pitchFamily="34" charset="0"/>
                <a:ea typeface="Calibri" pitchFamily="34" charset="-122"/>
                <a:cs typeface="Calibri" pitchFamily="34" charset="-120"/>
              </a:rPr>
              <a:t>Front pod inside: Pi 5, cooler, AI HAT+</a:t>
            </a:r>
            <a:endParaRPr lang="en-US" sz="1200" dirty="0"/>
          </a:p>
        </p:txBody>
      </p:sp>
      <p:sp>
        <p:nvSpPr>
          <p:cNvPr id="21" name="Text 13"/>
          <p:cNvSpPr txBox="1"/>
          <p:nvPr/>
        </p:nvSpPr>
        <p:spPr>
          <a:xfrm>
            <a:off x="548640" y="5669280"/>
            <a:ext cx="6766560" cy="548640"/>
          </a:xfrm>
          <a:prstGeom prst="rect">
            <a:avLst/>
          </a:prstGeom>
          <a:noFill/>
          <a:ln/>
        </p:spPr>
        <p:txBody>
          <a:bodyPr wrap="square" lIns="0" tIns="0" rIns="0" bIns="0" rtlCol="0" anchor="t"/>
          <a:lstStyle/>
          <a:p>
            <a:pPr indent="0" marL="0">
              <a:buNone/>
            </a:pPr>
            <a:r>
              <a:rPr lang="en-US" sz="1200" i="1" dirty="0">
                <a:solidFill>
                  <a:srgbClr val="4A5566"/>
                </a:solidFill>
                <a:latin typeface="Calibri" pitchFamily="34" charset="0"/>
                <a:ea typeface="Calibri" pitchFamily="34" charset="-122"/>
                <a:cs typeface="Calibri" pitchFamily="34" charset="-120"/>
              </a:rPr>
              <a:t>Also an IMU pod (rev 3, push-fit, no screws). Printed so far: the rear box and a first IMU pod; the rest are checked in CAD only, fit tests outstanding.</a:t>
            </a:r>
            <a:endParaRPr lang="en-US" sz="1200" dirty="0"/>
          </a:p>
        </p:txBody>
      </p:sp>
      <p:sp>
        <p:nvSpPr>
          <p:cNvPr id="22" name="Shape 14"/>
          <p:cNvSpPr/>
          <p:nvPr/>
        </p:nvSpPr>
        <p:spPr>
          <a:xfrm>
            <a:off x="7635240" y="1280160"/>
            <a:ext cx="4007815" cy="4892040"/>
          </a:xfrm>
          <a:prstGeom prst="roundRect">
            <a:avLst>
              <a:gd name="adj" fmla="val 2738"/>
            </a:avLst>
          </a:prstGeom>
          <a:solidFill>
            <a:srgbClr val="E8F0FA"/>
          </a:solidFill>
          <a:ln w="12700">
            <a:solidFill>
              <a:srgbClr val="E8F0FA"/>
            </a:solidFill>
            <a:prstDash val="solid"/>
          </a:ln>
        </p:spPr>
      </p:sp>
      <p:sp>
        <p:nvSpPr>
          <p:cNvPr id="23" name="Text 15"/>
          <p:cNvSpPr txBox="1"/>
          <p:nvPr/>
        </p:nvSpPr>
        <p:spPr>
          <a:xfrm>
            <a:off x="7909560" y="1417320"/>
            <a:ext cx="3459175" cy="365760"/>
          </a:xfrm>
          <a:prstGeom prst="rect">
            <a:avLst/>
          </a:prstGeom>
          <a:noFill/>
          <a:ln/>
        </p:spPr>
        <p:txBody>
          <a:bodyPr wrap="square" lIns="0" tIns="0" rIns="0" bIns="0" rtlCol="0" anchor="ctr"/>
          <a:lstStyle/>
          <a:p>
            <a:pPr indent="0" marL="0">
              <a:buNone/>
            </a:pPr>
            <a:r>
              <a:rPr lang="en-US" sz="1800" b="1" dirty="0">
                <a:solidFill>
                  <a:srgbClr val="14305C"/>
                </a:solidFill>
                <a:latin typeface="Calibri" pitchFamily="34" charset="0"/>
                <a:ea typeface="Calibri" pitchFamily="34" charset="-122"/>
                <a:cs typeface="Calibri" pitchFamily="34" charset="-120"/>
              </a:rPr>
              <a:t>Power budget</a:t>
            </a:r>
            <a:endParaRPr lang="en-US" sz="1800" dirty="0"/>
          </a:p>
        </p:txBody>
      </p:sp>
      <p:sp>
        <p:nvSpPr>
          <p:cNvPr id="24" name="Text 16"/>
          <p:cNvSpPr txBox="1"/>
          <p:nvPr/>
        </p:nvSpPr>
        <p:spPr>
          <a:xfrm>
            <a:off x="7909560" y="1828800"/>
            <a:ext cx="3459175" cy="731520"/>
          </a:xfrm>
          <a:prstGeom prst="rect">
            <a:avLst/>
          </a:prstGeom>
          <a:noFill/>
          <a:ln/>
        </p:spPr>
        <p:txBody>
          <a:bodyPr wrap="square" lIns="0" tIns="0" rIns="0" bIns="0" rtlCol="0" anchor="ctr"/>
          <a:lstStyle/>
          <a:p>
            <a:pPr indent="0" marL="0">
              <a:buNone/>
            </a:pPr>
            <a:r>
              <a:rPr lang="en-US" sz="4000" b="1" dirty="0">
                <a:solidFill>
                  <a:srgbClr val="1565C0"/>
                </a:solidFill>
                <a:latin typeface="Calibri" pitchFamily="34" charset="0"/>
                <a:ea typeface="Calibri" pitchFamily="34" charset="-122"/>
                <a:cs typeface="Calibri" pitchFamily="34" charset="-120"/>
              </a:rPr>
              <a:t>about 20 W</a:t>
            </a:r>
            <a:endParaRPr lang="en-US" sz="4000" dirty="0"/>
          </a:p>
        </p:txBody>
      </p:sp>
      <p:sp>
        <p:nvSpPr>
          <p:cNvPr id="25" name="Text 17"/>
          <p:cNvSpPr txBox="1"/>
          <p:nvPr/>
        </p:nvSpPr>
        <p:spPr>
          <a:xfrm>
            <a:off x="7909560" y="2578608"/>
            <a:ext cx="3459175" cy="548640"/>
          </a:xfrm>
          <a:prstGeom prst="rect">
            <a:avLst/>
          </a:prstGeom>
          <a:noFill/>
          <a:ln/>
        </p:spPr>
        <p:txBody>
          <a:bodyPr wrap="square" lIns="0" tIns="0" rIns="0" bIns="0" rtlCol="0" anchor="t"/>
          <a:lstStyle/>
          <a:p>
            <a:pPr indent="0" marL="0">
              <a:buNone/>
            </a:pPr>
            <a:r>
              <a:rPr lang="en-US" sz="1400" dirty="0">
                <a:solidFill>
                  <a:srgbClr val="4A5566"/>
                </a:solidFill>
                <a:latin typeface="Calibri" pitchFamily="34" charset="0"/>
                <a:ea typeface="Calibri" pitchFamily="34" charset="-122"/>
                <a:cs typeface="Calibri" pitchFamily="34" charset="-120"/>
              </a:rPr>
              <a:t>0.27 A from the 72 V pack while driving; 35 W short peaks</a:t>
            </a:r>
            <a:endParaRPr lang="en-US" sz="1400" dirty="0"/>
          </a:p>
        </p:txBody>
      </p:sp>
      <p:sp>
        <p:nvSpPr>
          <p:cNvPr id="26" name="Text 18"/>
          <p:cNvSpPr txBox="1"/>
          <p:nvPr/>
        </p:nvSpPr>
        <p:spPr>
          <a:xfrm>
            <a:off x="7909560" y="3246120"/>
            <a:ext cx="3459175" cy="2834640"/>
          </a:xfrm>
          <a:prstGeom prst="rect">
            <a:avLst/>
          </a:prstGeom>
          <a:noFill/>
          <a:ln/>
        </p:spPr>
        <p:txBody>
          <a:bodyPr wrap="square" lIns="0" tIns="0" rIns="0" bIns="0" rtlCol="0" anchor="t"/>
          <a:lstStyle/>
          <a:p>
            <a:pPr marL="228600" indent="-228600">
              <a:spcAft>
                <a:spcPts val="800"/>
              </a:spcAft>
              <a:buSzPct val="100000"/>
              <a:buChar char="•"/>
            </a:pPr>
            <a:r>
              <a:rPr lang="en-US" sz="1400" dirty="0">
                <a:solidFill>
                  <a:srgbClr val="1B1F24"/>
                </a:solidFill>
                <a:latin typeface="Calibri" pitchFamily="34" charset="0"/>
                <a:ea typeface="Calibri" pitchFamily="34" charset="-122"/>
                <a:cs typeface="Calibri" pitchFamily="34" charset="-120"/>
              </a:rPr>
              <a:t>About 0.8 % of the motor's 2.5 kW rated input</a:t>
            </a:r>
            <a:endParaRPr lang="en-US" sz="1400" dirty="0"/>
          </a:p>
          <a:p>
            <a:pPr marL="228600" indent="-228600">
              <a:spcAft>
                <a:spcPts val="800"/>
              </a:spcAft>
              <a:buSzPct val="100000"/>
              <a:buChar char="•"/>
            </a:pPr>
            <a:r>
              <a:rPr lang="en-US" sz="1400" dirty="0">
                <a:solidFill>
                  <a:srgbClr val="1B1F24"/>
                </a:solidFill>
                <a:latin typeface="Calibri" pitchFamily="34" charset="0"/>
                <a:ea typeface="Calibri" pitchFamily="34" charset="-122"/>
                <a:cs typeface="Calibri" pitchFamily="34" charset="-120"/>
              </a:rPr>
              <a:t>Pack from the BMS: 24 cells, 150 A, about 60 to 88 V</a:t>
            </a:r>
            <a:endParaRPr lang="en-US" sz="1400" dirty="0"/>
          </a:p>
          <a:p>
            <a:pPr marL="228600" indent="-228600">
              <a:spcAft>
                <a:spcPts val="800"/>
              </a:spcAft>
              <a:buSzPct val="100000"/>
              <a:buChar char="•"/>
            </a:pPr>
            <a:r>
              <a:rPr lang="en-US" sz="1400" dirty="0">
                <a:solidFill>
                  <a:srgbClr val="1B1F24"/>
                </a:solidFill>
                <a:latin typeface="Calibri" pitchFamily="34" charset="0"/>
                <a:ea typeface="Calibri" pitchFamily="34" charset="-122"/>
                <a:cs typeface="Calibri" pitchFamily="34" charset="-120"/>
              </a:rPr>
              <a:t>Converter: rated to 100 V, 40 W at 5 V, fused, off with the vehicle</a:t>
            </a:r>
            <a:endParaRPr lang="en-US" sz="1400" dirty="0"/>
          </a:p>
          <a:p>
            <a:pPr marL="228600" indent="-228600">
              <a:spcAft>
                <a:spcPts val="800"/>
              </a:spcAft>
              <a:buSzPct val="100000"/>
              <a:buChar char="•"/>
            </a:pPr>
            <a:r>
              <a:rPr lang="en-US" sz="1400" dirty="0">
                <a:solidFill>
                  <a:srgbClr val="1B1F24"/>
                </a:solidFill>
                <a:latin typeface="Calibri" pitchFamily="34" charset="0"/>
                <a:ea typeface="Calibri" pitchFamily="34" charset="-122"/>
                <a:cs typeface="Calibri" pitchFamily="34" charset="-120"/>
              </a:rPr>
              <a:t>Measured: only the Pi 5 (2.2 to 3.0 W on its rails); the rest are estimates</a:t>
            </a:r>
            <a:endParaRPr lang="en-US" sz="14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384048"/>
            <a:ext cx="566928" cy="566928"/>
          </a:xfrm>
          <a:prstGeom prst="ellipse">
            <a:avLst/>
          </a:prstGeom>
          <a:solidFill>
            <a:srgbClr val="14305C"/>
          </a:solidFill>
          <a:ln w="12700">
            <a:solidFill>
              <a:srgbClr val="14305C"/>
            </a:solidFill>
            <a:prstDash val="solid"/>
          </a:ln>
        </p:spPr>
      </p:sp>
      <p:sp>
        <p:nvSpPr>
          <p:cNvPr id="3" name="Text 1"/>
          <p:cNvSpPr txBox="1"/>
          <p:nvPr/>
        </p:nvSpPr>
        <p:spPr>
          <a:xfrm>
            <a:off x="548640" y="384048"/>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12</a:t>
            </a:r>
            <a:endParaRPr lang="en-US" sz="2000" dirty="0"/>
          </a:p>
        </p:txBody>
      </p:sp>
      <p:sp>
        <p:nvSpPr>
          <p:cNvPr id="4" name="Text 2"/>
          <p:cNvSpPr txBox="1"/>
          <p:nvPr/>
        </p:nvSpPr>
        <p:spPr>
          <a:xfrm>
            <a:off x="1325880" y="310896"/>
            <a:ext cx="10317175" cy="731520"/>
          </a:xfrm>
          <a:prstGeom prst="rect">
            <a:avLst/>
          </a:prstGeom>
          <a:noFill/>
          <a:ln/>
        </p:spPr>
        <p:txBody>
          <a:bodyPr wrap="square" lIns="0" tIns="0" rIns="0" bIns="0" rtlCol="0" anchor="ctr"/>
          <a:lstStyle/>
          <a:p>
            <a:pPr indent="0" marL="0">
              <a:buNone/>
            </a:pPr>
            <a:r>
              <a:rPr lang="en-US" sz="3200" b="1" dirty="0">
                <a:solidFill>
                  <a:srgbClr val="14305C"/>
                </a:solidFill>
                <a:latin typeface="Calibri" pitchFamily="34" charset="0"/>
                <a:ea typeface="Calibri" pitchFamily="34" charset="-122"/>
                <a:cs typeface="Calibri" pitchFamily="34" charset="-120"/>
              </a:rPr>
              <a:t>On the vehicle: road session and stand runs</a:t>
            </a:r>
            <a:endParaRPr lang="en-US" sz="3200" dirty="0"/>
          </a:p>
        </p:txBody>
      </p:sp>
      <p:pic>
        <p:nvPicPr>
          <p:cNvPr id="5" name="Image 0" descr="C:\Users\0geda\OneDrive - University of Cape Town\Documents\PlatformIO\Projects\Tukzie-HPEC-HUD\Presentation\source\assets\uct_logo.png">    </p:cNvPr>
          <p:cNvPicPr>
            <a:picLocks noChangeAspect="1"/>
          </p:cNvPicPr>
          <p:nvPr/>
        </p:nvPicPr>
        <p:blipFill>
          <a:blip r:embed="rId1"/>
          <a:stretch>
            <a:fillRect/>
          </a:stretch>
        </p:blipFill>
        <p:spPr>
          <a:xfrm>
            <a:off x="11259007" y="6327648"/>
            <a:ext cx="384048" cy="390449"/>
          </a:xfrm>
          <a:prstGeom prst="rect">
            <a:avLst/>
          </a:prstGeom>
        </p:spPr>
      </p:pic>
      <p:sp>
        <p:nvSpPr>
          <p:cNvPr id="6" name="Text 3"/>
          <p:cNvSpPr txBox="1"/>
          <p:nvPr/>
        </p:nvSpPr>
        <p:spPr>
          <a:xfrm>
            <a:off x="548640" y="6382512"/>
            <a:ext cx="5486400" cy="292608"/>
          </a:xfrm>
          <a:prstGeom prst="rect">
            <a:avLst/>
          </a:prstGeom>
          <a:noFill/>
          <a:ln/>
        </p:spPr>
        <p:txBody>
          <a:bodyPr wrap="square" lIns="0" tIns="0" rIns="0" bIns="0" rtlCol="0" anchor="ctr"/>
          <a:lstStyle/>
          <a:p>
            <a:pPr indent="0" marL="0">
              <a:buNone/>
            </a:pPr>
            <a:r>
              <a:rPr lang="en-US" sz="1100" dirty="0">
                <a:solidFill>
                  <a:srgbClr val="4A5566"/>
                </a:solidFill>
                <a:latin typeface="Calibri" pitchFamily="34" charset="0"/>
                <a:ea typeface="Calibri" pitchFamily="34" charset="-122"/>
                <a:cs typeface="Calibri" pitchFamily="34" charset="-120"/>
              </a:rPr>
              <a:t>SW-7   |   Samson Okuthe   |   EEE4022S 2026</a:t>
            </a:r>
            <a:endParaRPr lang="en-US" sz="1100" dirty="0"/>
          </a:p>
        </p:txBody>
      </p:sp>
      <p:sp>
        <p:nvSpPr>
          <p:cNvPr id="7" name="Text 4"/>
          <p:cNvSpPr txBox="1"/>
          <p:nvPr/>
        </p:nvSpPr>
        <p:spPr>
          <a:xfrm>
            <a:off x="10180015" y="6382512"/>
            <a:ext cx="914400" cy="292608"/>
          </a:xfrm>
          <a:prstGeom prst="rect">
            <a:avLst/>
          </a:prstGeom>
          <a:noFill/>
          <a:ln/>
        </p:spPr>
        <p:txBody>
          <a:bodyPr wrap="square" lIns="0" tIns="0" rIns="0" bIns="0" rtlCol="0" anchor="ctr"/>
          <a:lstStyle/>
          <a:p>
            <a:pPr algn="r" indent="0" marL="0">
              <a:buNone/>
            </a:pPr>
            <a:r>
              <a:rPr lang="en-US" sz="1100" dirty="0">
                <a:solidFill>
                  <a:srgbClr val="4A5566"/>
                </a:solidFill>
                <a:latin typeface="Calibri" pitchFamily="34" charset="0"/>
                <a:ea typeface="Calibri" pitchFamily="34" charset="-122"/>
                <a:cs typeface="Calibri" pitchFamily="34" charset="-120"/>
              </a:rPr>
              <a:t>13 / 14</a:t>
            </a:r>
            <a:endParaRPr lang="en-US" sz="1100" dirty="0"/>
          </a:p>
        </p:txBody>
      </p:sp>
      <p:sp>
        <p:nvSpPr>
          <p:cNvPr id="9" name="Shape 5"/>
          <p:cNvSpPr/>
          <p:nvPr/>
        </p:nvSpPr>
        <p:spPr>
          <a:xfrm>
            <a:off x="548640" y="1280160"/>
            <a:ext cx="2602154" cy="1508760"/>
          </a:xfrm>
          <a:prstGeom prst="roundRect">
            <a:avLst>
              <a:gd name="adj" fmla="val 7273"/>
            </a:avLst>
          </a:prstGeom>
          <a:solidFill>
            <a:srgbClr val="E8F0FA"/>
          </a:solidFill>
          <a:ln w="12700">
            <a:solidFill>
              <a:srgbClr val="E8F0FA"/>
            </a:solidFill>
            <a:prstDash val="solid"/>
          </a:ln>
        </p:spPr>
      </p:sp>
      <p:sp>
        <p:nvSpPr>
          <p:cNvPr id="10" name="Text 6"/>
          <p:cNvSpPr txBox="1"/>
          <p:nvPr/>
        </p:nvSpPr>
        <p:spPr>
          <a:xfrm>
            <a:off x="749808" y="1353312"/>
            <a:ext cx="2199818" cy="566928"/>
          </a:xfrm>
          <a:prstGeom prst="rect">
            <a:avLst/>
          </a:prstGeom>
          <a:noFill/>
          <a:ln/>
        </p:spPr>
        <p:txBody>
          <a:bodyPr wrap="square" lIns="0" tIns="0" rIns="0" bIns="0" rtlCol="0" anchor="ctr"/>
          <a:lstStyle/>
          <a:p>
            <a:pPr indent="0" marL="0">
              <a:buNone/>
            </a:pPr>
            <a:r>
              <a:rPr lang="en-US" sz="2800" b="1" dirty="0">
                <a:solidFill>
                  <a:srgbClr val="14305C"/>
                </a:solidFill>
                <a:latin typeface="Calibri" pitchFamily="34" charset="0"/>
                <a:ea typeface="Calibri" pitchFamily="34" charset="-122"/>
                <a:cs typeface="Calibri" pitchFamily="34" charset="-120"/>
              </a:rPr>
              <a:t>108.6 min</a:t>
            </a:r>
            <a:endParaRPr lang="en-US" sz="2800" dirty="0"/>
          </a:p>
        </p:txBody>
      </p:sp>
      <p:sp>
        <p:nvSpPr>
          <p:cNvPr id="11" name="Text 7"/>
          <p:cNvSpPr txBox="1"/>
          <p:nvPr/>
        </p:nvSpPr>
        <p:spPr>
          <a:xfrm>
            <a:off x="749808" y="1938528"/>
            <a:ext cx="2199818" cy="795528"/>
          </a:xfrm>
          <a:prstGeom prst="rect">
            <a:avLst/>
          </a:prstGeom>
          <a:noFill/>
          <a:ln/>
        </p:spPr>
        <p:txBody>
          <a:bodyPr wrap="square" lIns="0" tIns="0" rIns="0" bIns="0" rtlCol="0" anchor="t"/>
          <a:lstStyle/>
          <a:p>
            <a:pPr indent="0" marL="0">
              <a:buNone/>
            </a:pPr>
            <a:r>
              <a:rPr lang="en-US" sz="1200" dirty="0">
                <a:solidFill>
                  <a:srgbClr val="1B1F24"/>
                </a:solidFill>
                <a:latin typeface="Calibri" pitchFamily="34" charset="0"/>
                <a:ea typeface="Calibri" pitchFamily="34" charset="-122"/>
                <a:cs typeface="Calibri" pitchFamily="34" charset="-120"/>
              </a:rPr>
              <a:t>recorded on 19 Oct, about 16 min driving; no GNSS fix (no antenna)</a:t>
            </a:r>
            <a:endParaRPr lang="en-US" sz="1200" dirty="0"/>
          </a:p>
        </p:txBody>
      </p:sp>
      <p:sp>
        <p:nvSpPr>
          <p:cNvPr id="12" name="Shape 8"/>
          <p:cNvSpPr/>
          <p:nvPr/>
        </p:nvSpPr>
        <p:spPr>
          <a:xfrm>
            <a:off x="3379394" y="1280160"/>
            <a:ext cx="2602154" cy="1508760"/>
          </a:xfrm>
          <a:prstGeom prst="roundRect">
            <a:avLst>
              <a:gd name="adj" fmla="val 7273"/>
            </a:avLst>
          </a:prstGeom>
          <a:solidFill>
            <a:srgbClr val="E8F0FA"/>
          </a:solidFill>
          <a:ln w="12700">
            <a:solidFill>
              <a:srgbClr val="E8F0FA"/>
            </a:solidFill>
            <a:prstDash val="solid"/>
          </a:ln>
        </p:spPr>
      </p:sp>
      <p:sp>
        <p:nvSpPr>
          <p:cNvPr id="13" name="Text 9"/>
          <p:cNvSpPr txBox="1"/>
          <p:nvPr/>
        </p:nvSpPr>
        <p:spPr>
          <a:xfrm>
            <a:off x="3580562" y="1353312"/>
            <a:ext cx="2199818" cy="566928"/>
          </a:xfrm>
          <a:prstGeom prst="rect">
            <a:avLst/>
          </a:prstGeom>
          <a:noFill/>
          <a:ln/>
        </p:spPr>
        <p:txBody>
          <a:bodyPr wrap="square" lIns="0" tIns="0" rIns="0" bIns="0" rtlCol="0" anchor="ctr"/>
          <a:lstStyle/>
          <a:p>
            <a:pPr indent="0" marL="0">
              <a:buNone/>
            </a:pPr>
            <a:r>
              <a:rPr lang="en-US" sz="2800" b="1" dirty="0">
                <a:solidFill>
                  <a:srgbClr val="14305C"/>
                </a:solidFill>
                <a:latin typeface="Calibri" pitchFamily="34" charset="0"/>
                <a:ea typeface="Calibri" pitchFamily="34" charset="-122"/>
                <a:cs typeface="Calibri" pitchFamily="34" charset="-120"/>
              </a:rPr>
              <a:t>200 Hz</a:t>
            </a:r>
            <a:endParaRPr lang="en-US" sz="2800" dirty="0"/>
          </a:p>
        </p:txBody>
      </p:sp>
      <p:sp>
        <p:nvSpPr>
          <p:cNvPr id="14" name="Text 10"/>
          <p:cNvSpPr txBox="1"/>
          <p:nvPr/>
        </p:nvSpPr>
        <p:spPr>
          <a:xfrm>
            <a:off x="3580562" y="1938528"/>
            <a:ext cx="2199818" cy="795528"/>
          </a:xfrm>
          <a:prstGeom prst="rect">
            <a:avLst/>
          </a:prstGeom>
          <a:noFill/>
          <a:ln/>
        </p:spPr>
        <p:txBody>
          <a:bodyPr wrap="square" lIns="0" tIns="0" rIns="0" bIns="0" rtlCol="0" anchor="t"/>
          <a:lstStyle/>
          <a:p>
            <a:pPr indent="0" marL="0">
              <a:buNone/>
            </a:pPr>
            <a:r>
              <a:rPr lang="en-US" sz="1200" dirty="0">
                <a:solidFill>
                  <a:srgbClr val="1B1F24"/>
                </a:solidFill>
                <a:latin typeface="Calibri" pitchFamily="34" charset="0"/>
                <a:ea typeface="Calibri" pitchFamily="34" charset="-122"/>
                <a:cs typeface="Calibri" pitchFamily="34" charset="-120"/>
              </a:rPr>
              <a:t>no counted drops, but one 2 s stall: R1 not met on the vehicle; 38 % of records lost on USB</a:t>
            </a:r>
            <a:endParaRPr lang="en-US" sz="1200" dirty="0"/>
          </a:p>
        </p:txBody>
      </p:sp>
      <p:sp>
        <p:nvSpPr>
          <p:cNvPr id="15" name="Shape 11"/>
          <p:cNvSpPr/>
          <p:nvPr/>
        </p:nvSpPr>
        <p:spPr>
          <a:xfrm>
            <a:off x="6210148" y="1280160"/>
            <a:ext cx="2602154" cy="1508760"/>
          </a:xfrm>
          <a:prstGeom prst="roundRect">
            <a:avLst>
              <a:gd name="adj" fmla="val 7273"/>
            </a:avLst>
          </a:prstGeom>
          <a:solidFill>
            <a:srgbClr val="E8F0FA"/>
          </a:solidFill>
          <a:ln w="12700">
            <a:solidFill>
              <a:srgbClr val="E8F0FA"/>
            </a:solidFill>
            <a:prstDash val="solid"/>
          </a:ln>
        </p:spPr>
      </p:sp>
      <p:sp>
        <p:nvSpPr>
          <p:cNvPr id="16" name="Text 12"/>
          <p:cNvSpPr txBox="1"/>
          <p:nvPr/>
        </p:nvSpPr>
        <p:spPr>
          <a:xfrm>
            <a:off x="6411316" y="1353312"/>
            <a:ext cx="2199818" cy="566928"/>
          </a:xfrm>
          <a:prstGeom prst="rect">
            <a:avLst/>
          </a:prstGeom>
          <a:noFill/>
          <a:ln/>
        </p:spPr>
        <p:txBody>
          <a:bodyPr wrap="square" lIns="0" tIns="0" rIns="0" bIns="0" rtlCol="0" anchor="ctr"/>
          <a:lstStyle/>
          <a:p>
            <a:pPr indent="0" marL="0">
              <a:buNone/>
            </a:pPr>
            <a:r>
              <a:rPr lang="en-US" sz="2800" b="1" dirty="0">
                <a:solidFill>
                  <a:srgbClr val="14305C"/>
                </a:solidFill>
                <a:latin typeface="Calibri" pitchFamily="34" charset="0"/>
                <a:ea typeface="Calibri" pitchFamily="34" charset="-122"/>
                <a:cs typeface="Calibri" pitchFamily="34" charset="-120"/>
              </a:rPr>
              <a:t>46.9 A</a:t>
            </a:r>
            <a:endParaRPr lang="en-US" sz="2800" dirty="0"/>
          </a:p>
        </p:txBody>
      </p:sp>
      <p:sp>
        <p:nvSpPr>
          <p:cNvPr id="17" name="Text 13"/>
          <p:cNvSpPr txBox="1"/>
          <p:nvPr/>
        </p:nvSpPr>
        <p:spPr>
          <a:xfrm>
            <a:off x="6411316" y="1938528"/>
            <a:ext cx="2199818" cy="795528"/>
          </a:xfrm>
          <a:prstGeom prst="rect">
            <a:avLst/>
          </a:prstGeom>
          <a:noFill/>
          <a:ln/>
        </p:spPr>
        <p:txBody>
          <a:bodyPr wrap="square" lIns="0" tIns="0" rIns="0" bIns="0" rtlCol="0" anchor="t"/>
          <a:lstStyle/>
          <a:p>
            <a:pPr indent="0" marL="0">
              <a:buNone/>
            </a:pPr>
            <a:r>
              <a:rPr lang="en-US" sz="1200" dirty="0">
                <a:solidFill>
                  <a:srgbClr val="1B1F24"/>
                </a:solidFill>
                <a:latin typeface="Calibri" pitchFamily="34" charset="0"/>
                <a:ea typeface="Calibri" pitchFamily="34" charset="-122"/>
                <a:cs typeface="Calibri" pitchFamily="34" charset="-120"/>
              </a:rPr>
              <a:t>peak battery current; 74.6 to 72.8 V: R5 partly met (no meter check)</a:t>
            </a:r>
            <a:endParaRPr lang="en-US" sz="1200" dirty="0"/>
          </a:p>
        </p:txBody>
      </p:sp>
      <p:sp>
        <p:nvSpPr>
          <p:cNvPr id="18" name="Shape 14"/>
          <p:cNvSpPr/>
          <p:nvPr/>
        </p:nvSpPr>
        <p:spPr>
          <a:xfrm>
            <a:off x="9040901" y="1280160"/>
            <a:ext cx="2602154" cy="1508760"/>
          </a:xfrm>
          <a:prstGeom prst="roundRect">
            <a:avLst>
              <a:gd name="adj" fmla="val 7273"/>
            </a:avLst>
          </a:prstGeom>
          <a:solidFill>
            <a:srgbClr val="E8F0FA"/>
          </a:solidFill>
          <a:ln w="12700">
            <a:solidFill>
              <a:srgbClr val="E8F0FA"/>
            </a:solidFill>
            <a:prstDash val="solid"/>
          </a:ln>
        </p:spPr>
      </p:sp>
      <p:sp>
        <p:nvSpPr>
          <p:cNvPr id="19" name="Text 15"/>
          <p:cNvSpPr txBox="1"/>
          <p:nvPr/>
        </p:nvSpPr>
        <p:spPr>
          <a:xfrm>
            <a:off x="9242069" y="1353312"/>
            <a:ext cx="2199818" cy="566928"/>
          </a:xfrm>
          <a:prstGeom prst="rect">
            <a:avLst/>
          </a:prstGeom>
          <a:noFill/>
          <a:ln/>
        </p:spPr>
        <p:txBody>
          <a:bodyPr wrap="square" lIns="0" tIns="0" rIns="0" bIns="0" rtlCol="0" anchor="ctr"/>
          <a:lstStyle/>
          <a:p>
            <a:pPr indent="0" marL="0">
              <a:buNone/>
            </a:pPr>
            <a:r>
              <a:rPr lang="en-US" sz="2800" b="1" dirty="0">
                <a:solidFill>
                  <a:srgbClr val="14305C"/>
                </a:solidFill>
                <a:latin typeface="Calibri" pitchFamily="34" charset="0"/>
                <a:ea typeface="Calibri" pitchFamily="34" charset="-122"/>
                <a:cs typeface="Calibri" pitchFamily="34" charset="-120"/>
              </a:rPr>
              <a:t>1,342 / 741</a:t>
            </a:r>
            <a:endParaRPr lang="en-US" sz="2800" dirty="0"/>
          </a:p>
        </p:txBody>
      </p:sp>
      <p:sp>
        <p:nvSpPr>
          <p:cNvPr id="20" name="Text 16"/>
          <p:cNvSpPr txBox="1"/>
          <p:nvPr/>
        </p:nvSpPr>
        <p:spPr>
          <a:xfrm>
            <a:off x="9242069" y="1938528"/>
            <a:ext cx="2199818" cy="795528"/>
          </a:xfrm>
          <a:prstGeom prst="rect">
            <a:avLst/>
          </a:prstGeom>
          <a:noFill/>
          <a:ln/>
        </p:spPr>
        <p:txBody>
          <a:bodyPr wrap="square" lIns="0" tIns="0" rIns="0" bIns="0" rtlCol="0" anchor="t"/>
          <a:lstStyle/>
          <a:p>
            <a:pPr indent="0" marL="0">
              <a:buNone/>
            </a:pPr>
            <a:r>
              <a:rPr lang="en-US" sz="1200" dirty="0">
                <a:solidFill>
                  <a:srgbClr val="1B1F24"/>
                </a:solidFill>
                <a:latin typeface="Calibri" pitchFamily="34" charset="0"/>
                <a:ea typeface="Calibri" pitchFamily="34" charset="-122"/>
                <a:cs typeface="Calibri" pitchFamily="34" charset="-120"/>
              </a:rPr>
              <a:t>front and rear camera alerts, not yet checked against video</a:t>
            </a:r>
            <a:endParaRPr lang="en-US" sz="1200" dirty="0"/>
          </a:p>
        </p:txBody>
      </p:sp>
      <p:pic>
        <p:nvPicPr>
          <p:cNvPr id="21" name="Image 1" descr="C:\Users\0geda\OneDrive - University of Cape Town\Documents\PlatformIO\Projects\Tukzie-HPEC-HUD\Report\figures\results\stand_spectra_1023.png">    </p:cNvPr>
          <p:cNvPicPr>
            <a:picLocks noChangeAspect="1"/>
          </p:cNvPicPr>
          <p:nvPr/>
        </p:nvPicPr>
        <p:blipFill>
          <a:blip r:embed="rId2"/>
          <a:stretch>
            <a:fillRect/>
          </a:stretch>
        </p:blipFill>
        <p:spPr>
          <a:xfrm>
            <a:off x="548640" y="3017520"/>
            <a:ext cx="6766560" cy="2435962"/>
          </a:xfrm>
          <a:prstGeom prst="rect">
            <a:avLst/>
          </a:prstGeom>
        </p:spPr>
      </p:pic>
      <p:sp>
        <p:nvSpPr>
          <p:cNvPr id="22" name="Text 17"/>
          <p:cNvSpPr txBox="1"/>
          <p:nvPr/>
        </p:nvSpPr>
        <p:spPr>
          <a:xfrm>
            <a:off x="548640" y="5499202"/>
            <a:ext cx="6766560" cy="764438"/>
          </a:xfrm>
          <a:prstGeom prst="rect">
            <a:avLst/>
          </a:prstGeom>
          <a:noFill/>
          <a:ln/>
        </p:spPr>
        <p:txBody>
          <a:bodyPr wrap="square" lIns="0" tIns="0" rIns="0" bIns="0" rtlCol="0" anchor="t"/>
          <a:lstStyle/>
          <a:p>
            <a:pPr indent="0" marL="0">
              <a:buNone/>
            </a:pPr>
            <a:r>
              <a:rPr lang="en-US" sz="1200" i="1" dirty="0">
                <a:solidFill>
                  <a:srgbClr val="4A5566"/>
                </a:solidFill>
                <a:latin typeface="Calibri" pitchFamily="34" charset="0"/>
                <a:ea typeface="Calibri" pitchFamily="34" charset="-122"/>
                <a:cs typeface="Calibri" pitchFamily="34" charset="-120"/>
              </a:rPr>
              <a:t>Stand runs, 23 Oct, drive wheel raised (3.2 and 4.5 A): rear vibration 5 to 7 times rest, energy 40 to 70 Hz; the same lines at the front (42.75, 49.0, 64.0 Hz). Throttle settings not recorded.</a:t>
            </a:r>
            <a:endParaRPr lang="en-US" sz="1200" dirty="0"/>
          </a:p>
        </p:txBody>
      </p:sp>
      <p:sp>
        <p:nvSpPr>
          <p:cNvPr id="23" name="Shape 18"/>
          <p:cNvSpPr/>
          <p:nvPr/>
        </p:nvSpPr>
        <p:spPr>
          <a:xfrm>
            <a:off x="7635240" y="3017520"/>
            <a:ext cx="4007815" cy="3154680"/>
          </a:xfrm>
          <a:prstGeom prst="roundRect">
            <a:avLst>
              <a:gd name="adj" fmla="val 3478"/>
            </a:avLst>
          </a:prstGeom>
          <a:solidFill>
            <a:srgbClr val="FFFFFF"/>
          </a:solidFill>
          <a:ln w="25400">
            <a:solidFill>
              <a:srgbClr val="D4700C"/>
            </a:solidFill>
            <a:prstDash val="dash"/>
          </a:ln>
        </p:spPr>
      </p:sp>
      <p:sp>
        <p:nvSpPr>
          <p:cNvPr id="24" name="Text 19"/>
          <p:cNvSpPr txBox="1"/>
          <p:nvPr/>
        </p:nvSpPr>
        <p:spPr>
          <a:xfrm>
            <a:off x="7863840" y="3127248"/>
            <a:ext cx="3550615" cy="365760"/>
          </a:xfrm>
          <a:prstGeom prst="rect">
            <a:avLst/>
          </a:prstGeom>
          <a:noFill/>
          <a:ln/>
        </p:spPr>
        <p:txBody>
          <a:bodyPr wrap="square" lIns="0" tIns="0" rIns="0" bIns="0" rtlCol="0" anchor="ctr"/>
          <a:lstStyle/>
          <a:p>
            <a:pPr indent="0" marL="0">
              <a:buNone/>
            </a:pPr>
            <a:r>
              <a:rPr lang="en-US" sz="1600" b="1" dirty="0">
                <a:solidFill>
                  <a:srgbClr val="D4700C"/>
                </a:solidFill>
                <a:latin typeface="Calibri" pitchFamily="34" charset="0"/>
                <a:ea typeface="Calibri" pitchFamily="34" charset="-122"/>
                <a:cs typeface="Calibri" pitchFamily="34" charset="-120"/>
              </a:rPr>
              <a:t>Pending: road run, Monday 26 Oct</a:t>
            </a:r>
            <a:endParaRPr lang="en-US" sz="1600" dirty="0"/>
          </a:p>
        </p:txBody>
      </p:sp>
      <p:sp>
        <p:nvSpPr>
          <p:cNvPr id="25" name="Text 20"/>
          <p:cNvSpPr txBox="1"/>
          <p:nvPr/>
        </p:nvSpPr>
        <p:spPr>
          <a:xfrm>
            <a:off x="7863840" y="3547872"/>
            <a:ext cx="3550615" cy="2560320"/>
          </a:xfrm>
          <a:prstGeom prst="rect">
            <a:avLst/>
          </a:prstGeom>
          <a:noFill/>
          <a:ln/>
        </p:spPr>
        <p:txBody>
          <a:bodyPr wrap="square" lIns="0" tIns="0" rIns="0" bIns="0" rtlCol="0" anchor="t"/>
          <a:lstStyle/>
          <a:p>
            <a:pPr marL="228600" indent="-228600">
              <a:spcAft>
                <a:spcPts val="800"/>
              </a:spcAft>
              <a:buSzPct val="100000"/>
              <a:buChar char="•"/>
            </a:pPr>
            <a:r>
              <a:rPr lang="en-US" sz="1300" dirty="0">
                <a:solidFill>
                  <a:srgbClr val="1B1F24"/>
                </a:solidFill>
                <a:latin typeface="Calibri" pitchFamily="34" charset="0"/>
                <a:ea typeface="Calibri" pitchFamily="34" charset="-122"/>
                <a:cs typeface="Calibri" pitchFamily="34" charset="-120"/>
              </a:rPr>
              <a:t>RQ1: repeatability over passes at 10, 15 and 20 km/h</a:t>
            </a:r>
            <a:endParaRPr lang="en-US" sz="1300" dirty="0"/>
          </a:p>
          <a:p>
            <a:pPr marL="228600" indent="-228600">
              <a:spcAft>
                <a:spcPts val="800"/>
              </a:spcAft>
              <a:buSzPct val="100000"/>
              <a:buChar char="•"/>
            </a:pPr>
            <a:r>
              <a:rPr lang="en-US" sz="1300" dirty="0">
                <a:solidFill>
                  <a:srgbClr val="1B1F24"/>
                </a:solidFill>
                <a:latin typeface="Calibri" pitchFamily="34" charset="0"/>
                <a:ea typeface="Calibri" pitchFamily="34" charset="-122"/>
                <a:cs typeface="Calibri" pitchFamily="34" charset="-120"/>
              </a:rPr>
              <a:t>RQ4: the stand lines' share of the road spectrum, powered and coasting</a:t>
            </a:r>
            <a:endParaRPr lang="en-US" sz="1300" dirty="0"/>
          </a:p>
          <a:p>
            <a:pPr marL="228600" indent="-228600">
              <a:spcAft>
                <a:spcPts val="800"/>
              </a:spcAft>
              <a:buSzPct val="100000"/>
              <a:buChar char="•"/>
            </a:pPr>
            <a:r>
              <a:rPr lang="en-US" sz="1300" dirty="0">
                <a:solidFill>
                  <a:srgbClr val="1B1F24"/>
                </a:solidFill>
                <a:latin typeface="Calibri" pitchFamily="34" charset="0"/>
                <a:ea typeface="Calibri" pitchFamily="34" charset="-122"/>
                <a:cs typeface="Calibri" pitchFamily="34" charset="-120"/>
              </a:rPr>
              <a:t>Speed index σ²/v: constant with speed if the ISO 8608 road model holds</a:t>
            </a:r>
            <a:endParaRPr lang="en-US" sz="1300" dirty="0"/>
          </a:p>
          <a:p>
            <a:pPr marL="228600" indent="-228600">
              <a:spcAft>
                <a:spcPts val="800"/>
              </a:spcAft>
              <a:buSzPct val="100000"/>
              <a:buChar char="•"/>
            </a:pPr>
            <a:r>
              <a:rPr lang="en-US" sz="1300" dirty="0">
                <a:solidFill>
                  <a:srgbClr val="1B1F24"/>
                </a:solidFill>
                <a:latin typeface="Calibri" pitchFamily="34" charset="0"/>
                <a:ea typeface="Calibri" pitchFamily="34" charset="-122"/>
                <a:cs typeface="Calibri" pitchFamily="34" charset="-120"/>
              </a:rPr>
              <a:t>Speed from the front-to-rear delay: timing budget 5.3 ms, 1.8 % of a 0.3 s delay</a:t>
            </a:r>
            <a:endParaRPr lang="en-US" sz="1300" dirty="0"/>
          </a:p>
          <a:p>
            <a:pPr marL="228600" indent="-228600">
              <a:spcAft>
                <a:spcPts val="800"/>
              </a:spcAft>
              <a:buSzPct val="100000"/>
              <a:buChar char="•"/>
            </a:pPr>
            <a:r>
              <a:rPr lang="en-US" sz="1300" dirty="0">
                <a:solidFill>
                  <a:srgbClr val="1B1F24"/>
                </a:solidFill>
                <a:latin typeface="Calibri" pitchFamily="34" charset="0"/>
                <a:ea typeface="Calibri" pitchFamily="34" charset="-122"/>
                <a:cs typeface="Calibri" pitchFamily="34" charset="-120"/>
              </a:rPr>
              <a:t>Phone GNSS speed against video</a:t>
            </a:r>
            <a:endParaRPr lang="en-US" sz="13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384048"/>
            <a:ext cx="566928" cy="566928"/>
          </a:xfrm>
          <a:prstGeom prst="ellipse">
            <a:avLst/>
          </a:prstGeom>
          <a:solidFill>
            <a:srgbClr val="14305C"/>
          </a:solidFill>
          <a:ln w="12700">
            <a:solidFill>
              <a:srgbClr val="14305C"/>
            </a:solidFill>
            <a:prstDash val="solid"/>
          </a:ln>
        </p:spPr>
      </p:sp>
      <p:sp>
        <p:nvSpPr>
          <p:cNvPr id="3" name="Text 1"/>
          <p:cNvSpPr txBox="1"/>
          <p:nvPr/>
        </p:nvSpPr>
        <p:spPr>
          <a:xfrm>
            <a:off x="548640" y="384048"/>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13</a:t>
            </a:r>
            <a:endParaRPr lang="en-US" sz="2000" dirty="0"/>
          </a:p>
        </p:txBody>
      </p:sp>
      <p:sp>
        <p:nvSpPr>
          <p:cNvPr id="4" name="Text 2"/>
          <p:cNvSpPr txBox="1"/>
          <p:nvPr/>
        </p:nvSpPr>
        <p:spPr>
          <a:xfrm>
            <a:off x="1325880" y="310896"/>
            <a:ext cx="10317175" cy="731520"/>
          </a:xfrm>
          <a:prstGeom prst="rect">
            <a:avLst/>
          </a:prstGeom>
          <a:noFill/>
          <a:ln/>
        </p:spPr>
        <p:txBody>
          <a:bodyPr wrap="square" lIns="0" tIns="0" rIns="0" bIns="0" rtlCol="0" anchor="ctr"/>
          <a:lstStyle/>
          <a:p>
            <a:pPr indent="0" marL="0">
              <a:buNone/>
            </a:pPr>
            <a:r>
              <a:rPr lang="en-US" sz="3200" b="1" dirty="0">
                <a:solidFill>
                  <a:srgbClr val="14305C"/>
                </a:solidFill>
                <a:latin typeface="Calibri" pitchFamily="34" charset="0"/>
                <a:ea typeface="Calibri" pitchFamily="34" charset="-122"/>
                <a:cs typeface="Calibri" pitchFamily="34" charset="-120"/>
              </a:rPr>
              <a:t>Conclusions and next steps</a:t>
            </a:r>
            <a:endParaRPr lang="en-US" sz="3200" dirty="0"/>
          </a:p>
        </p:txBody>
      </p:sp>
      <p:pic>
        <p:nvPicPr>
          <p:cNvPr id="5" name="Image 0" descr="C:\Users\0geda\OneDrive - University of Cape Town\Documents\PlatformIO\Projects\Tukzie-HPEC-HUD\Presentation\source\assets\uct_logo.png">    </p:cNvPr>
          <p:cNvPicPr>
            <a:picLocks noChangeAspect="1"/>
          </p:cNvPicPr>
          <p:nvPr/>
        </p:nvPicPr>
        <p:blipFill>
          <a:blip r:embed="rId1"/>
          <a:stretch>
            <a:fillRect/>
          </a:stretch>
        </p:blipFill>
        <p:spPr>
          <a:xfrm>
            <a:off x="11259007" y="6327648"/>
            <a:ext cx="384048" cy="390449"/>
          </a:xfrm>
          <a:prstGeom prst="rect">
            <a:avLst/>
          </a:prstGeom>
        </p:spPr>
      </p:pic>
      <p:sp>
        <p:nvSpPr>
          <p:cNvPr id="6" name="Text 3"/>
          <p:cNvSpPr txBox="1"/>
          <p:nvPr/>
        </p:nvSpPr>
        <p:spPr>
          <a:xfrm>
            <a:off x="548640" y="6382512"/>
            <a:ext cx="5486400" cy="292608"/>
          </a:xfrm>
          <a:prstGeom prst="rect">
            <a:avLst/>
          </a:prstGeom>
          <a:noFill/>
          <a:ln/>
        </p:spPr>
        <p:txBody>
          <a:bodyPr wrap="square" lIns="0" tIns="0" rIns="0" bIns="0" rtlCol="0" anchor="ctr"/>
          <a:lstStyle/>
          <a:p>
            <a:pPr indent="0" marL="0">
              <a:buNone/>
            </a:pPr>
            <a:r>
              <a:rPr lang="en-US" sz="1100" dirty="0">
                <a:solidFill>
                  <a:srgbClr val="4A5566"/>
                </a:solidFill>
                <a:latin typeface="Calibri" pitchFamily="34" charset="0"/>
                <a:ea typeface="Calibri" pitchFamily="34" charset="-122"/>
                <a:cs typeface="Calibri" pitchFamily="34" charset="-120"/>
              </a:rPr>
              <a:t>SW-7   |   Samson Okuthe   |   EEE4022S 2026</a:t>
            </a:r>
            <a:endParaRPr lang="en-US" sz="1100" dirty="0"/>
          </a:p>
        </p:txBody>
      </p:sp>
      <p:sp>
        <p:nvSpPr>
          <p:cNvPr id="7" name="Text 4"/>
          <p:cNvSpPr txBox="1"/>
          <p:nvPr/>
        </p:nvSpPr>
        <p:spPr>
          <a:xfrm>
            <a:off x="10180015" y="6382512"/>
            <a:ext cx="914400" cy="292608"/>
          </a:xfrm>
          <a:prstGeom prst="rect">
            <a:avLst/>
          </a:prstGeom>
          <a:noFill/>
          <a:ln/>
        </p:spPr>
        <p:txBody>
          <a:bodyPr wrap="square" lIns="0" tIns="0" rIns="0" bIns="0" rtlCol="0" anchor="ctr"/>
          <a:lstStyle/>
          <a:p>
            <a:pPr algn="r" indent="0" marL="0">
              <a:buNone/>
            </a:pPr>
            <a:r>
              <a:rPr lang="en-US" sz="1100" dirty="0">
                <a:solidFill>
                  <a:srgbClr val="4A5566"/>
                </a:solidFill>
                <a:latin typeface="Calibri" pitchFamily="34" charset="0"/>
                <a:ea typeface="Calibri" pitchFamily="34" charset="-122"/>
                <a:cs typeface="Calibri" pitchFamily="34" charset="-120"/>
              </a:rPr>
              <a:t>14 / 14</a:t>
            </a:r>
            <a:endParaRPr lang="en-US" sz="1100" dirty="0"/>
          </a:p>
        </p:txBody>
      </p:sp>
      <p:sp>
        <p:nvSpPr>
          <p:cNvPr id="9" name="Shape 5"/>
          <p:cNvSpPr/>
          <p:nvPr/>
        </p:nvSpPr>
        <p:spPr>
          <a:xfrm>
            <a:off x="548640" y="1280160"/>
            <a:ext cx="5364328" cy="4069080"/>
          </a:xfrm>
          <a:prstGeom prst="roundRect">
            <a:avLst>
              <a:gd name="adj" fmla="val 2697"/>
            </a:avLst>
          </a:prstGeom>
          <a:solidFill>
            <a:srgbClr val="E8F0FA"/>
          </a:solidFill>
          <a:ln w="12700">
            <a:solidFill>
              <a:srgbClr val="E8F0FA"/>
            </a:solidFill>
            <a:prstDash val="solid"/>
          </a:ln>
        </p:spPr>
      </p:sp>
      <p:sp>
        <p:nvSpPr>
          <p:cNvPr id="10" name="Text 6"/>
          <p:cNvSpPr txBox="1"/>
          <p:nvPr/>
        </p:nvSpPr>
        <p:spPr>
          <a:xfrm>
            <a:off x="868680" y="1463040"/>
            <a:ext cx="4724248" cy="411480"/>
          </a:xfrm>
          <a:prstGeom prst="rect">
            <a:avLst/>
          </a:prstGeom>
          <a:noFill/>
          <a:ln/>
        </p:spPr>
        <p:txBody>
          <a:bodyPr wrap="square" lIns="0" tIns="0" rIns="0" bIns="0" rtlCol="0" anchor="ctr"/>
          <a:lstStyle/>
          <a:p>
            <a:pPr indent="0" marL="0">
              <a:buNone/>
            </a:pPr>
            <a:r>
              <a:rPr lang="en-US" sz="2000" b="1" dirty="0">
                <a:solidFill>
                  <a:srgbClr val="14305C"/>
                </a:solidFill>
                <a:latin typeface="Calibri" pitchFamily="34" charset="0"/>
                <a:ea typeface="Calibri" pitchFamily="34" charset="-122"/>
                <a:cs typeface="Calibri" pitchFamily="34" charset="-120"/>
              </a:rPr>
              <a:t>Done and measured</a:t>
            </a:r>
            <a:endParaRPr lang="en-US" sz="2000" dirty="0"/>
          </a:p>
        </p:txBody>
      </p:sp>
      <p:sp>
        <p:nvSpPr>
          <p:cNvPr id="11" name="Text 7"/>
          <p:cNvSpPr txBox="1"/>
          <p:nvPr/>
        </p:nvSpPr>
        <p:spPr>
          <a:xfrm>
            <a:off x="868680" y="2057400"/>
            <a:ext cx="4724248" cy="3154680"/>
          </a:xfrm>
          <a:prstGeom prst="rect">
            <a:avLst/>
          </a:prstGeom>
          <a:noFill/>
          <a:ln/>
        </p:spPr>
        <p:txBody>
          <a:bodyPr wrap="square" lIns="0" tIns="0" rIns="0" bIns="0" rtlCol="0" anchor="t"/>
          <a:lstStyle/>
          <a:p>
            <a:pPr marL="228600" indent="-228600">
              <a:spcAft>
                <a:spcPts val="800"/>
              </a:spcAft>
              <a:buSzPct val="100000"/>
              <a:buChar char="•"/>
            </a:pPr>
            <a:r>
              <a:rPr lang="en-US" sz="1600" dirty="0">
                <a:solidFill>
                  <a:srgbClr val="1B1F24"/>
                </a:solidFill>
                <a:latin typeface="Calibri" pitchFamily="34" charset="0"/>
                <a:ea typeface="Calibri" pitchFamily="34" charset="-122"/>
                <a:cs typeface="Calibri" pitchFamily="34" charset="-120"/>
              </a:rPr>
              <a:t>200 Hz, no drops on both nodes on the bench (R1); one 2 s stall on the road</a:t>
            </a:r>
            <a:endParaRPr lang="en-US" sz="1600" dirty="0"/>
          </a:p>
          <a:p>
            <a:pPr marL="228600" indent="-228600">
              <a:spcAft>
                <a:spcPts val="800"/>
              </a:spcAft>
              <a:buSzPct val="100000"/>
              <a:buChar char="•"/>
            </a:pPr>
            <a:r>
              <a:rPr lang="en-US" sz="1600" dirty="0">
                <a:solidFill>
                  <a:srgbClr val="1B1F24"/>
                </a:solidFill>
                <a:latin typeface="Calibri" pitchFamily="34" charset="0"/>
                <a:ea typeface="Calibri" pitchFamily="34" charset="-122"/>
                <a:cs typeface="Calibri" pitchFamily="34" charset="-120"/>
              </a:rPr>
              <a:t>112 of 112 records stored across an LTE outage</a:t>
            </a:r>
            <a:endParaRPr lang="en-US" sz="1600" dirty="0"/>
          </a:p>
          <a:p>
            <a:pPr marL="228600" indent="-228600">
              <a:spcAft>
                <a:spcPts val="800"/>
              </a:spcAft>
              <a:buSzPct val="100000"/>
              <a:buChar char="•"/>
            </a:pPr>
            <a:r>
              <a:rPr lang="en-US" sz="1600" dirty="0">
                <a:solidFill>
                  <a:srgbClr val="1B1F24"/>
                </a:solidFill>
                <a:latin typeface="Calibri" pitchFamily="34" charset="0"/>
                <a:ea typeface="Calibri" pitchFamily="34" charset="-122"/>
                <a:cs typeface="Calibri" pitchFamily="34" charset="-120"/>
              </a:rPr>
              <a:t>Front detection 51 to 54 ms on the Pi 5 (Pi 4: about 120 ms)</a:t>
            </a:r>
            <a:endParaRPr lang="en-US" sz="1600" dirty="0"/>
          </a:p>
          <a:p>
            <a:pPr marL="228600" indent="-228600">
              <a:spcAft>
                <a:spcPts val="800"/>
              </a:spcAft>
              <a:buSzPct val="100000"/>
              <a:buChar char="•"/>
            </a:pPr>
            <a:r>
              <a:rPr lang="en-US" sz="1600" dirty="0">
                <a:solidFill>
                  <a:srgbClr val="1B1F24"/>
                </a:solidFill>
                <a:latin typeface="Calibri" pitchFamily="34" charset="0"/>
                <a:ea typeface="Calibri" pitchFamily="34" charset="-122"/>
                <a:cs typeface="Calibri" pitchFamily="34" charset="-120"/>
              </a:rPr>
              <a:t>Approaching-object warning: synthetic tests within 2 %</a:t>
            </a:r>
            <a:endParaRPr lang="en-US" sz="1600" dirty="0"/>
          </a:p>
          <a:p>
            <a:pPr marL="228600" indent="-228600">
              <a:spcAft>
                <a:spcPts val="800"/>
              </a:spcAft>
              <a:buSzPct val="100000"/>
              <a:buChar char="•"/>
            </a:pPr>
            <a:r>
              <a:rPr lang="en-US" sz="1600" dirty="0">
                <a:solidFill>
                  <a:srgbClr val="1B1F24"/>
                </a:solidFill>
                <a:latin typeface="Calibri" pitchFamily="34" charset="0"/>
                <a:ea typeface="Calibri" pitchFamily="34" charset="-122"/>
                <a:cs typeface="Calibri" pitchFamily="34" charset="-120"/>
              </a:rPr>
              <a:t>Stands: powertrain at 40 to 70 Hz, rear and front</a:t>
            </a:r>
            <a:endParaRPr lang="en-US" sz="1600" dirty="0"/>
          </a:p>
          <a:p>
            <a:pPr marL="228600" indent="-228600">
              <a:spcAft>
                <a:spcPts val="800"/>
              </a:spcAft>
              <a:buSzPct val="100000"/>
              <a:buChar char="•"/>
            </a:pPr>
            <a:r>
              <a:rPr lang="en-US" sz="1600" dirty="0">
                <a:solidFill>
                  <a:srgbClr val="1B1F24"/>
                </a:solidFill>
                <a:latin typeface="Calibri" pitchFamily="34" charset="0"/>
                <a:ea typeface="Calibri" pitchFamily="34" charset="-122"/>
                <a:cs typeface="Calibri" pitchFamily="34" charset="-120"/>
              </a:rPr>
              <a:t>Dashboard: speed legible, warnings too small (ISO 15008)</a:t>
            </a:r>
            <a:endParaRPr lang="en-US" sz="1600" dirty="0"/>
          </a:p>
        </p:txBody>
      </p:sp>
      <p:sp>
        <p:nvSpPr>
          <p:cNvPr id="12" name="Shape 8"/>
          <p:cNvSpPr/>
          <p:nvPr/>
        </p:nvSpPr>
        <p:spPr>
          <a:xfrm>
            <a:off x="6278728" y="1280160"/>
            <a:ext cx="5364328" cy="4069080"/>
          </a:xfrm>
          <a:prstGeom prst="roundRect">
            <a:avLst>
              <a:gd name="adj" fmla="val 2697"/>
            </a:avLst>
          </a:prstGeom>
          <a:solidFill>
            <a:srgbClr val="FFFFFF"/>
          </a:solidFill>
          <a:ln w="25400">
            <a:solidFill>
              <a:srgbClr val="D4700C"/>
            </a:solidFill>
            <a:prstDash val="dash"/>
          </a:ln>
        </p:spPr>
      </p:sp>
      <p:sp>
        <p:nvSpPr>
          <p:cNvPr id="13" name="Text 9"/>
          <p:cNvSpPr txBox="1"/>
          <p:nvPr/>
        </p:nvSpPr>
        <p:spPr>
          <a:xfrm>
            <a:off x="6598768" y="1463040"/>
            <a:ext cx="4724248" cy="411480"/>
          </a:xfrm>
          <a:prstGeom prst="rect">
            <a:avLst/>
          </a:prstGeom>
          <a:noFill/>
          <a:ln/>
        </p:spPr>
        <p:txBody>
          <a:bodyPr wrap="square" lIns="0" tIns="0" rIns="0" bIns="0" rtlCol="0" anchor="ctr"/>
          <a:lstStyle/>
          <a:p>
            <a:pPr indent="0" marL="0">
              <a:buNone/>
            </a:pPr>
            <a:r>
              <a:rPr lang="en-US" sz="2000" b="1" dirty="0">
                <a:solidFill>
                  <a:srgbClr val="D4700C"/>
                </a:solidFill>
                <a:latin typeface="Calibri" pitchFamily="34" charset="0"/>
                <a:ea typeface="Calibri" pitchFamily="34" charset="-122"/>
                <a:cs typeface="Calibri" pitchFamily="34" charset="-120"/>
              </a:rPr>
              <a:t>Open, and next</a:t>
            </a:r>
            <a:endParaRPr lang="en-US" sz="2000" dirty="0"/>
          </a:p>
        </p:txBody>
      </p:sp>
      <p:sp>
        <p:nvSpPr>
          <p:cNvPr id="14" name="Text 10"/>
          <p:cNvSpPr txBox="1"/>
          <p:nvPr/>
        </p:nvSpPr>
        <p:spPr>
          <a:xfrm>
            <a:off x="6598768" y="2057400"/>
            <a:ext cx="4724248" cy="3154680"/>
          </a:xfrm>
          <a:prstGeom prst="rect">
            <a:avLst/>
          </a:prstGeom>
          <a:noFill/>
          <a:ln/>
        </p:spPr>
        <p:txBody>
          <a:bodyPr wrap="square" lIns="0" tIns="0" rIns="0" bIns="0" rtlCol="0" anchor="t"/>
          <a:lstStyle/>
          <a:p>
            <a:pPr marL="228600" indent="-228600">
              <a:spcAft>
                <a:spcPts val="800"/>
              </a:spcAft>
              <a:buSzPct val="100000"/>
              <a:buChar char="•"/>
            </a:pPr>
            <a:r>
              <a:rPr lang="en-US" sz="1600" dirty="0">
                <a:solidFill>
                  <a:srgbClr val="1B1F24"/>
                </a:solidFill>
                <a:latin typeface="Calibri" pitchFamily="34" charset="0"/>
                <a:ea typeface="Calibri" pitchFamily="34" charset="-122"/>
                <a:cs typeface="Calibri" pitchFamily="34" charset="-120"/>
              </a:rPr>
              <a:t>Road run, 26 Oct: repeatability (RQ1), road share (RQ4)</a:t>
            </a:r>
            <a:endParaRPr lang="en-US" sz="1600" dirty="0"/>
          </a:p>
          <a:p>
            <a:pPr marL="228600" indent="-228600">
              <a:spcAft>
                <a:spcPts val="800"/>
              </a:spcAft>
              <a:buSzPct val="100000"/>
              <a:buChar char="•"/>
            </a:pPr>
            <a:r>
              <a:rPr lang="en-US" sz="1600" dirty="0">
                <a:solidFill>
                  <a:srgbClr val="1B1F24"/>
                </a:solidFill>
                <a:latin typeface="Calibri" pitchFamily="34" charset="0"/>
                <a:ea typeface="Calibri" pitchFamily="34" charset="-122"/>
                <a:cs typeface="Calibri" pitchFamily="34" charset="-120"/>
              </a:rPr>
              <a:t>Enlarge the warnings, then glance time (RQ2)</a:t>
            </a:r>
            <a:endParaRPr lang="en-US" sz="1600" dirty="0"/>
          </a:p>
          <a:p>
            <a:pPr marL="228600" indent="-228600">
              <a:spcAft>
                <a:spcPts val="800"/>
              </a:spcAft>
              <a:buSzPct val="100000"/>
              <a:buChar char="•"/>
            </a:pPr>
            <a:r>
              <a:rPr lang="en-US" sz="1600" dirty="0">
                <a:solidFill>
                  <a:srgbClr val="1B1F24"/>
                </a:solidFill>
                <a:latin typeface="Calibri" pitchFamily="34" charset="0"/>
                <a:ea typeface="Calibri" pitchFamily="34" charset="-122"/>
                <a:cs typeface="Calibri" pitchFamily="34" charset="-120"/>
              </a:rPr>
              <a:t>Real approach test (C11); latency with GNSS time</a:t>
            </a:r>
            <a:endParaRPr lang="en-US" sz="1600" dirty="0"/>
          </a:p>
          <a:p>
            <a:pPr marL="228600" indent="-228600">
              <a:spcAft>
                <a:spcPts val="800"/>
              </a:spcAft>
              <a:buSzPct val="100000"/>
              <a:buChar char="•"/>
            </a:pPr>
            <a:r>
              <a:rPr lang="en-US" sz="1600" dirty="0">
                <a:solidFill>
                  <a:srgbClr val="1B1F24"/>
                </a:solidFill>
                <a:latin typeface="Calibri" pitchFamily="34" charset="0"/>
                <a:ea typeface="Calibri" pitchFamily="34" charset="-122"/>
                <a:cs typeface="Calibri" pitchFamily="34" charset="-120"/>
              </a:rPr>
              <a:t>Own supply for the telemetry unit (Pi 4 still under-voltage, 23 Oct)</a:t>
            </a:r>
            <a:endParaRPr lang="en-US" sz="1600" dirty="0"/>
          </a:p>
          <a:p>
            <a:pPr marL="228600" indent="-228600">
              <a:spcAft>
                <a:spcPts val="800"/>
              </a:spcAft>
              <a:buSzPct val="100000"/>
              <a:buChar char="•"/>
            </a:pPr>
            <a:r>
              <a:rPr lang="en-US" sz="1600" dirty="0">
                <a:solidFill>
                  <a:srgbClr val="1B1F24"/>
                </a:solidFill>
                <a:latin typeface="Calibri" pitchFamily="34" charset="0"/>
                <a:ea typeface="Calibri" pitchFamily="34" charset="-122"/>
                <a:cs typeface="Calibri" pitchFamily="34" charset="-120"/>
              </a:rPr>
              <a:t>Fit-test the printed enclosures on the vehicle</a:t>
            </a:r>
            <a:endParaRPr lang="en-US" sz="1600" dirty="0"/>
          </a:p>
        </p:txBody>
      </p:sp>
      <p:sp>
        <p:nvSpPr>
          <p:cNvPr id="15" name="Text 11"/>
          <p:cNvSpPr txBox="1"/>
          <p:nvPr/>
        </p:nvSpPr>
        <p:spPr>
          <a:xfrm>
            <a:off x="548640" y="5532120"/>
            <a:ext cx="11094415" cy="548640"/>
          </a:xfrm>
          <a:prstGeom prst="rect">
            <a:avLst/>
          </a:prstGeom>
          <a:noFill/>
          <a:ln/>
        </p:spPr>
        <p:txBody>
          <a:bodyPr wrap="square" lIns="0" tIns="0" rIns="0" bIns="0" rtlCol="0" anchor="ctr"/>
          <a:lstStyle/>
          <a:p>
            <a:pPr algn="ctr" indent="0" marL="0">
              <a:buNone/>
            </a:pPr>
            <a:r>
              <a:rPr lang="en-US" sz="2600" b="1" dirty="0">
                <a:solidFill>
                  <a:srgbClr val="14305C"/>
                </a:solidFill>
                <a:latin typeface="Calibri" pitchFamily="34" charset="0"/>
                <a:ea typeface="Calibri" pitchFamily="34" charset="-122"/>
                <a:cs typeface="Calibri" pitchFamily="34" charset="-120"/>
              </a:rPr>
              <a:t>Thank you. Questions?</a:t>
            </a:r>
            <a:endParaRPr lang="en-US" sz="26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14</Slides>
  <Notes>14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14</vt:i4>
      </vt:variant>
    </vt:vector>
  </HeadingPairs>
  <TitlesOfParts>
    <vt:vector size="1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SW7: Embedded Telemetry, Road-Surface Characterisation and Camera-Based Hazard Detection for the TUKZIE Electric Tricycle</dc:title>
  <dc:subject>PptxGenJS Presentation</dc:subject>
  <dc:creator>Samson Okuthe</dc:creator>
  <cp:lastModifiedBy>Samson Okuthe</cp:lastModifiedBy>
  <cp:revision>1</cp:revision>
  <dcterms:created xsi:type="dcterms:W3CDTF">2026-10-24T15:07:29Z</dcterms:created>
  <dcterms:modified xsi:type="dcterms:W3CDTF">2026-10-24T15:07:29Z</dcterms:modified>
</cp:coreProperties>
</file>